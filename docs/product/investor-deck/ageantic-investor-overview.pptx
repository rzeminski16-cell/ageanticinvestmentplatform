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the artefact, not the ambition: this is a working system with measured results, and the audit that produced those results is published including the parts that went against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they remember one thing, it is this slide. Everything measurable downstream follows from the split.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gates are the product, not friction. A research tool nobody approves is a content generator.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intellectual property. It is also the thing that cannot be retrofitted onto a chat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column is the unusual one. Most tools in this space have the first two and none of the third.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Volunteer the two-of-nine number. It reads as discipline when you say it and as concealment when they find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28/21 tile matters as much as the accuracy tiles: it shows the system is measured and repaired, not just asserted.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slide plainly and early. It buys the credibility that the proof slides then spend.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soften column one. An investor who discovers it later discounts everything else you said.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 the question 'what if Anthropic just builds this'. This slide is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turns a good tool into a business. Spend time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the pattern: four of six moves are connecting things already built. That is why the estimate is large and the risk is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Counter-intuitively this is a trust-building slide, not a weakness slide. Deliver it with confidence.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is the strongest: an auditable track record is the one marketing asset that compounds and that nobody else in the category can manufacture.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number on the slide. State the ask in the room, against whichever of the four they care about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685800" y="402336"/>
            <a:ext cx="8778240" cy="274320"/>
          </a:xfrm>
          <a:prstGeom prst="rect">
            <a:avLst/>
          </a:prstGeom>
          <a:noFill/>
          <a:ln/>
        </p:spPr>
        <p:txBody>
          <a:bodyPr wrap="square" lIns="0" tIns="0" rIns="0" bIns="0" rtlCol="0" anchor="t"/>
          <a:lstStyle/>
          <a:p>
            <a:pPr indent="0" marL="0">
              <a:buNone/>
            </a:pPr>
            <a:r>
              <a:rPr lang="en-US" sz="1100" b="1" spc="220" kern="0" dirty="0">
                <a:solidFill>
                  <a:srgbClr val="CADCFC"/>
                </a:solidFill>
                <a:latin typeface="Calibri" pitchFamily="34" charset="0"/>
                <a:ea typeface="Calibri" pitchFamily="34" charset="-122"/>
                <a:cs typeface="Calibri" pitchFamily="34" charset="-120"/>
              </a:rPr>
              <a:t>AGEANTIC  ·  INVESTOR OVERVIEW  ·  SEPTEMBER 2026</a:t>
            </a:r>
            <a:endParaRPr lang="en-US" sz="1100" dirty="0"/>
          </a:p>
        </p:txBody>
      </p:sp>
      <p:sp>
        <p:nvSpPr>
          <p:cNvPr id="3" name="Text 1"/>
          <p:cNvSpPr txBox="1"/>
          <p:nvPr/>
        </p:nvSpPr>
        <p:spPr>
          <a:xfrm>
            <a:off x="685800" y="1325880"/>
            <a:ext cx="10332720" cy="1737360"/>
          </a:xfrm>
          <a:prstGeom prst="rect">
            <a:avLst/>
          </a:prstGeom>
          <a:noFill/>
          <a:ln/>
        </p:spPr>
        <p:txBody>
          <a:bodyPr wrap="square" lIns="0" tIns="0" rIns="0" bIns="0" rtlCol="0" anchor="t"/>
          <a:lstStyle/>
          <a:p>
            <a:pPr indent="0" marL="0">
              <a:lnSpc>
                <a:spcPts val="5000"/>
              </a:lnSpc>
              <a:buNone/>
            </a:pPr>
            <a:r>
              <a:rPr lang="en-US" sz="4200" b="1" dirty="0">
                <a:solidFill>
                  <a:srgbClr val="FFFFFF"/>
                </a:solidFill>
                <a:latin typeface="Cambria" pitchFamily="34" charset="0"/>
                <a:ea typeface="Cambria" pitchFamily="34" charset="-122"/>
                <a:cs typeface="Cambria" pitchFamily="34" charset="-120"/>
              </a:rPr>
              <a:t>Equity research where</a:t>
            </a:r>
            <a:endParaRPr lang="en-US" sz="4200" dirty="0"/>
          </a:p>
          <a:p>
            <a:pPr indent="0" marL="0">
              <a:lnSpc>
                <a:spcPts val="5000"/>
              </a:lnSpc>
              <a:buNone/>
            </a:pPr>
            <a:r>
              <a:rPr lang="en-US" sz="4200" b="1" dirty="0">
                <a:solidFill>
                  <a:srgbClr val="CADCFC"/>
                </a:solidFill>
                <a:latin typeface="Cambria" pitchFamily="34" charset="0"/>
                <a:ea typeface="Cambria" pitchFamily="34" charset="-122"/>
                <a:cs typeface="Cambria" pitchFamily="34" charset="-120"/>
              </a:rPr>
              <a:t>every number can be checked.</a:t>
            </a:r>
            <a:endParaRPr lang="en-US" sz="4200" dirty="0"/>
          </a:p>
        </p:txBody>
      </p:sp>
      <p:sp>
        <p:nvSpPr>
          <p:cNvPr id="4" name="Text 2"/>
          <p:cNvSpPr txBox="1"/>
          <p:nvPr/>
        </p:nvSpPr>
        <p:spPr>
          <a:xfrm>
            <a:off x="685800" y="3200400"/>
            <a:ext cx="8046720" cy="1188720"/>
          </a:xfrm>
          <a:prstGeom prst="rect">
            <a:avLst/>
          </a:prstGeom>
          <a:noFill/>
          <a:ln/>
        </p:spPr>
        <p:txBody>
          <a:bodyPr wrap="square" lIns="0" tIns="0" rIns="0" bIns="0" rtlCol="0" anchor="t"/>
          <a:lstStyle/>
          <a:p>
            <a:pPr indent="0" marL="0">
              <a:lnSpc>
                <a:spcPts val="2100"/>
              </a:lnSpc>
              <a:buNone/>
            </a:pPr>
            <a:r>
              <a:rPr lang="en-US" sz="1400" dirty="0">
                <a:solidFill>
                  <a:srgbClr val="CADCFC"/>
                </a:solidFill>
                <a:latin typeface="Calibri" pitchFamily="34" charset="0"/>
                <a:ea typeface="Calibri" pitchFamily="34" charset="-122"/>
                <a:cs typeface="Calibri" pitchFamily="34" charset="-120"/>
              </a:rPr>
              <a:t>A research platform that writes an institutional-style note on a listed company — and can prove, figure by figure, where every number came from and how it was calculated. Independently audited over six live runs in September 2026.</a:t>
            </a:r>
            <a:endParaRPr lang="en-US" sz="1400" dirty="0"/>
          </a:p>
        </p:txBody>
      </p:sp>
      <p:sp>
        <p:nvSpPr>
          <p:cNvPr id="5" name="Shape 3"/>
          <p:cNvSpPr/>
          <p:nvPr/>
        </p:nvSpPr>
        <p:spPr>
          <a:xfrm>
            <a:off x="685800" y="4663440"/>
            <a:ext cx="3291840" cy="1325880"/>
          </a:xfrm>
          <a:prstGeom prst="roundRect">
            <a:avLst>
              <a:gd name="adj" fmla="val 4138"/>
            </a:avLst>
          </a:prstGeom>
          <a:solidFill>
            <a:srgbClr val="26306A"/>
          </a:solidFill>
          <a:ln/>
        </p:spPr>
      </p:sp>
      <p:sp>
        <p:nvSpPr>
          <p:cNvPr id="6" name="Text 4"/>
          <p:cNvSpPr txBox="1"/>
          <p:nvPr/>
        </p:nvSpPr>
        <p:spPr>
          <a:xfrm>
            <a:off x="941832" y="4773168"/>
            <a:ext cx="2788920" cy="457200"/>
          </a:xfrm>
          <a:prstGeom prst="rect">
            <a:avLst/>
          </a:prstGeom>
          <a:noFill/>
          <a:ln/>
        </p:spPr>
        <p:txBody>
          <a:bodyPr wrap="square" lIns="0" tIns="0" rIns="0" bIns="0" rtlCol="0" anchor="t"/>
          <a:lstStyle/>
          <a:p>
            <a:pPr indent="0" marL="0">
              <a:buNone/>
            </a:pPr>
            <a:r>
              <a:rPr lang="en-US" sz="2600" b="1" dirty="0">
                <a:solidFill>
                  <a:srgbClr val="CADCFC"/>
                </a:solidFill>
                <a:latin typeface="Cambria" pitchFamily="34" charset="0"/>
                <a:ea typeface="Cambria" pitchFamily="34" charset="-122"/>
                <a:cs typeface="Cambria" pitchFamily="34" charset="-120"/>
              </a:rPr>
              <a:t>0 of 779</a:t>
            </a:r>
            <a:endParaRPr lang="en-US" sz="2600" dirty="0"/>
          </a:p>
        </p:txBody>
      </p:sp>
      <p:sp>
        <p:nvSpPr>
          <p:cNvPr id="7" name="Text 5"/>
          <p:cNvSpPr txBox="1"/>
          <p:nvPr/>
        </p:nvSpPr>
        <p:spPr>
          <a:xfrm>
            <a:off x="941832" y="5285232"/>
            <a:ext cx="2788920" cy="594360"/>
          </a:xfrm>
          <a:prstGeom prst="rect">
            <a:avLst/>
          </a:prstGeom>
          <a:noFill/>
          <a:ln/>
        </p:spPr>
        <p:txBody>
          <a:bodyPr wrap="square" lIns="0" tIns="0" rIns="0" bIns="0" rtlCol="0" anchor="t"/>
          <a:lstStyle/>
          <a:p>
            <a:pPr indent="0" marL="0">
              <a:lnSpc>
                <a:spcPts val="1300"/>
              </a:lnSpc>
              <a:buNone/>
            </a:pPr>
            <a:r>
              <a:rPr lang="en-US" sz="1050" dirty="0">
                <a:solidFill>
                  <a:srgbClr val="FFFFFF"/>
                </a:solidFill>
                <a:latin typeface="Calibri" pitchFamily="34" charset="0"/>
                <a:ea typeface="Calibri" pitchFamily="34" charset="-122"/>
                <a:cs typeface="Calibri" pitchFamily="34" charset="-120"/>
              </a:rPr>
              <a:t>figures contradicting the filing they came from</a:t>
            </a:r>
            <a:endParaRPr lang="en-US" sz="1050" dirty="0"/>
          </a:p>
        </p:txBody>
      </p:sp>
      <p:sp>
        <p:nvSpPr>
          <p:cNvPr id="8" name="Shape 6"/>
          <p:cNvSpPr/>
          <p:nvPr/>
        </p:nvSpPr>
        <p:spPr>
          <a:xfrm>
            <a:off x="4343400" y="4663440"/>
            <a:ext cx="3291840" cy="1325880"/>
          </a:xfrm>
          <a:prstGeom prst="roundRect">
            <a:avLst>
              <a:gd name="adj" fmla="val 4138"/>
            </a:avLst>
          </a:prstGeom>
          <a:solidFill>
            <a:srgbClr val="26306A"/>
          </a:solidFill>
          <a:ln/>
        </p:spPr>
      </p:sp>
      <p:sp>
        <p:nvSpPr>
          <p:cNvPr id="9" name="Text 7"/>
          <p:cNvSpPr txBox="1"/>
          <p:nvPr/>
        </p:nvSpPr>
        <p:spPr>
          <a:xfrm>
            <a:off x="4599432" y="4773168"/>
            <a:ext cx="2788920" cy="457200"/>
          </a:xfrm>
          <a:prstGeom prst="rect">
            <a:avLst/>
          </a:prstGeom>
          <a:noFill/>
          <a:ln/>
        </p:spPr>
        <p:txBody>
          <a:bodyPr wrap="square" lIns="0" tIns="0" rIns="0" bIns="0" rtlCol="0" anchor="t"/>
          <a:lstStyle/>
          <a:p>
            <a:pPr indent="0" marL="0">
              <a:buNone/>
            </a:pPr>
            <a:r>
              <a:rPr lang="en-US" sz="2600" b="1" dirty="0">
                <a:solidFill>
                  <a:srgbClr val="CADCFC"/>
                </a:solidFill>
                <a:latin typeface="Cambria" pitchFamily="34" charset="0"/>
                <a:ea typeface="Cambria" pitchFamily="34" charset="-122"/>
                <a:cs typeface="Cambria" pitchFamily="34" charset="-120"/>
              </a:rPr>
              <a:t>259 of 259</a:t>
            </a:r>
            <a:endParaRPr lang="en-US" sz="2600" dirty="0"/>
          </a:p>
        </p:txBody>
      </p:sp>
      <p:sp>
        <p:nvSpPr>
          <p:cNvPr id="10" name="Text 8"/>
          <p:cNvSpPr txBox="1"/>
          <p:nvPr/>
        </p:nvSpPr>
        <p:spPr>
          <a:xfrm>
            <a:off x="4599432" y="5285232"/>
            <a:ext cx="2788920" cy="594360"/>
          </a:xfrm>
          <a:prstGeom prst="rect">
            <a:avLst/>
          </a:prstGeom>
          <a:noFill/>
          <a:ln/>
        </p:spPr>
        <p:txBody>
          <a:bodyPr wrap="square" lIns="0" tIns="0" rIns="0" bIns="0" rtlCol="0" anchor="t"/>
          <a:lstStyle/>
          <a:p>
            <a:pPr indent="0" marL="0">
              <a:lnSpc>
                <a:spcPts val="1300"/>
              </a:lnSpc>
              <a:buNone/>
            </a:pPr>
            <a:r>
              <a:rPr lang="en-US" sz="1050" dirty="0">
                <a:solidFill>
                  <a:srgbClr val="FFFFFF"/>
                </a:solidFill>
                <a:latin typeface="Calibri" pitchFamily="34" charset="0"/>
                <a:ea typeface="Calibri" pitchFamily="34" charset="-122"/>
                <a:cs typeface="Calibri" pitchFamily="34" charset="-120"/>
              </a:rPr>
              <a:t>citations verified against archived bytes</a:t>
            </a:r>
            <a:endParaRPr lang="en-US" sz="1050" dirty="0"/>
          </a:p>
        </p:txBody>
      </p:sp>
      <p:sp>
        <p:nvSpPr>
          <p:cNvPr id="11" name="Shape 9"/>
          <p:cNvSpPr/>
          <p:nvPr/>
        </p:nvSpPr>
        <p:spPr>
          <a:xfrm>
            <a:off x="8001000" y="4663440"/>
            <a:ext cx="3291840" cy="1325880"/>
          </a:xfrm>
          <a:prstGeom prst="roundRect">
            <a:avLst>
              <a:gd name="adj" fmla="val 4138"/>
            </a:avLst>
          </a:prstGeom>
          <a:solidFill>
            <a:srgbClr val="26306A"/>
          </a:solidFill>
          <a:ln/>
        </p:spPr>
      </p:sp>
      <p:sp>
        <p:nvSpPr>
          <p:cNvPr id="12" name="Text 10"/>
          <p:cNvSpPr txBox="1"/>
          <p:nvPr/>
        </p:nvSpPr>
        <p:spPr>
          <a:xfrm>
            <a:off x="8257032" y="4773168"/>
            <a:ext cx="2788920" cy="457200"/>
          </a:xfrm>
          <a:prstGeom prst="rect">
            <a:avLst/>
          </a:prstGeom>
          <a:noFill/>
          <a:ln/>
        </p:spPr>
        <p:txBody>
          <a:bodyPr wrap="square" lIns="0" tIns="0" rIns="0" bIns="0" rtlCol="0" anchor="t"/>
          <a:lstStyle/>
          <a:p>
            <a:pPr indent="0" marL="0">
              <a:buNone/>
            </a:pPr>
            <a:r>
              <a:rPr lang="en-US" sz="2600" b="1" dirty="0">
                <a:solidFill>
                  <a:srgbClr val="CADCFC"/>
                </a:solidFill>
                <a:latin typeface="Cambria" pitchFamily="34" charset="0"/>
                <a:ea typeface="Cambria" pitchFamily="34" charset="-122"/>
                <a:cs typeface="Cambria" pitchFamily="34" charset="-120"/>
              </a:rPr>
              <a:t>£7.19</a:t>
            </a:r>
            <a:endParaRPr lang="en-US" sz="2600" dirty="0"/>
          </a:p>
        </p:txBody>
      </p:sp>
      <p:sp>
        <p:nvSpPr>
          <p:cNvPr id="13" name="Text 11"/>
          <p:cNvSpPr txBox="1"/>
          <p:nvPr/>
        </p:nvSpPr>
        <p:spPr>
          <a:xfrm>
            <a:off x="8257032" y="5285232"/>
            <a:ext cx="2788920" cy="594360"/>
          </a:xfrm>
          <a:prstGeom prst="rect">
            <a:avLst/>
          </a:prstGeom>
          <a:noFill/>
          <a:ln/>
        </p:spPr>
        <p:txBody>
          <a:bodyPr wrap="square" lIns="0" tIns="0" rIns="0" bIns="0" rtlCol="0" anchor="t"/>
          <a:lstStyle/>
          <a:p>
            <a:pPr indent="0" marL="0">
              <a:lnSpc>
                <a:spcPts val="1300"/>
              </a:lnSpc>
              <a:buNone/>
            </a:pPr>
            <a:r>
              <a:rPr lang="en-US" sz="1050" dirty="0">
                <a:solidFill>
                  <a:srgbClr val="FFFFFF"/>
                </a:solidFill>
                <a:latin typeface="Calibri" pitchFamily="34" charset="0"/>
                <a:ea typeface="Calibri" pitchFamily="34" charset="-122"/>
                <a:cs typeface="Calibri" pitchFamily="34" charset="-120"/>
              </a:rPr>
              <a:t>average cost of a complete research report</a:t>
            </a:r>
            <a:endParaRPr lang="en-US" sz="1050" dirty="0"/>
          </a:p>
        </p:txBody>
      </p:sp>
      <p:sp>
        <p:nvSpPr>
          <p:cNvPr id="14" name="Text 12"/>
          <p:cNvSpPr txBox="1"/>
          <p:nvPr/>
        </p:nvSpPr>
        <p:spPr>
          <a:xfrm>
            <a:off x="685800" y="6272784"/>
            <a:ext cx="10817352" cy="274320"/>
          </a:xfrm>
          <a:prstGeom prst="rect">
            <a:avLst/>
          </a:prstGeom>
          <a:noFill/>
          <a:ln/>
        </p:spPr>
        <p:txBody>
          <a:bodyPr wrap="square" lIns="0" tIns="0" rIns="0" bIns="0" rtlCol="0" anchor="t"/>
          <a:lstStyle/>
          <a:p>
            <a:pPr indent="0" marL="0">
              <a:buNone/>
            </a:pPr>
            <a:r>
              <a:rPr lang="en-US" sz="950" i="1" dirty="0">
                <a:solidFill>
                  <a:srgbClr val="8FA3D8"/>
                </a:solidFill>
                <a:latin typeface="Calibri" pitchFamily="34" charset="0"/>
                <a:ea typeface="Calibri" pitchFamily="34" charset="-122"/>
                <a:cs typeface="Calibri" pitchFamily="34" charset="-120"/>
              </a:rPr>
              <a:t>Figures from an independent readiness audit, 12 September 2026, committed in full to the repository.</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02336"/>
            <a:ext cx="8778240" cy="274320"/>
          </a:xfrm>
          <a:prstGeom prst="rect">
            <a:avLst/>
          </a:prstGeom>
          <a:noFill/>
          <a:ln/>
        </p:spPr>
        <p:txBody>
          <a:bodyPr wrap="square" lIns="0" tIns="0" rIns="0" bIns="0" rtlCol="0" anchor="t"/>
          <a:lstStyle/>
          <a:p>
            <a:pPr indent="0" marL="0">
              <a:buNone/>
            </a:pPr>
            <a:r>
              <a:rPr lang="en-US" sz="1100" b="1" spc="220" kern="0" dirty="0">
                <a:solidFill>
                  <a:srgbClr val="7B83A6"/>
                </a:solidFill>
                <a:latin typeface="Calibri" pitchFamily="34" charset="0"/>
                <a:ea typeface="Calibri" pitchFamily="34" charset="-122"/>
                <a:cs typeface="Calibri" pitchFamily="34" charset="-120"/>
              </a:rPr>
              <a:t>WHAT IT IS</a:t>
            </a:r>
            <a:endParaRPr lang="en-US" sz="1100" dirty="0"/>
          </a:p>
        </p:txBody>
      </p:sp>
      <p:sp>
        <p:nvSpPr>
          <p:cNvPr id="3" name="Text 1"/>
          <p:cNvSpPr txBox="1"/>
          <p:nvPr/>
        </p:nvSpPr>
        <p:spPr>
          <a:xfrm>
            <a:off x="685800" y="777240"/>
            <a:ext cx="10817352" cy="566928"/>
          </a:xfrm>
          <a:prstGeom prst="rect">
            <a:avLst/>
          </a:prstGeom>
          <a:noFill/>
          <a:ln/>
        </p:spPr>
        <p:txBody>
          <a:bodyPr wrap="square" lIns="0" tIns="0" rIns="0" bIns="0" rtlCol="0" anchor="t"/>
          <a:lstStyle/>
          <a:p>
            <a:pPr indent="0" marL="0">
              <a:buNone/>
            </a:pPr>
            <a:r>
              <a:rPr lang="en-US" sz="3200" b="1" dirty="0">
                <a:solidFill>
                  <a:srgbClr val="1E2761"/>
                </a:solidFill>
                <a:latin typeface="Cambria" pitchFamily="34" charset="0"/>
                <a:ea typeface="Cambria" pitchFamily="34" charset="-122"/>
                <a:cs typeface="Cambria" pitchFamily="34" charset="-120"/>
              </a:rPr>
              <a:t>A research analyst you can audit</a:t>
            </a:r>
            <a:endParaRPr lang="en-US" sz="3200" dirty="0"/>
          </a:p>
        </p:txBody>
      </p:sp>
      <p:sp>
        <p:nvSpPr>
          <p:cNvPr id="4" name="Text 2"/>
          <p:cNvSpPr txBox="1"/>
          <p:nvPr/>
        </p:nvSpPr>
        <p:spPr>
          <a:xfrm>
            <a:off x="685800" y="1481328"/>
            <a:ext cx="10332720" cy="1188720"/>
          </a:xfrm>
          <a:prstGeom prst="rect">
            <a:avLst/>
          </a:prstGeom>
          <a:noFill/>
          <a:ln/>
        </p:spPr>
        <p:txBody>
          <a:bodyPr wrap="square" lIns="0" tIns="0" rIns="0" bIns="0" rtlCol="0" anchor="t"/>
          <a:lstStyle/>
          <a:p>
            <a:pPr indent="0" marL="0">
              <a:lnSpc>
                <a:spcPts val="1700"/>
              </a:lnSpc>
              <a:buNone/>
            </a:pPr>
            <a:r>
              <a:rPr lang="en-US" sz="1350" dirty="0">
                <a:solidFill>
                  <a:srgbClr val="3E466B"/>
                </a:solidFill>
                <a:latin typeface="Calibri" pitchFamily="34" charset="0"/>
                <a:ea typeface="Calibri" pitchFamily="34" charset="-122"/>
                <a:cs typeface="Calibri" pitchFamily="34" charset="-120"/>
              </a:rPr>
              <a:t>It writes a full equity research note on a company that files with the SEC — every US listing, and a UK plc filing a 20-F. You approve a costed plan before anything is spent. It fetches and archives the primary sources itself, does all the arithmetic in ordinary tested Python, has a language model write the prose, then attacks its own draft before you approve it into an immutable document.</a:t>
            </a:r>
            <a:endParaRPr lang="en-US" sz="1350" dirty="0"/>
          </a:p>
        </p:txBody>
      </p:sp>
      <p:sp>
        <p:nvSpPr>
          <p:cNvPr id="5" name="Shape 3"/>
          <p:cNvSpPr/>
          <p:nvPr/>
        </p:nvSpPr>
        <p:spPr>
          <a:xfrm>
            <a:off x="685800" y="2788920"/>
            <a:ext cx="10817352" cy="1143000"/>
          </a:xfrm>
          <a:prstGeom prst="roundRect">
            <a:avLst>
              <a:gd name="adj" fmla="val 4000"/>
            </a:avLst>
          </a:prstGeom>
          <a:solidFill>
            <a:srgbClr val="1E2761"/>
          </a:solidFill>
          <a:ln/>
        </p:spPr>
      </p:sp>
      <p:sp>
        <p:nvSpPr>
          <p:cNvPr id="6" name="Text 4"/>
          <p:cNvSpPr txBox="1"/>
          <p:nvPr/>
        </p:nvSpPr>
        <p:spPr>
          <a:xfrm>
            <a:off x="1051560" y="3017520"/>
            <a:ext cx="10058400" cy="731520"/>
          </a:xfrm>
          <a:prstGeom prst="rect">
            <a:avLst/>
          </a:prstGeom>
          <a:noFill/>
          <a:ln/>
        </p:spPr>
        <p:txBody>
          <a:bodyPr wrap="square" lIns="0" tIns="0" rIns="0" bIns="0" rtlCol="0" anchor="t"/>
          <a:lstStyle/>
          <a:p>
            <a:pPr indent="0" marL="0">
              <a:lnSpc>
                <a:spcPts val="2400"/>
              </a:lnSpc>
              <a:buNone/>
            </a:pPr>
            <a:r>
              <a:rPr lang="en-US" sz="1650" i="1" dirty="0">
                <a:solidFill>
                  <a:srgbClr val="FFFFFF"/>
                </a:solidFill>
                <a:latin typeface="Cambria" pitchFamily="34" charset="0"/>
                <a:ea typeface="Cambria" pitchFamily="34" charset="-122"/>
                <a:cs typeface="Cambria" pitchFamily="34" charset="-120"/>
              </a:rPr>
              <a:t>Deterministic Python owns every number and every fact. The model owns planning, interpretation, challenge and writing.</a:t>
            </a:r>
            <a:endParaRPr lang="en-US" sz="1650" dirty="0"/>
          </a:p>
        </p:txBody>
      </p:sp>
      <p:sp>
        <p:nvSpPr>
          <p:cNvPr id="7" name="Shape 5"/>
          <p:cNvSpPr/>
          <p:nvPr/>
        </p:nvSpPr>
        <p:spPr>
          <a:xfrm>
            <a:off x="685800" y="4160520"/>
            <a:ext cx="5285232" cy="1783080"/>
          </a:xfrm>
          <a:prstGeom prst="roundRect">
            <a:avLst>
              <a:gd name="adj" fmla="val 3077"/>
            </a:avLst>
          </a:prstGeom>
          <a:solidFill>
            <a:srgbClr val="F2F5FC"/>
          </a:solidFill>
          <a:ln/>
          <a:effectLst>
            <a:outerShdw sx="100000" sy="100000" kx="0" ky="0" algn="bl" rotWithShape="0" blurRad="152400" dist="38100" dir="5400000">
              <a:srgbClr val="1E2761">
                <a:alpha val="13000"/>
              </a:srgbClr>
            </a:outerShdw>
          </a:effectLst>
        </p:spPr>
      </p:sp>
      <p:sp>
        <p:nvSpPr>
          <p:cNvPr id="8" name="Text 6"/>
          <p:cNvSpPr txBox="1"/>
          <p:nvPr/>
        </p:nvSpPr>
        <p:spPr>
          <a:xfrm>
            <a:off x="1005840" y="4343400"/>
            <a:ext cx="4663440" cy="320040"/>
          </a:xfrm>
          <a:prstGeom prst="rect">
            <a:avLst/>
          </a:prstGeom>
          <a:noFill/>
          <a:ln/>
        </p:spPr>
        <p:txBody>
          <a:bodyPr wrap="square" lIns="0" tIns="0" rIns="0" bIns="0" rtlCol="0" anchor="t"/>
          <a:lstStyle/>
          <a:p>
            <a:pPr indent="0" marL="0">
              <a:buNone/>
            </a:pPr>
            <a:r>
              <a:rPr lang="en-US" sz="1600" b="1" dirty="0">
                <a:solidFill>
                  <a:srgbClr val="1E2761"/>
                </a:solidFill>
                <a:latin typeface="Cambria" pitchFamily="34" charset="0"/>
                <a:ea typeface="Cambria" pitchFamily="34" charset="-122"/>
                <a:cs typeface="Cambria" pitchFamily="34" charset="-120"/>
              </a:rPr>
              <a:t>The problem</a:t>
            </a:r>
            <a:endParaRPr lang="en-US" sz="1600" dirty="0"/>
          </a:p>
        </p:txBody>
      </p:sp>
      <p:sp>
        <p:nvSpPr>
          <p:cNvPr id="9" name="Text 7"/>
          <p:cNvSpPr txBox="1"/>
          <p:nvPr/>
        </p:nvSpPr>
        <p:spPr>
          <a:xfrm>
            <a:off x="1005840" y="4736592"/>
            <a:ext cx="4663440" cy="1097280"/>
          </a:xfrm>
          <a:prstGeom prst="rect">
            <a:avLst/>
          </a:prstGeom>
          <a:noFill/>
          <a:ln/>
        </p:spPr>
        <p:txBody>
          <a:bodyPr wrap="square" lIns="0" tIns="0" rIns="0" bIns="0" rtlCol="0" anchor="t"/>
          <a:lstStyle/>
          <a:p>
            <a:pPr indent="0" marL="0">
              <a:lnSpc>
                <a:spcPts val="1500"/>
              </a:lnSpc>
              <a:buNone/>
            </a:pPr>
            <a:r>
              <a:rPr lang="en-US" sz="1150" dirty="0">
                <a:solidFill>
                  <a:srgbClr val="3E466B"/>
                </a:solidFill>
                <a:latin typeface="Calibri" pitchFamily="34" charset="0"/>
                <a:ea typeface="Calibri" pitchFamily="34" charset="-122"/>
                <a:cs typeface="Calibri" pitchFamily="34" charset="-120"/>
              </a:rPr>
              <a:t>Ask a chatbot to research a company and you get fluent prose with numbers that are right in shape and sometimes wrong in fact. Generating a sentence and computing a cash flow are the same operation to it — and only one of those has a right answer.</a:t>
            </a:r>
            <a:endParaRPr lang="en-US" sz="1150" dirty="0"/>
          </a:p>
        </p:txBody>
      </p:sp>
      <p:sp>
        <p:nvSpPr>
          <p:cNvPr id="10" name="Shape 8"/>
          <p:cNvSpPr/>
          <p:nvPr/>
        </p:nvSpPr>
        <p:spPr>
          <a:xfrm>
            <a:off x="6217920" y="4160520"/>
            <a:ext cx="5285232" cy="1783080"/>
          </a:xfrm>
          <a:prstGeom prst="roundRect">
            <a:avLst>
              <a:gd name="adj" fmla="val 3077"/>
            </a:avLst>
          </a:prstGeom>
          <a:solidFill>
            <a:srgbClr val="F2F5FC"/>
          </a:solidFill>
          <a:ln/>
          <a:effectLst>
            <a:outerShdw sx="100000" sy="100000" kx="0" ky="0" algn="bl" rotWithShape="0" blurRad="152400" dist="38100" dir="5400000">
              <a:srgbClr val="1E2761">
                <a:alpha val="13000"/>
              </a:srgbClr>
            </a:outerShdw>
          </a:effectLst>
        </p:spPr>
      </p:sp>
      <p:sp>
        <p:nvSpPr>
          <p:cNvPr id="11" name="Text 9"/>
          <p:cNvSpPr txBox="1"/>
          <p:nvPr/>
        </p:nvSpPr>
        <p:spPr>
          <a:xfrm>
            <a:off x="6537960" y="4343400"/>
            <a:ext cx="4663440" cy="320040"/>
          </a:xfrm>
          <a:prstGeom prst="rect">
            <a:avLst/>
          </a:prstGeom>
          <a:noFill/>
          <a:ln/>
        </p:spPr>
        <p:txBody>
          <a:bodyPr wrap="square" lIns="0" tIns="0" rIns="0" bIns="0" rtlCol="0" anchor="t"/>
          <a:lstStyle/>
          <a:p>
            <a:pPr indent="0" marL="0">
              <a:buNone/>
            </a:pPr>
            <a:r>
              <a:rPr lang="en-US" sz="1600" b="1" dirty="0">
                <a:solidFill>
                  <a:srgbClr val="1E2761"/>
                </a:solidFill>
                <a:latin typeface="Cambria" pitchFamily="34" charset="0"/>
                <a:ea typeface="Cambria" pitchFamily="34" charset="-122"/>
                <a:cs typeface="Cambria" pitchFamily="34" charset="-120"/>
              </a:rPr>
              <a:t>The answer</a:t>
            </a:r>
            <a:endParaRPr lang="en-US" sz="1600" dirty="0"/>
          </a:p>
        </p:txBody>
      </p:sp>
      <p:sp>
        <p:nvSpPr>
          <p:cNvPr id="12" name="Text 10"/>
          <p:cNvSpPr txBox="1"/>
          <p:nvPr/>
        </p:nvSpPr>
        <p:spPr>
          <a:xfrm>
            <a:off x="6537960" y="4736592"/>
            <a:ext cx="4663440" cy="1097280"/>
          </a:xfrm>
          <a:prstGeom prst="rect">
            <a:avLst/>
          </a:prstGeom>
          <a:noFill/>
          <a:ln/>
        </p:spPr>
        <p:txBody>
          <a:bodyPr wrap="square" lIns="0" tIns="0" rIns="0" bIns="0" rtlCol="0" anchor="t"/>
          <a:lstStyle/>
          <a:p>
            <a:pPr indent="0" marL="0">
              <a:lnSpc>
                <a:spcPts val="1500"/>
              </a:lnSpc>
              <a:buNone/>
            </a:pPr>
            <a:r>
              <a:rPr lang="en-US" sz="1150" dirty="0">
                <a:solidFill>
                  <a:srgbClr val="3E466B"/>
                </a:solidFill>
                <a:latin typeface="Calibri" pitchFamily="34" charset="0"/>
                <a:ea typeface="Calibri" pitchFamily="34" charset="-122"/>
                <a:cs typeface="Calibri" pitchFamily="34" charset="-120"/>
              </a:rPr>
              <a:t>The model is never asked to produce a number, and structurally cannot. A figure that is not a stored fact or a recorded calculation is refused before it reaches a page. A discounted cash flow here is forty lines of Python with property-based tests.</a:t>
            </a:r>
            <a:endParaRPr lang="en-US" sz="1150" dirty="0"/>
          </a:p>
        </p:txBody>
      </p:sp>
      <p:sp>
        <p:nvSpPr>
          <p:cNvPr id="13" name="Text 11"/>
          <p:cNvSpPr txBox="1"/>
          <p:nvPr/>
        </p:nvSpPr>
        <p:spPr>
          <a:xfrm>
            <a:off x="685800" y="6272784"/>
            <a:ext cx="10817352" cy="274320"/>
          </a:xfrm>
          <a:prstGeom prst="rect">
            <a:avLst/>
          </a:prstGeom>
          <a:noFill/>
          <a:ln/>
        </p:spPr>
        <p:txBody>
          <a:bodyPr wrap="square" lIns="0" tIns="0" rIns="0" bIns="0" rtlCol="0" anchor="t"/>
          <a:lstStyle/>
          <a:p>
            <a:pPr indent="0" marL="0">
              <a:buNone/>
            </a:pPr>
            <a:r>
              <a:rPr lang="en-US" sz="950" i="1" dirty="0">
                <a:solidFill>
                  <a:srgbClr val="7B83A6"/>
                </a:solidFill>
                <a:latin typeface="Calibri" pitchFamily="34" charset="0"/>
                <a:ea typeface="Calibri" pitchFamily="34" charset="-122"/>
                <a:cs typeface="Calibri" pitchFamily="34" charset="-120"/>
              </a:rPr>
              <a:t>The split is the repository's first architectural rule, enforced in code rather than requested in a prompt.</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02336"/>
            <a:ext cx="8778240" cy="274320"/>
          </a:xfrm>
          <a:prstGeom prst="rect">
            <a:avLst/>
          </a:prstGeom>
          <a:noFill/>
          <a:ln/>
        </p:spPr>
        <p:txBody>
          <a:bodyPr wrap="square" lIns="0" tIns="0" rIns="0" bIns="0" rtlCol="0" anchor="t"/>
          <a:lstStyle/>
          <a:p>
            <a:pPr indent="0" marL="0">
              <a:buNone/>
            </a:pPr>
            <a:r>
              <a:rPr lang="en-US" sz="1100" b="1" spc="220" kern="0" dirty="0">
                <a:solidFill>
                  <a:srgbClr val="7B83A6"/>
                </a:solidFill>
                <a:latin typeface="Calibri" pitchFamily="34" charset="0"/>
                <a:ea typeface="Calibri" pitchFamily="34" charset="-122"/>
                <a:cs typeface="Calibri" pitchFamily="34" charset="-120"/>
              </a:rPr>
              <a:t>HOW A RUN WORKS</a:t>
            </a:r>
            <a:endParaRPr lang="en-US" sz="1100" dirty="0"/>
          </a:p>
        </p:txBody>
      </p:sp>
      <p:sp>
        <p:nvSpPr>
          <p:cNvPr id="3" name="Text 1"/>
          <p:cNvSpPr txBox="1"/>
          <p:nvPr/>
        </p:nvSpPr>
        <p:spPr>
          <a:xfrm>
            <a:off x="685800" y="777240"/>
            <a:ext cx="10817352" cy="566928"/>
          </a:xfrm>
          <a:prstGeom prst="rect">
            <a:avLst/>
          </a:prstGeom>
          <a:noFill/>
          <a:ln/>
        </p:spPr>
        <p:txBody>
          <a:bodyPr wrap="square" lIns="0" tIns="0" rIns="0" bIns="0" rtlCol="0" anchor="t"/>
          <a:lstStyle/>
          <a:p>
            <a:pPr indent="0" marL="0">
              <a:buNone/>
            </a:pPr>
            <a:r>
              <a:rPr lang="en-US" sz="3200" b="1" dirty="0">
                <a:solidFill>
                  <a:srgbClr val="1E2761"/>
                </a:solidFill>
                <a:latin typeface="Cambria" pitchFamily="34" charset="0"/>
                <a:ea typeface="Cambria" pitchFamily="34" charset="-122"/>
                <a:cs typeface="Cambria" pitchFamily="34" charset="-120"/>
              </a:rPr>
              <a:t>Five stages, and you hold the gates</a:t>
            </a:r>
            <a:endParaRPr lang="en-US" sz="3200" dirty="0"/>
          </a:p>
        </p:txBody>
      </p:sp>
      <p:sp>
        <p:nvSpPr>
          <p:cNvPr id="4" name="Shape 2"/>
          <p:cNvSpPr/>
          <p:nvPr/>
        </p:nvSpPr>
        <p:spPr>
          <a:xfrm>
            <a:off x="685800" y="1737360"/>
            <a:ext cx="2011680" cy="566928"/>
          </a:xfrm>
          <a:prstGeom prst="roundRect">
            <a:avLst>
              <a:gd name="adj" fmla="val 9677"/>
            </a:avLst>
          </a:prstGeom>
          <a:solidFill>
            <a:srgbClr val="1E2761"/>
          </a:solidFill>
          <a:ln/>
        </p:spPr>
      </p:sp>
      <p:sp>
        <p:nvSpPr>
          <p:cNvPr id="5" name="Text 3"/>
          <p:cNvSpPr txBox="1"/>
          <p:nvPr/>
        </p:nvSpPr>
        <p:spPr>
          <a:xfrm>
            <a:off x="685800" y="1737360"/>
            <a:ext cx="2011680"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 Plan</a:t>
            </a:r>
            <a:endParaRPr lang="en-US" sz="1500" dirty="0"/>
          </a:p>
        </p:txBody>
      </p:sp>
      <p:sp>
        <p:nvSpPr>
          <p:cNvPr id="6" name="Text 4"/>
          <p:cNvSpPr txBox="1"/>
          <p:nvPr/>
        </p:nvSpPr>
        <p:spPr>
          <a:xfrm>
            <a:off x="685800" y="2359152"/>
            <a:ext cx="2011680" cy="228600"/>
          </a:xfrm>
          <a:prstGeom prst="rect">
            <a:avLst/>
          </a:prstGeom>
          <a:noFill/>
          <a:ln/>
        </p:spPr>
        <p:txBody>
          <a:bodyPr wrap="square" lIns="0" tIns="0" rIns="0" bIns="0" rtlCol="0" anchor="t"/>
          <a:lstStyle/>
          <a:p>
            <a:pPr algn="ctr" indent="0" marL="0">
              <a:buNone/>
            </a:pPr>
            <a:r>
              <a:rPr lang="en-US" sz="850" b="1" spc="100" kern="0" dirty="0">
                <a:solidFill>
                  <a:srgbClr val="B8862F"/>
                </a:solidFill>
                <a:latin typeface="Calibri" pitchFamily="34" charset="0"/>
                <a:ea typeface="Calibri" pitchFamily="34" charset="-122"/>
                <a:cs typeface="Calibri" pitchFamily="34" charset="-120"/>
              </a:rPr>
              <a:t>YOU APPROVE</a:t>
            </a:r>
            <a:endParaRPr lang="en-US" sz="850" dirty="0"/>
          </a:p>
        </p:txBody>
      </p:sp>
      <p:sp>
        <p:nvSpPr>
          <p:cNvPr id="7" name="Text 5"/>
          <p:cNvSpPr txBox="1"/>
          <p:nvPr/>
        </p:nvSpPr>
        <p:spPr>
          <a:xfrm>
            <a:off x="685800" y="2670048"/>
            <a:ext cx="2011680" cy="1645920"/>
          </a:xfrm>
          <a:prstGeom prst="rect">
            <a:avLst/>
          </a:prstGeom>
          <a:noFill/>
          <a:ln/>
        </p:spPr>
        <p:txBody>
          <a:bodyPr wrap="square" lIns="0" tIns="0" rIns="0" bIns="0" rtlCol="0" anchor="t"/>
          <a:lstStyle/>
          <a:p>
            <a:pPr indent="0" marL="0">
              <a:lnSpc>
                <a:spcPts val="1400"/>
              </a:lnSpc>
              <a:buNone/>
            </a:pPr>
            <a:r>
              <a:rPr lang="en-US" sz="1050" dirty="0">
                <a:solidFill>
                  <a:srgbClr val="3E466B"/>
                </a:solidFill>
                <a:latin typeface="Calibri" pitchFamily="34" charset="0"/>
                <a:ea typeface="Calibri" pitchFamily="34" charset="-122"/>
                <a:cs typeface="Calibri" pitchFamily="34" charset="-120"/>
              </a:rPr>
              <a:t>It proposes sections, sources, a cost in pounds and the risks. Nothing is spent until you approve.</a:t>
            </a:r>
            <a:endParaRPr lang="en-US" sz="1050" dirty="0"/>
          </a:p>
        </p:txBody>
      </p:sp>
      <p:sp>
        <p:nvSpPr>
          <p:cNvPr id="8" name="Shape 6"/>
          <p:cNvSpPr/>
          <p:nvPr/>
        </p:nvSpPr>
        <p:spPr>
          <a:xfrm>
            <a:off x="2880360" y="1737360"/>
            <a:ext cx="2011680" cy="566928"/>
          </a:xfrm>
          <a:prstGeom prst="roundRect">
            <a:avLst>
              <a:gd name="adj" fmla="val 9677"/>
            </a:avLst>
          </a:prstGeom>
          <a:solidFill>
            <a:srgbClr val="26306A"/>
          </a:solidFill>
          <a:ln/>
        </p:spPr>
      </p:sp>
      <p:sp>
        <p:nvSpPr>
          <p:cNvPr id="9" name="Text 7"/>
          <p:cNvSpPr txBox="1"/>
          <p:nvPr/>
        </p:nvSpPr>
        <p:spPr>
          <a:xfrm>
            <a:off x="2880360" y="1737360"/>
            <a:ext cx="2011680"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 Acquire</a:t>
            </a:r>
            <a:endParaRPr lang="en-US" sz="1500" dirty="0"/>
          </a:p>
        </p:txBody>
      </p:sp>
      <p:sp>
        <p:nvSpPr>
          <p:cNvPr id="10" name="Text 8"/>
          <p:cNvSpPr txBox="1"/>
          <p:nvPr/>
        </p:nvSpPr>
        <p:spPr>
          <a:xfrm>
            <a:off x="2880360" y="2670048"/>
            <a:ext cx="2011680" cy="1645920"/>
          </a:xfrm>
          <a:prstGeom prst="rect">
            <a:avLst/>
          </a:prstGeom>
          <a:noFill/>
          <a:ln/>
        </p:spPr>
        <p:txBody>
          <a:bodyPr wrap="square" lIns="0" tIns="0" rIns="0" bIns="0" rtlCol="0" anchor="t"/>
          <a:lstStyle/>
          <a:p>
            <a:pPr indent="0" marL="0">
              <a:lnSpc>
                <a:spcPts val="1400"/>
              </a:lnSpc>
              <a:buNone/>
            </a:pPr>
            <a:r>
              <a:rPr lang="en-US" sz="1050" dirty="0">
                <a:solidFill>
                  <a:srgbClr val="3E466B"/>
                </a:solidFill>
                <a:latin typeface="Calibri" pitchFamily="34" charset="0"/>
                <a:ea typeface="Calibri" pitchFamily="34" charset="-122"/>
                <a:cs typeface="Calibri" pitchFamily="34" charset="-120"/>
              </a:rPr>
              <a:t>Filings, prices and macro series fetched, hashed and archived. Nothing published after your as-of date.</a:t>
            </a:r>
            <a:endParaRPr lang="en-US" sz="1050" dirty="0"/>
          </a:p>
        </p:txBody>
      </p:sp>
      <p:sp>
        <p:nvSpPr>
          <p:cNvPr id="11" name="Shape 9"/>
          <p:cNvSpPr/>
          <p:nvPr/>
        </p:nvSpPr>
        <p:spPr>
          <a:xfrm>
            <a:off x="5074920" y="1737360"/>
            <a:ext cx="2011680" cy="566928"/>
          </a:xfrm>
          <a:prstGeom prst="roundRect">
            <a:avLst>
              <a:gd name="adj" fmla="val 9677"/>
            </a:avLst>
          </a:prstGeom>
          <a:solidFill>
            <a:srgbClr val="26306A"/>
          </a:solidFill>
          <a:ln/>
        </p:spPr>
      </p:sp>
      <p:sp>
        <p:nvSpPr>
          <p:cNvPr id="12" name="Text 10"/>
          <p:cNvSpPr txBox="1"/>
          <p:nvPr/>
        </p:nvSpPr>
        <p:spPr>
          <a:xfrm>
            <a:off x="5074920" y="1737360"/>
            <a:ext cx="2011680"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 Compute</a:t>
            </a:r>
            <a:endParaRPr lang="en-US" sz="1500" dirty="0"/>
          </a:p>
        </p:txBody>
      </p:sp>
      <p:sp>
        <p:nvSpPr>
          <p:cNvPr id="13" name="Text 11"/>
          <p:cNvSpPr txBox="1"/>
          <p:nvPr/>
        </p:nvSpPr>
        <p:spPr>
          <a:xfrm>
            <a:off x="5074920" y="2670048"/>
            <a:ext cx="2011680" cy="1645920"/>
          </a:xfrm>
          <a:prstGeom prst="rect">
            <a:avLst/>
          </a:prstGeom>
          <a:noFill/>
          <a:ln/>
        </p:spPr>
        <p:txBody>
          <a:bodyPr wrap="square" lIns="0" tIns="0" rIns="0" bIns="0" rtlCol="0" anchor="t"/>
          <a:lstStyle/>
          <a:p>
            <a:pPr indent="0" marL="0">
              <a:lnSpc>
                <a:spcPts val="1400"/>
              </a:lnSpc>
              <a:buNone/>
            </a:pPr>
            <a:r>
              <a:rPr lang="en-US" sz="1050" dirty="0">
                <a:solidFill>
                  <a:srgbClr val="3E466B"/>
                </a:solidFill>
                <a:latin typeface="Calibri" pitchFamily="34" charset="0"/>
                <a:ea typeface="Calibri" pitchFamily="34" charset="-122"/>
                <a:cs typeface="Calibri" pitchFamily="34" charset="-120"/>
              </a:rPr>
              <a:t>Statements normalised; ratios, cost of capital, DCF, bank models, scenarios, an 81-cell grid.</a:t>
            </a:r>
            <a:endParaRPr lang="en-US" sz="1050" dirty="0"/>
          </a:p>
        </p:txBody>
      </p:sp>
      <p:sp>
        <p:nvSpPr>
          <p:cNvPr id="14" name="Shape 12"/>
          <p:cNvSpPr/>
          <p:nvPr/>
        </p:nvSpPr>
        <p:spPr>
          <a:xfrm>
            <a:off x="7269480" y="1737360"/>
            <a:ext cx="2011680" cy="566928"/>
          </a:xfrm>
          <a:prstGeom prst="roundRect">
            <a:avLst>
              <a:gd name="adj" fmla="val 9677"/>
            </a:avLst>
          </a:prstGeom>
          <a:solidFill>
            <a:srgbClr val="26306A"/>
          </a:solidFill>
          <a:ln/>
        </p:spPr>
      </p:sp>
      <p:sp>
        <p:nvSpPr>
          <p:cNvPr id="15" name="Text 13"/>
          <p:cNvSpPr txBox="1"/>
          <p:nvPr/>
        </p:nvSpPr>
        <p:spPr>
          <a:xfrm>
            <a:off x="7269480" y="1737360"/>
            <a:ext cx="2011680"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 Write</a:t>
            </a:r>
            <a:endParaRPr lang="en-US" sz="1500" dirty="0"/>
          </a:p>
        </p:txBody>
      </p:sp>
      <p:sp>
        <p:nvSpPr>
          <p:cNvPr id="16" name="Text 14"/>
          <p:cNvSpPr txBox="1"/>
          <p:nvPr/>
        </p:nvSpPr>
        <p:spPr>
          <a:xfrm>
            <a:off x="7269480" y="2670048"/>
            <a:ext cx="2011680" cy="1645920"/>
          </a:xfrm>
          <a:prstGeom prst="rect">
            <a:avLst/>
          </a:prstGeom>
          <a:noFill/>
          <a:ln/>
        </p:spPr>
        <p:txBody>
          <a:bodyPr wrap="square" lIns="0" tIns="0" rIns="0" bIns="0" rtlCol="0" anchor="t"/>
          <a:lstStyle/>
          <a:p>
            <a:pPr indent="0" marL="0">
              <a:lnSpc>
                <a:spcPts val="1400"/>
              </a:lnSpc>
              <a:buNone/>
            </a:pPr>
            <a:r>
              <a:rPr lang="en-US" sz="1050" dirty="0">
                <a:solidFill>
                  <a:srgbClr val="3E466B"/>
                </a:solidFill>
                <a:latin typeface="Calibri" pitchFamily="34" charset="0"/>
                <a:ea typeface="Calibri" pitchFamily="34" charset="-122"/>
                <a:cs typeface="Calibri" pitchFamily="34" charset="-120"/>
              </a:rPr>
              <a:t>A model drafts each section from structured facts, then a separate adversary attacks the draft.</a:t>
            </a:r>
            <a:endParaRPr lang="en-US" sz="1050" dirty="0"/>
          </a:p>
        </p:txBody>
      </p:sp>
      <p:sp>
        <p:nvSpPr>
          <p:cNvPr id="17" name="Shape 15"/>
          <p:cNvSpPr/>
          <p:nvPr/>
        </p:nvSpPr>
        <p:spPr>
          <a:xfrm>
            <a:off x="9464040" y="1737360"/>
            <a:ext cx="2011680" cy="566928"/>
          </a:xfrm>
          <a:prstGeom prst="roundRect">
            <a:avLst>
              <a:gd name="adj" fmla="val 9677"/>
            </a:avLst>
          </a:prstGeom>
          <a:solidFill>
            <a:srgbClr val="1E2761"/>
          </a:solidFill>
          <a:ln/>
        </p:spPr>
      </p:sp>
      <p:sp>
        <p:nvSpPr>
          <p:cNvPr id="18" name="Text 16"/>
          <p:cNvSpPr txBox="1"/>
          <p:nvPr/>
        </p:nvSpPr>
        <p:spPr>
          <a:xfrm>
            <a:off x="9464040" y="1737360"/>
            <a:ext cx="2011680"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5. Approve</a:t>
            </a:r>
            <a:endParaRPr lang="en-US" sz="1500" dirty="0"/>
          </a:p>
        </p:txBody>
      </p:sp>
      <p:sp>
        <p:nvSpPr>
          <p:cNvPr id="19" name="Text 17"/>
          <p:cNvSpPr txBox="1"/>
          <p:nvPr/>
        </p:nvSpPr>
        <p:spPr>
          <a:xfrm>
            <a:off x="9464040" y="2359152"/>
            <a:ext cx="2011680" cy="228600"/>
          </a:xfrm>
          <a:prstGeom prst="rect">
            <a:avLst/>
          </a:prstGeom>
          <a:noFill/>
          <a:ln/>
        </p:spPr>
        <p:txBody>
          <a:bodyPr wrap="square" lIns="0" tIns="0" rIns="0" bIns="0" rtlCol="0" anchor="t"/>
          <a:lstStyle/>
          <a:p>
            <a:pPr algn="ctr" indent="0" marL="0">
              <a:buNone/>
            </a:pPr>
            <a:r>
              <a:rPr lang="en-US" sz="850" b="1" spc="100" kern="0" dirty="0">
                <a:solidFill>
                  <a:srgbClr val="B8862F"/>
                </a:solidFill>
                <a:latin typeface="Calibri" pitchFamily="34" charset="0"/>
                <a:ea typeface="Calibri" pitchFamily="34" charset="-122"/>
                <a:cs typeface="Calibri" pitchFamily="34" charset="-120"/>
              </a:rPr>
              <a:t>YOU APPROVE</a:t>
            </a:r>
            <a:endParaRPr lang="en-US" sz="850" dirty="0"/>
          </a:p>
        </p:txBody>
      </p:sp>
      <p:sp>
        <p:nvSpPr>
          <p:cNvPr id="20" name="Text 18"/>
          <p:cNvSpPr txBox="1"/>
          <p:nvPr/>
        </p:nvSpPr>
        <p:spPr>
          <a:xfrm>
            <a:off x="9464040" y="2670048"/>
            <a:ext cx="2011680" cy="1645920"/>
          </a:xfrm>
          <a:prstGeom prst="rect">
            <a:avLst/>
          </a:prstGeom>
          <a:noFill/>
          <a:ln/>
        </p:spPr>
        <p:txBody>
          <a:bodyPr wrap="square" lIns="0" tIns="0" rIns="0" bIns="0" rtlCol="0" anchor="t"/>
          <a:lstStyle/>
          <a:p>
            <a:pPr indent="0" marL="0">
              <a:lnSpc>
                <a:spcPts val="1400"/>
              </a:lnSpc>
              <a:buNone/>
            </a:pPr>
            <a:r>
              <a:rPr lang="en-US" sz="1050" dirty="0">
                <a:solidFill>
                  <a:srgbClr val="3E466B"/>
                </a:solidFill>
                <a:latin typeface="Calibri" pitchFamily="34" charset="0"/>
                <a:ea typeface="Calibri" pitchFamily="34" charset="-122"/>
                <a:cs typeface="Calibri" pitchFamily="34" charset="-120"/>
              </a:rPr>
              <a:t>Citation, consistency and plausibility checks run in code. You approve. The document is frozen and hashed.</a:t>
            </a:r>
            <a:endParaRPr lang="en-US" sz="1050" dirty="0"/>
          </a:p>
        </p:txBody>
      </p:sp>
      <p:sp>
        <p:nvSpPr>
          <p:cNvPr id="21" name="Shape 19"/>
          <p:cNvSpPr/>
          <p:nvPr/>
        </p:nvSpPr>
        <p:spPr>
          <a:xfrm>
            <a:off x="685800" y="4572000"/>
            <a:ext cx="10817352" cy="1234440"/>
          </a:xfrm>
          <a:prstGeom prst="roundRect">
            <a:avLst>
              <a:gd name="adj" fmla="val 3704"/>
            </a:avLst>
          </a:prstGeom>
          <a:solidFill>
            <a:srgbClr val="F2F5FC"/>
          </a:solidFill>
          <a:ln/>
        </p:spPr>
      </p:sp>
      <p:sp>
        <p:nvSpPr>
          <p:cNvPr id="22" name="Text 20"/>
          <p:cNvSpPr txBox="1"/>
          <p:nvPr/>
        </p:nvSpPr>
        <p:spPr>
          <a:xfrm>
            <a:off x="1005840" y="4773168"/>
            <a:ext cx="10149840" cy="914400"/>
          </a:xfrm>
          <a:prstGeom prst="rect">
            <a:avLst/>
          </a:prstGeom>
          <a:noFill/>
          <a:ln/>
        </p:spPr>
        <p:txBody>
          <a:bodyPr wrap="square" lIns="0" tIns="0" rIns="0" bIns="0" rtlCol="0" anchor="t"/>
          <a:lstStyle/>
          <a:p>
            <a:pPr indent="0" marL="0">
              <a:lnSpc>
                <a:spcPts val="1700"/>
              </a:lnSpc>
              <a:buNone/>
            </a:pPr>
            <a:r>
              <a:rPr lang="en-US" sz="1250" dirty="0">
                <a:solidFill>
                  <a:srgbClr val="1B2140"/>
                </a:solidFill>
                <a:latin typeface="Calibri" pitchFamily="34" charset="0"/>
                <a:ea typeface="Calibri" pitchFamily="34" charset="-122"/>
                <a:cs typeface="Calibri" pitchFamily="34" charset="-120"/>
              </a:rPr>
              <a:t>A complete run takes about half an hour of machine time and costs about £7. It stops for your decision six or seven times — the plan, the peer set, the themes, any unmapped accounting concepts, the valuation assumptions, and the finished draft. Nothing reaches a document that you did not approve, and nothing is spent past a ceiling enforced in code.</a:t>
            </a:r>
            <a:endParaRPr lang="en-US" sz="1250" dirty="0"/>
          </a:p>
        </p:txBody>
      </p:sp>
      <p:sp>
        <p:nvSpPr>
          <p:cNvPr id="23" name="Text 21"/>
          <p:cNvSpPr txBox="1"/>
          <p:nvPr/>
        </p:nvSpPr>
        <p:spPr>
          <a:xfrm>
            <a:off x="685800" y="6272784"/>
            <a:ext cx="10817352" cy="274320"/>
          </a:xfrm>
          <a:prstGeom prst="rect">
            <a:avLst/>
          </a:prstGeom>
          <a:noFill/>
          <a:ln/>
        </p:spPr>
        <p:txBody>
          <a:bodyPr wrap="square" lIns="0" tIns="0" rIns="0" bIns="0" rtlCol="0" anchor="t"/>
          <a:lstStyle/>
          <a:p>
            <a:pPr indent="0" marL="0">
              <a:buNone/>
            </a:pPr>
            <a:r>
              <a:rPr lang="en-US" sz="950" i="1" dirty="0">
                <a:solidFill>
                  <a:srgbClr val="7B83A6"/>
                </a:solidFill>
                <a:latin typeface="Calibri" pitchFamily="34" charset="0"/>
                <a:ea typeface="Calibri" pitchFamily="34" charset="-122"/>
                <a:cs typeface="Calibri" pitchFamily="34" charset="-120"/>
              </a:rPr>
              <a:t>Machine time 26.5–36.8 minutes across the five audited runs; spend £6.80–£7.61, against a £10 ceiling.</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685800" y="402336"/>
            <a:ext cx="8778240" cy="274320"/>
          </a:xfrm>
          <a:prstGeom prst="rect">
            <a:avLst/>
          </a:prstGeom>
          <a:noFill/>
          <a:ln/>
        </p:spPr>
        <p:txBody>
          <a:bodyPr wrap="square" lIns="0" tIns="0" rIns="0" bIns="0" rtlCol="0" anchor="t"/>
          <a:lstStyle/>
          <a:p>
            <a:pPr indent="0" marL="0">
              <a:buNone/>
            </a:pPr>
            <a:r>
              <a:rPr lang="en-US" sz="1100" b="1" spc="220" kern="0" dirty="0">
                <a:solidFill>
                  <a:srgbClr val="CADCFC"/>
                </a:solidFill>
                <a:latin typeface="Calibri" pitchFamily="34" charset="0"/>
                <a:ea typeface="Calibri" pitchFamily="34" charset="-122"/>
                <a:cs typeface="Calibri" pitchFamily="34" charset="-120"/>
              </a:rPr>
              <a:t>THE PROPERTY THAT MAKES IT DIFFERENT</a:t>
            </a:r>
            <a:endParaRPr lang="en-US" sz="1100" dirty="0"/>
          </a:p>
        </p:txBody>
      </p:sp>
      <p:sp>
        <p:nvSpPr>
          <p:cNvPr id="3" name="Text 1"/>
          <p:cNvSpPr txBox="1"/>
          <p:nvPr/>
        </p:nvSpPr>
        <p:spPr>
          <a:xfrm>
            <a:off x="685800" y="777240"/>
            <a:ext cx="10817352" cy="566928"/>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Every figure sits on an unbroken chain</a:t>
            </a:r>
            <a:endParaRPr lang="en-US" sz="3200" dirty="0"/>
          </a:p>
        </p:txBody>
      </p:sp>
      <p:sp>
        <p:nvSpPr>
          <p:cNvPr id="4" name="Shape 2"/>
          <p:cNvSpPr/>
          <p:nvPr/>
        </p:nvSpPr>
        <p:spPr>
          <a:xfrm>
            <a:off x="685800" y="1783080"/>
            <a:ext cx="1645920" cy="914400"/>
          </a:xfrm>
          <a:prstGeom prst="roundRect">
            <a:avLst>
              <a:gd name="adj" fmla="val 6000"/>
            </a:avLst>
          </a:prstGeom>
          <a:solidFill>
            <a:srgbClr val="26306A"/>
          </a:solidFill>
          <a:ln/>
        </p:spPr>
      </p:sp>
      <p:sp>
        <p:nvSpPr>
          <p:cNvPr id="5" name="Text 3"/>
          <p:cNvSpPr txBox="1"/>
          <p:nvPr/>
        </p:nvSpPr>
        <p:spPr>
          <a:xfrm>
            <a:off x="740664" y="1783080"/>
            <a:ext cx="1536192" cy="914400"/>
          </a:xfrm>
          <a:prstGeom prst="rect">
            <a:avLst/>
          </a:prstGeom>
          <a:noFill/>
          <a:ln/>
        </p:spPr>
        <p:txBody>
          <a:bodyPr wrap="square" lIns="0" tIns="0" rIns="0" bIns="0" rtlCol="0" anchor="ctr"/>
          <a:lstStyle/>
          <a:p>
            <a:pPr algn="ctr" indent="0" marL="0">
              <a:lnSpc>
                <a:spcPts val="1300"/>
              </a:lnSpc>
              <a:buNone/>
            </a:pPr>
            <a:r>
              <a:rPr lang="en-US" sz="1050" dirty="0">
                <a:solidFill>
                  <a:srgbClr val="FFFFFF"/>
                </a:solidFill>
                <a:latin typeface="Calibri" pitchFamily="34" charset="0"/>
                <a:ea typeface="Calibri" pitchFamily="34" charset="-122"/>
                <a:cs typeface="Calibri" pitchFamily="34" charset="-120"/>
              </a:rPr>
              <a:t>Figure</a:t>
            </a:r>
            <a:endParaRPr lang="en-US" sz="1050" dirty="0"/>
          </a:p>
          <a:p>
            <a:pPr algn="ctr" indent="0" marL="0">
              <a:lnSpc>
                <a:spcPts val="1300"/>
              </a:lnSpc>
              <a:buNone/>
            </a:pPr>
            <a:r>
              <a:rPr lang="en-US" sz="1050" dirty="0">
                <a:solidFill>
                  <a:srgbClr val="FFFFFF"/>
                </a:solidFill>
                <a:latin typeface="Calibri" pitchFamily="34" charset="0"/>
                <a:ea typeface="Calibri" pitchFamily="34" charset="-122"/>
                <a:cs typeface="Calibri" pitchFamily="34" charset="-120"/>
              </a:rPr>
              <a:t>in a section</a:t>
            </a:r>
            <a:endParaRPr lang="en-US" sz="1050" dirty="0"/>
          </a:p>
        </p:txBody>
      </p:sp>
      <p:sp>
        <p:nvSpPr>
          <p:cNvPr id="6" name="Text 4"/>
          <p:cNvSpPr txBox="1"/>
          <p:nvPr/>
        </p:nvSpPr>
        <p:spPr>
          <a:xfrm>
            <a:off x="2322576" y="1783080"/>
            <a:ext cx="182880" cy="914400"/>
          </a:xfrm>
          <a:prstGeom prst="rect">
            <a:avLst/>
          </a:prstGeom>
          <a:noFill/>
          <a:ln/>
        </p:spPr>
        <p:txBody>
          <a:bodyPr wrap="square" lIns="0" tIns="0" rIns="0" bIns="0" rtlCol="0" anchor="ctr"/>
          <a:lstStyle/>
          <a:p>
            <a:pPr algn="ctr" indent="0" marL="0">
              <a:buNone/>
            </a:pPr>
            <a:r>
              <a:rPr lang="en-US" sz="2000" b="1" dirty="0">
                <a:solidFill>
                  <a:srgbClr val="CADCFC"/>
                </a:solidFill>
                <a:latin typeface="Cambria" pitchFamily="34" charset="0"/>
                <a:ea typeface="Cambria" pitchFamily="34" charset="-122"/>
                <a:cs typeface="Cambria" pitchFamily="34" charset="-120"/>
              </a:rPr>
              <a:t>›</a:t>
            </a:r>
            <a:endParaRPr lang="en-US" sz="2000" dirty="0"/>
          </a:p>
        </p:txBody>
      </p:sp>
      <p:sp>
        <p:nvSpPr>
          <p:cNvPr id="7" name="Shape 5"/>
          <p:cNvSpPr/>
          <p:nvPr/>
        </p:nvSpPr>
        <p:spPr>
          <a:xfrm>
            <a:off x="2505456" y="1783080"/>
            <a:ext cx="1645920" cy="914400"/>
          </a:xfrm>
          <a:prstGeom prst="roundRect">
            <a:avLst>
              <a:gd name="adj" fmla="val 6000"/>
            </a:avLst>
          </a:prstGeom>
          <a:solidFill>
            <a:srgbClr val="26306A"/>
          </a:solidFill>
          <a:ln/>
        </p:spPr>
      </p:sp>
      <p:sp>
        <p:nvSpPr>
          <p:cNvPr id="8" name="Text 6"/>
          <p:cNvSpPr txBox="1"/>
          <p:nvPr/>
        </p:nvSpPr>
        <p:spPr>
          <a:xfrm>
            <a:off x="2560320" y="1783080"/>
            <a:ext cx="1536192" cy="914400"/>
          </a:xfrm>
          <a:prstGeom prst="rect">
            <a:avLst/>
          </a:prstGeom>
          <a:noFill/>
          <a:ln/>
        </p:spPr>
        <p:txBody>
          <a:bodyPr wrap="square" lIns="0" tIns="0" rIns="0" bIns="0" rtlCol="0" anchor="ctr"/>
          <a:lstStyle/>
          <a:p>
            <a:pPr algn="ctr" indent="0" marL="0">
              <a:lnSpc>
                <a:spcPts val="1300"/>
              </a:lnSpc>
              <a:buNone/>
            </a:pPr>
            <a:r>
              <a:rPr lang="en-US" sz="1050" dirty="0">
                <a:solidFill>
                  <a:srgbClr val="FFFFFF"/>
                </a:solidFill>
                <a:latin typeface="Calibri" pitchFamily="34" charset="0"/>
                <a:ea typeface="Calibri" pitchFamily="34" charset="-122"/>
                <a:cs typeface="Calibri" pitchFamily="34" charset="-120"/>
              </a:rPr>
              <a:t>Claim</a:t>
            </a:r>
            <a:endParaRPr lang="en-US" sz="1050" dirty="0"/>
          </a:p>
          <a:p>
            <a:pPr algn="ctr" indent="0" marL="0">
              <a:lnSpc>
                <a:spcPts val="1300"/>
              </a:lnSpc>
              <a:buNone/>
            </a:pPr>
            <a:r>
              <a:rPr lang="en-US" sz="1050" dirty="0">
                <a:solidFill>
                  <a:srgbClr val="FFFFFF"/>
                </a:solidFill>
                <a:latin typeface="Calibri" pitchFamily="34" charset="0"/>
                <a:ea typeface="Calibri" pitchFamily="34" charset="-122"/>
                <a:cs typeface="Calibri" pitchFamily="34" charset="-120"/>
              </a:rPr>
              <a:t>names one fact</a:t>
            </a:r>
            <a:endParaRPr lang="en-US" sz="1050" dirty="0"/>
          </a:p>
        </p:txBody>
      </p:sp>
      <p:sp>
        <p:nvSpPr>
          <p:cNvPr id="9" name="Text 7"/>
          <p:cNvSpPr txBox="1"/>
          <p:nvPr/>
        </p:nvSpPr>
        <p:spPr>
          <a:xfrm>
            <a:off x="4142232" y="1783080"/>
            <a:ext cx="182880" cy="914400"/>
          </a:xfrm>
          <a:prstGeom prst="rect">
            <a:avLst/>
          </a:prstGeom>
          <a:noFill/>
          <a:ln/>
        </p:spPr>
        <p:txBody>
          <a:bodyPr wrap="square" lIns="0" tIns="0" rIns="0" bIns="0" rtlCol="0" anchor="ctr"/>
          <a:lstStyle/>
          <a:p>
            <a:pPr algn="ctr" indent="0" marL="0">
              <a:buNone/>
            </a:pPr>
            <a:r>
              <a:rPr lang="en-US" sz="2000" b="1" dirty="0">
                <a:solidFill>
                  <a:srgbClr val="CADCFC"/>
                </a:solidFill>
                <a:latin typeface="Cambria" pitchFamily="34" charset="0"/>
                <a:ea typeface="Cambria" pitchFamily="34" charset="-122"/>
                <a:cs typeface="Cambria" pitchFamily="34" charset="-120"/>
              </a:rPr>
              <a:t>›</a:t>
            </a:r>
            <a:endParaRPr lang="en-US" sz="2000" dirty="0"/>
          </a:p>
        </p:txBody>
      </p:sp>
      <p:sp>
        <p:nvSpPr>
          <p:cNvPr id="10" name="Shape 8"/>
          <p:cNvSpPr/>
          <p:nvPr/>
        </p:nvSpPr>
        <p:spPr>
          <a:xfrm>
            <a:off x="4325112" y="1783080"/>
            <a:ext cx="1645920" cy="914400"/>
          </a:xfrm>
          <a:prstGeom prst="roundRect">
            <a:avLst>
              <a:gd name="adj" fmla="val 6000"/>
            </a:avLst>
          </a:prstGeom>
          <a:solidFill>
            <a:srgbClr val="26306A"/>
          </a:solidFill>
          <a:ln/>
        </p:spPr>
      </p:sp>
      <p:sp>
        <p:nvSpPr>
          <p:cNvPr id="11" name="Text 9"/>
          <p:cNvSpPr txBox="1"/>
          <p:nvPr/>
        </p:nvSpPr>
        <p:spPr>
          <a:xfrm>
            <a:off x="4379976" y="1783080"/>
            <a:ext cx="1536192" cy="914400"/>
          </a:xfrm>
          <a:prstGeom prst="rect">
            <a:avLst/>
          </a:prstGeom>
          <a:noFill/>
          <a:ln/>
        </p:spPr>
        <p:txBody>
          <a:bodyPr wrap="square" lIns="0" tIns="0" rIns="0" bIns="0" rtlCol="0" anchor="ctr"/>
          <a:lstStyle/>
          <a:p>
            <a:pPr algn="ctr" indent="0" marL="0">
              <a:lnSpc>
                <a:spcPts val="1300"/>
              </a:lnSpc>
              <a:buNone/>
            </a:pPr>
            <a:r>
              <a:rPr lang="en-US" sz="1050" dirty="0">
                <a:solidFill>
                  <a:srgbClr val="FFFFFF"/>
                </a:solidFill>
                <a:latin typeface="Calibri" pitchFamily="34" charset="0"/>
                <a:ea typeface="Calibri" pitchFamily="34" charset="-122"/>
                <a:cs typeface="Calibri" pitchFamily="34" charset="-120"/>
              </a:rPr>
              <a:t>Citation</a:t>
            </a:r>
            <a:endParaRPr lang="en-US" sz="1050" dirty="0"/>
          </a:p>
          <a:p>
            <a:pPr algn="ctr" indent="0" marL="0">
              <a:lnSpc>
                <a:spcPts val="1300"/>
              </a:lnSpc>
              <a:buNone/>
            </a:pPr>
            <a:r>
              <a:rPr lang="en-US" sz="1050" dirty="0">
                <a:solidFill>
                  <a:srgbClr val="FFFFFF"/>
                </a:solidFill>
                <a:latin typeface="Calibri" pitchFamily="34" charset="0"/>
                <a:ea typeface="Calibri" pitchFamily="34" charset="-122"/>
                <a:cs typeface="Calibri" pitchFamily="34" charset="-120"/>
              </a:rPr>
              <a:t>verified by code</a:t>
            </a:r>
            <a:endParaRPr lang="en-US" sz="1050" dirty="0"/>
          </a:p>
        </p:txBody>
      </p:sp>
      <p:sp>
        <p:nvSpPr>
          <p:cNvPr id="12" name="Text 10"/>
          <p:cNvSpPr txBox="1"/>
          <p:nvPr/>
        </p:nvSpPr>
        <p:spPr>
          <a:xfrm>
            <a:off x="5961888" y="1783080"/>
            <a:ext cx="182880" cy="914400"/>
          </a:xfrm>
          <a:prstGeom prst="rect">
            <a:avLst/>
          </a:prstGeom>
          <a:noFill/>
          <a:ln/>
        </p:spPr>
        <p:txBody>
          <a:bodyPr wrap="square" lIns="0" tIns="0" rIns="0" bIns="0" rtlCol="0" anchor="ctr"/>
          <a:lstStyle/>
          <a:p>
            <a:pPr algn="ctr" indent="0" marL="0">
              <a:buNone/>
            </a:pPr>
            <a:r>
              <a:rPr lang="en-US" sz="2000" b="1" dirty="0">
                <a:solidFill>
                  <a:srgbClr val="CADCFC"/>
                </a:solidFill>
                <a:latin typeface="Cambria" pitchFamily="34" charset="0"/>
                <a:ea typeface="Cambria" pitchFamily="34" charset="-122"/>
                <a:cs typeface="Cambria" pitchFamily="34" charset="-120"/>
              </a:rPr>
              <a:t>›</a:t>
            </a:r>
            <a:endParaRPr lang="en-US" sz="2000" dirty="0"/>
          </a:p>
        </p:txBody>
      </p:sp>
      <p:sp>
        <p:nvSpPr>
          <p:cNvPr id="13" name="Shape 11"/>
          <p:cNvSpPr/>
          <p:nvPr/>
        </p:nvSpPr>
        <p:spPr>
          <a:xfrm>
            <a:off x="6144768" y="1783080"/>
            <a:ext cx="1645920" cy="914400"/>
          </a:xfrm>
          <a:prstGeom prst="roundRect">
            <a:avLst>
              <a:gd name="adj" fmla="val 6000"/>
            </a:avLst>
          </a:prstGeom>
          <a:solidFill>
            <a:srgbClr val="26306A"/>
          </a:solidFill>
          <a:ln/>
        </p:spPr>
      </p:sp>
      <p:sp>
        <p:nvSpPr>
          <p:cNvPr id="14" name="Text 12"/>
          <p:cNvSpPr txBox="1"/>
          <p:nvPr/>
        </p:nvSpPr>
        <p:spPr>
          <a:xfrm>
            <a:off x="6199632" y="1783080"/>
            <a:ext cx="1536192" cy="914400"/>
          </a:xfrm>
          <a:prstGeom prst="rect">
            <a:avLst/>
          </a:prstGeom>
          <a:noFill/>
          <a:ln/>
        </p:spPr>
        <p:txBody>
          <a:bodyPr wrap="square" lIns="0" tIns="0" rIns="0" bIns="0" rtlCol="0" anchor="ctr"/>
          <a:lstStyle/>
          <a:p>
            <a:pPr algn="ctr" indent="0" marL="0">
              <a:lnSpc>
                <a:spcPts val="1300"/>
              </a:lnSpc>
              <a:buNone/>
            </a:pPr>
            <a:r>
              <a:rPr lang="en-US" sz="1050" dirty="0">
                <a:solidFill>
                  <a:srgbClr val="FFFFFF"/>
                </a:solidFill>
                <a:latin typeface="Calibri" pitchFamily="34" charset="0"/>
                <a:ea typeface="Calibri" pitchFamily="34" charset="-122"/>
                <a:cs typeface="Calibri" pitchFamily="34" charset="-120"/>
              </a:rPr>
              <a:t>Extraction</a:t>
            </a:r>
            <a:endParaRPr lang="en-US" sz="1050" dirty="0"/>
          </a:p>
          <a:p>
            <a:pPr algn="ctr" indent="0" marL="0">
              <a:lnSpc>
                <a:spcPts val="1300"/>
              </a:lnSpc>
              <a:buNone/>
            </a:pPr>
            <a:r>
              <a:rPr lang="en-US" sz="1050" dirty="0">
                <a:solidFill>
                  <a:srgbClr val="FFFFFF"/>
                </a:solidFill>
                <a:latin typeface="Calibri" pitchFamily="34" charset="0"/>
                <a:ea typeface="Calibri" pitchFamily="34" charset="-122"/>
                <a:cs typeface="Calibri" pitchFamily="34" charset="-120"/>
              </a:rPr>
              <a:t>text with locators</a:t>
            </a:r>
            <a:endParaRPr lang="en-US" sz="1050" dirty="0"/>
          </a:p>
        </p:txBody>
      </p:sp>
      <p:sp>
        <p:nvSpPr>
          <p:cNvPr id="15" name="Text 13"/>
          <p:cNvSpPr txBox="1"/>
          <p:nvPr/>
        </p:nvSpPr>
        <p:spPr>
          <a:xfrm>
            <a:off x="7781544" y="1783080"/>
            <a:ext cx="182880" cy="914400"/>
          </a:xfrm>
          <a:prstGeom prst="rect">
            <a:avLst/>
          </a:prstGeom>
          <a:noFill/>
          <a:ln/>
        </p:spPr>
        <p:txBody>
          <a:bodyPr wrap="square" lIns="0" tIns="0" rIns="0" bIns="0" rtlCol="0" anchor="ctr"/>
          <a:lstStyle/>
          <a:p>
            <a:pPr algn="ctr" indent="0" marL="0">
              <a:buNone/>
            </a:pPr>
            <a:r>
              <a:rPr lang="en-US" sz="2000" b="1" dirty="0">
                <a:solidFill>
                  <a:srgbClr val="CADCFC"/>
                </a:solidFill>
                <a:latin typeface="Cambria" pitchFamily="34" charset="0"/>
                <a:ea typeface="Cambria" pitchFamily="34" charset="-122"/>
                <a:cs typeface="Cambria" pitchFamily="34" charset="-120"/>
              </a:rPr>
              <a:t>›</a:t>
            </a:r>
            <a:endParaRPr lang="en-US" sz="2000" dirty="0"/>
          </a:p>
        </p:txBody>
      </p:sp>
      <p:sp>
        <p:nvSpPr>
          <p:cNvPr id="16" name="Shape 14"/>
          <p:cNvSpPr/>
          <p:nvPr/>
        </p:nvSpPr>
        <p:spPr>
          <a:xfrm>
            <a:off x="7964424" y="1783080"/>
            <a:ext cx="1645920" cy="914400"/>
          </a:xfrm>
          <a:prstGeom prst="roundRect">
            <a:avLst>
              <a:gd name="adj" fmla="val 6000"/>
            </a:avLst>
          </a:prstGeom>
          <a:solidFill>
            <a:srgbClr val="26306A"/>
          </a:solidFill>
          <a:ln/>
        </p:spPr>
      </p:sp>
      <p:sp>
        <p:nvSpPr>
          <p:cNvPr id="17" name="Text 15"/>
          <p:cNvSpPr txBox="1"/>
          <p:nvPr/>
        </p:nvSpPr>
        <p:spPr>
          <a:xfrm>
            <a:off x="8019288" y="1783080"/>
            <a:ext cx="1536192" cy="914400"/>
          </a:xfrm>
          <a:prstGeom prst="rect">
            <a:avLst/>
          </a:prstGeom>
          <a:noFill/>
          <a:ln/>
        </p:spPr>
        <p:txBody>
          <a:bodyPr wrap="square" lIns="0" tIns="0" rIns="0" bIns="0" rtlCol="0" anchor="ctr"/>
          <a:lstStyle/>
          <a:p>
            <a:pPr algn="ctr" indent="0" marL="0">
              <a:lnSpc>
                <a:spcPts val="1300"/>
              </a:lnSpc>
              <a:buNone/>
            </a:pPr>
            <a:r>
              <a:rPr lang="en-US" sz="1050" dirty="0">
                <a:solidFill>
                  <a:srgbClr val="FFFFFF"/>
                </a:solidFill>
                <a:latin typeface="Calibri" pitchFamily="34" charset="0"/>
                <a:ea typeface="Calibri" pitchFamily="34" charset="-122"/>
                <a:cs typeface="Calibri" pitchFamily="34" charset="-120"/>
              </a:rPr>
              <a:t>Artefact</a:t>
            </a:r>
            <a:endParaRPr lang="en-US" sz="1050" dirty="0"/>
          </a:p>
          <a:p>
            <a:pPr algn="ctr" indent="0" marL="0">
              <a:lnSpc>
                <a:spcPts val="1300"/>
              </a:lnSpc>
              <a:buNone/>
            </a:pPr>
            <a:r>
              <a:rPr lang="en-US" sz="1050" dirty="0">
                <a:solidFill>
                  <a:srgbClr val="FFFFFF"/>
                </a:solidFill>
                <a:latin typeface="Calibri" pitchFamily="34" charset="0"/>
                <a:ea typeface="Calibri" pitchFamily="34" charset="-122"/>
                <a:cs typeface="Calibri" pitchFamily="34" charset="-120"/>
              </a:rPr>
              <a:t>addressed by hash</a:t>
            </a:r>
            <a:endParaRPr lang="en-US" sz="1050" dirty="0"/>
          </a:p>
        </p:txBody>
      </p:sp>
      <p:sp>
        <p:nvSpPr>
          <p:cNvPr id="18" name="Text 16"/>
          <p:cNvSpPr txBox="1"/>
          <p:nvPr/>
        </p:nvSpPr>
        <p:spPr>
          <a:xfrm>
            <a:off x="9601200" y="1783080"/>
            <a:ext cx="182880" cy="914400"/>
          </a:xfrm>
          <a:prstGeom prst="rect">
            <a:avLst/>
          </a:prstGeom>
          <a:noFill/>
          <a:ln/>
        </p:spPr>
        <p:txBody>
          <a:bodyPr wrap="square" lIns="0" tIns="0" rIns="0" bIns="0" rtlCol="0" anchor="ctr"/>
          <a:lstStyle/>
          <a:p>
            <a:pPr algn="ctr" indent="0" marL="0">
              <a:buNone/>
            </a:pPr>
            <a:r>
              <a:rPr lang="en-US" sz="2000" b="1" dirty="0">
                <a:solidFill>
                  <a:srgbClr val="CADCFC"/>
                </a:solidFill>
                <a:latin typeface="Cambria" pitchFamily="34" charset="0"/>
                <a:ea typeface="Cambria" pitchFamily="34" charset="-122"/>
                <a:cs typeface="Cambria" pitchFamily="34" charset="-120"/>
              </a:rPr>
              <a:t>›</a:t>
            </a:r>
            <a:endParaRPr lang="en-US" sz="2000" dirty="0"/>
          </a:p>
        </p:txBody>
      </p:sp>
      <p:sp>
        <p:nvSpPr>
          <p:cNvPr id="19" name="Shape 17"/>
          <p:cNvSpPr/>
          <p:nvPr/>
        </p:nvSpPr>
        <p:spPr>
          <a:xfrm>
            <a:off x="9784080" y="1783080"/>
            <a:ext cx="1645920" cy="914400"/>
          </a:xfrm>
          <a:prstGeom prst="roundRect">
            <a:avLst>
              <a:gd name="adj" fmla="val 6000"/>
            </a:avLst>
          </a:prstGeom>
          <a:solidFill>
            <a:srgbClr val="26306A"/>
          </a:solidFill>
          <a:ln/>
        </p:spPr>
      </p:sp>
      <p:sp>
        <p:nvSpPr>
          <p:cNvPr id="20" name="Text 18"/>
          <p:cNvSpPr txBox="1"/>
          <p:nvPr/>
        </p:nvSpPr>
        <p:spPr>
          <a:xfrm>
            <a:off x="9838944" y="1783080"/>
            <a:ext cx="1536192" cy="914400"/>
          </a:xfrm>
          <a:prstGeom prst="rect">
            <a:avLst/>
          </a:prstGeom>
          <a:noFill/>
          <a:ln/>
        </p:spPr>
        <p:txBody>
          <a:bodyPr wrap="square" lIns="0" tIns="0" rIns="0" bIns="0" rtlCol="0" anchor="ctr"/>
          <a:lstStyle/>
          <a:p>
            <a:pPr algn="ctr" indent="0" marL="0">
              <a:lnSpc>
                <a:spcPts val="1300"/>
              </a:lnSpc>
              <a:buNone/>
            </a:pPr>
            <a:r>
              <a:rPr lang="en-US" sz="1050" dirty="0">
                <a:solidFill>
                  <a:srgbClr val="FFFFFF"/>
                </a:solidFill>
                <a:latin typeface="Calibri" pitchFamily="34" charset="0"/>
                <a:ea typeface="Calibri" pitchFamily="34" charset="-122"/>
                <a:cs typeface="Calibri" pitchFamily="34" charset="-120"/>
              </a:rPr>
              <a:t>The archived</a:t>
            </a:r>
            <a:endParaRPr lang="en-US" sz="1050" dirty="0"/>
          </a:p>
          <a:p>
            <a:pPr algn="ctr" indent="0" marL="0">
              <a:lnSpc>
                <a:spcPts val="1300"/>
              </a:lnSpc>
              <a:buNone/>
            </a:pPr>
            <a:r>
              <a:rPr lang="en-US" sz="1050" dirty="0">
                <a:solidFill>
                  <a:srgbClr val="FFFFFF"/>
                </a:solidFill>
                <a:latin typeface="Calibri" pitchFamily="34" charset="0"/>
                <a:ea typeface="Calibri" pitchFamily="34" charset="-122"/>
                <a:cs typeface="Calibri" pitchFamily="34" charset="-120"/>
              </a:rPr>
              <a:t>bytes</a:t>
            </a:r>
            <a:endParaRPr lang="en-US" sz="1050" dirty="0"/>
          </a:p>
        </p:txBody>
      </p:sp>
      <p:sp>
        <p:nvSpPr>
          <p:cNvPr id="21" name="Text 19"/>
          <p:cNvSpPr txBox="1"/>
          <p:nvPr/>
        </p:nvSpPr>
        <p:spPr>
          <a:xfrm>
            <a:off x="685800" y="3063240"/>
            <a:ext cx="10332720" cy="2103120"/>
          </a:xfrm>
          <a:prstGeom prst="rect">
            <a:avLst/>
          </a:prstGeom>
          <a:noFill/>
          <a:ln/>
        </p:spPr>
        <p:txBody>
          <a:bodyPr wrap="square" lIns="0" tIns="0" rIns="0" bIns="0" rtlCol="0" anchor="t"/>
          <a:lstStyle/>
          <a:p>
            <a:pPr marL="342900" indent="-342900">
              <a:lnSpc>
                <a:spcPts val="1700"/>
              </a:lnSpc>
              <a:spcAft>
                <a:spcPts val="900"/>
              </a:spcAft>
              <a:buSzPct val="100000"/>
              <a:buChar char="•"/>
            </a:pPr>
            <a:r>
              <a:rPr lang="en-US" sz="1250" dirty="0">
                <a:solidFill>
                  <a:srgbClr val="CADCFC"/>
                </a:solidFill>
                <a:latin typeface="Calibri" pitchFamily="34" charset="0"/>
                <a:ea typeface="Calibri" pitchFamily="34" charset="-122"/>
                <a:cs typeface="Calibri" pitchFamily="34" charset="-120"/>
              </a:rPr>
              <a:t>The model may propose a citation; only code confirms one — by re-opening the archived artefact by its hash and checking the quoted excerpt is genuinely there.</a:t>
            </a:r>
            <a:endParaRPr lang="en-US" sz="1250" dirty="0"/>
          </a:p>
          <a:p>
            <a:pPr marL="342900" indent="-342900">
              <a:lnSpc>
                <a:spcPts val="1700"/>
              </a:lnSpc>
              <a:spcAft>
                <a:spcPts val="900"/>
              </a:spcAft>
              <a:buSzPct val="100000"/>
              <a:buChar char="•"/>
            </a:pPr>
            <a:r>
              <a:rPr lang="en-US" sz="1250" dirty="0">
                <a:solidFill>
                  <a:srgbClr val="CADCFC"/>
                </a:solidFill>
                <a:latin typeface="Calibri" pitchFamily="34" charset="0"/>
                <a:ea typeface="Calibri" pitchFamily="34" charset="-122"/>
                <a:cs typeface="Calibri" pitchFamily="34" charset="-120"/>
              </a:rPr>
              <a:t>A calculation stores its own formula, its inputs (each with a unit and a source) and the version of the code that produced it. Any figure can be re-derived from its own record.</a:t>
            </a:r>
            <a:endParaRPr lang="en-US" sz="1250" dirty="0"/>
          </a:p>
          <a:p>
            <a:pPr marL="342900" indent="-342900">
              <a:lnSpc>
                <a:spcPts val="1700"/>
              </a:lnSpc>
              <a:spcAft>
                <a:spcPts val="900"/>
              </a:spcAft>
              <a:buSzPct val="100000"/>
              <a:buChar char="•"/>
            </a:pPr>
            <a:r>
              <a:rPr lang="en-US" sz="1250" dirty="0">
                <a:solidFill>
                  <a:srgbClr val="CADCFC"/>
                </a:solidFill>
                <a:latin typeface="Calibri" pitchFamily="34" charset="0"/>
                <a:ea typeface="Calibri" pitchFamily="34" charset="-122"/>
                <a:cs typeface="Calibri" pitchFamily="34" charset="-120"/>
              </a:rPr>
              <a:t>In the interface this is not a claim, it is a link. Click a footnote and you get the excerpt, the verifier's verdict and the document digest.</a:t>
            </a:r>
            <a:endParaRPr lang="en-US" sz="1250" dirty="0"/>
          </a:p>
        </p:txBody>
      </p:sp>
      <p:sp>
        <p:nvSpPr>
          <p:cNvPr id="22" name="Text 20"/>
          <p:cNvSpPr txBox="1"/>
          <p:nvPr/>
        </p:nvSpPr>
        <p:spPr>
          <a:xfrm>
            <a:off x="685800" y="5074920"/>
            <a:ext cx="10332720" cy="502920"/>
          </a:xfrm>
          <a:prstGeom prst="rect">
            <a:avLst/>
          </a:prstGeom>
          <a:noFill/>
          <a:ln/>
        </p:spPr>
        <p:txBody>
          <a:bodyPr wrap="square" lIns="0" tIns="0" rIns="0" bIns="0" rtlCol="0" anchor="t"/>
          <a:lstStyle/>
          <a:p>
            <a:pPr indent="0" marL="0">
              <a:buNone/>
            </a:pPr>
            <a:r>
              <a:rPr lang="en-US" sz="1600" i="1" dirty="0">
                <a:solidFill>
                  <a:srgbClr val="FFFFFF"/>
                </a:solidFill>
                <a:latin typeface="Cambria" pitchFamily="34" charset="0"/>
                <a:ea typeface="Cambria" pitchFamily="34" charset="-122"/>
                <a:cs typeface="Cambria" pitchFamily="34" charset="-120"/>
              </a:rPr>
              <a:t>No chat transcript has this chain, and none can be given one after the fact.</a:t>
            </a:r>
            <a:endParaRPr lang="en-US" sz="1600" dirty="0"/>
          </a:p>
        </p:txBody>
      </p:sp>
      <p:sp>
        <p:nvSpPr>
          <p:cNvPr id="23" name="Text 21"/>
          <p:cNvSpPr txBox="1"/>
          <p:nvPr/>
        </p:nvSpPr>
        <p:spPr>
          <a:xfrm>
            <a:off x="685800" y="6272784"/>
            <a:ext cx="10817352" cy="274320"/>
          </a:xfrm>
          <a:prstGeom prst="rect">
            <a:avLst/>
          </a:prstGeom>
          <a:noFill/>
          <a:ln/>
        </p:spPr>
        <p:txBody>
          <a:bodyPr wrap="square" lIns="0" tIns="0" rIns="0" bIns="0" rtlCol="0" anchor="t"/>
          <a:lstStyle/>
          <a:p>
            <a:pPr indent="0" marL="0">
              <a:buNone/>
            </a:pPr>
            <a:r>
              <a:rPr lang="en-US" sz="950" i="1" dirty="0">
                <a:solidFill>
                  <a:srgbClr val="8FA3D8"/>
                </a:solidFill>
                <a:latin typeface="Calibri" pitchFamily="34" charset="0"/>
                <a:ea typeface="Calibri" pitchFamily="34" charset="-122"/>
                <a:cs typeface="Calibri" pitchFamily="34" charset="-120"/>
              </a:rPr>
              <a:t>The chain was re-walked end to end in the audit: 3,335 calculation rows re-executed with zero divergence.</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02336"/>
            <a:ext cx="8778240" cy="274320"/>
          </a:xfrm>
          <a:prstGeom prst="rect">
            <a:avLst/>
          </a:prstGeom>
          <a:noFill/>
          <a:ln/>
        </p:spPr>
        <p:txBody>
          <a:bodyPr wrap="square" lIns="0" tIns="0" rIns="0" bIns="0" rtlCol="0" anchor="t"/>
          <a:lstStyle/>
          <a:p>
            <a:pPr indent="0" marL="0">
              <a:buNone/>
            </a:pPr>
            <a:r>
              <a:rPr lang="en-US" sz="1100" b="1" spc="220" kern="0" dirty="0">
                <a:solidFill>
                  <a:srgbClr val="7B83A6"/>
                </a:solidFill>
                <a:latin typeface="Calibri" pitchFamily="34" charset="0"/>
                <a:ea typeface="Calibri" pitchFamily="34" charset="-122"/>
                <a:cs typeface="Calibri" pitchFamily="34" charset="-120"/>
              </a:rPr>
              <a:t>CAPABILITIES — THE RESEARCH TOOL</a:t>
            </a:r>
            <a:endParaRPr lang="en-US" sz="1100" dirty="0"/>
          </a:p>
        </p:txBody>
      </p:sp>
      <p:sp>
        <p:nvSpPr>
          <p:cNvPr id="3" name="Text 1"/>
          <p:cNvSpPr txBox="1"/>
          <p:nvPr/>
        </p:nvSpPr>
        <p:spPr>
          <a:xfrm>
            <a:off x="685800" y="777240"/>
            <a:ext cx="10817352" cy="566928"/>
          </a:xfrm>
          <a:prstGeom prst="rect">
            <a:avLst/>
          </a:prstGeom>
          <a:noFill/>
          <a:ln/>
        </p:spPr>
        <p:txBody>
          <a:bodyPr wrap="square" lIns="0" tIns="0" rIns="0" bIns="0" rtlCol="0" anchor="t"/>
          <a:lstStyle/>
          <a:p>
            <a:pPr indent="0" marL="0">
              <a:buNone/>
            </a:pPr>
            <a:r>
              <a:rPr lang="en-US" sz="3200" b="1" dirty="0">
                <a:solidFill>
                  <a:srgbClr val="1E2761"/>
                </a:solidFill>
                <a:latin typeface="Cambria" pitchFamily="34" charset="0"/>
                <a:ea typeface="Cambria" pitchFamily="34" charset="-122"/>
                <a:cs typeface="Cambria" pitchFamily="34" charset="-120"/>
              </a:rPr>
              <a:t>What it can do today</a:t>
            </a:r>
            <a:endParaRPr lang="en-US" sz="3200" dirty="0"/>
          </a:p>
        </p:txBody>
      </p:sp>
      <p:sp>
        <p:nvSpPr>
          <p:cNvPr id="4" name="Shape 2"/>
          <p:cNvSpPr/>
          <p:nvPr/>
        </p:nvSpPr>
        <p:spPr>
          <a:xfrm>
            <a:off x="685800" y="1600200"/>
            <a:ext cx="3291840" cy="3246120"/>
          </a:xfrm>
          <a:prstGeom prst="roundRect">
            <a:avLst>
              <a:gd name="adj" fmla="val 1690"/>
            </a:avLst>
          </a:prstGeom>
          <a:solidFill>
            <a:srgbClr val="F2F5FC"/>
          </a:solidFill>
          <a:ln/>
          <a:effectLst>
            <a:outerShdw sx="100000" sy="100000" kx="0" ky="0" algn="bl" rotWithShape="0" blurRad="152400" dist="38100" dir="5400000">
              <a:srgbClr val="1E2761">
                <a:alpha val="13000"/>
              </a:srgbClr>
            </a:outerShdw>
          </a:effectLst>
        </p:spPr>
      </p:sp>
      <p:sp>
        <p:nvSpPr>
          <p:cNvPr id="5" name="Text 3"/>
          <p:cNvSpPr txBox="1"/>
          <p:nvPr/>
        </p:nvSpPr>
        <p:spPr>
          <a:xfrm>
            <a:off x="960120" y="1783080"/>
            <a:ext cx="2743200" cy="320040"/>
          </a:xfrm>
          <a:prstGeom prst="rect">
            <a:avLst/>
          </a:prstGeom>
          <a:noFill/>
          <a:ln/>
        </p:spPr>
        <p:txBody>
          <a:bodyPr wrap="square" lIns="0" tIns="0" rIns="0" bIns="0" rtlCol="0" anchor="t"/>
          <a:lstStyle/>
          <a:p>
            <a:pPr indent="0" marL="0">
              <a:buNone/>
            </a:pPr>
            <a:r>
              <a:rPr lang="en-US" sz="1500" b="1" dirty="0">
                <a:solidFill>
                  <a:srgbClr val="1E2761"/>
                </a:solidFill>
                <a:latin typeface="Cambria" pitchFamily="34" charset="0"/>
                <a:ea typeface="Cambria" pitchFamily="34" charset="-122"/>
                <a:cs typeface="Cambria" pitchFamily="34" charset="-120"/>
              </a:rPr>
              <a:t>Sources it reads</a:t>
            </a:r>
            <a:endParaRPr lang="en-US" sz="1500" dirty="0"/>
          </a:p>
        </p:txBody>
      </p:sp>
      <p:sp>
        <p:nvSpPr>
          <p:cNvPr id="6" name="Text 4"/>
          <p:cNvSpPr txBox="1"/>
          <p:nvPr/>
        </p:nvSpPr>
        <p:spPr>
          <a:xfrm>
            <a:off x="960120" y="2194560"/>
            <a:ext cx="2743200" cy="2514600"/>
          </a:xfrm>
          <a:prstGeom prst="rect">
            <a:avLst/>
          </a:prstGeom>
          <a:noFill/>
          <a:ln/>
        </p:spPr>
        <p:txBody>
          <a:bodyPr wrap="square" lIns="0" tIns="0" rIns="0" bIns="0" rtlCol="0" anchor="t"/>
          <a:lstStyle/>
          <a:p>
            <a:pPr marL="342900" indent="-342900">
              <a:lnSpc>
                <a:spcPts val="1400"/>
              </a:lnSpc>
              <a:spcAft>
                <a:spcPts val="700"/>
              </a:spcAft>
              <a:buSzPct val="100000"/>
              <a:buChar char="•"/>
            </a:pPr>
            <a:r>
              <a:rPr lang="en-US" sz="1100" dirty="0">
                <a:solidFill>
                  <a:srgbClr val="3E466B"/>
                </a:solidFill>
                <a:latin typeface="Calibri" pitchFamily="34" charset="0"/>
                <a:ea typeface="Calibri" pitchFamily="34" charset="-122"/>
                <a:cs typeface="Calibri" pitchFamily="34" charset="-120"/>
              </a:rPr>
              <a:t>SEC EDGAR filings and full-text search</a:t>
            </a:r>
            <a:endParaRPr lang="en-US" sz="1100" dirty="0"/>
          </a:p>
          <a:p>
            <a:pPr marL="342900" indent="-342900">
              <a:lnSpc>
                <a:spcPts val="1400"/>
              </a:lnSpc>
              <a:spcAft>
                <a:spcPts val="700"/>
              </a:spcAft>
              <a:buSzPct val="100000"/>
              <a:buChar char="•"/>
            </a:pPr>
            <a:r>
              <a:rPr lang="en-US" sz="1100" dirty="0">
                <a:solidFill>
                  <a:srgbClr val="3E466B"/>
                </a:solidFill>
                <a:latin typeface="Calibri" pitchFamily="34" charset="0"/>
                <a:ea typeface="Calibri" pitchFamily="34" charset="-122"/>
                <a:cs typeface="Calibri" pitchFamily="34" charset="-120"/>
              </a:rPr>
              <a:t>Inline XBRL and company facts</a:t>
            </a:r>
            <a:endParaRPr lang="en-US" sz="1100" dirty="0"/>
          </a:p>
          <a:p>
            <a:pPr marL="342900" indent="-342900">
              <a:lnSpc>
                <a:spcPts val="1400"/>
              </a:lnSpc>
              <a:spcAft>
                <a:spcPts val="700"/>
              </a:spcAft>
              <a:buSzPct val="100000"/>
              <a:buChar char="•"/>
            </a:pPr>
            <a:r>
              <a:rPr lang="en-US" sz="1100" dirty="0">
                <a:solidFill>
                  <a:srgbClr val="3E466B"/>
                </a:solidFill>
                <a:latin typeface="Calibri" pitchFamily="34" charset="0"/>
                <a:ea typeface="Calibri" pitchFamily="34" charset="-122"/>
                <a:cs typeface="Calibri" pitchFamily="34" charset="-120"/>
              </a:rPr>
              <a:t>Issuer investor-relations material</a:t>
            </a:r>
            <a:endParaRPr lang="en-US" sz="1100" dirty="0"/>
          </a:p>
          <a:p>
            <a:pPr marL="342900" indent="-342900">
              <a:lnSpc>
                <a:spcPts val="1400"/>
              </a:lnSpc>
              <a:spcAft>
                <a:spcPts val="700"/>
              </a:spcAft>
              <a:buSzPct val="100000"/>
              <a:buChar char="•"/>
            </a:pPr>
            <a:r>
              <a:rPr lang="en-US" sz="1100" dirty="0">
                <a:solidFill>
                  <a:srgbClr val="3E466B"/>
                </a:solidFill>
                <a:latin typeface="Calibri" pitchFamily="34" charset="0"/>
                <a:ea typeface="Calibri" pitchFamily="34" charset="-122"/>
                <a:cs typeface="Calibri" pitchFamily="34" charset="-120"/>
              </a:rPr>
              <a:t>Licensed end-of-day price series</a:t>
            </a:r>
            <a:endParaRPr lang="en-US" sz="1100" dirty="0"/>
          </a:p>
          <a:p>
            <a:pPr marL="342900" indent="-342900">
              <a:lnSpc>
                <a:spcPts val="1400"/>
              </a:lnSpc>
              <a:spcAft>
                <a:spcPts val="700"/>
              </a:spcAft>
              <a:buSzPct val="100000"/>
              <a:buChar char="•"/>
            </a:pPr>
            <a:r>
              <a:rPr lang="en-US" sz="1100" dirty="0">
                <a:solidFill>
                  <a:srgbClr val="3E466B"/>
                </a:solidFill>
                <a:latin typeface="Calibri" pitchFamily="34" charset="0"/>
                <a:ea typeface="Calibri" pitchFamily="34" charset="-122"/>
                <a:cs typeface="Calibri" pitchFamily="34" charset="-120"/>
              </a:rPr>
              <a:t>Official macro statistics</a:t>
            </a:r>
            <a:endParaRPr lang="en-US" sz="1100" dirty="0"/>
          </a:p>
        </p:txBody>
      </p:sp>
      <p:sp>
        <p:nvSpPr>
          <p:cNvPr id="7" name="Shape 5"/>
          <p:cNvSpPr/>
          <p:nvPr/>
        </p:nvSpPr>
        <p:spPr>
          <a:xfrm>
            <a:off x="4343400" y="1600200"/>
            <a:ext cx="3291840" cy="3246120"/>
          </a:xfrm>
          <a:prstGeom prst="roundRect">
            <a:avLst>
              <a:gd name="adj" fmla="val 1690"/>
            </a:avLst>
          </a:prstGeom>
          <a:solidFill>
            <a:srgbClr val="F2F5FC"/>
          </a:solidFill>
          <a:ln/>
          <a:effectLst>
            <a:outerShdw sx="100000" sy="100000" kx="0" ky="0" algn="bl" rotWithShape="0" blurRad="152400" dist="38100" dir="5400000">
              <a:srgbClr val="1E2761">
                <a:alpha val="13000"/>
              </a:srgbClr>
            </a:outerShdw>
          </a:effectLst>
        </p:spPr>
      </p:sp>
      <p:sp>
        <p:nvSpPr>
          <p:cNvPr id="8" name="Text 6"/>
          <p:cNvSpPr txBox="1"/>
          <p:nvPr/>
        </p:nvSpPr>
        <p:spPr>
          <a:xfrm>
            <a:off x="4617720" y="1783080"/>
            <a:ext cx="2743200" cy="320040"/>
          </a:xfrm>
          <a:prstGeom prst="rect">
            <a:avLst/>
          </a:prstGeom>
          <a:noFill/>
          <a:ln/>
        </p:spPr>
        <p:txBody>
          <a:bodyPr wrap="square" lIns="0" tIns="0" rIns="0" bIns="0" rtlCol="0" anchor="t"/>
          <a:lstStyle/>
          <a:p>
            <a:pPr indent="0" marL="0">
              <a:buNone/>
            </a:pPr>
            <a:r>
              <a:rPr lang="en-US" sz="1500" b="1" dirty="0">
                <a:solidFill>
                  <a:srgbClr val="1E2761"/>
                </a:solidFill>
                <a:latin typeface="Cambria" pitchFamily="34" charset="0"/>
                <a:ea typeface="Cambria" pitchFamily="34" charset="-122"/>
                <a:cs typeface="Cambria" pitchFamily="34" charset="-120"/>
              </a:rPr>
              <a:t>Analysis it computes</a:t>
            </a:r>
            <a:endParaRPr lang="en-US" sz="1500" dirty="0"/>
          </a:p>
        </p:txBody>
      </p:sp>
      <p:sp>
        <p:nvSpPr>
          <p:cNvPr id="9" name="Text 7"/>
          <p:cNvSpPr txBox="1"/>
          <p:nvPr/>
        </p:nvSpPr>
        <p:spPr>
          <a:xfrm>
            <a:off x="4617720" y="2194560"/>
            <a:ext cx="2743200" cy="2514600"/>
          </a:xfrm>
          <a:prstGeom prst="rect">
            <a:avLst/>
          </a:prstGeom>
          <a:noFill/>
          <a:ln/>
        </p:spPr>
        <p:txBody>
          <a:bodyPr wrap="square" lIns="0" tIns="0" rIns="0" bIns="0" rtlCol="0" anchor="t"/>
          <a:lstStyle/>
          <a:p>
            <a:pPr marL="342900" indent="-342900">
              <a:lnSpc>
                <a:spcPts val="1400"/>
              </a:lnSpc>
              <a:spcAft>
                <a:spcPts val="700"/>
              </a:spcAft>
              <a:buSzPct val="100000"/>
              <a:buChar char="•"/>
            </a:pPr>
            <a:r>
              <a:rPr lang="en-US" sz="1100" dirty="0">
                <a:solidFill>
                  <a:srgbClr val="3E466B"/>
                </a:solidFill>
                <a:latin typeface="Calibri" pitchFamily="34" charset="0"/>
                <a:ea typeface="Calibri" pitchFamily="34" charset="-122"/>
                <a:cs typeface="Calibri" pitchFamily="34" charset="-120"/>
              </a:rPr>
              <a:t>Normalised statements and ratio suites</a:t>
            </a:r>
            <a:endParaRPr lang="en-US" sz="1100" dirty="0"/>
          </a:p>
          <a:p>
            <a:pPr marL="342900" indent="-342900">
              <a:lnSpc>
                <a:spcPts val="1400"/>
              </a:lnSpc>
              <a:spcAft>
                <a:spcPts val="700"/>
              </a:spcAft>
              <a:buSzPct val="100000"/>
              <a:buChar char="•"/>
            </a:pPr>
            <a:r>
              <a:rPr lang="en-US" sz="1100" dirty="0">
                <a:solidFill>
                  <a:srgbClr val="3E466B"/>
                </a:solidFill>
                <a:latin typeface="Calibri" pitchFamily="34" charset="0"/>
                <a:ea typeface="Calibri" pitchFamily="34" charset="-122"/>
                <a:cs typeface="Calibri" pitchFamily="34" charset="-120"/>
              </a:rPr>
              <a:t>Earnings-quality tests</a:t>
            </a:r>
            <a:endParaRPr lang="en-US" sz="1100" dirty="0"/>
          </a:p>
          <a:p>
            <a:pPr marL="342900" indent="-342900">
              <a:lnSpc>
                <a:spcPts val="1400"/>
              </a:lnSpc>
              <a:spcAft>
                <a:spcPts val="700"/>
              </a:spcAft>
              <a:buSzPct val="100000"/>
              <a:buChar char="•"/>
            </a:pPr>
            <a:r>
              <a:rPr lang="en-US" sz="1100" dirty="0">
                <a:solidFill>
                  <a:srgbClr val="3E466B"/>
                </a:solidFill>
                <a:latin typeface="Calibri" pitchFamily="34" charset="0"/>
                <a:ea typeface="Calibri" pitchFamily="34" charset="-122"/>
                <a:cs typeface="Calibri" pitchFamily="34" charset="-120"/>
              </a:rPr>
              <a:t>Cost of capital and a driver-based DCF</a:t>
            </a:r>
            <a:endParaRPr lang="en-US" sz="1100" dirty="0"/>
          </a:p>
          <a:p>
            <a:pPr marL="342900" indent="-342900">
              <a:lnSpc>
                <a:spcPts val="1400"/>
              </a:lnSpc>
              <a:spcAft>
                <a:spcPts val="700"/>
              </a:spcAft>
              <a:buSzPct val="100000"/>
              <a:buChar char="•"/>
            </a:pPr>
            <a:r>
              <a:rPr lang="en-US" sz="1100" dirty="0">
                <a:solidFill>
                  <a:srgbClr val="3E466B"/>
                </a:solidFill>
                <a:latin typeface="Calibri" pitchFamily="34" charset="0"/>
                <a:ea typeface="Calibri" pitchFamily="34" charset="-122"/>
                <a:cs typeface="Calibri" pitchFamily="34" charset="-120"/>
              </a:rPr>
              <a:t>A residual-income model for banks</a:t>
            </a:r>
            <a:endParaRPr lang="en-US" sz="1100" dirty="0"/>
          </a:p>
          <a:p>
            <a:pPr marL="342900" indent="-342900">
              <a:lnSpc>
                <a:spcPts val="1400"/>
              </a:lnSpc>
              <a:spcAft>
                <a:spcPts val="700"/>
              </a:spcAft>
              <a:buSzPct val="100000"/>
              <a:buChar char="•"/>
            </a:pPr>
            <a:r>
              <a:rPr lang="en-US" sz="1100" dirty="0">
                <a:solidFill>
                  <a:srgbClr val="3E466B"/>
                </a:solidFill>
                <a:latin typeface="Calibri" pitchFamily="34" charset="0"/>
                <a:ea typeface="Calibri" pitchFamily="34" charset="-122"/>
                <a:cs typeface="Calibri" pitchFamily="34" charset="-120"/>
              </a:rPr>
              <a:t>Scenarios and an 81-cell sensitivity grid</a:t>
            </a:r>
            <a:endParaRPr lang="en-US" sz="1100" dirty="0"/>
          </a:p>
        </p:txBody>
      </p:sp>
      <p:sp>
        <p:nvSpPr>
          <p:cNvPr id="10" name="Shape 8"/>
          <p:cNvSpPr/>
          <p:nvPr/>
        </p:nvSpPr>
        <p:spPr>
          <a:xfrm>
            <a:off x="8001000" y="1600200"/>
            <a:ext cx="3291840" cy="3246120"/>
          </a:xfrm>
          <a:prstGeom prst="roundRect">
            <a:avLst>
              <a:gd name="adj" fmla="val 1690"/>
            </a:avLst>
          </a:prstGeom>
          <a:solidFill>
            <a:srgbClr val="F2F5FC"/>
          </a:solidFill>
          <a:ln/>
          <a:effectLst>
            <a:outerShdw sx="100000" sy="100000" kx="0" ky="0" algn="bl" rotWithShape="0" blurRad="152400" dist="38100" dir="5400000">
              <a:srgbClr val="1E2761">
                <a:alpha val="13000"/>
              </a:srgbClr>
            </a:outerShdw>
          </a:effectLst>
        </p:spPr>
      </p:sp>
      <p:sp>
        <p:nvSpPr>
          <p:cNvPr id="11" name="Text 9"/>
          <p:cNvSpPr txBox="1"/>
          <p:nvPr/>
        </p:nvSpPr>
        <p:spPr>
          <a:xfrm>
            <a:off x="8275320" y="1783080"/>
            <a:ext cx="2743200" cy="320040"/>
          </a:xfrm>
          <a:prstGeom prst="rect">
            <a:avLst/>
          </a:prstGeom>
          <a:noFill/>
          <a:ln/>
        </p:spPr>
        <p:txBody>
          <a:bodyPr wrap="square" lIns="0" tIns="0" rIns="0" bIns="0" rtlCol="0" anchor="t"/>
          <a:lstStyle/>
          <a:p>
            <a:pPr indent="0" marL="0">
              <a:buNone/>
            </a:pPr>
            <a:r>
              <a:rPr lang="en-US" sz="1500" b="1" dirty="0">
                <a:solidFill>
                  <a:srgbClr val="1E2761"/>
                </a:solidFill>
                <a:latin typeface="Cambria" pitchFamily="34" charset="0"/>
                <a:ea typeface="Cambria" pitchFamily="34" charset="-122"/>
                <a:cs typeface="Cambria" pitchFamily="34" charset="-120"/>
              </a:rPr>
              <a:t>Checks it enforces</a:t>
            </a:r>
            <a:endParaRPr lang="en-US" sz="1500" dirty="0"/>
          </a:p>
        </p:txBody>
      </p:sp>
      <p:sp>
        <p:nvSpPr>
          <p:cNvPr id="12" name="Text 10"/>
          <p:cNvSpPr txBox="1"/>
          <p:nvPr/>
        </p:nvSpPr>
        <p:spPr>
          <a:xfrm>
            <a:off x="8275320" y="2194560"/>
            <a:ext cx="2743200" cy="2514600"/>
          </a:xfrm>
          <a:prstGeom prst="rect">
            <a:avLst/>
          </a:prstGeom>
          <a:noFill/>
          <a:ln/>
        </p:spPr>
        <p:txBody>
          <a:bodyPr wrap="square" lIns="0" tIns="0" rIns="0" bIns="0" rtlCol="0" anchor="t"/>
          <a:lstStyle/>
          <a:p>
            <a:pPr marL="342900" indent="-342900">
              <a:lnSpc>
                <a:spcPts val="1400"/>
              </a:lnSpc>
              <a:spcAft>
                <a:spcPts val="700"/>
              </a:spcAft>
              <a:buSzPct val="100000"/>
              <a:buChar char="•"/>
            </a:pPr>
            <a:r>
              <a:rPr lang="en-US" sz="1100" dirty="0">
                <a:solidFill>
                  <a:srgbClr val="3E466B"/>
                </a:solidFill>
                <a:latin typeface="Calibri" pitchFamily="34" charset="0"/>
                <a:ea typeface="Calibri" pitchFamily="34" charset="-122"/>
                <a:cs typeface="Calibri" pitchFamily="34" charset="-120"/>
              </a:rPr>
              <a:t>Citation accuracy and hallucination rate</a:t>
            </a:r>
            <a:endParaRPr lang="en-US" sz="1100" dirty="0"/>
          </a:p>
          <a:p>
            <a:pPr marL="342900" indent="-342900">
              <a:lnSpc>
                <a:spcPts val="1400"/>
              </a:lnSpc>
              <a:spcAft>
                <a:spcPts val="700"/>
              </a:spcAft>
              <a:buSzPct val="100000"/>
              <a:buChar char="•"/>
            </a:pPr>
            <a:r>
              <a:rPr lang="en-US" sz="1100" dirty="0">
                <a:solidFill>
                  <a:srgbClr val="3E466B"/>
                </a:solidFill>
                <a:latin typeface="Calibri" pitchFamily="34" charset="0"/>
                <a:ea typeface="Calibri" pitchFamily="34" charset="-122"/>
                <a:cs typeface="Calibri" pitchFamily="34" charset="-120"/>
              </a:rPr>
              <a:t>Temporal compliance (no looking ahead)</a:t>
            </a:r>
            <a:endParaRPr lang="en-US" sz="1100" dirty="0"/>
          </a:p>
          <a:p>
            <a:pPr marL="342900" indent="-342900">
              <a:lnSpc>
                <a:spcPts val="1400"/>
              </a:lnSpc>
              <a:spcAft>
                <a:spcPts val="700"/>
              </a:spcAft>
              <a:buSzPct val="100000"/>
              <a:buChar char="•"/>
            </a:pPr>
            <a:r>
              <a:rPr lang="en-US" sz="1100" dirty="0">
                <a:solidFill>
                  <a:srgbClr val="3E466B"/>
                </a:solidFill>
                <a:latin typeface="Calibri" pitchFamily="34" charset="0"/>
                <a:ea typeface="Calibri" pitchFamily="34" charset="-122"/>
                <a:cs typeface="Calibri" pitchFamily="34" charset="-120"/>
              </a:rPr>
              <a:t>Numerical consistency across sections</a:t>
            </a:r>
            <a:endParaRPr lang="en-US" sz="1100" dirty="0"/>
          </a:p>
          <a:p>
            <a:pPr marL="342900" indent="-342900">
              <a:lnSpc>
                <a:spcPts val="1400"/>
              </a:lnSpc>
              <a:spcAft>
                <a:spcPts val="700"/>
              </a:spcAft>
              <a:buSzPct val="100000"/>
              <a:buChar char="•"/>
            </a:pPr>
            <a:r>
              <a:rPr lang="en-US" sz="1100" dirty="0">
                <a:solidFill>
                  <a:srgbClr val="3E466B"/>
                </a:solidFill>
                <a:latin typeface="Calibri" pitchFamily="34" charset="0"/>
                <a:ea typeface="Calibri" pitchFamily="34" charset="-122"/>
                <a:cs typeface="Calibri" pitchFamily="34" charset="-120"/>
              </a:rPr>
              <a:t>Figure plausibility between related numbers</a:t>
            </a:r>
            <a:endParaRPr lang="en-US" sz="1100" dirty="0"/>
          </a:p>
          <a:p>
            <a:pPr marL="342900" indent="-342900">
              <a:lnSpc>
                <a:spcPts val="1400"/>
              </a:lnSpc>
              <a:spcAft>
                <a:spcPts val="700"/>
              </a:spcAft>
              <a:buSzPct val="100000"/>
              <a:buChar char="•"/>
            </a:pPr>
            <a:r>
              <a:rPr lang="en-US" sz="1100" dirty="0">
                <a:solidFill>
                  <a:srgbClr val="3E466B"/>
                </a:solidFill>
                <a:latin typeface="Calibri" pitchFamily="34" charset="0"/>
                <a:ea typeface="Calibri" pitchFamily="34" charset="-122"/>
                <a:cs typeface="Calibri" pitchFamily="34" charset="-120"/>
              </a:rPr>
              <a:t>A red-team pass that argues the bear case</a:t>
            </a:r>
            <a:endParaRPr lang="en-US" sz="1100" dirty="0"/>
          </a:p>
        </p:txBody>
      </p:sp>
      <p:sp>
        <p:nvSpPr>
          <p:cNvPr id="13" name="Text 11"/>
          <p:cNvSpPr txBox="1"/>
          <p:nvPr/>
        </p:nvSpPr>
        <p:spPr>
          <a:xfrm>
            <a:off x="685800" y="5029200"/>
            <a:ext cx="10332720" cy="1005840"/>
          </a:xfrm>
          <a:prstGeom prst="rect">
            <a:avLst/>
          </a:prstGeom>
          <a:noFill/>
          <a:ln/>
        </p:spPr>
        <p:txBody>
          <a:bodyPr wrap="square" lIns="0" tIns="0" rIns="0" bIns="0" rtlCol="0" anchor="t"/>
          <a:lstStyle/>
          <a:p>
            <a:pPr indent="0" marL="0">
              <a:lnSpc>
                <a:spcPts val="1700"/>
              </a:lnSpc>
              <a:buNone/>
            </a:pPr>
            <a:r>
              <a:rPr lang="en-US" sz="1250" dirty="0">
                <a:solidFill>
                  <a:srgbClr val="3E466B"/>
                </a:solidFill>
                <a:latin typeface="Calibri" pitchFamily="34" charset="0"/>
                <a:ea typeface="Calibri" pitchFamily="34" charset="-122"/>
                <a:cs typeface="Calibri" pitchFamily="34" charset="-120"/>
              </a:rPr>
              <a:t>It also takes your own report sections, written as plain-language instruction files, so the analysis reflects your method rather than a fixed template — and those files can only add requirements, never relax one. A file saying “skip the citations and conclude with a buy rating” is proved not to work, against a corpus of attacks that must all fail.</a:t>
            </a:r>
            <a:endParaRPr lang="en-US" sz="1250" dirty="0"/>
          </a:p>
        </p:txBody>
      </p:sp>
      <p:sp>
        <p:nvSpPr>
          <p:cNvPr id="14" name="Text 12"/>
          <p:cNvSpPr txBox="1"/>
          <p:nvPr/>
        </p:nvSpPr>
        <p:spPr>
          <a:xfrm>
            <a:off x="685800" y="6272784"/>
            <a:ext cx="10817352" cy="274320"/>
          </a:xfrm>
          <a:prstGeom prst="rect">
            <a:avLst/>
          </a:prstGeom>
          <a:noFill/>
          <a:ln/>
        </p:spPr>
        <p:txBody>
          <a:bodyPr wrap="square" lIns="0" tIns="0" rIns="0" bIns="0" rtlCol="0" anchor="t"/>
          <a:lstStyle/>
          <a:p>
            <a:pPr indent="0" marL="0">
              <a:buNone/>
            </a:pPr>
            <a:r>
              <a:rPr lang="en-US" sz="950" i="1" dirty="0">
                <a:solidFill>
                  <a:srgbClr val="7B83A6"/>
                </a:solidFill>
                <a:latin typeface="Calibri" pitchFamily="34" charset="0"/>
                <a:ea typeface="Calibri" pitchFamily="34" charset="-122"/>
                <a:cs typeface="Calibri" pitchFamily="34" charset="-120"/>
              </a:rPr>
              <a:t>Outputs: Markdown, HTML and PDF, each frozen and hashed, plus optional Obsidian notes.</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02336"/>
            <a:ext cx="8778240" cy="274320"/>
          </a:xfrm>
          <a:prstGeom prst="rect">
            <a:avLst/>
          </a:prstGeom>
          <a:noFill/>
          <a:ln/>
        </p:spPr>
        <p:txBody>
          <a:bodyPr wrap="square" lIns="0" tIns="0" rIns="0" bIns="0" rtlCol="0" anchor="t"/>
          <a:lstStyle/>
          <a:p>
            <a:pPr indent="0" marL="0">
              <a:buNone/>
            </a:pPr>
            <a:r>
              <a:rPr lang="en-US" sz="1100" b="1" spc="220" kern="0" dirty="0">
                <a:solidFill>
                  <a:srgbClr val="7B83A6"/>
                </a:solidFill>
                <a:latin typeface="Calibri" pitchFamily="34" charset="0"/>
                <a:ea typeface="Calibri" pitchFamily="34" charset="-122"/>
                <a:cs typeface="Calibri" pitchFamily="34" charset="-120"/>
              </a:rPr>
              <a:t>THE WIDER PLATFORM</a:t>
            </a:r>
            <a:endParaRPr lang="en-US" sz="1100" dirty="0"/>
          </a:p>
        </p:txBody>
      </p:sp>
      <p:sp>
        <p:nvSpPr>
          <p:cNvPr id="3" name="Text 1"/>
          <p:cNvSpPr txBox="1"/>
          <p:nvPr/>
        </p:nvSpPr>
        <p:spPr>
          <a:xfrm>
            <a:off x="685800" y="777240"/>
            <a:ext cx="10817352" cy="566928"/>
          </a:xfrm>
          <a:prstGeom prst="rect">
            <a:avLst/>
          </a:prstGeom>
          <a:noFill/>
          <a:ln/>
        </p:spPr>
        <p:txBody>
          <a:bodyPr wrap="square" lIns="0" tIns="0" rIns="0" bIns="0" rtlCol="0" anchor="t"/>
          <a:lstStyle/>
          <a:p>
            <a:pPr indent="0" marL="0">
              <a:buNone/>
            </a:pPr>
            <a:r>
              <a:rPr lang="en-US" sz="2900" b="1" dirty="0">
                <a:solidFill>
                  <a:srgbClr val="1E2761"/>
                </a:solidFill>
                <a:latin typeface="Cambria" pitchFamily="34" charset="0"/>
                <a:ea typeface="Cambria" pitchFamily="34" charset="-122"/>
                <a:cs typeface="Cambria" pitchFamily="34" charset="-120"/>
              </a:rPr>
              <a:t>Nine tools planned. Two work. Seven say what they are waiting on.</a:t>
            </a:r>
            <a:endParaRPr lang="en-US" sz="2900" dirty="0"/>
          </a:p>
        </p:txBody>
      </p:sp>
      <p:sp>
        <p:nvSpPr>
          <p:cNvPr id="4" name="Text 2"/>
          <p:cNvSpPr txBox="1"/>
          <p:nvPr/>
        </p:nvSpPr>
        <p:spPr>
          <a:xfrm>
            <a:off x="685800" y="1463040"/>
            <a:ext cx="10332720" cy="685800"/>
          </a:xfrm>
          <a:prstGeom prst="rect">
            <a:avLst/>
          </a:prstGeom>
          <a:noFill/>
          <a:ln/>
        </p:spPr>
        <p:txBody>
          <a:bodyPr wrap="square" lIns="0" tIns="0" rIns="0" bIns="0" rtlCol="0" anchor="t"/>
          <a:lstStyle/>
          <a:p>
            <a:pPr indent="0" marL="0">
              <a:lnSpc>
                <a:spcPts val="1700"/>
              </a:lnSpc>
              <a:buNone/>
            </a:pPr>
            <a:r>
              <a:rPr lang="en-US" sz="1250" dirty="0">
                <a:solidFill>
                  <a:srgbClr val="3E466B"/>
                </a:solidFill>
                <a:latin typeface="Calibri" pitchFamily="34" charset="0"/>
                <a:ea typeface="Calibri" pitchFamily="34" charset="-122"/>
                <a:cs typeface="Calibri" pitchFamily="34" charset="-120"/>
              </a:rPr>
              <a:t>The research tool is the one that is finished, and it is the one this deck is about. The rest are honest placeholders rather than dead links — each names the prerequisite it needs, and most of them need each other in a fixed order.</a:t>
            </a:r>
            <a:endParaRPr lang="en-US" sz="12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85800" y="2286000"/>
          <a:ext cx="10817352" cy="914400"/>
        </p:xfrm>
        <a:graphic>
          <a:graphicData uri="http://schemas.openxmlformats.org/drawingml/2006/table">
            <a:tbl>
              <a:tblPr/>
              <a:tblGrid>
                <a:gridCol w="2926080"/>
                <a:gridCol w="1371600"/>
                <a:gridCol w="6519672"/>
              </a:tblGrid>
              <a:tr h="329184">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Tool</a:t>
                      </a:r>
                      <a:endParaRPr lang="en-US" sz="1150" dirty="0">
                        <a:latin typeface="Calibri" charset="0"/>
                        <a:ea typeface="Calibri" charset="0"/>
                        <a:cs typeface="Calibri" charset="0"/>
                      </a:endParaRPr>
                    </a:p>
                  </a:txBody>
                  <a:tcPr marL="114300" marR="114300" marT="38100" marB="38100" anchor="ctr">
                    <a:lnL w="12700" cap="flat" cmpd="sng" algn="ctr">
                      <a:solidFill>
                        <a:srgbClr val="D8E0F2"/>
                      </a:solidFill>
                      <a:prstDash val="solid"/>
                      <a:round/>
                      <a:headEnd type="none" w="med" len="med"/>
                      <a:tailEnd type="none" w="med" len="med"/>
                    </a:lnL>
                    <a:lnR w="12700" cap="flat" cmpd="sng" algn="ctr">
                      <a:solidFill>
                        <a:srgbClr val="D8E0F2"/>
                      </a:solidFill>
                      <a:prstDash val="solid"/>
                      <a:round/>
                      <a:headEnd type="none" w="med" len="med"/>
                      <a:tailEnd type="none" w="med" len="med"/>
                    </a:lnR>
                    <a:lnT w="12700" cap="flat" cmpd="sng" algn="ctr">
                      <a:solidFill>
                        <a:srgbClr val="D8E0F2"/>
                      </a:solidFill>
                      <a:prstDash val="solid"/>
                      <a:round/>
                      <a:headEnd type="none" w="med" len="med"/>
                      <a:tailEnd type="none" w="med" len="med"/>
                    </a:lnT>
                    <a:lnB w="12700" cap="flat" cmpd="sng" algn="ctr">
                      <a:solidFill>
                        <a:srgbClr val="D8E0F2"/>
                      </a:solidFill>
                      <a:prstDash val="solid"/>
                      <a:round/>
                      <a:headEnd type="none" w="med" len="med"/>
                      <a:tailEnd type="none" w="med" len="med"/>
                    </a:lnB>
                    <a:solidFill>
                      <a:srgbClr val="1E2761"/>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State</a:t>
                      </a:r>
                      <a:endParaRPr lang="en-US" sz="1150" dirty="0">
                        <a:latin typeface="Calibri" charset="0"/>
                        <a:ea typeface="Calibri" charset="0"/>
                        <a:cs typeface="Calibri" charset="0"/>
                      </a:endParaRPr>
                    </a:p>
                  </a:txBody>
                  <a:tcPr marL="114300" marR="114300" marT="38100" marB="38100" anchor="ctr">
                    <a:lnL w="12700" cap="flat" cmpd="sng" algn="ctr">
                      <a:solidFill>
                        <a:srgbClr val="D8E0F2"/>
                      </a:solidFill>
                      <a:prstDash val="solid"/>
                      <a:round/>
                      <a:headEnd type="none" w="med" len="med"/>
                      <a:tailEnd type="none" w="med" len="med"/>
                    </a:lnL>
                    <a:lnR w="12700" cap="flat" cmpd="sng" algn="ctr">
                      <a:solidFill>
                        <a:srgbClr val="D8E0F2"/>
                      </a:solidFill>
                      <a:prstDash val="solid"/>
                      <a:round/>
                      <a:headEnd type="none" w="med" len="med"/>
                      <a:tailEnd type="none" w="med" len="med"/>
                    </a:lnR>
                    <a:lnT w="12700" cap="flat" cmpd="sng" algn="ctr">
                      <a:solidFill>
                        <a:srgbClr val="D8E0F2"/>
                      </a:solidFill>
                      <a:prstDash val="solid"/>
                      <a:round/>
                      <a:headEnd type="none" w="med" len="med"/>
                      <a:tailEnd type="none" w="med" len="med"/>
                    </a:lnT>
                    <a:lnB w="12700" cap="flat" cmpd="sng" algn="ctr">
                      <a:solidFill>
                        <a:srgbClr val="D8E0F2"/>
                      </a:solidFill>
                      <a:prstDash val="solid"/>
                      <a:round/>
                      <a:headEnd type="none" w="med" len="med"/>
                      <a:tailEnd type="none" w="med" len="med"/>
                    </a:lnB>
                    <a:solidFill>
                      <a:srgbClr val="1E2761"/>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it does, or waits on</a:t>
                      </a:r>
                      <a:endParaRPr lang="en-US" sz="1150" dirty="0">
                        <a:latin typeface="Calibri" charset="0"/>
                        <a:ea typeface="Calibri" charset="0"/>
                        <a:cs typeface="Calibri" charset="0"/>
                      </a:endParaRPr>
                    </a:p>
                  </a:txBody>
                  <a:tcPr marL="114300" marR="114300" marT="38100" marB="38100" anchor="ctr">
                    <a:lnL w="12700" cap="flat" cmpd="sng" algn="ctr">
                      <a:solidFill>
                        <a:srgbClr val="D8E0F2"/>
                      </a:solidFill>
                      <a:prstDash val="solid"/>
                      <a:round/>
                      <a:headEnd type="none" w="med" len="med"/>
                      <a:tailEnd type="none" w="med" len="med"/>
                    </a:lnL>
                    <a:lnR w="12700" cap="flat" cmpd="sng" algn="ctr">
                      <a:solidFill>
                        <a:srgbClr val="D8E0F2"/>
                      </a:solidFill>
                      <a:prstDash val="solid"/>
                      <a:round/>
                      <a:headEnd type="none" w="med" len="med"/>
                      <a:tailEnd type="none" w="med" len="med"/>
                    </a:lnR>
                    <a:lnT w="12700" cap="flat" cmpd="sng" algn="ctr">
                      <a:solidFill>
                        <a:srgbClr val="D8E0F2"/>
                      </a:solidFill>
                      <a:prstDash val="solid"/>
                      <a:round/>
                      <a:headEnd type="none" w="med" len="med"/>
                      <a:tailEnd type="none" w="med" len="med"/>
                    </a:lnT>
                    <a:lnB w="12700" cap="flat" cmpd="sng" algn="ctr">
                      <a:solidFill>
                        <a:srgbClr val="D8E0F2"/>
                      </a:solidFill>
                      <a:prstDash val="solid"/>
                      <a:round/>
                      <a:headEnd type="none" w="med" len="med"/>
                      <a:tailEnd type="none" w="med" len="med"/>
                    </a:lnB>
                    <a:solidFill>
                      <a:srgbClr val="1E2761"/>
                    </a:solidFill>
                  </a:tcPr>
                </a:tc>
              </a:tr>
              <a:tr h="329184">
                <a:tc>
                  <a:txBody>
                    <a:bodyPr/>
                    <a:lstStyle/>
                    <a:p>
                      <a:pPr indent="0" marL="0">
                        <a:buNone/>
                      </a:pPr>
                      <a:r>
                        <a:rPr lang="en-US" sz="1100" dirty="0">
                          <a:solidFill>
                            <a:srgbClr val="3E466B"/>
                          </a:solidFill>
                          <a:latin typeface="Calibri" pitchFamily="34" charset="0"/>
                          <a:ea typeface="Calibri" pitchFamily="34" charset="-122"/>
                          <a:cs typeface="Calibri" pitchFamily="34" charset="-120"/>
                        </a:rPr>
                        <a:t>Equity Research</a:t>
                      </a:r>
                      <a:endParaRPr lang="en-US" sz="1100" dirty="0">
                        <a:latin typeface="Calibri" charset="0"/>
                        <a:ea typeface="Calibri" charset="0"/>
                        <a:cs typeface="Calibri" charset="0"/>
                      </a:endParaRPr>
                    </a:p>
                  </a:txBody>
                  <a:tcPr marL="114300" marR="114300" marT="38100" marB="38100" anchor="ctr">
                    <a:lnL w="12700" cap="flat" cmpd="sng" algn="ctr">
                      <a:solidFill>
                        <a:srgbClr val="D8E0F2"/>
                      </a:solidFill>
                      <a:prstDash val="solid"/>
                      <a:round/>
                      <a:headEnd type="none" w="med" len="med"/>
                      <a:tailEnd type="none" w="med" len="med"/>
                    </a:lnL>
                    <a:lnR w="12700" cap="flat" cmpd="sng" algn="ctr">
                      <a:solidFill>
                        <a:srgbClr val="D8E0F2"/>
                      </a:solidFill>
                      <a:prstDash val="solid"/>
                      <a:round/>
                      <a:headEnd type="none" w="med" len="med"/>
                      <a:tailEnd type="none" w="med" len="med"/>
                    </a:lnR>
                    <a:lnT w="12700" cap="flat" cmpd="sng" algn="ctr">
                      <a:solidFill>
                        <a:srgbClr val="D8E0F2"/>
                      </a:solidFill>
                      <a:prstDash val="solid"/>
                      <a:round/>
                      <a:headEnd type="none" w="med" len="med"/>
                      <a:tailEnd type="none" w="med" len="med"/>
                    </a:lnT>
                    <a:lnB w="12700" cap="flat" cmpd="sng" algn="ctr">
                      <a:solidFill>
                        <a:srgbClr val="D8E0F2"/>
                      </a:solidFill>
                      <a:prstDash val="solid"/>
                      <a:round/>
                      <a:headEnd type="none" w="med" len="med"/>
                      <a:tailEnd type="none" w="med" len="med"/>
                    </a:lnB>
                    <a:solidFill>
                      <a:srgbClr val="FFFFFF"/>
                    </a:solidFill>
                  </a:tcPr>
                </a:tc>
                <a:tc>
                  <a:txBody>
                    <a:bodyPr/>
                    <a:lstStyle/>
                    <a:p>
                      <a:pPr indent="0" marL="0">
                        <a:buNone/>
                      </a:pPr>
                      <a:r>
                        <a:rPr lang="en-US" sz="1100" dirty="0">
                          <a:solidFill>
                            <a:srgbClr val="3E466B"/>
                          </a:solidFill>
                          <a:latin typeface="Calibri" pitchFamily="34" charset="0"/>
                          <a:ea typeface="Calibri" pitchFamily="34" charset="-122"/>
                          <a:cs typeface="Calibri" pitchFamily="34" charset="-120"/>
                        </a:rPr>
                        <a:t>Working</a:t>
                      </a:r>
                      <a:endParaRPr lang="en-US" sz="1100" dirty="0">
                        <a:latin typeface="Calibri" charset="0"/>
                        <a:ea typeface="Calibri" charset="0"/>
                        <a:cs typeface="Calibri" charset="0"/>
                      </a:endParaRPr>
                    </a:p>
                  </a:txBody>
                  <a:tcPr marL="114300" marR="114300" marT="38100" marB="38100" anchor="ctr">
                    <a:lnL w="12700" cap="flat" cmpd="sng" algn="ctr">
                      <a:solidFill>
                        <a:srgbClr val="D8E0F2"/>
                      </a:solidFill>
                      <a:prstDash val="solid"/>
                      <a:round/>
                      <a:headEnd type="none" w="med" len="med"/>
                      <a:tailEnd type="none" w="med" len="med"/>
                    </a:lnL>
                    <a:lnR w="12700" cap="flat" cmpd="sng" algn="ctr">
                      <a:solidFill>
                        <a:srgbClr val="D8E0F2"/>
                      </a:solidFill>
                      <a:prstDash val="solid"/>
                      <a:round/>
                      <a:headEnd type="none" w="med" len="med"/>
                      <a:tailEnd type="none" w="med" len="med"/>
                    </a:lnR>
                    <a:lnT w="12700" cap="flat" cmpd="sng" algn="ctr">
                      <a:solidFill>
                        <a:srgbClr val="D8E0F2"/>
                      </a:solidFill>
                      <a:prstDash val="solid"/>
                      <a:round/>
                      <a:headEnd type="none" w="med" len="med"/>
                      <a:tailEnd type="none" w="med" len="med"/>
                    </a:lnT>
                    <a:lnB w="12700" cap="flat" cmpd="sng" algn="ctr">
                      <a:solidFill>
                        <a:srgbClr val="D8E0F2"/>
                      </a:solidFill>
                      <a:prstDash val="solid"/>
                      <a:round/>
                      <a:headEnd type="none" w="med" len="med"/>
                      <a:tailEnd type="none" w="med" len="med"/>
                    </a:lnB>
                    <a:solidFill>
                      <a:srgbClr val="FFFFFF"/>
                    </a:solidFill>
                  </a:tcPr>
                </a:tc>
                <a:tc>
                  <a:txBody>
                    <a:bodyPr/>
                    <a:lstStyle/>
                    <a:p>
                      <a:pPr indent="0" marL="0">
                        <a:buNone/>
                      </a:pPr>
                      <a:r>
                        <a:rPr lang="en-US" sz="1100" dirty="0">
                          <a:solidFill>
                            <a:srgbClr val="3E466B"/>
                          </a:solidFill>
                          <a:latin typeface="Calibri" pitchFamily="34" charset="0"/>
                          <a:ea typeface="Calibri" pitchFamily="34" charset="-122"/>
                          <a:cs typeface="Calibri" pitchFamily="34" charset="-120"/>
                        </a:rPr>
                        <a:t>The full pipeline — plan, acquire, compute, write, challenge, approve</a:t>
                      </a:r>
                      <a:endParaRPr lang="en-US" sz="1100" dirty="0">
                        <a:latin typeface="Calibri" charset="0"/>
                        <a:ea typeface="Calibri" charset="0"/>
                        <a:cs typeface="Calibri" charset="0"/>
                      </a:endParaRPr>
                    </a:p>
                  </a:txBody>
                  <a:tcPr marL="114300" marR="114300" marT="38100" marB="38100" anchor="ctr">
                    <a:lnL w="12700" cap="flat" cmpd="sng" algn="ctr">
                      <a:solidFill>
                        <a:srgbClr val="D8E0F2"/>
                      </a:solidFill>
                      <a:prstDash val="solid"/>
                      <a:round/>
                      <a:headEnd type="none" w="med" len="med"/>
                      <a:tailEnd type="none" w="med" len="med"/>
                    </a:lnL>
                    <a:lnR w="12700" cap="flat" cmpd="sng" algn="ctr">
                      <a:solidFill>
                        <a:srgbClr val="D8E0F2"/>
                      </a:solidFill>
                      <a:prstDash val="solid"/>
                      <a:round/>
                      <a:headEnd type="none" w="med" len="med"/>
                      <a:tailEnd type="none" w="med" len="med"/>
                    </a:lnR>
                    <a:lnT w="12700" cap="flat" cmpd="sng" algn="ctr">
                      <a:solidFill>
                        <a:srgbClr val="D8E0F2"/>
                      </a:solidFill>
                      <a:prstDash val="solid"/>
                      <a:round/>
                      <a:headEnd type="none" w="med" len="med"/>
                      <a:tailEnd type="none" w="med" len="med"/>
                    </a:lnT>
                    <a:lnB w="12700" cap="flat" cmpd="sng" algn="ctr">
                      <a:solidFill>
                        <a:srgbClr val="D8E0F2"/>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3E466B"/>
                          </a:solidFill>
                          <a:latin typeface="Calibri" pitchFamily="34" charset="0"/>
                          <a:ea typeface="Calibri" pitchFamily="34" charset="-122"/>
                          <a:cs typeface="Calibri" pitchFamily="34" charset="-120"/>
                        </a:rPr>
                        <a:t>Portfolio</a:t>
                      </a:r>
                      <a:endParaRPr lang="en-US" sz="1100" dirty="0">
                        <a:latin typeface="Calibri" charset="0"/>
                        <a:ea typeface="Calibri" charset="0"/>
                        <a:cs typeface="Calibri" charset="0"/>
                      </a:endParaRPr>
                    </a:p>
                  </a:txBody>
                  <a:tcPr marL="114300" marR="114300" marT="38100" marB="38100" anchor="ctr">
                    <a:lnL w="12700" cap="flat" cmpd="sng" algn="ctr">
                      <a:solidFill>
                        <a:srgbClr val="D8E0F2"/>
                      </a:solidFill>
                      <a:prstDash val="solid"/>
                      <a:round/>
                      <a:headEnd type="none" w="med" len="med"/>
                      <a:tailEnd type="none" w="med" len="med"/>
                    </a:lnL>
                    <a:lnR w="12700" cap="flat" cmpd="sng" algn="ctr">
                      <a:solidFill>
                        <a:srgbClr val="D8E0F2"/>
                      </a:solidFill>
                      <a:prstDash val="solid"/>
                      <a:round/>
                      <a:headEnd type="none" w="med" len="med"/>
                      <a:tailEnd type="none" w="med" len="med"/>
                    </a:lnR>
                    <a:lnT w="12700" cap="flat" cmpd="sng" algn="ctr">
                      <a:solidFill>
                        <a:srgbClr val="D8E0F2"/>
                      </a:solidFill>
                      <a:prstDash val="solid"/>
                      <a:round/>
                      <a:headEnd type="none" w="med" len="med"/>
                      <a:tailEnd type="none" w="med" len="med"/>
                    </a:lnT>
                    <a:lnB w="12700" cap="flat" cmpd="sng" algn="ctr">
                      <a:solidFill>
                        <a:srgbClr val="D8E0F2"/>
                      </a:solidFill>
                      <a:prstDash val="solid"/>
                      <a:round/>
                      <a:headEnd type="none" w="med" len="med"/>
                      <a:tailEnd type="none" w="med" len="med"/>
                    </a:lnB>
                    <a:solidFill>
                      <a:srgbClr val="FFFFFF"/>
                    </a:solidFill>
                  </a:tcPr>
                </a:tc>
                <a:tc>
                  <a:txBody>
                    <a:bodyPr/>
                    <a:lstStyle/>
                    <a:p>
                      <a:pPr indent="0" marL="0">
                        <a:buNone/>
                      </a:pPr>
                      <a:r>
                        <a:rPr lang="en-US" sz="1100" dirty="0">
                          <a:solidFill>
                            <a:srgbClr val="3E466B"/>
                          </a:solidFill>
                          <a:latin typeface="Calibri" pitchFamily="34" charset="0"/>
                          <a:ea typeface="Calibri" pitchFamily="34" charset="-122"/>
                          <a:cs typeface="Calibri" pitchFamily="34" charset="-120"/>
                        </a:rPr>
                        <a:t>Working</a:t>
                      </a:r>
                      <a:endParaRPr lang="en-US" sz="1100" dirty="0">
                        <a:latin typeface="Calibri" charset="0"/>
                        <a:ea typeface="Calibri" charset="0"/>
                        <a:cs typeface="Calibri" charset="0"/>
                      </a:endParaRPr>
                    </a:p>
                  </a:txBody>
                  <a:tcPr marL="114300" marR="114300" marT="38100" marB="38100" anchor="ctr">
                    <a:lnL w="12700" cap="flat" cmpd="sng" algn="ctr">
                      <a:solidFill>
                        <a:srgbClr val="D8E0F2"/>
                      </a:solidFill>
                      <a:prstDash val="solid"/>
                      <a:round/>
                      <a:headEnd type="none" w="med" len="med"/>
                      <a:tailEnd type="none" w="med" len="med"/>
                    </a:lnL>
                    <a:lnR w="12700" cap="flat" cmpd="sng" algn="ctr">
                      <a:solidFill>
                        <a:srgbClr val="D8E0F2"/>
                      </a:solidFill>
                      <a:prstDash val="solid"/>
                      <a:round/>
                      <a:headEnd type="none" w="med" len="med"/>
                      <a:tailEnd type="none" w="med" len="med"/>
                    </a:lnR>
                    <a:lnT w="12700" cap="flat" cmpd="sng" algn="ctr">
                      <a:solidFill>
                        <a:srgbClr val="D8E0F2"/>
                      </a:solidFill>
                      <a:prstDash val="solid"/>
                      <a:round/>
                      <a:headEnd type="none" w="med" len="med"/>
                      <a:tailEnd type="none" w="med" len="med"/>
                    </a:lnT>
                    <a:lnB w="12700" cap="flat" cmpd="sng" algn="ctr">
                      <a:solidFill>
                        <a:srgbClr val="D8E0F2"/>
                      </a:solidFill>
                      <a:prstDash val="solid"/>
                      <a:round/>
                      <a:headEnd type="none" w="med" len="med"/>
                      <a:tailEnd type="none" w="med" len="med"/>
                    </a:lnB>
                    <a:solidFill>
                      <a:srgbClr val="FFFFFF"/>
                    </a:solidFill>
                  </a:tcPr>
                </a:tc>
                <a:tc>
                  <a:txBody>
                    <a:bodyPr/>
                    <a:lstStyle/>
                    <a:p>
                      <a:pPr indent="0" marL="0">
                        <a:buNone/>
                      </a:pPr>
                      <a:r>
                        <a:rPr lang="en-US" sz="1100" dirty="0">
                          <a:solidFill>
                            <a:srgbClr val="3E466B"/>
                          </a:solidFill>
                          <a:latin typeface="Calibri" pitchFamily="34" charset="0"/>
                          <a:ea typeface="Calibri" pitchFamily="34" charset="-122"/>
                          <a:cs typeface="Calibri" pitchFamily="34" charset="-120"/>
                        </a:rPr>
                        <a:t>What you hold and at what cost, recomputed from transactions rather than stored</a:t>
                      </a:r>
                      <a:endParaRPr lang="en-US" sz="1100" dirty="0">
                        <a:latin typeface="Calibri" charset="0"/>
                        <a:ea typeface="Calibri" charset="0"/>
                        <a:cs typeface="Calibri" charset="0"/>
                      </a:endParaRPr>
                    </a:p>
                  </a:txBody>
                  <a:tcPr marL="114300" marR="114300" marT="38100" marB="38100" anchor="ctr">
                    <a:lnL w="12700" cap="flat" cmpd="sng" algn="ctr">
                      <a:solidFill>
                        <a:srgbClr val="D8E0F2"/>
                      </a:solidFill>
                      <a:prstDash val="solid"/>
                      <a:round/>
                      <a:headEnd type="none" w="med" len="med"/>
                      <a:tailEnd type="none" w="med" len="med"/>
                    </a:lnL>
                    <a:lnR w="12700" cap="flat" cmpd="sng" algn="ctr">
                      <a:solidFill>
                        <a:srgbClr val="D8E0F2"/>
                      </a:solidFill>
                      <a:prstDash val="solid"/>
                      <a:round/>
                      <a:headEnd type="none" w="med" len="med"/>
                      <a:tailEnd type="none" w="med" len="med"/>
                    </a:lnR>
                    <a:lnT w="12700" cap="flat" cmpd="sng" algn="ctr">
                      <a:solidFill>
                        <a:srgbClr val="D8E0F2"/>
                      </a:solidFill>
                      <a:prstDash val="solid"/>
                      <a:round/>
                      <a:headEnd type="none" w="med" len="med"/>
                      <a:tailEnd type="none" w="med" len="med"/>
                    </a:lnT>
                    <a:lnB w="12700" cap="flat" cmpd="sng" algn="ctr">
                      <a:solidFill>
                        <a:srgbClr val="D8E0F2"/>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3E466B"/>
                          </a:solidFill>
                          <a:latin typeface="Calibri" pitchFamily="34" charset="0"/>
                          <a:ea typeface="Calibri" pitchFamily="34" charset="-122"/>
                          <a:cs typeface="Calibri" pitchFamily="34" charset="-120"/>
                        </a:rPr>
                        <a:t>Watchlist</a:t>
                      </a:r>
                      <a:endParaRPr lang="en-US" sz="1100" dirty="0">
                        <a:latin typeface="Calibri" charset="0"/>
                        <a:ea typeface="Calibri" charset="0"/>
                        <a:cs typeface="Calibri" charset="0"/>
                      </a:endParaRPr>
                    </a:p>
                  </a:txBody>
                  <a:tcPr marL="114300" marR="114300" marT="38100" marB="38100" anchor="ctr">
                    <a:lnL w="12700" cap="flat" cmpd="sng" algn="ctr">
                      <a:solidFill>
                        <a:srgbClr val="D8E0F2"/>
                      </a:solidFill>
                      <a:prstDash val="solid"/>
                      <a:round/>
                      <a:headEnd type="none" w="med" len="med"/>
                      <a:tailEnd type="none" w="med" len="med"/>
                    </a:lnL>
                    <a:lnR w="12700" cap="flat" cmpd="sng" algn="ctr">
                      <a:solidFill>
                        <a:srgbClr val="D8E0F2"/>
                      </a:solidFill>
                      <a:prstDash val="solid"/>
                      <a:round/>
                      <a:headEnd type="none" w="med" len="med"/>
                      <a:tailEnd type="none" w="med" len="med"/>
                    </a:lnR>
                    <a:lnT w="12700" cap="flat" cmpd="sng" algn="ctr">
                      <a:solidFill>
                        <a:srgbClr val="D8E0F2"/>
                      </a:solidFill>
                      <a:prstDash val="solid"/>
                      <a:round/>
                      <a:headEnd type="none" w="med" len="med"/>
                      <a:tailEnd type="none" w="med" len="med"/>
                    </a:lnT>
                    <a:lnB w="12700" cap="flat" cmpd="sng" algn="ctr">
                      <a:solidFill>
                        <a:srgbClr val="D8E0F2"/>
                      </a:solidFill>
                      <a:prstDash val="solid"/>
                      <a:round/>
                      <a:headEnd type="none" w="med" len="med"/>
                      <a:tailEnd type="none" w="med" len="med"/>
                    </a:lnB>
                    <a:solidFill>
                      <a:srgbClr val="FFFFFF"/>
                    </a:solidFill>
                  </a:tcPr>
                </a:tc>
                <a:tc>
                  <a:txBody>
                    <a:bodyPr/>
                    <a:lstStyle/>
                    <a:p>
                      <a:pPr indent="0" marL="0">
                        <a:buNone/>
                      </a:pPr>
                      <a:r>
                        <a:rPr lang="en-US" sz="1100" dirty="0">
                          <a:solidFill>
                            <a:srgbClr val="3E466B"/>
                          </a:solidFill>
                          <a:latin typeface="Calibri" pitchFamily="34" charset="0"/>
                          <a:ea typeface="Calibri" pitchFamily="34" charset="-122"/>
                          <a:cs typeface="Calibri" pitchFamily="34" charset="-120"/>
                        </a:rPr>
                        <a:t>Planned</a:t>
                      </a:r>
                      <a:endParaRPr lang="en-US" sz="1100" dirty="0">
                        <a:latin typeface="Calibri" charset="0"/>
                        <a:ea typeface="Calibri" charset="0"/>
                        <a:cs typeface="Calibri" charset="0"/>
                      </a:endParaRPr>
                    </a:p>
                  </a:txBody>
                  <a:tcPr marL="114300" marR="114300" marT="38100" marB="38100" anchor="ctr">
                    <a:lnL w="12700" cap="flat" cmpd="sng" algn="ctr">
                      <a:solidFill>
                        <a:srgbClr val="D8E0F2"/>
                      </a:solidFill>
                      <a:prstDash val="solid"/>
                      <a:round/>
                      <a:headEnd type="none" w="med" len="med"/>
                      <a:tailEnd type="none" w="med" len="med"/>
                    </a:lnL>
                    <a:lnR w="12700" cap="flat" cmpd="sng" algn="ctr">
                      <a:solidFill>
                        <a:srgbClr val="D8E0F2"/>
                      </a:solidFill>
                      <a:prstDash val="solid"/>
                      <a:round/>
                      <a:headEnd type="none" w="med" len="med"/>
                      <a:tailEnd type="none" w="med" len="med"/>
                    </a:lnR>
                    <a:lnT w="12700" cap="flat" cmpd="sng" algn="ctr">
                      <a:solidFill>
                        <a:srgbClr val="D8E0F2"/>
                      </a:solidFill>
                      <a:prstDash val="solid"/>
                      <a:round/>
                      <a:headEnd type="none" w="med" len="med"/>
                      <a:tailEnd type="none" w="med" len="med"/>
                    </a:lnT>
                    <a:lnB w="12700" cap="flat" cmpd="sng" algn="ctr">
                      <a:solidFill>
                        <a:srgbClr val="D8E0F2"/>
                      </a:solidFill>
                      <a:prstDash val="solid"/>
                      <a:round/>
                      <a:headEnd type="none" w="med" len="med"/>
                      <a:tailEnd type="none" w="med" len="med"/>
                    </a:lnB>
                    <a:solidFill>
                      <a:srgbClr val="FFFFFF"/>
                    </a:solidFill>
                  </a:tcPr>
                </a:tc>
                <a:tc>
                  <a:txBody>
                    <a:bodyPr/>
                    <a:lstStyle/>
                    <a:p>
                      <a:pPr indent="0" marL="0">
                        <a:buNone/>
                      </a:pPr>
                      <a:r>
                        <a:rPr lang="en-US" sz="1100" dirty="0">
                          <a:solidFill>
                            <a:srgbClr val="3E466B"/>
                          </a:solidFill>
                          <a:latin typeface="Calibri" pitchFamily="34" charset="0"/>
                          <a:ea typeface="Calibri" pitchFamily="34" charset="-122"/>
                          <a:cs typeface="Calibri" pitchFamily="34" charset="-120"/>
                        </a:rPr>
                        <a:t>Needs a standing budget that is not a single run's cap</a:t>
                      </a:r>
                      <a:endParaRPr lang="en-US" sz="1100" dirty="0">
                        <a:latin typeface="Calibri" charset="0"/>
                        <a:ea typeface="Calibri" charset="0"/>
                        <a:cs typeface="Calibri" charset="0"/>
                      </a:endParaRPr>
                    </a:p>
                  </a:txBody>
                  <a:tcPr marL="114300" marR="114300" marT="38100" marB="38100" anchor="ctr">
                    <a:lnL w="12700" cap="flat" cmpd="sng" algn="ctr">
                      <a:solidFill>
                        <a:srgbClr val="D8E0F2"/>
                      </a:solidFill>
                      <a:prstDash val="solid"/>
                      <a:round/>
                      <a:headEnd type="none" w="med" len="med"/>
                      <a:tailEnd type="none" w="med" len="med"/>
                    </a:lnL>
                    <a:lnR w="12700" cap="flat" cmpd="sng" algn="ctr">
                      <a:solidFill>
                        <a:srgbClr val="D8E0F2"/>
                      </a:solidFill>
                      <a:prstDash val="solid"/>
                      <a:round/>
                      <a:headEnd type="none" w="med" len="med"/>
                      <a:tailEnd type="none" w="med" len="med"/>
                    </a:lnR>
                    <a:lnT w="12700" cap="flat" cmpd="sng" algn="ctr">
                      <a:solidFill>
                        <a:srgbClr val="D8E0F2"/>
                      </a:solidFill>
                      <a:prstDash val="solid"/>
                      <a:round/>
                      <a:headEnd type="none" w="med" len="med"/>
                      <a:tailEnd type="none" w="med" len="med"/>
                    </a:lnT>
                    <a:lnB w="12700" cap="flat" cmpd="sng" algn="ctr">
                      <a:solidFill>
                        <a:srgbClr val="D8E0F2"/>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3E466B"/>
                          </a:solidFill>
                          <a:latin typeface="Calibri" pitchFamily="34" charset="0"/>
                          <a:ea typeface="Calibri" pitchFamily="34" charset="-122"/>
                          <a:cs typeface="Calibri" pitchFamily="34" charset="-120"/>
                        </a:rPr>
                        <a:t>Theses</a:t>
                      </a:r>
                      <a:endParaRPr lang="en-US" sz="1100" dirty="0">
                        <a:latin typeface="Calibri" charset="0"/>
                        <a:ea typeface="Calibri" charset="0"/>
                        <a:cs typeface="Calibri" charset="0"/>
                      </a:endParaRPr>
                    </a:p>
                  </a:txBody>
                  <a:tcPr marL="114300" marR="114300" marT="38100" marB="38100" anchor="ctr">
                    <a:lnL w="12700" cap="flat" cmpd="sng" algn="ctr">
                      <a:solidFill>
                        <a:srgbClr val="D8E0F2"/>
                      </a:solidFill>
                      <a:prstDash val="solid"/>
                      <a:round/>
                      <a:headEnd type="none" w="med" len="med"/>
                      <a:tailEnd type="none" w="med" len="med"/>
                    </a:lnL>
                    <a:lnR w="12700" cap="flat" cmpd="sng" algn="ctr">
                      <a:solidFill>
                        <a:srgbClr val="D8E0F2"/>
                      </a:solidFill>
                      <a:prstDash val="solid"/>
                      <a:round/>
                      <a:headEnd type="none" w="med" len="med"/>
                      <a:tailEnd type="none" w="med" len="med"/>
                    </a:lnR>
                    <a:lnT w="12700" cap="flat" cmpd="sng" algn="ctr">
                      <a:solidFill>
                        <a:srgbClr val="D8E0F2"/>
                      </a:solidFill>
                      <a:prstDash val="solid"/>
                      <a:round/>
                      <a:headEnd type="none" w="med" len="med"/>
                      <a:tailEnd type="none" w="med" len="med"/>
                    </a:lnT>
                    <a:lnB w="12700" cap="flat" cmpd="sng" algn="ctr">
                      <a:solidFill>
                        <a:srgbClr val="D8E0F2"/>
                      </a:solidFill>
                      <a:prstDash val="solid"/>
                      <a:round/>
                      <a:headEnd type="none" w="med" len="med"/>
                      <a:tailEnd type="none" w="med" len="med"/>
                    </a:lnB>
                    <a:solidFill>
                      <a:srgbClr val="FFFFFF"/>
                    </a:solidFill>
                  </a:tcPr>
                </a:tc>
                <a:tc>
                  <a:txBody>
                    <a:bodyPr/>
                    <a:lstStyle/>
                    <a:p>
                      <a:pPr indent="0" marL="0">
                        <a:buNone/>
                      </a:pPr>
                      <a:r>
                        <a:rPr lang="en-US" sz="1100" dirty="0">
                          <a:solidFill>
                            <a:srgbClr val="3E466B"/>
                          </a:solidFill>
                          <a:latin typeface="Calibri" pitchFamily="34" charset="0"/>
                          <a:ea typeface="Calibri" pitchFamily="34" charset="-122"/>
                          <a:cs typeface="Calibri" pitchFamily="34" charset="-120"/>
                        </a:rPr>
                        <a:t>Planned</a:t>
                      </a:r>
                      <a:endParaRPr lang="en-US" sz="1100" dirty="0">
                        <a:latin typeface="Calibri" charset="0"/>
                        <a:ea typeface="Calibri" charset="0"/>
                        <a:cs typeface="Calibri" charset="0"/>
                      </a:endParaRPr>
                    </a:p>
                  </a:txBody>
                  <a:tcPr marL="114300" marR="114300" marT="38100" marB="38100" anchor="ctr">
                    <a:lnL w="12700" cap="flat" cmpd="sng" algn="ctr">
                      <a:solidFill>
                        <a:srgbClr val="D8E0F2"/>
                      </a:solidFill>
                      <a:prstDash val="solid"/>
                      <a:round/>
                      <a:headEnd type="none" w="med" len="med"/>
                      <a:tailEnd type="none" w="med" len="med"/>
                    </a:lnL>
                    <a:lnR w="12700" cap="flat" cmpd="sng" algn="ctr">
                      <a:solidFill>
                        <a:srgbClr val="D8E0F2"/>
                      </a:solidFill>
                      <a:prstDash val="solid"/>
                      <a:round/>
                      <a:headEnd type="none" w="med" len="med"/>
                      <a:tailEnd type="none" w="med" len="med"/>
                    </a:lnR>
                    <a:lnT w="12700" cap="flat" cmpd="sng" algn="ctr">
                      <a:solidFill>
                        <a:srgbClr val="D8E0F2"/>
                      </a:solidFill>
                      <a:prstDash val="solid"/>
                      <a:round/>
                      <a:headEnd type="none" w="med" len="med"/>
                      <a:tailEnd type="none" w="med" len="med"/>
                    </a:lnT>
                    <a:lnB w="12700" cap="flat" cmpd="sng" algn="ctr">
                      <a:solidFill>
                        <a:srgbClr val="D8E0F2"/>
                      </a:solidFill>
                      <a:prstDash val="solid"/>
                      <a:round/>
                      <a:headEnd type="none" w="med" len="med"/>
                      <a:tailEnd type="none" w="med" len="med"/>
                    </a:lnB>
                    <a:solidFill>
                      <a:srgbClr val="FFFFFF"/>
                    </a:solidFill>
                  </a:tcPr>
                </a:tc>
                <a:tc>
                  <a:txBody>
                    <a:bodyPr/>
                    <a:lstStyle/>
                    <a:p>
                      <a:pPr indent="0" marL="0">
                        <a:buNone/>
                      </a:pPr>
                      <a:r>
                        <a:rPr lang="en-US" sz="1100" dirty="0">
                          <a:solidFill>
                            <a:srgbClr val="3E466B"/>
                          </a:solidFill>
                          <a:latin typeface="Calibri" pitchFamily="34" charset="0"/>
                          <a:ea typeface="Calibri" pitchFamily="34" charset="-122"/>
                          <a:cs typeface="Calibri" pitchFamily="34" charset="-120"/>
                        </a:rPr>
                        <a:t>Needs the judgement record — what you believe and why</a:t>
                      </a:r>
                      <a:endParaRPr lang="en-US" sz="1100" dirty="0">
                        <a:latin typeface="Calibri" charset="0"/>
                        <a:ea typeface="Calibri" charset="0"/>
                        <a:cs typeface="Calibri" charset="0"/>
                      </a:endParaRPr>
                    </a:p>
                  </a:txBody>
                  <a:tcPr marL="114300" marR="114300" marT="38100" marB="38100" anchor="ctr">
                    <a:lnL w="12700" cap="flat" cmpd="sng" algn="ctr">
                      <a:solidFill>
                        <a:srgbClr val="D8E0F2"/>
                      </a:solidFill>
                      <a:prstDash val="solid"/>
                      <a:round/>
                      <a:headEnd type="none" w="med" len="med"/>
                      <a:tailEnd type="none" w="med" len="med"/>
                    </a:lnL>
                    <a:lnR w="12700" cap="flat" cmpd="sng" algn="ctr">
                      <a:solidFill>
                        <a:srgbClr val="D8E0F2"/>
                      </a:solidFill>
                      <a:prstDash val="solid"/>
                      <a:round/>
                      <a:headEnd type="none" w="med" len="med"/>
                      <a:tailEnd type="none" w="med" len="med"/>
                    </a:lnR>
                    <a:lnT w="12700" cap="flat" cmpd="sng" algn="ctr">
                      <a:solidFill>
                        <a:srgbClr val="D8E0F2"/>
                      </a:solidFill>
                      <a:prstDash val="solid"/>
                      <a:round/>
                      <a:headEnd type="none" w="med" len="med"/>
                      <a:tailEnd type="none" w="med" len="med"/>
                    </a:lnT>
                    <a:lnB w="12700" cap="flat" cmpd="sng" algn="ctr">
                      <a:solidFill>
                        <a:srgbClr val="D8E0F2"/>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3E466B"/>
                          </a:solidFill>
                          <a:latin typeface="Calibri" pitchFamily="34" charset="0"/>
                          <a:ea typeface="Calibri" pitchFamily="34" charset="-122"/>
                          <a:cs typeface="Calibri" pitchFamily="34" charset="-120"/>
                        </a:rPr>
                        <a:t>Decisions</a:t>
                      </a:r>
                      <a:endParaRPr lang="en-US" sz="1100" dirty="0">
                        <a:latin typeface="Calibri" charset="0"/>
                        <a:ea typeface="Calibri" charset="0"/>
                        <a:cs typeface="Calibri" charset="0"/>
                      </a:endParaRPr>
                    </a:p>
                  </a:txBody>
                  <a:tcPr marL="114300" marR="114300" marT="38100" marB="38100" anchor="ctr">
                    <a:lnL w="12700" cap="flat" cmpd="sng" algn="ctr">
                      <a:solidFill>
                        <a:srgbClr val="D8E0F2"/>
                      </a:solidFill>
                      <a:prstDash val="solid"/>
                      <a:round/>
                      <a:headEnd type="none" w="med" len="med"/>
                      <a:tailEnd type="none" w="med" len="med"/>
                    </a:lnL>
                    <a:lnR w="12700" cap="flat" cmpd="sng" algn="ctr">
                      <a:solidFill>
                        <a:srgbClr val="D8E0F2"/>
                      </a:solidFill>
                      <a:prstDash val="solid"/>
                      <a:round/>
                      <a:headEnd type="none" w="med" len="med"/>
                      <a:tailEnd type="none" w="med" len="med"/>
                    </a:lnR>
                    <a:lnT w="12700" cap="flat" cmpd="sng" algn="ctr">
                      <a:solidFill>
                        <a:srgbClr val="D8E0F2"/>
                      </a:solidFill>
                      <a:prstDash val="solid"/>
                      <a:round/>
                      <a:headEnd type="none" w="med" len="med"/>
                      <a:tailEnd type="none" w="med" len="med"/>
                    </a:lnT>
                    <a:lnB w="12700" cap="flat" cmpd="sng" algn="ctr">
                      <a:solidFill>
                        <a:srgbClr val="D8E0F2"/>
                      </a:solidFill>
                      <a:prstDash val="solid"/>
                      <a:round/>
                      <a:headEnd type="none" w="med" len="med"/>
                      <a:tailEnd type="none" w="med" len="med"/>
                    </a:lnB>
                    <a:solidFill>
                      <a:srgbClr val="FFFFFF"/>
                    </a:solidFill>
                  </a:tcPr>
                </a:tc>
                <a:tc>
                  <a:txBody>
                    <a:bodyPr/>
                    <a:lstStyle/>
                    <a:p>
                      <a:pPr indent="0" marL="0">
                        <a:buNone/>
                      </a:pPr>
                      <a:r>
                        <a:rPr lang="en-US" sz="1100" dirty="0">
                          <a:solidFill>
                            <a:srgbClr val="3E466B"/>
                          </a:solidFill>
                          <a:latin typeface="Calibri" pitchFamily="34" charset="0"/>
                          <a:ea typeface="Calibri" pitchFamily="34" charset="-122"/>
                          <a:cs typeface="Calibri" pitchFamily="34" charset="-120"/>
                        </a:rPr>
                        <a:t>Planned</a:t>
                      </a:r>
                      <a:endParaRPr lang="en-US" sz="1100" dirty="0">
                        <a:latin typeface="Calibri" charset="0"/>
                        <a:ea typeface="Calibri" charset="0"/>
                        <a:cs typeface="Calibri" charset="0"/>
                      </a:endParaRPr>
                    </a:p>
                  </a:txBody>
                  <a:tcPr marL="114300" marR="114300" marT="38100" marB="38100" anchor="ctr">
                    <a:lnL w="12700" cap="flat" cmpd="sng" algn="ctr">
                      <a:solidFill>
                        <a:srgbClr val="D8E0F2"/>
                      </a:solidFill>
                      <a:prstDash val="solid"/>
                      <a:round/>
                      <a:headEnd type="none" w="med" len="med"/>
                      <a:tailEnd type="none" w="med" len="med"/>
                    </a:lnL>
                    <a:lnR w="12700" cap="flat" cmpd="sng" algn="ctr">
                      <a:solidFill>
                        <a:srgbClr val="D8E0F2"/>
                      </a:solidFill>
                      <a:prstDash val="solid"/>
                      <a:round/>
                      <a:headEnd type="none" w="med" len="med"/>
                      <a:tailEnd type="none" w="med" len="med"/>
                    </a:lnR>
                    <a:lnT w="12700" cap="flat" cmpd="sng" algn="ctr">
                      <a:solidFill>
                        <a:srgbClr val="D8E0F2"/>
                      </a:solidFill>
                      <a:prstDash val="solid"/>
                      <a:round/>
                      <a:headEnd type="none" w="med" len="med"/>
                      <a:tailEnd type="none" w="med" len="med"/>
                    </a:lnT>
                    <a:lnB w="12700" cap="flat" cmpd="sng" algn="ctr">
                      <a:solidFill>
                        <a:srgbClr val="D8E0F2"/>
                      </a:solidFill>
                      <a:prstDash val="solid"/>
                      <a:round/>
                      <a:headEnd type="none" w="med" len="med"/>
                      <a:tailEnd type="none" w="med" len="med"/>
                    </a:lnB>
                    <a:solidFill>
                      <a:srgbClr val="FFFFFF"/>
                    </a:solidFill>
                  </a:tcPr>
                </a:tc>
                <a:tc>
                  <a:txBody>
                    <a:bodyPr/>
                    <a:lstStyle/>
                    <a:p>
                      <a:pPr indent="0" marL="0">
                        <a:buNone/>
                      </a:pPr>
                      <a:r>
                        <a:rPr lang="en-US" sz="1100" dirty="0">
                          <a:solidFill>
                            <a:srgbClr val="3E466B"/>
                          </a:solidFill>
                          <a:latin typeface="Calibri" pitchFamily="34" charset="0"/>
                          <a:ea typeface="Calibri" pitchFamily="34" charset="-122"/>
                          <a:cs typeface="Calibri" pitchFamily="34" charset="-120"/>
                        </a:rPr>
                        <a:t>Needs judgements to point back at</a:t>
                      </a:r>
                      <a:endParaRPr lang="en-US" sz="1100" dirty="0">
                        <a:latin typeface="Calibri" charset="0"/>
                        <a:ea typeface="Calibri" charset="0"/>
                        <a:cs typeface="Calibri" charset="0"/>
                      </a:endParaRPr>
                    </a:p>
                  </a:txBody>
                  <a:tcPr marL="114300" marR="114300" marT="38100" marB="38100" anchor="ctr">
                    <a:lnL w="12700" cap="flat" cmpd="sng" algn="ctr">
                      <a:solidFill>
                        <a:srgbClr val="D8E0F2"/>
                      </a:solidFill>
                      <a:prstDash val="solid"/>
                      <a:round/>
                      <a:headEnd type="none" w="med" len="med"/>
                      <a:tailEnd type="none" w="med" len="med"/>
                    </a:lnL>
                    <a:lnR w="12700" cap="flat" cmpd="sng" algn="ctr">
                      <a:solidFill>
                        <a:srgbClr val="D8E0F2"/>
                      </a:solidFill>
                      <a:prstDash val="solid"/>
                      <a:round/>
                      <a:headEnd type="none" w="med" len="med"/>
                      <a:tailEnd type="none" w="med" len="med"/>
                    </a:lnR>
                    <a:lnT w="12700" cap="flat" cmpd="sng" algn="ctr">
                      <a:solidFill>
                        <a:srgbClr val="D8E0F2"/>
                      </a:solidFill>
                      <a:prstDash val="solid"/>
                      <a:round/>
                      <a:headEnd type="none" w="med" len="med"/>
                      <a:tailEnd type="none" w="med" len="med"/>
                    </a:lnT>
                    <a:lnB w="12700" cap="flat" cmpd="sng" algn="ctr">
                      <a:solidFill>
                        <a:srgbClr val="D8E0F2"/>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3E466B"/>
                          </a:solidFill>
                          <a:latin typeface="Calibri" pitchFamily="34" charset="0"/>
                          <a:ea typeface="Calibri" pitchFamily="34" charset="-122"/>
                          <a:cs typeface="Calibri" pitchFamily="34" charset="-120"/>
                        </a:rPr>
                        <a:t>Monitor</a:t>
                      </a:r>
                      <a:endParaRPr lang="en-US" sz="1100" dirty="0">
                        <a:latin typeface="Calibri" charset="0"/>
                        <a:ea typeface="Calibri" charset="0"/>
                        <a:cs typeface="Calibri" charset="0"/>
                      </a:endParaRPr>
                    </a:p>
                  </a:txBody>
                  <a:tcPr marL="114300" marR="114300" marT="38100" marB="38100" anchor="ctr">
                    <a:lnL w="12700" cap="flat" cmpd="sng" algn="ctr">
                      <a:solidFill>
                        <a:srgbClr val="D8E0F2"/>
                      </a:solidFill>
                      <a:prstDash val="solid"/>
                      <a:round/>
                      <a:headEnd type="none" w="med" len="med"/>
                      <a:tailEnd type="none" w="med" len="med"/>
                    </a:lnL>
                    <a:lnR w="12700" cap="flat" cmpd="sng" algn="ctr">
                      <a:solidFill>
                        <a:srgbClr val="D8E0F2"/>
                      </a:solidFill>
                      <a:prstDash val="solid"/>
                      <a:round/>
                      <a:headEnd type="none" w="med" len="med"/>
                      <a:tailEnd type="none" w="med" len="med"/>
                    </a:lnR>
                    <a:lnT w="12700" cap="flat" cmpd="sng" algn="ctr">
                      <a:solidFill>
                        <a:srgbClr val="D8E0F2"/>
                      </a:solidFill>
                      <a:prstDash val="solid"/>
                      <a:round/>
                      <a:headEnd type="none" w="med" len="med"/>
                      <a:tailEnd type="none" w="med" len="med"/>
                    </a:lnT>
                    <a:lnB w="12700" cap="flat" cmpd="sng" algn="ctr">
                      <a:solidFill>
                        <a:srgbClr val="D8E0F2"/>
                      </a:solidFill>
                      <a:prstDash val="solid"/>
                      <a:round/>
                      <a:headEnd type="none" w="med" len="med"/>
                      <a:tailEnd type="none" w="med" len="med"/>
                    </a:lnB>
                    <a:solidFill>
                      <a:srgbClr val="FFFFFF"/>
                    </a:solidFill>
                  </a:tcPr>
                </a:tc>
                <a:tc>
                  <a:txBody>
                    <a:bodyPr/>
                    <a:lstStyle/>
                    <a:p>
                      <a:pPr indent="0" marL="0">
                        <a:buNone/>
                      </a:pPr>
                      <a:r>
                        <a:rPr lang="en-US" sz="1100" dirty="0">
                          <a:solidFill>
                            <a:srgbClr val="3E466B"/>
                          </a:solidFill>
                          <a:latin typeface="Calibri" pitchFamily="34" charset="0"/>
                          <a:ea typeface="Calibri" pitchFamily="34" charset="-122"/>
                          <a:cs typeface="Calibri" pitchFamily="34" charset="-120"/>
                        </a:rPr>
                        <a:t>Planned</a:t>
                      </a:r>
                      <a:endParaRPr lang="en-US" sz="1100" dirty="0">
                        <a:latin typeface="Calibri" charset="0"/>
                        <a:ea typeface="Calibri" charset="0"/>
                        <a:cs typeface="Calibri" charset="0"/>
                      </a:endParaRPr>
                    </a:p>
                  </a:txBody>
                  <a:tcPr marL="114300" marR="114300" marT="38100" marB="38100" anchor="ctr">
                    <a:lnL w="12700" cap="flat" cmpd="sng" algn="ctr">
                      <a:solidFill>
                        <a:srgbClr val="D8E0F2"/>
                      </a:solidFill>
                      <a:prstDash val="solid"/>
                      <a:round/>
                      <a:headEnd type="none" w="med" len="med"/>
                      <a:tailEnd type="none" w="med" len="med"/>
                    </a:lnL>
                    <a:lnR w="12700" cap="flat" cmpd="sng" algn="ctr">
                      <a:solidFill>
                        <a:srgbClr val="D8E0F2"/>
                      </a:solidFill>
                      <a:prstDash val="solid"/>
                      <a:round/>
                      <a:headEnd type="none" w="med" len="med"/>
                      <a:tailEnd type="none" w="med" len="med"/>
                    </a:lnR>
                    <a:lnT w="12700" cap="flat" cmpd="sng" algn="ctr">
                      <a:solidFill>
                        <a:srgbClr val="D8E0F2"/>
                      </a:solidFill>
                      <a:prstDash val="solid"/>
                      <a:round/>
                      <a:headEnd type="none" w="med" len="med"/>
                      <a:tailEnd type="none" w="med" len="med"/>
                    </a:lnT>
                    <a:lnB w="12700" cap="flat" cmpd="sng" algn="ctr">
                      <a:solidFill>
                        <a:srgbClr val="D8E0F2"/>
                      </a:solidFill>
                      <a:prstDash val="solid"/>
                      <a:round/>
                      <a:headEnd type="none" w="med" len="med"/>
                      <a:tailEnd type="none" w="med" len="med"/>
                    </a:lnB>
                    <a:solidFill>
                      <a:srgbClr val="FFFFFF"/>
                    </a:solidFill>
                  </a:tcPr>
                </a:tc>
                <a:tc>
                  <a:txBody>
                    <a:bodyPr/>
                    <a:lstStyle/>
                    <a:p>
                      <a:pPr indent="0" marL="0">
                        <a:buNone/>
                      </a:pPr>
                      <a:r>
                        <a:rPr lang="en-US" sz="1100" dirty="0">
                          <a:solidFill>
                            <a:srgbClr val="3E466B"/>
                          </a:solidFill>
                          <a:latin typeface="Calibri" pitchFamily="34" charset="0"/>
                          <a:ea typeface="Calibri" pitchFamily="34" charset="-122"/>
                          <a:cs typeface="Calibri" pitchFamily="34" charset="-120"/>
                        </a:rPr>
                        <a:t>Needs theses to monitor against</a:t>
                      </a:r>
                      <a:endParaRPr lang="en-US" sz="1100" dirty="0">
                        <a:latin typeface="Calibri" charset="0"/>
                        <a:ea typeface="Calibri" charset="0"/>
                        <a:cs typeface="Calibri" charset="0"/>
                      </a:endParaRPr>
                    </a:p>
                  </a:txBody>
                  <a:tcPr marL="114300" marR="114300" marT="38100" marB="38100" anchor="ctr">
                    <a:lnL w="12700" cap="flat" cmpd="sng" algn="ctr">
                      <a:solidFill>
                        <a:srgbClr val="D8E0F2"/>
                      </a:solidFill>
                      <a:prstDash val="solid"/>
                      <a:round/>
                      <a:headEnd type="none" w="med" len="med"/>
                      <a:tailEnd type="none" w="med" len="med"/>
                    </a:lnL>
                    <a:lnR w="12700" cap="flat" cmpd="sng" algn="ctr">
                      <a:solidFill>
                        <a:srgbClr val="D8E0F2"/>
                      </a:solidFill>
                      <a:prstDash val="solid"/>
                      <a:round/>
                      <a:headEnd type="none" w="med" len="med"/>
                      <a:tailEnd type="none" w="med" len="med"/>
                    </a:lnR>
                    <a:lnT w="12700" cap="flat" cmpd="sng" algn="ctr">
                      <a:solidFill>
                        <a:srgbClr val="D8E0F2"/>
                      </a:solidFill>
                      <a:prstDash val="solid"/>
                      <a:round/>
                      <a:headEnd type="none" w="med" len="med"/>
                      <a:tailEnd type="none" w="med" len="med"/>
                    </a:lnT>
                    <a:lnB w="12700" cap="flat" cmpd="sng" algn="ctr">
                      <a:solidFill>
                        <a:srgbClr val="D8E0F2"/>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3E466B"/>
                          </a:solidFill>
                          <a:latin typeface="Calibri" pitchFamily="34" charset="0"/>
                          <a:ea typeface="Calibri" pitchFamily="34" charset="-122"/>
                          <a:cs typeface="Calibri" pitchFamily="34" charset="-120"/>
                        </a:rPr>
                        <a:t>Risk, Post-trade review, Decision analytics</a:t>
                      </a:r>
                      <a:endParaRPr lang="en-US" sz="1100" dirty="0">
                        <a:latin typeface="Calibri" charset="0"/>
                        <a:ea typeface="Calibri" charset="0"/>
                        <a:cs typeface="Calibri" charset="0"/>
                      </a:endParaRPr>
                    </a:p>
                  </a:txBody>
                  <a:tcPr marL="114300" marR="114300" marT="38100" marB="38100" anchor="ctr">
                    <a:lnL w="12700" cap="flat" cmpd="sng" algn="ctr">
                      <a:solidFill>
                        <a:srgbClr val="D8E0F2"/>
                      </a:solidFill>
                      <a:prstDash val="solid"/>
                      <a:round/>
                      <a:headEnd type="none" w="med" len="med"/>
                      <a:tailEnd type="none" w="med" len="med"/>
                    </a:lnL>
                    <a:lnR w="12700" cap="flat" cmpd="sng" algn="ctr">
                      <a:solidFill>
                        <a:srgbClr val="D8E0F2"/>
                      </a:solidFill>
                      <a:prstDash val="solid"/>
                      <a:round/>
                      <a:headEnd type="none" w="med" len="med"/>
                      <a:tailEnd type="none" w="med" len="med"/>
                    </a:lnR>
                    <a:lnT w="12700" cap="flat" cmpd="sng" algn="ctr">
                      <a:solidFill>
                        <a:srgbClr val="D8E0F2"/>
                      </a:solidFill>
                      <a:prstDash val="solid"/>
                      <a:round/>
                      <a:headEnd type="none" w="med" len="med"/>
                      <a:tailEnd type="none" w="med" len="med"/>
                    </a:lnT>
                    <a:lnB w="12700" cap="flat" cmpd="sng" algn="ctr">
                      <a:solidFill>
                        <a:srgbClr val="D8E0F2"/>
                      </a:solidFill>
                      <a:prstDash val="solid"/>
                      <a:round/>
                      <a:headEnd type="none" w="med" len="med"/>
                      <a:tailEnd type="none" w="med" len="med"/>
                    </a:lnB>
                    <a:solidFill>
                      <a:srgbClr val="FFFFFF"/>
                    </a:solidFill>
                  </a:tcPr>
                </a:tc>
                <a:tc>
                  <a:txBody>
                    <a:bodyPr/>
                    <a:lstStyle/>
                    <a:p>
                      <a:pPr indent="0" marL="0">
                        <a:buNone/>
                      </a:pPr>
                      <a:r>
                        <a:rPr lang="en-US" sz="1100" dirty="0">
                          <a:solidFill>
                            <a:srgbClr val="3E466B"/>
                          </a:solidFill>
                          <a:latin typeface="Calibri" pitchFamily="34" charset="0"/>
                          <a:ea typeface="Calibri" pitchFamily="34" charset="-122"/>
                          <a:cs typeface="Calibri" pitchFamily="34" charset="-120"/>
                        </a:rPr>
                        <a:t>Planned</a:t>
                      </a:r>
                      <a:endParaRPr lang="en-US" sz="1100" dirty="0">
                        <a:latin typeface="Calibri" charset="0"/>
                        <a:ea typeface="Calibri" charset="0"/>
                        <a:cs typeface="Calibri" charset="0"/>
                      </a:endParaRPr>
                    </a:p>
                  </a:txBody>
                  <a:tcPr marL="114300" marR="114300" marT="38100" marB="38100" anchor="ctr">
                    <a:lnL w="12700" cap="flat" cmpd="sng" algn="ctr">
                      <a:solidFill>
                        <a:srgbClr val="D8E0F2"/>
                      </a:solidFill>
                      <a:prstDash val="solid"/>
                      <a:round/>
                      <a:headEnd type="none" w="med" len="med"/>
                      <a:tailEnd type="none" w="med" len="med"/>
                    </a:lnL>
                    <a:lnR w="12700" cap="flat" cmpd="sng" algn="ctr">
                      <a:solidFill>
                        <a:srgbClr val="D8E0F2"/>
                      </a:solidFill>
                      <a:prstDash val="solid"/>
                      <a:round/>
                      <a:headEnd type="none" w="med" len="med"/>
                      <a:tailEnd type="none" w="med" len="med"/>
                    </a:lnR>
                    <a:lnT w="12700" cap="flat" cmpd="sng" algn="ctr">
                      <a:solidFill>
                        <a:srgbClr val="D8E0F2"/>
                      </a:solidFill>
                      <a:prstDash val="solid"/>
                      <a:round/>
                      <a:headEnd type="none" w="med" len="med"/>
                      <a:tailEnd type="none" w="med" len="med"/>
                    </a:lnT>
                    <a:lnB w="12700" cap="flat" cmpd="sng" algn="ctr">
                      <a:solidFill>
                        <a:srgbClr val="D8E0F2"/>
                      </a:solidFill>
                      <a:prstDash val="solid"/>
                      <a:round/>
                      <a:headEnd type="none" w="med" len="med"/>
                      <a:tailEnd type="none" w="med" len="med"/>
                    </a:lnB>
                    <a:solidFill>
                      <a:srgbClr val="FFFFFF"/>
                    </a:solidFill>
                  </a:tcPr>
                </a:tc>
                <a:tc>
                  <a:txBody>
                    <a:bodyPr/>
                    <a:lstStyle/>
                    <a:p>
                      <a:pPr indent="0" marL="0">
                        <a:buNone/>
                      </a:pPr>
                      <a:r>
                        <a:rPr lang="en-US" sz="1100" dirty="0">
                          <a:solidFill>
                            <a:srgbClr val="3E466B"/>
                          </a:solidFill>
                          <a:latin typeface="Calibri" pitchFamily="34" charset="0"/>
                          <a:ea typeface="Calibri" pitchFamily="34" charset="-122"/>
                          <a:cs typeface="Calibri" pitchFamily="34" charset="-120"/>
                        </a:rPr>
                        <a:t>Need a book, decisions, and enough reviewed decisions to say anything</a:t>
                      </a:r>
                      <a:endParaRPr lang="en-US" sz="1100" dirty="0">
                        <a:latin typeface="Calibri" charset="0"/>
                        <a:ea typeface="Calibri" charset="0"/>
                        <a:cs typeface="Calibri" charset="0"/>
                      </a:endParaRPr>
                    </a:p>
                  </a:txBody>
                  <a:tcPr marL="114300" marR="114300" marT="38100" marB="38100" anchor="ctr">
                    <a:lnL w="12700" cap="flat" cmpd="sng" algn="ctr">
                      <a:solidFill>
                        <a:srgbClr val="D8E0F2"/>
                      </a:solidFill>
                      <a:prstDash val="solid"/>
                      <a:round/>
                      <a:headEnd type="none" w="med" len="med"/>
                      <a:tailEnd type="none" w="med" len="med"/>
                    </a:lnL>
                    <a:lnR w="12700" cap="flat" cmpd="sng" algn="ctr">
                      <a:solidFill>
                        <a:srgbClr val="D8E0F2"/>
                      </a:solidFill>
                      <a:prstDash val="solid"/>
                      <a:round/>
                      <a:headEnd type="none" w="med" len="med"/>
                      <a:tailEnd type="none" w="med" len="med"/>
                    </a:lnR>
                    <a:lnT w="12700" cap="flat" cmpd="sng" algn="ctr">
                      <a:solidFill>
                        <a:srgbClr val="D8E0F2"/>
                      </a:solidFill>
                      <a:prstDash val="solid"/>
                      <a:round/>
                      <a:headEnd type="none" w="med" len="med"/>
                      <a:tailEnd type="none" w="med" len="med"/>
                    </a:lnT>
                    <a:lnB w="12700" cap="flat" cmpd="sng" algn="ctr">
                      <a:solidFill>
                        <a:srgbClr val="D8E0F2"/>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685800" y="5212080"/>
            <a:ext cx="10332720" cy="731520"/>
          </a:xfrm>
          <a:prstGeom prst="rect">
            <a:avLst/>
          </a:prstGeom>
          <a:noFill/>
          <a:ln/>
        </p:spPr>
        <p:txBody>
          <a:bodyPr wrap="square" lIns="0" tIns="0" rIns="0" bIns="0" rtlCol="0" anchor="t"/>
          <a:lstStyle/>
          <a:p>
            <a:pPr indent="0" marL="0">
              <a:lnSpc>
                <a:spcPts val="1700"/>
              </a:lnSpc>
              <a:buNone/>
            </a:pPr>
            <a:r>
              <a:rPr lang="en-US" sz="1200" i="1" dirty="0">
                <a:solidFill>
                  <a:srgbClr val="7B83A6"/>
                </a:solidFill>
                <a:latin typeface="Calibri" pitchFamily="34" charset="0"/>
                <a:ea typeface="Calibri" pitchFamily="34" charset="-122"/>
                <a:cs typeface="Calibri" pitchFamily="34" charset="-120"/>
              </a:rPr>
              <a:t>Read the middle column as a roadmap with its dependencies already solved on paper, not as a gap. The order is forced: you cannot monitor a thesis you have not recorded, or review a decision you never made.</a:t>
            </a:r>
            <a:endParaRPr lang="en-US" sz="1200" dirty="0"/>
          </a:p>
        </p:txBody>
      </p:sp>
      <p:sp>
        <p:nvSpPr>
          <p:cNvPr id="7" name="Text 4"/>
          <p:cNvSpPr txBox="1"/>
          <p:nvPr/>
        </p:nvSpPr>
        <p:spPr>
          <a:xfrm>
            <a:off x="685800" y="6272784"/>
            <a:ext cx="10817352" cy="274320"/>
          </a:xfrm>
          <a:prstGeom prst="rect">
            <a:avLst/>
          </a:prstGeom>
          <a:noFill/>
          <a:ln/>
        </p:spPr>
        <p:txBody>
          <a:bodyPr wrap="square" lIns="0" tIns="0" rIns="0" bIns="0" rtlCol="0" anchor="t"/>
          <a:lstStyle/>
          <a:p>
            <a:pPr indent="0" marL="0">
              <a:buNone/>
            </a:pPr>
            <a:r>
              <a:rPr lang="en-US" sz="950" i="1" dirty="0">
                <a:solidFill>
                  <a:srgbClr val="7B83A6"/>
                </a:solidFill>
                <a:latin typeface="Calibri" pitchFamily="34" charset="0"/>
                <a:ea typeface="Calibri" pitchFamily="34" charset="-122"/>
                <a:cs typeface="Calibri" pitchFamily="34" charset="-120"/>
              </a:rPr>
              <a:t>Explicitly out of scope, permanently: trade execution, broker connections, portfolio optimisation.</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685800" y="402336"/>
            <a:ext cx="8778240" cy="274320"/>
          </a:xfrm>
          <a:prstGeom prst="rect">
            <a:avLst/>
          </a:prstGeom>
          <a:noFill/>
          <a:ln/>
        </p:spPr>
        <p:txBody>
          <a:bodyPr wrap="square" lIns="0" tIns="0" rIns="0" bIns="0" rtlCol="0" anchor="t"/>
          <a:lstStyle/>
          <a:p>
            <a:pPr indent="0" marL="0">
              <a:buNone/>
            </a:pPr>
            <a:r>
              <a:rPr lang="en-US" sz="1100" b="1" spc="220" kern="0" dirty="0">
                <a:solidFill>
                  <a:srgbClr val="CADCFC"/>
                </a:solidFill>
                <a:latin typeface="Calibri" pitchFamily="34" charset="0"/>
                <a:ea typeface="Calibri" pitchFamily="34" charset="-122"/>
                <a:cs typeface="Calibri" pitchFamily="34" charset="-120"/>
              </a:rPr>
              <a:t>THE EVIDENCE</a:t>
            </a:r>
            <a:endParaRPr lang="en-US" sz="1100" dirty="0"/>
          </a:p>
        </p:txBody>
      </p:sp>
      <p:sp>
        <p:nvSpPr>
          <p:cNvPr id="3" name="Text 1"/>
          <p:cNvSpPr txBox="1"/>
          <p:nvPr/>
        </p:nvSpPr>
        <p:spPr>
          <a:xfrm>
            <a:off x="685800" y="777240"/>
            <a:ext cx="10817352" cy="566928"/>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Audited, with the results published either way</a:t>
            </a:r>
            <a:endParaRPr lang="en-US" sz="3200" dirty="0"/>
          </a:p>
        </p:txBody>
      </p:sp>
      <p:sp>
        <p:nvSpPr>
          <p:cNvPr id="4" name="Text 2"/>
          <p:cNvSpPr txBox="1"/>
          <p:nvPr/>
        </p:nvSpPr>
        <p:spPr>
          <a:xfrm>
            <a:off x="685800" y="1463040"/>
            <a:ext cx="10332720" cy="685800"/>
          </a:xfrm>
          <a:prstGeom prst="rect">
            <a:avLst/>
          </a:prstGeom>
          <a:noFill/>
          <a:ln/>
        </p:spPr>
        <p:txBody>
          <a:bodyPr wrap="square" lIns="0" tIns="0" rIns="0" bIns="0" rtlCol="0" anchor="t"/>
          <a:lstStyle/>
          <a:p>
            <a:pPr indent="0" marL="0">
              <a:lnSpc>
                <a:spcPts val="1700"/>
              </a:lnSpc>
              <a:buNone/>
            </a:pPr>
            <a:r>
              <a:rPr lang="en-US" sz="1300" dirty="0">
                <a:solidFill>
                  <a:srgbClr val="CADCFC"/>
                </a:solidFill>
                <a:latin typeface="Calibri" pitchFamily="34" charset="0"/>
                <a:ea typeface="Calibri" pitchFamily="34" charset="-122"/>
                <a:cs typeface="Calibri" pitchFamily="34" charset="-120"/>
              </a:rPr>
              <a:t>Six live runs on three companies, three matched Claude-console baselines on identical briefs, and twelve blind reads by independent judges. The audit and its raw results are committed to the repository.</a:t>
            </a:r>
            <a:endParaRPr lang="en-US" sz="1300" dirty="0"/>
          </a:p>
        </p:txBody>
      </p:sp>
      <p:sp>
        <p:nvSpPr>
          <p:cNvPr id="5" name="Shape 3"/>
          <p:cNvSpPr/>
          <p:nvPr/>
        </p:nvSpPr>
        <p:spPr>
          <a:xfrm>
            <a:off x="685800" y="2331720"/>
            <a:ext cx="3383280" cy="1371600"/>
          </a:xfrm>
          <a:prstGeom prst="roundRect">
            <a:avLst>
              <a:gd name="adj" fmla="val 4000"/>
            </a:avLst>
          </a:prstGeom>
          <a:solidFill>
            <a:srgbClr val="26306A"/>
          </a:solidFill>
          <a:ln/>
        </p:spPr>
      </p:sp>
      <p:sp>
        <p:nvSpPr>
          <p:cNvPr id="6" name="Text 4"/>
          <p:cNvSpPr txBox="1"/>
          <p:nvPr/>
        </p:nvSpPr>
        <p:spPr>
          <a:xfrm>
            <a:off x="960120" y="2478024"/>
            <a:ext cx="2834640" cy="457200"/>
          </a:xfrm>
          <a:prstGeom prst="rect">
            <a:avLst/>
          </a:prstGeom>
          <a:noFill/>
          <a:ln/>
        </p:spPr>
        <p:txBody>
          <a:bodyPr wrap="square" lIns="0" tIns="0" rIns="0" bIns="0" rtlCol="0" anchor="t"/>
          <a:lstStyle/>
          <a:p>
            <a:pPr indent="0" marL="0">
              <a:buNone/>
            </a:pPr>
            <a:r>
              <a:rPr lang="en-US" sz="2300" b="1" dirty="0">
                <a:solidFill>
                  <a:srgbClr val="CADCFC"/>
                </a:solidFill>
                <a:latin typeface="Cambria" pitchFamily="34" charset="0"/>
                <a:ea typeface="Cambria" pitchFamily="34" charset="-122"/>
                <a:cs typeface="Cambria" pitchFamily="34" charset="-120"/>
              </a:rPr>
              <a:t>0 of 779</a:t>
            </a:r>
            <a:endParaRPr lang="en-US" sz="2300" dirty="0"/>
          </a:p>
        </p:txBody>
      </p:sp>
      <p:sp>
        <p:nvSpPr>
          <p:cNvPr id="7" name="Text 5"/>
          <p:cNvSpPr txBox="1"/>
          <p:nvPr/>
        </p:nvSpPr>
        <p:spPr>
          <a:xfrm>
            <a:off x="960120" y="2971800"/>
            <a:ext cx="2834640" cy="621792"/>
          </a:xfrm>
          <a:prstGeom prst="rect">
            <a:avLst/>
          </a:prstGeom>
          <a:noFill/>
          <a:ln/>
        </p:spPr>
        <p:txBody>
          <a:bodyPr wrap="square" lIns="0" tIns="0" rIns="0" bIns="0" rtlCol="0" anchor="t"/>
          <a:lstStyle/>
          <a:p>
            <a:pPr indent="0" marL="0">
              <a:lnSpc>
                <a:spcPts val="1300"/>
              </a:lnSpc>
              <a:buNone/>
            </a:pPr>
            <a:r>
              <a:rPr lang="en-US" sz="1050" dirty="0">
                <a:solidFill>
                  <a:srgbClr val="FFFFFF"/>
                </a:solidFill>
                <a:latin typeface="Calibri" pitchFamily="34" charset="0"/>
                <a:ea typeface="Calibri" pitchFamily="34" charset="-122"/>
                <a:cs typeface="Calibri" pitchFamily="34" charset="-120"/>
              </a:rPr>
              <a:t>checkable figures contradicted the filing they came from, across five reports</a:t>
            </a:r>
            <a:endParaRPr lang="en-US" sz="1050" dirty="0"/>
          </a:p>
        </p:txBody>
      </p:sp>
      <p:sp>
        <p:nvSpPr>
          <p:cNvPr id="8" name="Shape 6"/>
          <p:cNvSpPr/>
          <p:nvPr/>
        </p:nvSpPr>
        <p:spPr>
          <a:xfrm>
            <a:off x="4389120" y="2331720"/>
            <a:ext cx="3383280" cy="1371600"/>
          </a:xfrm>
          <a:prstGeom prst="roundRect">
            <a:avLst>
              <a:gd name="adj" fmla="val 4000"/>
            </a:avLst>
          </a:prstGeom>
          <a:solidFill>
            <a:srgbClr val="26306A"/>
          </a:solidFill>
          <a:ln/>
        </p:spPr>
      </p:sp>
      <p:sp>
        <p:nvSpPr>
          <p:cNvPr id="9" name="Text 7"/>
          <p:cNvSpPr txBox="1"/>
          <p:nvPr/>
        </p:nvSpPr>
        <p:spPr>
          <a:xfrm>
            <a:off x="4663440" y="2478024"/>
            <a:ext cx="2834640" cy="457200"/>
          </a:xfrm>
          <a:prstGeom prst="rect">
            <a:avLst/>
          </a:prstGeom>
          <a:noFill/>
          <a:ln/>
        </p:spPr>
        <p:txBody>
          <a:bodyPr wrap="square" lIns="0" tIns="0" rIns="0" bIns="0" rtlCol="0" anchor="t"/>
          <a:lstStyle/>
          <a:p>
            <a:pPr indent="0" marL="0">
              <a:buNone/>
            </a:pPr>
            <a:r>
              <a:rPr lang="en-US" sz="2300" b="1" dirty="0">
                <a:solidFill>
                  <a:srgbClr val="CADCFC"/>
                </a:solidFill>
                <a:latin typeface="Cambria" pitchFamily="34" charset="0"/>
                <a:ea typeface="Cambria" pitchFamily="34" charset="-122"/>
                <a:cs typeface="Cambria" pitchFamily="34" charset="-120"/>
              </a:rPr>
              <a:t>259 / 259</a:t>
            </a:r>
            <a:endParaRPr lang="en-US" sz="2300" dirty="0"/>
          </a:p>
        </p:txBody>
      </p:sp>
      <p:sp>
        <p:nvSpPr>
          <p:cNvPr id="10" name="Text 8"/>
          <p:cNvSpPr txBox="1"/>
          <p:nvPr/>
        </p:nvSpPr>
        <p:spPr>
          <a:xfrm>
            <a:off x="4663440" y="2971800"/>
            <a:ext cx="2834640" cy="621792"/>
          </a:xfrm>
          <a:prstGeom prst="rect">
            <a:avLst/>
          </a:prstGeom>
          <a:noFill/>
          <a:ln/>
        </p:spPr>
        <p:txBody>
          <a:bodyPr wrap="square" lIns="0" tIns="0" rIns="0" bIns="0" rtlCol="0" anchor="t"/>
          <a:lstStyle/>
          <a:p>
            <a:pPr indent="0" marL="0">
              <a:lnSpc>
                <a:spcPts val="1300"/>
              </a:lnSpc>
              <a:buNone/>
            </a:pPr>
            <a:r>
              <a:rPr lang="en-US" sz="1050" dirty="0">
                <a:solidFill>
                  <a:srgbClr val="FFFFFF"/>
                </a:solidFill>
                <a:latin typeface="Calibri" pitchFamily="34" charset="0"/>
                <a:ea typeface="Calibri" pitchFamily="34" charset="-122"/>
                <a:cs typeface="Calibri" pitchFamily="34" charset="-120"/>
              </a:rPr>
              <a:t>citations verified by re-reading the archived bytes</a:t>
            </a:r>
            <a:endParaRPr lang="en-US" sz="1050" dirty="0"/>
          </a:p>
        </p:txBody>
      </p:sp>
      <p:sp>
        <p:nvSpPr>
          <p:cNvPr id="11" name="Shape 9"/>
          <p:cNvSpPr/>
          <p:nvPr/>
        </p:nvSpPr>
        <p:spPr>
          <a:xfrm>
            <a:off x="8092440" y="2331720"/>
            <a:ext cx="3383280" cy="1371600"/>
          </a:xfrm>
          <a:prstGeom prst="roundRect">
            <a:avLst>
              <a:gd name="adj" fmla="val 4000"/>
            </a:avLst>
          </a:prstGeom>
          <a:solidFill>
            <a:srgbClr val="26306A"/>
          </a:solidFill>
          <a:ln/>
        </p:spPr>
      </p:sp>
      <p:sp>
        <p:nvSpPr>
          <p:cNvPr id="12" name="Text 10"/>
          <p:cNvSpPr txBox="1"/>
          <p:nvPr/>
        </p:nvSpPr>
        <p:spPr>
          <a:xfrm>
            <a:off x="8366760" y="2478024"/>
            <a:ext cx="2834640" cy="457200"/>
          </a:xfrm>
          <a:prstGeom prst="rect">
            <a:avLst/>
          </a:prstGeom>
          <a:noFill/>
          <a:ln/>
        </p:spPr>
        <p:txBody>
          <a:bodyPr wrap="square" lIns="0" tIns="0" rIns="0" bIns="0" rtlCol="0" anchor="t"/>
          <a:lstStyle/>
          <a:p>
            <a:pPr indent="0" marL="0">
              <a:buNone/>
            </a:pPr>
            <a:r>
              <a:rPr lang="en-US" sz="2300" b="1" dirty="0">
                <a:solidFill>
                  <a:srgbClr val="CADCFC"/>
                </a:solidFill>
                <a:latin typeface="Cambria" pitchFamily="34" charset="0"/>
                <a:ea typeface="Cambria" pitchFamily="34" charset="-122"/>
                <a:cs typeface="Cambria" pitchFamily="34" charset="-120"/>
              </a:rPr>
              <a:t>3,335</a:t>
            </a:r>
            <a:endParaRPr lang="en-US" sz="2300" dirty="0"/>
          </a:p>
        </p:txBody>
      </p:sp>
      <p:sp>
        <p:nvSpPr>
          <p:cNvPr id="13" name="Text 11"/>
          <p:cNvSpPr txBox="1"/>
          <p:nvPr/>
        </p:nvSpPr>
        <p:spPr>
          <a:xfrm>
            <a:off x="8366760" y="2971800"/>
            <a:ext cx="2834640" cy="621792"/>
          </a:xfrm>
          <a:prstGeom prst="rect">
            <a:avLst/>
          </a:prstGeom>
          <a:noFill/>
          <a:ln/>
        </p:spPr>
        <p:txBody>
          <a:bodyPr wrap="square" lIns="0" tIns="0" rIns="0" bIns="0" rtlCol="0" anchor="t"/>
          <a:lstStyle/>
          <a:p>
            <a:pPr indent="0" marL="0">
              <a:lnSpc>
                <a:spcPts val="1300"/>
              </a:lnSpc>
              <a:buNone/>
            </a:pPr>
            <a:r>
              <a:rPr lang="en-US" sz="1050" dirty="0">
                <a:solidFill>
                  <a:srgbClr val="FFFFFF"/>
                </a:solidFill>
                <a:latin typeface="Calibri" pitchFamily="34" charset="0"/>
                <a:ea typeface="Calibri" pitchFamily="34" charset="-122"/>
                <a:cs typeface="Calibri" pitchFamily="34" charset="-120"/>
              </a:rPr>
              <a:t>calculation rows re-executed from stored inputs with zero divergence</a:t>
            </a:r>
            <a:endParaRPr lang="en-US" sz="1050" dirty="0"/>
          </a:p>
        </p:txBody>
      </p:sp>
      <p:sp>
        <p:nvSpPr>
          <p:cNvPr id="14" name="Shape 12"/>
          <p:cNvSpPr/>
          <p:nvPr/>
        </p:nvSpPr>
        <p:spPr>
          <a:xfrm>
            <a:off x="685800" y="3931920"/>
            <a:ext cx="3383280" cy="1371600"/>
          </a:xfrm>
          <a:prstGeom prst="roundRect">
            <a:avLst>
              <a:gd name="adj" fmla="val 4000"/>
            </a:avLst>
          </a:prstGeom>
          <a:solidFill>
            <a:srgbClr val="26306A"/>
          </a:solidFill>
          <a:ln/>
        </p:spPr>
      </p:sp>
      <p:sp>
        <p:nvSpPr>
          <p:cNvPr id="15" name="Text 13"/>
          <p:cNvSpPr txBox="1"/>
          <p:nvPr/>
        </p:nvSpPr>
        <p:spPr>
          <a:xfrm>
            <a:off x="960120" y="4078224"/>
            <a:ext cx="2834640" cy="457200"/>
          </a:xfrm>
          <a:prstGeom prst="rect">
            <a:avLst/>
          </a:prstGeom>
          <a:noFill/>
          <a:ln/>
        </p:spPr>
        <p:txBody>
          <a:bodyPr wrap="square" lIns="0" tIns="0" rIns="0" bIns="0" rtlCol="0" anchor="t"/>
          <a:lstStyle/>
          <a:p>
            <a:pPr indent="0" marL="0">
              <a:buNone/>
            </a:pPr>
            <a:r>
              <a:rPr lang="en-US" sz="2300" b="1" dirty="0">
                <a:solidFill>
                  <a:srgbClr val="CADCFC"/>
                </a:solidFill>
                <a:latin typeface="Cambria" pitchFamily="34" charset="0"/>
                <a:ea typeface="Cambria" pitchFamily="34" charset="-122"/>
                <a:cs typeface="Cambria" pitchFamily="34" charset="-120"/>
              </a:rPr>
              <a:t>£7.19</a:t>
            </a:r>
            <a:endParaRPr lang="en-US" sz="2300" dirty="0"/>
          </a:p>
        </p:txBody>
      </p:sp>
      <p:sp>
        <p:nvSpPr>
          <p:cNvPr id="16" name="Text 14"/>
          <p:cNvSpPr txBox="1"/>
          <p:nvPr/>
        </p:nvSpPr>
        <p:spPr>
          <a:xfrm>
            <a:off x="960120" y="4572000"/>
            <a:ext cx="2834640" cy="621792"/>
          </a:xfrm>
          <a:prstGeom prst="rect">
            <a:avLst/>
          </a:prstGeom>
          <a:noFill/>
          <a:ln/>
        </p:spPr>
        <p:txBody>
          <a:bodyPr wrap="square" lIns="0" tIns="0" rIns="0" bIns="0" rtlCol="0" anchor="t"/>
          <a:lstStyle/>
          <a:p>
            <a:pPr indent="0" marL="0">
              <a:lnSpc>
                <a:spcPts val="1300"/>
              </a:lnSpc>
              <a:buNone/>
            </a:pPr>
            <a:r>
              <a:rPr lang="en-US" sz="1050" dirty="0">
                <a:solidFill>
                  <a:srgbClr val="FFFFFF"/>
                </a:solidFill>
                <a:latin typeface="Calibri" pitchFamily="34" charset="0"/>
                <a:ea typeface="Calibri" pitchFamily="34" charset="-122"/>
                <a:cs typeface="Calibri" pitchFamily="34" charset="-120"/>
              </a:rPr>
              <a:t>average per report — five runs inside an 11% band, against a console spread of 65%</a:t>
            </a:r>
            <a:endParaRPr lang="en-US" sz="1050" dirty="0"/>
          </a:p>
        </p:txBody>
      </p:sp>
      <p:sp>
        <p:nvSpPr>
          <p:cNvPr id="17" name="Shape 15"/>
          <p:cNvSpPr/>
          <p:nvPr/>
        </p:nvSpPr>
        <p:spPr>
          <a:xfrm>
            <a:off x="4389120" y="3931920"/>
            <a:ext cx="3383280" cy="1371600"/>
          </a:xfrm>
          <a:prstGeom prst="roundRect">
            <a:avLst>
              <a:gd name="adj" fmla="val 4000"/>
            </a:avLst>
          </a:prstGeom>
          <a:solidFill>
            <a:srgbClr val="26306A"/>
          </a:solidFill>
          <a:ln/>
        </p:spPr>
      </p:sp>
      <p:sp>
        <p:nvSpPr>
          <p:cNvPr id="18" name="Text 16"/>
          <p:cNvSpPr txBox="1"/>
          <p:nvPr/>
        </p:nvSpPr>
        <p:spPr>
          <a:xfrm>
            <a:off x="4663440" y="4078224"/>
            <a:ext cx="2834640" cy="457200"/>
          </a:xfrm>
          <a:prstGeom prst="rect">
            <a:avLst/>
          </a:prstGeom>
          <a:noFill/>
          <a:ln/>
        </p:spPr>
        <p:txBody>
          <a:bodyPr wrap="square" lIns="0" tIns="0" rIns="0" bIns="0" rtlCol="0" anchor="t"/>
          <a:lstStyle/>
          <a:p>
            <a:pPr indent="0" marL="0">
              <a:buNone/>
            </a:pPr>
            <a:r>
              <a:rPr lang="en-US" sz="2300" b="1" dirty="0">
                <a:solidFill>
                  <a:srgbClr val="CADCFC"/>
                </a:solidFill>
                <a:latin typeface="Cambria" pitchFamily="34" charset="0"/>
                <a:ea typeface="Cambria" pitchFamily="34" charset="-122"/>
                <a:cs typeface="Cambria" pitchFamily="34" charset="-120"/>
              </a:rPr>
              <a:t>6,968</a:t>
            </a:r>
            <a:endParaRPr lang="en-US" sz="2300" dirty="0"/>
          </a:p>
        </p:txBody>
      </p:sp>
      <p:sp>
        <p:nvSpPr>
          <p:cNvPr id="19" name="Text 17"/>
          <p:cNvSpPr txBox="1"/>
          <p:nvPr/>
        </p:nvSpPr>
        <p:spPr>
          <a:xfrm>
            <a:off x="4663440" y="4572000"/>
            <a:ext cx="2834640" cy="621792"/>
          </a:xfrm>
          <a:prstGeom prst="rect">
            <a:avLst/>
          </a:prstGeom>
          <a:noFill/>
          <a:ln/>
        </p:spPr>
        <p:txBody>
          <a:bodyPr wrap="square" lIns="0" tIns="0" rIns="0" bIns="0" rtlCol="0" anchor="t"/>
          <a:lstStyle/>
          <a:p>
            <a:pPr indent="0" marL="0">
              <a:lnSpc>
                <a:spcPts val="1300"/>
              </a:lnSpc>
              <a:buNone/>
            </a:pPr>
            <a:r>
              <a:rPr lang="en-US" sz="1050" dirty="0">
                <a:solidFill>
                  <a:srgbClr val="FFFFFF"/>
                </a:solidFill>
                <a:latin typeface="Calibri" pitchFamily="34" charset="0"/>
                <a:ea typeface="Calibri" pitchFamily="34" charset="-122"/>
                <a:cs typeface="Calibri" pitchFamily="34" charset="-120"/>
              </a:rPr>
              <a:t>automated tests, run with no network access and no model spend</a:t>
            </a:r>
            <a:endParaRPr lang="en-US" sz="1050" dirty="0"/>
          </a:p>
        </p:txBody>
      </p:sp>
      <p:sp>
        <p:nvSpPr>
          <p:cNvPr id="20" name="Shape 18"/>
          <p:cNvSpPr/>
          <p:nvPr/>
        </p:nvSpPr>
        <p:spPr>
          <a:xfrm>
            <a:off x="8092440" y="3931920"/>
            <a:ext cx="3383280" cy="1371600"/>
          </a:xfrm>
          <a:prstGeom prst="roundRect">
            <a:avLst>
              <a:gd name="adj" fmla="val 4000"/>
            </a:avLst>
          </a:prstGeom>
          <a:solidFill>
            <a:srgbClr val="26306A"/>
          </a:solidFill>
          <a:ln/>
        </p:spPr>
      </p:sp>
      <p:sp>
        <p:nvSpPr>
          <p:cNvPr id="21" name="Text 19"/>
          <p:cNvSpPr txBox="1"/>
          <p:nvPr/>
        </p:nvSpPr>
        <p:spPr>
          <a:xfrm>
            <a:off x="8366760" y="4078224"/>
            <a:ext cx="2834640" cy="457200"/>
          </a:xfrm>
          <a:prstGeom prst="rect">
            <a:avLst/>
          </a:prstGeom>
          <a:noFill/>
          <a:ln/>
        </p:spPr>
        <p:txBody>
          <a:bodyPr wrap="square" lIns="0" tIns="0" rIns="0" bIns="0" rtlCol="0" anchor="t"/>
          <a:lstStyle/>
          <a:p>
            <a:pPr indent="0" marL="0">
              <a:buNone/>
            </a:pPr>
            <a:r>
              <a:rPr lang="en-US" sz="2300" b="1" dirty="0">
                <a:solidFill>
                  <a:srgbClr val="CADCFC"/>
                </a:solidFill>
                <a:latin typeface="Cambria" pitchFamily="34" charset="0"/>
                <a:ea typeface="Cambria" pitchFamily="34" charset="-122"/>
                <a:cs typeface="Cambria" pitchFamily="34" charset="-120"/>
              </a:rPr>
              <a:t>28 / 21</a:t>
            </a:r>
            <a:endParaRPr lang="en-US" sz="2300" dirty="0"/>
          </a:p>
        </p:txBody>
      </p:sp>
      <p:sp>
        <p:nvSpPr>
          <p:cNvPr id="22" name="Text 20"/>
          <p:cNvSpPr txBox="1"/>
          <p:nvPr/>
        </p:nvSpPr>
        <p:spPr>
          <a:xfrm>
            <a:off x="8366760" y="4572000"/>
            <a:ext cx="2834640" cy="621792"/>
          </a:xfrm>
          <a:prstGeom prst="rect">
            <a:avLst/>
          </a:prstGeom>
          <a:noFill/>
          <a:ln/>
        </p:spPr>
        <p:txBody>
          <a:bodyPr wrap="square" lIns="0" tIns="0" rIns="0" bIns="0" rtlCol="0" anchor="t"/>
          <a:lstStyle/>
          <a:p>
            <a:pPr indent="0" marL="0">
              <a:lnSpc>
                <a:spcPts val="1300"/>
              </a:lnSpc>
              <a:buNone/>
            </a:pPr>
            <a:r>
              <a:rPr lang="en-US" sz="1050" dirty="0">
                <a:solidFill>
                  <a:srgbClr val="FFFFFF"/>
                </a:solidFill>
                <a:latin typeface="Calibri" pitchFamily="34" charset="0"/>
                <a:ea typeface="Calibri" pitchFamily="34" charset="-122"/>
                <a:cs typeface="Calibri" pitchFamily="34" charset="-120"/>
              </a:rPr>
              <a:t>defects found by the audit, and fixed with a regression test that failed first</a:t>
            </a:r>
            <a:endParaRPr lang="en-US" sz="1050" dirty="0"/>
          </a:p>
        </p:txBody>
      </p:sp>
      <p:sp>
        <p:nvSpPr>
          <p:cNvPr id="23" name="Text 21"/>
          <p:cNvSpPr txBox="1"/>
          <p:nvPr/>
        </p:nvSpPr>
        <p:spPr>
          <a:xfrm>
            <a:off x="685800" y="6272784"/>
            <a:ext cx="10817352" cy="274320"/>
          </a:xfrm>
          <a:prstGeom prst="rect">
            <a:avLst/>
          </a:prstGeom>
          <a:noFill/>
          <a:ln/>
        </p:spPr>
        <p:txBody>
          <a:bodyPr wrap="square" lIns="0" tIns="0" rIns="0" bIns="0" rtlCol="0" anchor="t"/>
          <a:lstStyle/>
          <a:p>
            <a:pPr indent="0" marL="0">
              <a:buNone/>
            </a:pPr>
            <a:r>
              <a:rPr lang="en-US" sz="950" i="1" dirty="0">
                <a:solidFill>
                  <a:srgbClr val="8FA3D8"/>
                </a:solidFill>
                <a:latin typeface="Calibri" pitchFamily="34" charset="0"/>
                <a:ea typeface="Calibri" pitchFamily="34" charset="-122"/>
                <a:cs typeface="Calibri" pitchFamily="34" charset="-120"/>
              </a:rPr>
              <a:t>Readiness audit, 11–12 September 2026. £63.32 of measured spend against a £100 ceiling.</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02336"/>
            <a:ext cx="8778240" cy="274320"/>
          </a:xfrm>
          <a:prstGeom prst="rect">
            <a:avLst/>
          </a:prstGeom>
          <a:noFill/>
          <a:ln/>
        </p:spPr>
        <p:txBody>
          <a:bodyPr wrap="square" lIns="0" tIns="0" rIns="0" bIns="0" rtlCol="0" anchor="t"/>
          <a:lstStyle/>
          <a:p>
            <a:pPr indent="0" marL="0">
              <a:buNone/>
            </a:pPr>
            <a:r>
              <a:rPr lang="en-US" sz="1100" b="1" spc="220" kern="0" dirty="0">
                <a:solidFill>
                  <a:srgbClr val="7B83A6"/>
                </a:solidFill>
                <a:latin typeface="Calibri" pitchFamily="34" charset="0"/>
                <a:ea typeface="Calibri" pitchFamily="34" charset="-122"/>
                <a:cs typeface="Calibri" pitchFamily="34" charset="-120"/>
              </a:rPr>
              <a:t>WEAKNESSES</a:t>
            </a:r>
            <a:endParaRPr lang="en-US" sz="1100" dirty="0"/>
          </a:p>
        </p:txBody>
      </p:sp>
      <p:sp>
        <p:nvSpPr>
          <p:cNvPr id="3" name="Text 1"/>
          <p:cNvSpPr txBox="1"/>
          <p:nvPr/>
        </p:nvSpPr>
        <p:spPr>
          <a:xfrm>
            <a:off x="685800" y="777240"/>
            <a:ext cx="10817352" cy="566928"/>
          </a:xfrm>
          <a:prstGeom prst="rect">
            <a:avLst/>
          </a:prstGeom>
          <a:noFill/>
          <a:ln/>
        </p:spPr>
        <p:txBody>
          <a:bodyPr wrap="square" lIns="0" tIns="0" rIns="0" bIns="0" rtlCol="0" anchor="t"/>
          <a:lstStyle/>
          <a:p>
            <a:pPr indent="0" marL="0">
              <a:buNone/>
            </a:pPr>
            <a:r>
              <a:rPr lang="en-US" sz="3200" b="1" dirty="0">
                <a:solidFill>
                  <a:srgbClr val="1E2761"/>
                </a:solidFill>
                <a:latin typeface="Cambria" pitchFamily="34" charset="0"/>
                <a:ea typeface="Cambria" pitchFamily="34" charset="-122"/>
                <a:cs typeface="Cambria" pitchFamily="34" charset="-120"/>
              </a:rPr>
              <a:t>Where it falls short today</a:t>
            </a:r>
            <a:endParaRPr lang="en-US" sz="3200" dirty="0"/>
          </a:p>
        </p:txBody>
      </p:sp>
      <p:sp>
        <p:nvSpPr>
          <p:cNvPr id="4" name="Text 2"/>
          <p:cNvSpPr txBox="1"/>
          <p:nvPr/>
        </p:nvSpPr>
        <p:spPr>
          <a:xfrm>
            <a:off x="685800" y="1444752"/>
            <a:ext cx="10332720" cy="365760"/>
          </a:xfrm>
          <a:prstGeom prst="rect">
            <a:avLst/>
          </a:prstGeom>
          <a:noFill/>
          <a:ln/>
        </p:spPr>
        <p:txBody>
          <a:bodyPr wrap="square" lIns="0" tIns="0" rIns="0" bIns="0" rtlCol="0" anchor="t"/>
          <a:lstStyle/>
          <a:p>
            <a:pPr indent="0" marL="0">
              <a:lnSpc>
                <a:spcPts val="1700"/>
              </a:lnSpc>
              <a:buNone/>
            </a:pPr>
            <a:r>
              <a:rPr lang="en-US" sz="1250" dirty="0">
                <a:solidFill>
                  <a:srgbClr val="3E466B"/>
                </a:solidFill>
                <a:latin typeface="Calibri" pitchFamily="34" charset="0"/>
                <a:ea typeface="Calibri" pitchFamily="34" charset="-122"/>
                <a:cs typeface="Calibri" pitchFamily="34" charset="-120"/>
              </a:rPr>
              <a:t>All of this came out of our own audit, and all of it is scoped and costed.</a:t>
            </a:r>
            <a:endParaRPr lang="en-US" sz="1250" dirty="0"/>
          </a:p>
        </p:txBody>
      </p:sp>
      <p:sp>
        <p:nvSpPr>
          <p:cNvPr id="5" name="Shape 3"/>
          <p:cNvSpPr/>
          <p:nvPr/>
        </p:nvSpPr>
        <p:spPr>
          <a:xfrm>
            <a:off x="685800" y="1965960"/>
            <a:ext cx="10817352" cy="713232"/>
          </a:xfrm>
          <a:prstGeom prst="roundRect">
            <a:avLst>
              <a:gd name="adj" fmla="val 6410"/>
            </a:avLst>
          </a:prstGeom>
          <a:solidFill>
            <a:srgbClr val="F2F5FC"/>
          </a:solidFill>
          <a:ln w="12700">
            <a:solidFill>
              <a:srgbClr val="B8862F"/>
            </a:solidFill>
            <a:prstDash val="solid"/>
          </a:ln>
        </p:spPr>
      </p:sp>
      <p:sp>
        <p:nvSpPr>
          <p:cNvPr id="6" name="Text 4"/>
          <p:cNvSpPr txBox="1"/>
          <p:nvPr/>
        </p:nvSpPr>
        <p:spPr>
          <a:xfrm>
            <a:off x="960120" y="2020824"/>
            <a:ext cx="3200400" cy="603504"/>
          </a:xfrm>
          <a:prstGeom prst="rect">
            <a:avLst/>
          </a:prstGeom>
          <a:noFill/>
          <a:ln/>
        </p:spPr>
        <p:txBody>
          <a:bodyPr wrap="square" lIns="0" tIns="0" rIns="0" bIns="0" rtlCol="0" anchor="ctr"/>
          <a:lstStyle/>
          <a:p>
            <a:pPr indent="0" marL="0">
              <a:buNone/>
            </a:pPr>
            <a:r>
              <a:rPr lang="en-US" sz="1300" b="1" dirty="0">
                <a:solidFill>
                  <a:srgbClr val="B8862F"/>
                </a:solidFill>
                <a:latin typeface="Cambria" pitchFamily="34" charset="0"/>
                <a:ea typeface="Cambria" pitchFamily="34" charset="-122"/>
                <a:cs typeface="Cambria" pitchFamily="34" charset="-120"/>
              </a:rPr>
              <a:t>It reaches no conclusion</a:t>
            </a:r>
            <a:endParaRPr lang="en-US" sz="1300" dirty="0"/>
          </a:p>
        </p:txBody>
      </p:sp>
      <p:sp>
        <p:nvSpPr>
          <p:cNvPr id="7" name="Text 5"/>
          <p:cNvSpPr txBox="1"/>
          <p:nvPr/>
        </p:nvSpPr>
        <p:spPr>
          <a:xfrm>
            <a:off x="4297680" y="2020824"/>
            <a:ext cx="6949440" cy="603504"/>
          </a:xfrm>
          <a:prstGeom prst="rect">
            <a:avLst/>
          </a:prstGeom>
          <a:noFill/>
          <a:ln/>
        </p:spPr>
        <p:txBody>
          <a:bodyPr wrap="square" lIns="0" tIns="0" rIns="0" bIns="0" rtlCol="0" anchor="ctr"/>
          <a:lstStyle/>
          <a:p>
            <a:pPr indent="0" marL="0">
              <a:lnSpc>
                <a:spcPts val="1400"/>
              </a:lnSpc>
              <a:buNone/>
            </a:pPr>
            <a:r>
              <a:rPr lang="en-US" sz="1150" dirty="0">
                <a:solidFill>
                  <a:srgbClr val="3E466B"/>
                </a:solidFill>
                <a:latin typeface="Calibri" pitchFamily="34" charset="0"/>
                <a:ea typeface="Calibri" pitchFamily="34" charset="-122"/>
                <a:cs typeface="Calibri" pitchFamily="34" charset="-120"/>
              </a:rPr>
              <a:t>The report states no view. Nine of nine blind comparisons preferred a Claude console note, and six of six judges said they would not act on ours.</a:t>
            </a:r>
            <a:endParaRPr lang="en-US" sz="1150" dirty="0"/>
          </a:p>
        </p:txBody>
      </p:sp>
      <p:sp>
        <p:nvSpPr>
          <p:cNvPr id="8" name="Shape 6"/>
          <p:cNvSpPr/>
          <p:nvPr/>
        </p:nvSpPr>
        <p:spPr>
          <a:xfrm>
            <a:off x="685800" y="2807208"/>
            <a:ext cx="10817352" cy="713232"/>
          </a:xfrm>
          <a:prstGeom prst="roundRect">
            <a:avLst>
              <a:gd name="adj" fmla="val 6410"/>
            </a:avLst>
          </a:prstGeom>
          <a:solidFill>
            <a:srgbClr val="F2F5FC"/>
          </a:solidFill>
          <a:ln w="12700">
            <a:solidFill>
              <a:srgbClr val="B8862F"/>
            </a:solidFill>
            <a:prstDash val="solid"/>
          </a:ln>
        </p:spPr>
      </p:sp>
      <p:sp>
        <p:nvSpPr>
          <p:cNvPr id="9" name="Text 7"/>
          <p:cNvSpPr txBox="1"/>
          <p:nvPr/>
        </p:nvSpPr>
        <p:spPr>
          <a:xfrm>
            <a:off x="960120" y="2862072"/>
            <a:ext cx="3200400" cy="603504"/>
          </a:xfrm>
          <a:prstGeom prst="rect">
            <a:avLst/>
          </a:prstGeom>
          <a:noFill/>
          <a:ln/>
        </p:spPr>
        <p:txBody>
          <a:bodyPr wrap="square" lIns="0" tIns="0" rIns="0" bIns="0" rtlCol="0" anchor="ctr"/>
          <a:lstStyle/>
          <a:p>
            <a:pPr indent="0" marL="0">
              <a:buNone/>
            </a:pPr>
            <a:r>
              <a:rPr lang="en-US" sz="1300" b="1" dirty="0">
                <a:solidFill>
                  <a:srgbClr val="B8862F"/>
                </a:solidFill>
                <a:latin typeface="Cambria" pitchFamily="34" charset="0"/>
                <a:ea typeface="Cambria" pitchFamily="34" charset="-122"/>
                <a:cs typeface="Cambria" pitchFamily="34" charset="-120"/>
              </a:rPr>
              <a:t>It withholds figures a note is read for</a:t>
            </a:r>
            <a:endParaRPr lang="en-US" sz="1300" dirty="0"/>
          </a:p>
        </p:txBody>
      </p:sp>
      <p:sp>
        <p:nvSpPr>
          <p:cNvPr id="10" name="Text 8"/>
          <p:cNvSpPr txBox="1"/>
          <p:nvPr/>
        </p:nvSpPr>
        <p:spPr>
          <a:xfrm>
            <a:off x="4297680" y="2862072"/>
            <a:ext cx="6949440" cy="603504"/>
          </a:xfrm>
          <a:prstGeom prst="rect">
            <a:avLst/>
          </a:prstGeom>
          <a:noFill/>
          <a:ln/>
        </p:spPr>
        <p:txBody>
          <a:bodyPr wrap="square" lIns="0" tIns="0" rIns="0" bIns="0" rtlCol="0" anchor="ctr"/>
          <a:lstStyle/>
          <a:p>
            <a:pPr indent="0" marL="0">
              <a:lnSpc>
                <a:spcPts val="1400"/>
              </a:lnSpc>
              <a:buNone/>
            </a:pPr>
            <a:r>
              <a:rPr lang="en-US" sz="1150" dirty="0">
                <a:solidFill>
                  <a:srgbClr val="3E466B"/>
                </a:solidFill>
                <a:latin typeface="Calibri" pitchFamily="34" charset="0"/>
                <a:ea typeface="Calibri" pitchFamily="34" charset="-122"/>
                <a:cs typeface="Calibri" pitchFamily="34" charset="-120"/>
              </a:rPr>
              <a:t>No peer multiple, no segment revenue, no management guidance on any audited run — though it computed the subject's own P/E and simply never printed it.</a:t>
            </a:r>
            <a:endParaRPr lang="en-US" sz="1150" dirty="0"/>
          </a:p>
        </p:txBody>
      </p:sp>
      <p:sp>
        <p:nvSpPr>
          <p:cNvPr id="11" name="Shape 9"/>
          <p:cNvSpPr/>
          <p:nvPr/>
        </p:nvSpPr>
        <p:spPr>
          <a:xfrm>
            <a:off x="685800" y="3648456"/>
            <a:ext cx="10817352" cy="713232"/>
          </a:xfrm>
          <a:prstGeom prst="roundRect">
            <a:avLst>
              <a:gd name="adj" fmla="val 6410"/>
            </a:avLst>
          </a:prstGeom>
          <a:solidFill>
            <a:srgbClr val="F2F5FC"/>
          </a:solidFill>
          <a:ln w="12700">
            <a:solidFill>
              <a:srgbClr val="B8862F"/>
            </a:solidFill>
            <a:prstDash val="solid"/>
          </a:ln>
        </p:spPr>
      </p:sp>
      <p:sp>
        <p:nvSpPr>
          <p:cNvPr id="12" name="Text 10"/>
          <p:cNvSpPr txBox="1"/>
          <p:nvPr/>
        </p:nvSpPr>
        <p:spPr>
          <a:xfrm>
            <a:off x="960120" y="3703320"/>
            <a:ext cx="3200400" cy="603504"/>
          </a:xfrm>
          <a:prstGeom prst="rect">
            <a:avLst/>
          </a:prstGeom>
          <a:noFill/>
          <a:ln/>
        </p:spPr>
        <p:txBody>
          <a:bodyPr wrap="square" lIns="0" tIns="0" rIns="0" bIns="0" rtlCol="0" anchor="ctr"/>
          <a:lstStyle/>
          <a:p>
            <a:pPr indent="0" marL="0">
              <a:buNone/>
            </a:pPr>
            <a:r>
              <a:rPr lang="en-US" sz="1300" b="1" dirty="0">
                <a:solidFill>
                  <a:srgbClr val="B8862F"/>
                </a:solidFill>
                <a:latin typeface="Cambria" pitchFamily="34" charset="0"/>
                <a:ea typeface="Cambria" pitchFamily="34" charset="-122"/>
                <a:cs typeface="Cambria" pitchFamily="34" charset="-120"/>
              </a:rPr>
              <a:t>A bank cannot yet be researched</a:t>
            </a:r>
            <a:endParaRPr lang="en-US" sz="1300" dirty="0"/>
          </a:p>
        </p:txBody>
      </p:sp>
      <p:sp>
        <p:nvSpPr>
          <p:cNvPr id="13" name="Text 11"/>
          <p:cNvSpPr txBox="1"/>
          <p:nvPr/>
        </p:nvSpPr>
        <p:spPr>
          <a:xfrm>
            <a:off x="4297680" y="3703320"/>
            <a:ext cx="6949440" cy="603504"/>
          </a:xfrm>
          <a:prstGeom prst="rect">
            <a:avLst/>
          </a:prstGeom>
          <a:noFill/>
          <a:ln/>
        </p:spPr>
        <p:txBody>
          <a:bodyPr wrap="square" lIns="0" tIns="0" rIns="0" bIns="0" rtlCol="0" anchor="ctr"/>
          <a:lstStyle/>
          <a:p>
            <a:pPr indent="0" marL="0">
              <a:lnSpc>
                <a:spcPts val="1400"/>
              </a:lnSpc>
              <a:buNone/>
            </a:pPr>
            <a:r>
              <a:rPr lang="en-US" sz="1150" dirty="0">
                <a:solidFill>
                  <a:srgbClr val="3E466B"/>
                </a:solidFill>
                <a:latin typeface="Calibri" pitchFamily="34" charset="0"/>
                <a:ea typeface="Calibri" pitchFamily="34" charset="-122"/>
                <a:cs typeface="Calibri" pitchFamily="34" charset="-120"/>
              </a:rPr>
              <a:t>A bank's revenue resolves to fee income, so every margin is impossible and the run correctly refuses to publish.</a:t>
            </a:r>
            <a:endParaRPr lang="en-US" sz="1150" dirty="0"/>
          </a:p>
        </p:txBody>
      </p:sp>
      <p:sp>
        <p:nvSpPr>
          <p:cNvPr id="14" name="Shape 12"/>
          <p:cNvSpPr/>
          <p:nvPr/>
        </p:nvSpPr>
        <p:spPr>
          <a:xfrm>
            <a:off x="685800" y="4489704"/>
            <a:ext cx="10817352" cy="713232"/>
          </a:xfrm>
          <a:prstGeom prst="roundRect">
            <a:avLst>
              <a:gd name="adj" fmla="val 6410"/>
            </a:avLst>
          </a:prstGeom>
          <a:solidFill>
            <a:srgbClr val="F2F5FC"/>
          </a:solidFill>
          <a:ln w="12700">
            <a:solidFill>
              <a:srgbClr val="B8862F"/>
            </a:solidFill>
            <a:prstDash val="solid"/>
          </a:ln>
        </p:spPr>
      </p:sp>
      <p:sp>
        <p:nvSpPr>
          <p:cNvPr id="15" name="Text 13"/>
          <p:cNvSpPr txBox="1"/>
          <p:nvPr/>
        </p:nvSpPr>
        <p:spPr>
          <a:xfrm>
            <a:off x="960120" y="4544568"/>
            <a:ext cx="3200400" cy="603504"/>
          </a:xfrm>
          <a:prstGeom prst="rect">
            <a:avLst/>
          </a:prstGeom>
          <a:noFill/>
          <a:ln/>
        </p:spPr>
        <p:txBody>
          <a:bodyPr wrap="square" lIns="0" tIns="0" rIns="0" bIns="0" rtlCol="0" anchor="ctr"/>
          <a:lstStyle/>
          <a:p>
            <a:pPr indent="0" marL="0">
              <a:buNone/>
            </a:pPr>
            <a:r>
              <a:rPr lang="en-US" sz="1300" b="1" dirty="0">
                <a:solidFill>
                  <a:srgbClr val="B8862F"/>
                </a:solidFill>
                <a:latin typeface="Cambria" pitchFamily="34" charset="0"/>
                <a:ea typeface="Cambria" pitchFamily="34" charset="-122"/>
                <a:cs typeface="Cambria" pitchFamily="34" charset="-120"/>
              </a:rPr>
              <a:t>Coverage is narrow</a:t>
            </a:r>
            <a:endParaRPr lang="en-US" sz="1300" dirty="0"/>
          </a:p>
        </p:txBody>
      </p:sp>
      <p:sp>
        <p:nvSpPr>
          <p:cNvPr id="16" name="Text 14"/>
          <p:cNvSpPr txBox="1"/>
          <p:nvPr/>
        </p:nvSpPr>
        <p:spPr>
          <a:xfrm>
            <a:off x="4297680" y="4544568"/>
            <a:ext cx="6949440" cy="603504"/>
          </a:xfrm>
          <a:prstGeom prst="rect">
            <a:avLst/>
          </a:prstGeom>
          <a:noFill/>
          <a:ln/>
        </p:spPr>
        <p:txBody>
          <a:bodyPr wrap="square" lIns="0" tIns="0" rIns="0" bIns="0" rtlCol="0" anchor="ctr"/>
          <a:lstStyle/>
          <a:p>
            <a:pPr indent="0" marL="0">
              <a:lnSpc>
                <a:spcPts val="1400"/>
              </a:lnSpc>
              <a:buNone/>
            </a:pPr>
            <a:r>
              <a:rPr lang="en-US" sz="1150" dirty="0">
                <a:solidFill>
                  <a:srgbClr val="3E466B"/>
                </a:solidFill>
                <a:latin typeface="Calibri" pitchFamily="34" charset="0"/>
                <a:ea typeface="Calibri" pitchFamily="34" charset="-122"/>
                <a:cs typeface="Calibri" pitchFamily="34" charset="-120"/>
              </a:rPr>
              <a:t>SEC filers and 20-F foreign issuers only. A domestic London listing cannot be researched at all yet.</a:t>
            </a:r>
            <a:endParaRPr lang="en-US" sz="1150" dirty="0"/>
          </a:p>
        </p:txBody>
      </p:sp>
      <p:sp>
        <p:nvSpPr>
          <p:cNvPr id="17" name="Shape 15"/>
          <p:cNvSpPr/>
          <p:nvPr/>
        </p:nvSpPr>
        <p:spPr>
          <a:xfrm>
            <a:off x="685800" y="5330952"/>
            <a:ext cx="10817352" cy="713232"/>
          </a:xfrm>
          <a:prstGeom prst="roundRect">
            <a:avLst>
              <a:gd name="adj" fmla="val 6410"/>
            </a:avLst>
          </a:prstGeom>
          <a:solidFill>
            <a:srgbClr val="F2F5FC"/>
          </a:solidFill>
          <a:ln w="12700">
            <a:solidFill>
              <a:srgbClr val="B8862F"/>
            </a:solidFill>
            <a:prstDash val="solid"/>
          </a:ln>
        </p:spPr>
      </p:sp>
      <p:sp>
        <p:nvSpPr>
          <p:cNvPr id="18" name="Text 16"/>
          <p:cNvSpPr txBox="1"/>
          <p:nvPr/>
        </p:nvSpPr>
        <p:spPr>
          <a:xfrm>
            <a:off x="960120" y="5385816"/>
            <a:ext cx="3200400" cy="603504"/>
          </a:xfrm>
          <a:prstGeom prst="rect">
            <a:avLst/>
          </a:prstGeom>
          <a:noFill/>
          <a:ln/>
        </p:spPr>
        <p:txBody>
          <a:bodyPr wrap="square" lIns="0" tIns="0" rIns="0" bIns="0" rtlCol="0" anchor="ctr"/>
          <a:lstStyle/>
          <a:p>
            <a:pPr indent="0" marL="0">
              <a:buNone/>
            </a:pPr>
            <a:r>
              <a:rPr lang="en-US" sz="1300" b="1" dirty="0">
                <a:solidFill>
                  <a:srgbClr val="B8862F"/>
                </a:solidFill>
                <a:latin typeface="Cambria" pitchFamily="34" charset="0"/>
                <a:ea typeface="Cambria" pitchFamily="34" charset="-122"/>
                <a:cs typeface="Cambria" pitchFamily="34" charset="-120"/>
              </a:rPr>
              <a:t>It is a single-user tool</a:t>
            </a:r>
            <a:endParaRPr lang="en-US" sz="1300" dirty="0"/>
          </a:p>
        </p:txBody>
      </p:sp>
      <p:sp>
        <p:nvSpPr>
          <p:cNvPr id="19" name="Text 17"/>
          <p:cNvSpPr txBox="1"/>
          <p:nvPr/>
        </p:nvSpPr>
        <p:spPr>
          <a:xfrm>
            <a:off x="4297680" y="5385816"/>
            <a:ext cx="6949440" cy="603504"/>
          </a:xfrm>
          <a:prstGeom prst="rect">
            <a:avLst/>
          </a:prstGeom>
          <a:noFill/>
          <a:ln/>
        </p:spPr>
        <p:txBody>
          <a:bodyPr wrap="square" lIns="0" tIns="0" rIns="0" bIns="0" rtlCol="0" anchor="ctr"/>
          <a:lstStyle/>
          <a:p>
            <a:pPr indent="0" marL="0">
              <a:lnSpc>
                <a:spcPts val="1400"/>
              </a:lnSpc>
              <a:buNone/>
            </a:pPr>
            <a:r>
              <a:rPr lang="en-US" sz="1150" dirty="0">
                <a:solidFill>
                  <a:srgbClr val="3E466B"/>
                </a:solidFill>
                <a:latin typeface="Calibri" pitchFamily="34" charset="0"/>
                <a:ea typeface="Calibri" pitchFamily="34" charset="-122"/>
                <a:cs typeface="Calibri" pitchFamily="34" charset="-120"/>
              </a:rPr>
              <a:t>One report at a time, one operator, one machine. No authentication, no multi-user deployment.</a:t>
            </a:r>
            <a:endParaRPr lang="en-US" sz="1150" dirty="0"/>
          </a:p>
        </p:txBody>
      </p:sp>
      <p:sp>
        <p:nvSpPr>
          <p:cNvPr id="20" name="Text 18"/>
          <p:cNvSpPr txBox="1"/>
          <p:nvPr/>
        </p:nvSpPr>
        <p:spPr>
          <a:xfrm>
            <a:off x="685800" y="6272784"/>
            <a:ext cx="10817352" cy="274320"/>
          </a:xfrm>
          <a:prstGeom prst="rect">
            <a:avLst/>
          </a:prstGeom>
          <a:noFill/>
          <a:ln/>
        </p:spPr>
        <p:txBody>
          <a:bodyPr wrap="square" lIns="0" tIns="0" rIns="0" bIns="0" rtlCol="0" anchor="t"/>
          <a:lstStyle/>
          <a:p>
            <a:pPr indent="0" marL="0">
              <a:buNone/>
            </a:pPr>
            <a:r>
              <a:rPr lang="en-US" sz="950" i="1" dirty="0">
                <a:solidFill>
                  <a:srgbClr val="7B83A6"/>
                </a:solidFill>
                <a:latin typeface="Calibri" pitchFamily="34" charset="0"/>
                <a:ea typeface="Calibri" pitchFamily="34" charset="-122"/>
                <a:cs typeface="Calibri" pitchFamily="34" charset="-120"/>
              </a:rPr>
              <a:t>Every row is an item in the remediation plan, with its fix, its cost and the test that proves it.</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02336"/>
            <a:ext cx="8778240" cy="274320"/>
          </a:xfrm>
          <a:prstGeom prst="rect">
            <a:avLst/>
          </a:prstGeom>
          <a:noFill/>
          <a:ln/>
        </p:spPr>
        <p:txBody>
          <a:bodyPr wrap="square" lIns="0" tIns="0" rIns="0" bIns="0" rtlCol="0" anchor="t"/>
          <a:lstStyle/>
          <a:p>
            <a:pPr indent="0" marL="0">
              <a:buNone/>
            </a:pPr>
            <a:r>
              <a:rPr lang="en-US" sz="1100" b="1" spc="220" kern="0" dirty="0">
                <a:solidFill>
                  <a:srgbClr val="7B83A6"/>
                </a:solidFill>
                <a:latin typeface="Calibri" pitchFamily="34" charset="0"/>
                <a:ea typeface="Calibri" pitchFamily="34" charset="-122"/>
                <a:cs typeface="Calibri" pitchFamily="34" charset="-120"/>
              </a:rPr>
              <a:t>THE COMPARISON</a:t>
            </a:r>
            <a:endParaRPr lang="en-US" sz="1100" dirty="0"/>
          </a:p>
        </p:txBody>
      </p:sp>
      <p:sp>
        <p:nvSpPr>
          <p:cNvPr id="3" name="Text 1"/>
          <p:cNvSpPr txBox="1"/>
          <p:nvPr/>
        </p:nvSpPr>
        <p:spPr>
          <a:xfrm>
            <a:off x="685800" y="777240"/>
            <a:ext cx="10817352" cy="566928"/>
          </a:xfrm>
          <a:prstGeom prst="rect">
            <a:avLst/>
          </a:prstGeom>
          <a:noFill/>
          <a:ln/>
        </p:spPr>
        <p:txBody>
          <a:bodyPr wrap="square" lIns="0" tIns="0" rIns="0" bIns="0" rtlCol="0" anchor="t"/>
          <a:lstStyle/>
          <a:p>
            <a:pPr indent="0" marL="0">
              <a:buNone/>
            </a:pPr>
            <a:r>
              <a:rPr lang="en-US" sz="3200" b="1" dirty="0">
                <a:solidFill>
                  <a:srgbClr val="1E2761"/>
                </a:solidFill>
                <a:latin typeface="Cambria" pitchFamily="34" charset="0"/>
                <a:ea typeface="Cambria" pitchFamily="34" charset="-122"/>
                <a:cs typeface="Cambria" pitchFamily="34" charset="-120"/>
              </a:rPr>
              <a:t>Against a Claude console session, measured</a:t>
            </a:r>
            <a:endParaRPr lang="en-US" sz="3200" dirty="0"/>
          </a:p>
        </p:txBody>
      </p:sp>
      <p:sp>
        <p:nvSpPr>
          <p:cNvPr id="4" name="Text 2"/>
          <p:cNvSpPr txBox="1"/>
          <p:nvPr/>
        </p:nvSpPr>
        <p:spPr>
          <a:xfrm>
            <a:off x="685800" y="1444752"/>
            <a:ext cx="10332720" cy="411480"/>
          </a:xfrm>
          <a:prstGeom prst="rect">
            <a:avLst/>
          </a:prstGeom>
          <a:noFill/>
          <a:ln/>
        </p:spPr>
        <p:txBody>
          <a:bodyPr wrap="square" lIns="0" tIns="0" rIns="0" bIns="0" rtlCol="0" anchor="t"/>
          <a:lstStyle/>
          <a:p>
            <a:pPr indent="0" marL="0">
              <a:lnSpc>
                <a:spcPts val="1700"/>
              </a:lnSpc>
              <a:buNone/>
            </a:pPr>
            <a:r>
              <a:rPr lang="en-US" sz="1250" dirty="0">
                <a:solidFill>
                  <a:srgbClr val="3E466B"/>
                </a:solidFill>
                <a:latin typeface="Calibri" pitchFamily="34" charset="0"/>
                <a:ea typeface="Calibri" pitchFamily="34" charset="-122"/>
                <a:cs typeface="Calibri" pitchFamily="34" charset="-120"/>
              </a:rPr>
              <a:t>The same briefs, the same day, judged blind by three independent readers. We lost more than we won — and the pattern of where is the whole strategy.</a:t>
            </a:r>
            <a:endParaRPr lang="en-US" sz="12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85800" y="2057400"/>
          <a:ext cx="10817352" cy="914400"/>
        </p:xfrm>
        <a:graphic>
          <a:graphicData uri="http://schemas.openxmlformats.org/drawingml/2006/table">
            <a:tbl>
              <a:tblPr/>
              <a:tblGrid>
                <a:gridCol w="3602736"/>
                <a:gridCol w="3602736"/>
                <a:gridCol w="3611880"/>
              </a:tblGrid>
              <a:tr h="56692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The console wins</a:t>
                      </a:r>
                      <a:endParaRPr lang="en-US" sz="1150" dirty="0">
                        <a:latin typeface="Calibri" charset="0"/>
                        <a:ea typeface="Calibri" charset="0"/>
                        <a:cs typeface="Calibri" charset="0"/>
                      </a:endParaRPr>
                    </a:p>
                  </a:txBody>
                  <a:tcPr marL="114300" marR="114300" marT="63500" marB="63500" anchor="t">
                    <a:lnL w="12700" cap="flat" cmpd="sng" algn="ctr">
                      <a:solidFill>
                        <a:srgbClr val="D8E0F2"/>
                      </a:solidFill>
                      <a:prstDash val="solid"/>
                      <a:round/>
                      <a:headEnd type="none" w="med" len="med"/>
                      <a:tailEnd type="none" w="med" len="med"/>
                    </a:lnL>
                    <a:lnR w="12700" cap="flat" cmpd="sng" algn="ctr">
                      <a:solidFill>
                        <a:srgbClr val="D8E0F2"/>
                      </a:solidFill>
                      <a:prstDash val="solid"/>
                      <a:round/>
                      <a:headEnd type="none" w="med" len="med"/>
                      <a:tailEnd type="none" w="med" len="med"/>
                    </a:lnR>
                    <a:lnT w="12700" cap="flat" cmpd="sng" algn="ctr">
                      <a:solidFill>
                        <a:srgbClr val="D8E0F2"/>
                      </a:solidFill>
                      <a:prstDash val="solid"/>
                      <a:round/>
                      <a:headEnd type="none" w="med" len="med"/>
                      <a:tailEnd type="none" w="med" len="med"/>
                    </a:lnT>
                    <a:lnB w="12700" cap="flat" cmpd="sng" algn="ctr">
                      <a:solidFill>
                        <a:srgbClr val="D8E0F2"/>
                      </a:solidFill>
                      <a:prstDash val="solid"/>
                      <a:round/>
                      <a:headEnd type="none" w="med" len="med"/>
                      <a:tailEnd type="none" w="med" len="med"/>
                    </a:lnB>
                    <a:solidFill>
                      <a:srgbClr val="B8862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 draw</a:t>
                      </a:r>
                      <a:endParaRPr lang="en-US" sz="1150" dirty="0">
                        <a:latin typeface="Calibri" charset="0"/>
                        <a:ea typeface="Calibri" charset="0"/>
                        <a:cs typeface="Calibri" charset="0"/>
                      </a:endParaRPr>
                    </a:p>
                  </a:txBody>
                  <a:tcPr marL="114300" marR="114300" marT="63500" marB="63500" anchor="t">
                    <a:lnL w="12700" cap="flat" cmpd="sng" algn="ctr">
                      <a:solidFill>
                        <a:srgbClr val="D8E0F2"/>
                      </a:solidFill>
                      <a:prstDash val="solid"/>
                      <a:round/>
                      <a:headEnd type="none" w="med" len="med"/>
                      <a:tailEnd type="none" w="med" len="med"/>
                    </a:lnL>
                    <a:lnR w="12700" cap="flat" cmpd="sng" algn="ctr">
                      <a:solidFill>
                        <a:srgbClr val="D8E0F2"/>
                      </a:solidFill>
                      <a:prstDash val="solid"/>
                      <a:round/>
                      <a:headEnd type="none" w="med" len="med"/>
                      <a:tailEnd type="none" w="med" len="med"/>
                    </a:lnR>
                    <a:lnT w="12700" cap="flat" cmpd="sng" algn="ctr">
                      <a:solidFill>
                        <a:srgbClr val="D8E0F2"/>
                      </a:solidFill>
                      <a:prstDash val="solid"/>
                      <a:round/>
                      <a:headEnd type="none" w="med" len="med"/>
                      <a:tailEnd type="none" w="med" len="med"/>
                    </a:lnT>
                    <a:lnB w="12700" cap="flat" cmpd="sng" algn="ctr">
                      <a:solidFill>
                        <a:srgbClr val="D8E0F2"/>
                      </a:solidFill>
                      <a:prstDash val="solid"/>
                      <a:round/>
                      <a:headEnd type="none" w="med" len="med"/>
                      <a:tailEnd type="none" w="med" len="med"/>
                    </a:lnB>
                    <a:solidFill>
                      <a:srgbClr val="7B83A6"/>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We win, structurally</a:t>
                      </a:r>
                      <a:endParaRPr lang="en-US" sz="1150" dirty="0">
                        <a:latin typeface="Calibri" charset="0"/>
                        <a:ea typeface="Calibri" charset="0"/>
                        <a:cs typeface="Calibri" charset="0"/>
                      </a:endParaRPr>
                    </a:p>
                  </a:txBody>
                  <a:tcPr marL="114300" marR="114300" marT="63500" marB="63500" anchor="t">
                    <a:lnL w="12700" cap="flat" cmpd="sng" algn="ctr">
                      <a:solidFill>
                        <a:srgbClr val="D8E0F2"/>
                      </a:solidFill>
                      <a:prstDash val="solid"/>
                      <a:round/>
                      <a:headEnd type="none" w="med" len="med"/>
                      <a:tailEnd type="none" w="med" len="med"/>
                    </a:lnL>
                    <a:lnR w="12700" cap="flat" cmpd="sng" algn="ctr">
                      <a:solidFill>
                        <a:srgbClr val="D8E0F2"/>
                      </a:solidFill>
                      <a:prstDash val="solid"/>
                      <a:round/>
                      <a:headEnd type="none" w="med" len="med"/>
                      <a:tailEnd type="none" w="med" len="med"/>
                    </a:lnR>
                    <a:lnT w="12700" cap="flat" cmpd="sng" algn="ctr">
                      <a:solidFill>
                        <a:srgbClr val="D8E0F2"/>
                      </a:solidFill>
                      <a:prstDash val="solid"/>
                      <a:round/>
                      <a:headEnd type="none" w="med" len="med"/>
                      <a:tailEnd type="none" w="med" len="med"/>
                    </a:lnT>
                    <a:lnB w="12700" cap="flat" cmpd="sng" algn="ctr">
                      <a:solidFill>
                        <a:srgbClr val="D8E0F2"/>
                      </a:solidFill>
                      <a:prstDash val="solid"/>
                      <a:round/>
                      <a:headEnd type="none" w="med" len="med"/>
                      <a:tailEnd type="none" w="med" len="med"/>
                    </a:lnB>
                    <a:solidFill>
                      <a:srgbClr val="2E6B4F"/>
                    </a:solidFill>
                  </a:tcPr>
                </a:tc>
              </a:tr>
              <a:tr h="566928">
                <a:tc>
                  <a:txBody>
                    <a:bodyPr/>
                    <a:lstStyle/>
                    <a:p>
                      <a:pPr indent="0" marL="0">
                        <a:buNone/>
                      </a:pPr>
                      <a:r>
                        <a:rPr lang="en-US" sz="1050" dirty="0">
                          <a:solidFill>
                            <a:srgbClr val="3E466B"/>
                          </a:solidFill>
                          <a:latin typeface="Calibri" pitchFamily="34" charset="0"/>
                          <a:ea typeface="Calibri" pitchFamily="34" charset="-122"/>
                          <a:cs typeface="Calibri" pitchFamily="34" charset="-120"/>
                        </a:rPr>
                        <a:t>Argument — it states a rating, a target price and an expected return</a:t>
                      </a:r>
                      <a:endParaRPr lang="en-US" sz="1050" dirty="0">
                        <a:latin typeface="Calibri" charset="0"/>
                        <a:ea typeface="Calibri" charset="0"/>
                        <a:cs typeface="Calibri" charset="0"/>
                      </a:endParaRPr>
                    </a:p>
                  </a:txBody>
                  <a:tcPr marL="114300" marR="114300" marT="63500" marB="63500" anchor="t">
                    <a:lnL w="12700" cap="flat" cmpd="sng" algn="ctr">
                      <a:solidFill>
                        <a:srgbClr val="D8E0F2"/>
                      </a:solidFill>
                      <a:prstDash val="solid"/>
                      <a:round/>
                      <a:headEnd type="none" w="med" len="med"/>
                      <a:tailEnd type="none" w="med" len="med"/>
                    </a:lnL>
                    <a:lnR w="12700" cap="flat" cmpd="sng" algn="ctr">
                      <a:solidFill>
                        <a:srgbClr val="D8E0F2"/>
                      </a:solidFill>
                      <a:prstDash val="solid"/>
                      <a:round/>
                      <a:headEnd type="none" w="med" len="med"/>
                      <a:tailEnd type="none" w="med" len="med"/>
                    </a:lnR>
                    <a:lnT w="12700" cap="flat" cmpd="sng" algn="ctr">
                      <a:solidFill>
                        <a:srgbClr val="D8E0F2"/>
                      </a:solidFill>
                      <a:prstDash val="solid"/>
                      <a:round/>
                      <a:headEnd type="none" w="med" len="med"/>
                      <a:tailEnd type="none" w="med" len="med"/>
                    </a:lnT>
                    <a:lnB w="12700" cap="flat" cmpd="sng" algn="ctr">
                      <a:solidFill>
                        <a:srgbClr val="D8E0F2"/>
                      </a:solidFill>
                      <a:prstDash val="solid"/>
                      <a:round/>
                      <a:headEnd type="none" w="med" len="med"/>
                      <a:tailEnd type="none" w="med" len="med"/>
                    </a:lnB>
                    <a:solidFill>
                      <a:srgbClr val="FFFFFF"/>
                    </a:solidFill>
                  </a:tcPr>
                </a:tc>
                <a:tc>
                  <a:txBody>
                    <a:bodyPr/>
                    <a:lstStyle/>
                    <a:p>
                      <a:pPr indent="0" marL="0">
                        <a:buNone/>
                      </a:pPr>
                      <a:r>
                        <a:rPr lang="en-US" sz="1050" dirty="0">
                          <a:solidFill>
                            <a:srgbClr val="3E466B"/>
                          </a:solidFill>
                          <a:latin typeface="Calibri" pitchFamily="34" charset="0"/>
                          <a:ea typeface="Calibri" pitchFamily="34" charset="-122"/>
                          <a:cs typeface="Calibri" pitchFamily="34" charset="-120"/>
                        </a:rPr>
                        <a:t>Accuracy of stated figures — 0 contradicted on both sides</a:t>
                      </a:r>
                      <a:endParaRPr lang="en-US" sz="1050" dirty="0">
                        <a:latin typeface="Calibri" charset="0"/>
                        <a:ea typeface="Calibri" charset="0"/>
                        <a:cs typeface="Calibri" charset="0"/>
                      </a:endParaRPr>
                    </a:p>
                  </a:txBody>
                  <a:tcPr marL="114300" marR="114300" marT="63500" marB="63500" anchor="t">
                    <a:lnL w="12700" cap="flat" cmpd="sng" algn="ctr">
                      <a:solidFill>
                        <a:srgbClr val="D8E0F2"/>
                      </a:solidFill>
                      <a:prstDash val="solid"/>
                      <a:round/>
                      <a:headEnd type="none" w="med" len="med"/>
                      <a:tailEnd type="none" w="med" len="med"/>
                    </a:lnL>
                    <a:lnR w="12700" cap="flat" cmpd="sng" algn="ctr">
                      <a:solidFill>
                        <a:srgbClr val="D8E0F2"/>
                      </a:solidFill>
                      <a:prstDash val="solid"/>
                      <a:round/>
                      <a:headEnd type="none" w="med" len="med"/>
                      <a:tailEnd type="none" w="med" len="med"/>
                    </a:lnR>
                    <a:lnT w="12700" cap="flat" cmpd="sng" algn="ctr">
                      <a:solidFill>
                        <a:srgbClr val="D8E0F2"/>
                      </a:solidFill>
                      <a:prstDash val="solid"/>
                      <a:round/>
                      <a:headEnd type="none" w="med" len="med"/>
                      <a:tailEnd type="none" w="med" len="med"/>
                    </a:lnT>
                    <a:lnB w="12700" cap="flat" cmpd="sng" algn="ctr">
                      <a:solidFill>
                        <a:srgbClr val="D8E0F2"/>
                      </a:solidFill>
                      <a:prstDash val="solid"/>
                      <a:round/>
                      <a:headEnd type="none" w="med" len="med"/>
                      <a:tailEnd type="none" w="med" len="med"/>
                    </a:lnB>
                    <a:solidFill>
                      <a:srgbClr val="FFFFFF"/>
                    </a:solidFill>
                  </a:tcPr>
                </a:tc>
                <a:tc>
                  <a:txBody>
                    <a:bodyPr/>
                    <a:lstStyle/>
                    <a:p>
                      <a:pPr indent="0" marL="0">
                        <a:buNone/>
                      </a:pPr>
                      <a:r>
                        <a:rPr lang="en-US" sz="1050" dirty="0">
                          <a:solidFill>
                            <a:srgbClr val="3E466B"/>
                          </a:solidFill>
                          <a:latin typeface="Calibri" pitchFamily="34" charset="0"/>
                          <a:ea typeface="Calibri" pitchFamily="34" charset="-122"/>
                          <a:cs typeface="Calibri" pitchFamily="34" charset="-120"/>
                        </a:rPr>
                        <a:t>Reproducibility — 3,335 rows re-execute; a chat has nothing to re-run</a:t>
                      </a:r>
                      <a:endParaRPr lang="en-US" sz="1050" dirty="0">
                        <a:latin typeface="Calibri" charset="0"/>
                        <a:ea typeface="Calibri" charset="0"/>
                        <a:cs typeface="Calibri" charset="0"/>
                      </a:endParaRPr>
                    </a:p>
                  </a:txBody>
                  <a:tcPr marL="114300" marR="114300" marT="63500" marB="63500" anchor="t">
                    <a:lnL w="12700" cap="flat" cmpd="sng" algn="ctr">
                      <a:solidFill>
                        <a:srgbClr val="D8E0F2"/>
                      </a:solidFill>
                      <a:prstDash val="solid"/>
                      <a:round/>
                      <a:headEnd type="none" w="med" len="med"/>
                      <a:tailEnd type="none" w="med" len="med"/>
                    </a:lnL>
                    <a:lnR w="12700" cap="flat" cmpd="sng" algn="ctr">
                      <a:solidFill>
                        <a:srgbClr val="D8E0F2"/>
                      </a:solidFill>
                      <a:prstDash val="solid"/>
                      <a:round/>
                      <a:headEnd type="none" w="med" len="med"/>
                      <a:tailEnd type="none" w="med" len="med"/>
                    </a:lnR>
                    <a:lnT w="12700" cap="flat" cmpd="sng" algn="ctr">
                      <a:solidFill>
                        <a:srgbClr val="D8E0F2"/>
                      </a:solidFill>
                      <a:prstDash val="solid"/>
                      <a:round/>
                      <a:headEnd type="none" w="med" len="med"/>
                      <a:tailEnd type="none" w="med" len="med"/>
                    </a:lnT>
                    <a:lnB w="12700" cap="flat" cmpd="sng" algn="ctr">
                      <a:solidFill>
                        <a:srgbClr val="D8E0F2"/>
                      </a:solidFill>
                      <a:prstDash val="solid"/>
                      <a:round/>
                      <a:headEnd type="none" w="med" len="med"/>
                      <a:tailEnd type="none" w="med" len="med"/>
                    </a:lnB>
                    <a:solidFill>
                      <a:srgbClr val="FFFFFF"/>
                    </a:solidFill>
                  </a:tcPr>
                </a:tc>
              </a:tr>
              <a:tr h="566928">
                <a:tc>
                  <a:txBody>
                    <a:bodyPr/>
                    <a:lstStyle/>
                    <a:p>
                      <a:pPr indent="0" marL="0">
                        <a:buNone/>
                      </a:pPr>
                      <a:r>
                        <a:rPr lang="en-US" sz="1050" dirty="0">
                          <a:solidFill>
                            <a:srgbClr val="3E466B"/>
                          </a:solidFill>
                          <a:latin typeface="Calibri" pitchFamily="34" charset="0"/>
                          <a:ea typeface="Calibri" pitchFamily="34" charset="-122"/>
                          <a:cs typeface="Calibri" pitchFamily="34" charset="-120"/>
                        </a:rPr>
                        <a:t>Breadth — segment tables, guidance, named competitors</a:t>
                      </a:r>
                      <a:endParaRPr lang="en-US" sz="1050" dirty="0">
                        <a:latin typeface="Calibri" charset="0"/>
                        <a:ea typeface="Calibri" charset="0"/>
                        <a:cs typeface="Calibri" charset="0"/>
                      </a:endParaRPr>
                    </a:p>
                  </a:txBody>
                  <a:tcPr marL="114300" marR="114300" marT="63500" marB="63500" anchor="t">
                    <a:lnL w="12700" cap="flat" cmpd="sng" algn="ctr">
                      <a:solidFill>
                        <a:srgbClr val="D8E0F2"/>
                      </a:solidFill>
                      <a:prstDash val="solid"/>
                      <a:round/>
                      <a:headEnd type="none" w="med" len="med"/>
                      <a:tailEnd type="none" w="med" len="med"/>
                    </a:lnL>
                    <a:lnR w="12700" cap="flat" cmpd="sng" algn="ctr">
                      <a:solidFill>
                        <a:srgbClr val="D8E0F2"/>
                      </a:solidFill>
                      <a:prstDash val="solid"/>
                      <a:round/>
                      <a:headEnd type="none" w="med" len="med"/>
                      <a:tailEnd type="none" w="med" len="med"/>
                    </a:lnR>
                    <a:lnT w="12700" cap="flat" cmpd="sng" algn="ctr">
                      <a:solidFill>
                        <a:srgbClr val="D8E0F2"/>
                      </a:solidFill>
                      <a:prstDash val="solid"/>
                      <a:round/>
                      <a:headEnd type="none" w="med" len="med"/>
                      <a:tailEnd type="none" w="med" len="med"/>
                    </a:lnT>
                    <a:lnB w="12700" cap="flat" cmpd="sng" algn="ctr">
                      <a:solidFill>
                        <a:srgbClr val="D8E0F2"/>
                      </a:solidFill>
                      <a:prstDash val="solid"/>
                      <a:round/>
                      <a:headEnd type="none" w="med" len="med"/>
                      <a:tailEnd type="none" w="med" len="med"/>
                    </a:lnB>
                    <a:solidFill>
                      <a:srgbClr val="FFFFFF"/>
                    </a:solidFill>
                  </a:tcPr>
                </a:tc>
                <a:tc>
                  <a:txBody>
                    <a:bodyPr/>
                    <a:lstStyle/>
                    <a:p>
                      <a:pPr indent="0" marL="0">
                        <a:buNone/>
                      </a:pPr>
                      <a:r>
                        <a:rPr lang="en-US" sz="1050" dirty="0">
                          <a:solidFill>
                            <a:srgbClr val="3E466B"/>
                          </a:solidFill>
                          <a:latin typeface="Calibri" pitchFamily="34" charset="0"/>
                          <a:ea typeface="Calibri" pitchFamily="34" charset="-122"/>
                          <a:cs typeface="Calibri" pitchFamily="34" charset="-120"/>
                        </a:rPr>
                        <a:t>Cost per note — £6.71–£11.03 against our £6.80–£7.61</a:t>
                      </a:r>
                      <a:endParaRPr lang="en-US" sz="1050" dirty="0">
                        <a:latin typeface="Calibri" charset="0"/>
                        <a:ea typeface="Calibri" charset="0"/>
                        <a:cs typeface="Calibri" charset="0"/>
                      </a:endParaRPr>
                    </a:p>
                  </a:txBody>
                  <a:tcPr marL="114300" marR="114300" marT="63500" marB="63500" anchor="t">
                    <a:lnL w="12700" cap="flat" cmpd="sng" algn="ctr">
                      <a:solidFill>
                        <a:srgbClr val="D8E0F2"/>
                      </a:solidFill>
                      <a:prstDash val="solid"/>
                      <a:round/>
                      <a:headEnd type="none" w="med" len="med"/>
                      <a:tailEnd type="none" w="med" len="med"/>
                    </a:lnL>
                    <a:lnR w="12700" cap="flat" cmpd="sng" algn="ctr">
                      <a:solidFill>
                        <a:srgbClr val="D8E0F2"/>
                      </a:solidFill>
                      <a:prstDash val="solid"/>
                      <a:round/>
                      <a:headEnd type="none" w="med" len="med"/>
                      <a:tailEnd type="none" w="med" len="med"/>
                    </a:lnR>
                    <a:lnT w="12700" cap="flat" cmpd="sng" algn="ctr">
                      <a:solidFill>
                        <a:srgbClr val="D8E0F2"/>
                      </a:solidFill>
                      <a:prstDash val="solid"/>
                      <a:round/>
                      <a:headEnd type="none" w="med" len="med"/>
                      <a:tailEnd type="none" w="med" len="med"/>
                    </a:lnT>
                    <a:lnB w="12700" cap="flat" cmpd="sng" algn="ctr">
                      <a:solidFill>
                        <a:srgbClr val="D8E0F2"/>
                      </a:solidFill>
                      <a:prstDash val="solid"/>
                      <a:round/>
                      <a:headEnd type="none" w="med" len="med"/>
                      <a:tailEnd type="none" w="med" len="med"/>
                    </a:lnB>
                    <a:solidFill>
                      <a:srgbClr val="FFFFFF"/>
                    </a:solidFill>
                  </a:tcPr>
                </a:tc>
                <a:tc>
                  <a:txBody>
                    <a:bodyPr/>
                    <a:lstStyle/>
                    <a:p>
                      <a:pPr indent="0" marL="0">
                        <a:buNone/>
                      </a:pPr>
                      <a:r>
                        <a:rPr lang="en-US" sz="1050" dirty="0">
                          <a:solidFill>
                            <a:srgbClr val="3E466B"/>
                          </a:solidFill>
                          <a:latin typeface="Calibri" pitchFamily="34" charset="0"/>
                          <a:ea typeface="Calibri" pitchFamily="34" charset="-122"/>
                          <a:cs typeface="Calibri" pitchFamily="34" charset="-120"/>
                        </a:rPr>
                        <a:t>Provenance — hashed bytes against links, a third of which died within a day</a:t>
                      </a:r>
                      <a:endParaRPr lang="en-US" sz="1050" dirty="0">
                        <a:latin typeface="Calibri" charset="0"/>
                        <a:ea typeface="Calibri" charset="0"/>
                        <a:cs typeface="Calibri" charset="0"/>
                      </a:endParaRPr>
                    </a:p>
                  </a:txBody>
                  <a:tcPr marL="114300" marR="114300" marT="63500" marB="63500" anchor="t">
                    <a:lnL w="12700" cap="flat" cmpd="sng" algn="ctr">
                      <a:solidFill>
                        <a:srgbClr val="D8E0F2"/>
                      </a:solidFill>
                      <a:prstDash val="solid"/>
                      <a:round/>
                      <a:headEnd type="none" w="med" len="med"/>
                      <a:tailEnd type="none" w="med" len="med"/>
                    </a:lnL>
                    <a:lnR w="12700" cap="flat" cmpd="sng" algn="ctr">
                      <a:solidFill>
                        <a:srgbClr val="D8E0F2"/>
                      </a:solidFill>
                      <a:prstDash val="solid"/>
                      <a:round/>
                      <a:headEnd type="none" w="med" len="med"/>
                      <a:tailEnd type="none" w="med" len="med"/>
                    </a:lnR>
                    <a:lnT w="12700" cap="flat" cmpd="sng" algn="ctr">
                      <a:solidFill>
                        <a:srgbClr val="D8E0F2"/>
                      </a:solidFill>
                      <a:prstDash val="solid"/>
                      <a:round/>
                      <a:headEnd type="none" w="med" len="med"/>
                      <a:tailEnd type="none" w="med" len="med"/>
                    </a:lnT>
                    <a:lnB w="12700" cap="flat" cmpd="sng" algn="ctr">
                      <a:solidFill>
                        <a:srgbClr val="D8E0F2"/>
                      </a:solidFill>
                      <a:prstDash val="solid"/>
                      <a:round/>
                      <a:headEnd type="none" w="med" len="med"/>
                      <a:tailEnd type="none" w="med" len="med"/>
                    </a:lnB>
                    <a:solidFill>
                      <a:srgbClr val="FFFFFF"/>
                    </a:solidFill>
                  </a:tcPr>
                </a:tc>
              </a:tr>
              <a:tr h="566928">
                <a:tc>
                  <a:txBody>
                    <a:bodyPr/>
                    <a:lstStyle/>
                    <a:p>
                      <a:pPr indent="0" marL="0">
                        <a:buNone/>
                      </a:pPr>
                      <a:r>
                        <a:rPr lang="en-US" sz="1050" dirty="0">
                          <a:solidFill>
                            <a:srgbClr val="3E466B"/>
                          </a:solidFill>
                          <a:latin typeface="Calibri" pitchFamily="34" charset="0"/>
                          <a:ea typeface="Calibri" pitchFamily="34" charset="-122"/>
                          <a:cs typeface="Calibri" pitchFamily="34" charset="-120"/>
                        </a:rPr>
                        <a:t>Speed — 14–19 minutes to a first answer against our 26–37</a:t>
                      </a:r>
                      <a:endParaRPr lang="en-US" sz="1050" dirty="0">
                        <a:latin typeface="Calibri" charset="0"/>
                        <a:ea typeface="Calibri" charset="0"/>
                        <a:cs typeface="Calibri" charset="0"/>
                      </a:endParaRPr>
                    </a:p>
                  </a:txBody>
                  <a:tcPr marL="114300" marR="114300" marT="63500" marB="63500" anchor="t">
                    <a:lnL w="12700" cap="flat" cmpd="sng" algn="ctr">
                      <a:solidFill>
                        <a:srgbClr val="D8E0F2"/>
                      </a:solidFill>
                      <a:prstDash val="solid"/>
                      <a:round/>
                      <a:headEnd type="none" w="med" len="med"/>
                      <a:tailEnd type="none" w="med" len="med"/>
                    </a:lnL>
                    <a:lnR w="12700" cap="flat" cmpd="sng" algn="ctr">
                      <a:solidFill>
                        <a:srgbClr val="D8E0F2"/>
                      </a:solidFill>
                      <a:prstDash val="solid"/>
                      <a:round/>
                      <a:headEnd type="none" w="med" len="med"/>
                      <a:tailEnd type="none" w="med" len="med"/>
                    </a:lnR>
                    <a:lnT w="12700" cap="flat" cmpd="sng" algn="ctr">
                      <a:solidFill>
                        <a:srgbClr val="D8E0F2"/>
                      </a:solidFill>
                      <a:prstDash val="solid"/>
                      <a:round/>
                      <a:headEnd type="none" w="med" len="med"/>
                      <a:tailEnd type="none" w="med" len="med"/>
                    </a:lnT>
                    <a:lnB w="12700" cap="flat" cmpd="sng" algn="ctr">
                      <a:solidFill>
                        <a:srgbClr val="D8E0F2"/>
                      </a:solidFill>
                      <a:prstDash val="solid"/>
                      <a:round/>
                      <a:headEnd type="none" w="med" len="med"/>
                      <a:tailEnd type="none" w="med" len="med"/>
                    </a:lnB>
                    <a:solidFill>
                      <a:srgbClr val="FFFFFF"/>
                    </a:solidFill>
                  </a:tcPr>
                </a:tc>
                <a:tc>
                  <a:txBody>
                    <a:bodyPr/>
                    <a:lstStyle/>
                    <a:p>
                      <a:pPr indent="0" marL="0">
                        <a:buNone/>
                      </a:pPr>
                      <a:r>
                        <a:rPr lang="en-US" sz="1050" dirty="0">
                          <a:solidFill>
                            <a:srgbClr val="3E466B"/>
                          </a:solidFill>
                          <a:latin typeface="Calibri" pitchFamily="34" charset="0"/>
                          <a:ea typeface="Calibri" pitchFamily="34" charset="-122"/>
                          <a:cs typeface="Calibri" pitchFamily="34" charset="-120"/>
                        </a:rPr>
                        <a:t>Reading time — 30–45 minutes against 50–60</a:t>
                      </a:r>
                      <a:endParaRPr lang="en-US" sz="1050" dirty="0">
                        <a:latin typeface="Calibri" charset="0"/>
                        <a:ea typeface="Calibri" charset="0"/>
                        <a:cs typeface="Calibri" charset="0"/>
                      </a:endParaRPr>
                    </a:p>
                  </a:txBody>
                  <a:tcPr marL="114300" marR="114300" marT="63500" marB="63500" anchor="t">
                    <a:lnL w="12700" cap="flat" cmpd="sng" algn="ctr">
                      <a:solidFill>
                        <a:srgbClr val="D8E0F2"/>
                      </a:solidFill>
                      <a:prstDash val="solid"/>
                      <a:round/>
                      <a:headEnd type="none" w="med" len="med"/>
                      <a:tailEnd type="none" w="med" len="med"/>
                    </a:lnL>
                    <a:lnR w="12700" cap="flat" cmpd="sng" algn="ctr">
                      <a:solidFill>
                        <a:srgbClr val="D8E0F2"/>
                      </a:solidFill>
                      <a:prstDash val="solid"/>
                      <a:round/>
                      <a:headEnd type="none" w="med" len="med"/>
                      <a:tailEnd type="none" w="med" len="med"/>
                    </a:lnR>
                    <a:lnT w="12700" cap="flat" cmpd="sng" algn="ctr">
                      <a:solidFill>
                        <a:srgbClr val="D8E0F2"/>
                      </a:solidFill>
                      <a:prstDash val="solid"/>
                      <a:round/>
                      <a:headEnd type="none" w="med" len="med"/>
                      <a:tailEnd type="none" w="med" len="med"/>
                    </a:lnT>
                    <a:lnB w="12700" cap="flat" cmpd="sng" algn="ctr">
                      <a:solidFill>
                        <a:srgbClr val="D8E0F2"/>
                      </a:solidFill>
                      <a:prstDash val="solid"/>
                      <a:round/>
                      <a:headEnd type="none" w="med" len="med"/>
                      <a:tailEnd type="none" w="med" len="med"/>
                    </a:lnB>
                    <a:solidFill>
                      <a:srgbClr val="FFFFFF"/>
                    </a:solidFill>
                  </a:tcPr>
                </a:tc>
                <a:tc>
                  <a:txBody>
                    <a:bodyPr/>
                    <a:lstStyle/>
                    <a:p>
                      <a:pPr indent="0" marL="0">
                        <a:buNone/>
                      </a:pPr>
                      <a:r>
                        <a:rPr lang="en-US" sz="1050" dirty="0">
                          <a:solidFill>
                            <a:srgbClr val="3E466B"/>
                          </a:solidFill>
                          <a:latin typeface="Calibri" pitchFamily="34" charset="0"/>
                          <a:ea typeface="Calibri" pitchFamily="34" charset="-122"/>
                          <a:cs typeface="Calibri" pitchFamily="34" charset="-120"/>
                        </a:rPr>
                        <a:t>Cost ceiling — ours is enforced in code; a console session has no natural stopping point</a:t>
                      </a:r>
                      <a:endParaRPr lang="en-US" sz="1050" dirty="0">
                        <a:latin typeface="Calibri" charset="0"/>
                        <a:ea typeface="Calibri" charset="0"/>
                        <a:cs typeface="Calibri" charset="0"/>
                      </a:endParaRPr>
                    </a:p>
                  </a:txBody>
                  <a:tcPr marL="114300" marR="114300" marT="63500" marB="63500" anchor="t">
                    <a:lnL w="12700" cap="flat" cmpd="sng" algn="ctr">
                      <a:solidFill>
                        <a:srgbClr val="D8E0F2"/>
                      </a:solidFill>
                      <a:prstDash val="solid"/>
                      <a:round/>
                      <a:headEnd type="none" w="med" len="med"/>
                      <a:tailEnd type="none" w="med" len="med"/>
                    </a:lnL>
                    <a:lnR w="12700" cap="flat" cmpd="sng" algn="ctr">
                      <a:solidFill>
                        <a:srgbClr val="D8E0F2"/>
                      </a:solidFill>
                      <a:prstDash val="solid"/>
                      <a:round/>
                      <a:headEnd type="none" w="med" len="med"/>
                      <a:tailEnd type="none" w="med" len="med"/>
                    </a:lnR>
                    <a:lnT w="12700" cap="flat" cmpd="sng" algn="ctr">
                      <a:solidFill>
                        <a:srgbClr val="D8E0F2"/>
                      </a:solidFill>
                      <a:prstDash val="solid"/>
                      <a:round/>
                      <a:headEnd type="none" w="med" len="med"/>
                      <a:tailEnd type="none" w="med" len="med"/>
                    </a:lnT>
                    <a:lnB w="12700" cap="flat" cmpd="sng" algn="ctr">
                      <a:solidFill>
                        <a:srgbClr val="D8E0F2"/>
                      </a:solidFill>
                      <a:prstDash val="solid"/>
                      <a:round/>
                      <a:headEnd type="none" w="med" len="med"/>
                      <a:tailEnd type="none" w="med" len="med"/>
                    </a:lnB>
                    <a:solidFill>
                      <a:srgbClr val="FFFFFF"/>
                    </a:solidFill>
                  </a:tcPr>
                </a:tc>
              </a:tr>
              <a:tr h="566928">
                <a:tc>
                  <a:txBody>
                    <a:bodyPr/>
                    <a:lstStyle/>
                    <a:p>
                      <a:pPr indent="0" marL="0">
                        <a:buNone/>
                      </a:pPr>
                      <a:r>
                        <a:rPr lang="en-US" sz="1050" dirty="0">
                          <a:solidFill>
                            <a:srgbClr val="3E466B"/>
                          </a:solidFill>
                          <a:latin typeface="Calibri" pitchFamily="34" charset="0"/>
                          <a:ea typeface="Calibri" pitchFamily="34" charset="-122"/>
                          <a:cs typeface="Calibri" pitchFamily="34" charset="-120"/>
                        </a:rPr>
                        <a:t>Flexibility — you can ask it anything, mid-sentence</a:t>
                      </a:r>
                      <a:endParaRPr lang="en-US" sz="1050" dirty="0">
                        <a:latin typeface="Calibri" charset="0"/>
                        <a:ea typeface="Calibri" charset="0"/>
                        <a:cs typeface="Calibri" charset="0"/>
                      </a:endParaRPr>
                    </a:p>
                  </a:txBody>
                  <a:tcPr marL="114300" marR="114300" marT="63500" marB="63500" anchor="t">
                    <a:lnL w="12700" cap="flat" cmpd="sng" algn="ctr">
                      <a:solidFill>
                        <a:srgbClr val="D8E0F2"/>
                      </a:solidFill>
                      <a:prstDash val="solid"/>
                      <a:round/>
                      <a:headEnd type="none" w="med" len="med"/>
                      <a:tailEnd type="none" w="med" len="med"/>
                    </a:lnL>
                    <a:lnR w="12700" cap="flat" cmpd="sng" algn="ctr">
                      <a:solidFill>
                        <a:srgbClr val="D8E0F2"/>
                      </a:solidFill>
                      <a:prstDash val="solid"/>
                      <a:round/>
                      <a:headEnd type="none" w="med" len="med"/>
                      <a:tailEnd type="none" w="med" len="med"/>
                    </a:lnR>
                    <a:lnT w="12700" cap="flat" cmpd="sng" algn="ctr">
                      <a:solidFill>
                        <a:srgbClr val="D8E0F2"/>
                      </a:solidFill>
                      <a:prstDash val="solid"/>
                      <a:round/>
                      <a:headEnd type="none" w="med" len="med"/>
                      <a:tailEnd type="none" w="med" len="med"/>
                    </a:lnT>
                    <a:lnB w="12700" cap="flat" cmpd="sng" algn="ctr">
                      <a:solidFill>
                        <a:srgbClr val="D8E0F2"/>
                      </a:solidFill>
                      <a:prstDash val="solid"/>
                      <a:round/>
                      <a:headEnd type="none" w="med" len="med"/>
                      <a:tailEnd type="none" w="med" len="med"/>
                    </a:lnB>
                    <a:solidFill>
                      <a:srgbClr val="FFFFFF"/>
                    </a:solidFill>
                  </a:tcPr>
                </a:tc>
                <a:tc>
                  <a:txBody>
                    <a:bodyPr/>
                    <a:lstStyle/>
                    <a:p>
                      <a:pPr indent="0" marL="0">
                        <a:buNone/>
                      </a:pPr>
                      <a:endParaRPr lang="en-US" sz="1050" dirty="0">
                        <a:latin typeface="Calibri" charset="0"/>
                        <a:ea typeface="Calibri" charset="0"/>
                        <a:cs typeface="Calibri" charset="0"/>
                      </a:endParaRPr>
                    </a:p>
                  </a:txBody>
                  <a:tcPr marL="114300" marR="114300" marT="63500" marB="63500" anchor="t">
                    <a:lnL w="12700" cap="flat" cmpd="sng" algn="ctr">
                      <a:solidFill>
                        <a:srgbClr val="D8E0F2"/>
                      </a:solidFill>
                      <a:prstDash val="solid"/>
                      <a:round/>
                      <a:headEnd type="none" w="med" len="med"/>
                      <a:tailEnd type="none" w="med" len="med"/>
                    </a:lnL>
                    <a:lnR w="12700" cap="flat" cmpd="sng" algn="ctr">
                      <a:solidFill>
                        <a:srgbClr val="D8E0F2"/>
                      </a:solidFill>
                      <a:prstDash val="solid"/>
                      <a:round/>
                      <a:headEnd type="none" w="med" len="med"/>
                      <a:tailEnd type="none" w="med" len="med"/>
                    </a:lnR>
                    <a:lnT w="12700" cap="flat" cmpd="sng" algn="ctr">
                      <a:solidFill>
                        <a:srgbClr val="D8E0F2"/>
                      </a:solidFill>
                      <a:prstDash val="solid"/>
                      <a:round/>
                      <a:headEnd type="none" w="med" len="med"/>
                      <a:tailEnd type="none" w="med" len="med"/>
                    </a:lnT>
                    <a:lnB w="12700" cap="flat" cmpd="sng" algn="ctr">
                      <a:solidFill>
                        <a:srgbClr val="D8E0F2"/>
                      </a:solidFill>
                      <a:prstDash val="solid"/>
                      <a:round/>
                      <a:headEnd type="none" w="med" len="med"/>
                      <a:tailEnd type="none" w="med" len="med"/>
                    </a:lnB>
                    <a:solidFill>
                      <a:srgbClr val="FFFFFF"/>
                    </a:solidFill>
                  </a:tcPr>
                </a:tc>
                <a:tc>
                  <a:txBody>
                    <a:bodyPr/>
                    <a:lstStyle/>
                    <a:p>
                      <a:pPr indent="0" marL="0">
                        <a:buNone/>
                      </a:pPr>
                      <a:r>
                        <a:rPr lang="en-US" sz="1050" dirty="0">
                          <a:solidFill>
                            <a:srgbClr val="3E466B"/>
                          </a:solidFill>
                          <a:latin typeface="Calibri" pitchFamily="34" charset="0"/>
                          <a:ea typeface="Calibri" pitchFamily="34" charset="-122"/>
                          <a:cs typeface="Calibri" pitchFamily="34" charset="-120"/>
                        </a:rPr>
                        <a:t>Refusals — it declines to publish an impossible figure rather than explaining it</a:t>
                      </a:r>
                      <a:endParaRPr lang="en-US" sz="1050" dirty="0">
                        <a:latin typeface="Calibri" charset="0"/>
                        <a:ea typeface="Calibri" charset="0"/>
                        <a:cs typeface="Calibri" charset="0"/>
                      </a:endParaRPr>
                    </a:p>
                  </a:txBody>
                  <a:tcPr marL="114300" marR="114300" marT="63500" marB="63500" anchor="t">
                    <a:lnL w="12700" cap="flat" cmpd="sng" algn="ctr">
                      <a:solidFill>
                        <a:srgbClr val="D8E0F2"/>
                      </a:solidFill>
                      <a:prstDash val="solid"/>
                      <a:round/>
                      <a:headEnd type="none" w="med" len="med"/>
                      <a:tailEnd type="none" w="med" len="med"/>
                    </a:lnL>
                    <a:lnR w="12700" cap="flat" cmpd="sng" algn="ctr">
                      <a:solidFill>
                        <a:srgbClr val="D8E0F2"/>
                      </a:solidFill>
                      <a:prstDash val="solid"/>
                      <a:round/>
                      <a:headEnd type="none" w="med" len="med"/>
                      <a:tailEnd type="none" w="med" len="med"/>
                    </a:lnR>
                    <a:lnT w="12700" cap="flat" cmpd="sng" algn="ctr">
                      <a:solidFill>
                        <a:srgbClr val="D8E0F2"/>
                      </a:solidFill>
                      <a:prstDash val="solid"/>
                      <a:round/>
                      <a:headEnd type="none" w="med" len="med"/>
                      <a:tailEnd type="none" w="med" len="med"/>
                    </a:lnT>
                    <a:lnB w="12700" cap="flat" cmpd="sng" algn="ctr">
                      <a:solidFill>
                        <a:srgbClr val="D8E0F2"/>
                      </a:solidFill>
                      <a:prstDash val="solid"/>
                      <a:round/>
                      <a:headEnd type="none" w="med" len="med"/>
                      <a:tailEnd type="none" w="med" len="med"/>
                    </a:lnB>
                    <a:solidFill>
                      <a:srgbClr val="FFFFFF"/>
                    </a:solidFill>
                  </a:tcPr>
                </a:tc>
              </a:tr>
            </a:tbl>
          </a:graphicData>
        </a:graphic>
      </p:graphicFrame>
      <p:sp>
        <p:nvSpPr>
          <p:cNvPr id="6" name="Shape 3"/>
          <p:cNvSpPr/>
          <p:nvPr/>
        </p:nvSpPr>
        <p:spPr>
          <a:xfrm>
            <a:off x="685800" y="5120640"/>
            <a:ext cx="10817352" cy="868680"/>
          </a:xfrm>
          <a:prstGeom prst="roundRect">
            <a:avLst>
              <a:gd name="adj" fmla="val 5263"/>
            </a:avLst>
          </a:prstGeom>
          <a:solidFill>
            <a:srgbClr val="1E2761"/>
          </a:solidFill>
          <a:ln/>
        </p:spPr>
      </p:sp>
      <p:sp>
        <p:nvSpPr>
          <p:cNvPr id="7" name="Text 4"/>
          <p:cNvSpPr txBox="1"/>
          <p:nvPr/>
        </p:nvSpPr>
        <p:spPr>
          <a:xfrm>
            <a:off x="1051560" y="5285232"/>
            <a:ext cx="10058400" cy="594360"/>
          </a:xfrm>
          <a:prstGeom prst="rect">
            <a:avLst/>
          </a:prstGeom>
          <a:noFill/>
          <a:ln/>
        </p:spPr>
        <p:txBody>
          <a:bodyPr wrap="square" lIns="0" tIns="0" rIns="0" bIns="0" rtlCol="0" anchor="t"/>
          <a:lstStyle/>
          <a:p>
            <a:pPr indent="0" marL="0">
              <a:buNone/>
            </a:pPr>
            <a:r>
              <a:rPr lang="en-US" sz="1450" i="1" dirty="0">
                <a:solidFill>
                  <a:srgbClr val="FFFFFF"/>
                </a:solidFill>
                <a:latin typeface="Cambria" pitchFamily="34" charset="0"/>
                <a:ea typeface="Cambria" pitchFamily="34" charset="-122"/>
                <a:cs typeface="Cambria" pitchFamily="34" charset="-120"/>
              </a:rPr>
              <a:t>Column one is execution work we have already scoped. Column three cannot be added to a chat product at all. That asymmetry is the investment case.</a:t>
            </a:r>
            <a:endParaRPr lang="en-US" sz="1450" dirty="0"/>
          </a:p>
        </p:txBody>
      </p:sp>
      <p:sp>
        <p:nvSpPr>
          <p:cNvPr id="8" name="Text 5"/>
          <p:cNvSpPr txBox="1"/>
          <p:nvPr/>
        </p:nvSpPr>
        <p:spPr>
          <a:xfrm>
            <a:off x="685800" y="6272784"/>
            <a:ext cx="10817352" cy="274320"/>
          </a:xfrm>
          <a:prstGeom prst="rect">
            <a:avLst/>
          </a:prstGeom>
          <a:noFill/>
          <a:ln/>
        </p:spPr>
        <p:txBody>
          <a:bodyPr wrap="square" lIns="0" tIns="0" rIns="0" bIns="0" rtlCol="0" anchor="t"/>
          <a:lstStyle/>
          <a:p>
            <a:pPr indent="0" marL="0">
              <a:buNone/>
            </a:pPr>
            <a:r>
              <a:rPr lang="en-US" sz="950" i="1" dirty="0">
                <a:solidFill>
                  <a:srgbClr val="7B83A6"/>
                </a:solidFill>
                <a:latin typeface="Calibri" pitchFamily="34" charset="0"/>
                <a:ea typeface="Calibri" pitchFamily="34" charset="-122"/>
                <a:cs typeface="Calibri" pitchFamily="34" charset="-120"/>
              </a:rPr>
              <a:t>Console baseline: Claude Opus 5 at high effort with server-side web search, priced on the same table.</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685800" y="402336"/>
            <a:ext cx="8778240" cy="274320"/>
          </a:xfrm>
          <a:prstGeom prst="rect">
            <a:avLst/>
          </a:prstGeom>
          <a:noFill/>
          <a:ln/>
        </p:spPr>
        <p:txBody>
          <a:bodyPr wrap="square" lIns="0" tIns="0" rIns="0" bIns="0" rtlCol="0" anchor="t"/>
          <a:lstStyle/>
          <a:p>
            <a:pPr indent="0" marL="0">
              <a:buNone/>
            </a:pPr>
            <a:r>
              <a:rPr lang="en-US" sz="1100" b="1" spc="220" kern="0" dirty="0">
                <a:solidFill>
                  <a:srgbClr val="CADCFC"/>
                </a:solidFill>
                <a:latin typeface="Calibri" pitchFamily="34" charset="0"/>
                <a:ea typeface="Calibri" pitchFamily="34" charset="-122"/>
                <a:cs typeface="Calibri" pitchFamily="34" charset="-120"/>
              </a:rPr>
              <a:t>WHY THE ADVANTAGE HOLDS</a:t>
            </a:r>
            <a:endParaRPr lang="en-US" sz="1100" dirty="0"/>
          </a:p>
        </p:txBody>
      </p:sp>
      <p:sp>
        <p:nvSpPr>
          <p:cNvPr id="3" name="Text 1"/>
          <p:cNvSpPr txBox="1"/>
          <p:nvPr/>
        </p:nvSpPr>
        <p:spPr>
          <a:xfrm>
            <a:off x="685800" y="777240"/>
            <a:ext cx="10817352" cy="566928"/>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This is a category difference, not a feature gap</a:t>
            </a:r>
            <a:endParaRPr lang="en-US" sz="3200" dirty="0"/>
          </a:p>
        </p:txBody>
      </p:sp>
      <p:sp>
        <p:nvSpPr>
          <p:cNvPr id="4" name="Shape 2"/>
          <p:cNvSpPr/>
          <p:nvPr/>
        </p:nvSpPr>
        <p:spPr>
          <a:xfrm>
            <a:off x="685800" y="1691640"/>
            <a:ext cx="5285232" cy="3246120"/>
          </a:xfrm>
          <a:prstGeom prst="roundRect">
            <a:avLst>
              <a:gd name="adj" fmla="val 1690"/>
            </a:avLst>
          </a:prstGeom>
          <a:solidFill>
            <a:srgbClr val="26306A"/>
          </a:solidFill>
          <a:ln/>
        </p:spPr>
      </p:sp>
      <p:sp>
        <p:nvSpPr>
          <p:cNvPr id="5" name="Text 3"/>
          <p:cNvSpPr txBox="1"/>
          <p:nvPr/>
        </p:nvSpPr>
        <p:spPr>
          <a:xfrm>
            <a:off x="1005840" y="1901952"/>
            <a:ext cx="4663440" cy="320040"/>
          </a:xfrm>
          <a:prstGeom prst="rect">
            <a:avLst/>
          </a:prstGeom>
          <a:noFill/>
          <a:ln/>
        </p:spPr>
        <p:txBody>
          <a:bodyPr wrap="square" lIns="0" tIns="0" rIns="0" bIns="0" rtlCol="0" anchor="t"/>
          <a:lstStyle/>
          <a:p>
            <a:pPr indent="0" marL="0">
              <a:buNone/>
            </a:pPr>
            <a:r>
              <a:rPr lang="en-US" sz="1650" b="1" dirty="0">
                <a:solidFill>
                  <a:srgbClr val="CADCFC"/>
                </a:solidFill>
                <a:latin typeface="Cambria" pitchFamily="34" charset="0"/>
                <a:ea typeface="Cambria" pitchFamily="34" charset="-122"/>
                <a:cs typeface="Cambria" pitchFamily="34" charset="-120"/>
              </a:rPr>
              <a:t>A chat answers</a:t>
            </a:r>
            <a:endParaRPr lang="en-US" sz="1650" dirty="0"/>
          </a:p>
        </p:txBody>
      </p:sp>
      <p:sp>
        <p:nvSpPr>
          <p:cNvPr id="6" name="Text 4"/>
          <p:cNvSpPr txBox="1"/>
          <p:nvPr/>
        </p:nvSpPr>
        <p:spPr>
          <a:xfrm>
            <a:off x="1005840" y="2331720"/>
            <a:ext cx="4663440" cy="2468880"/>
          </a:xfrm>
          <a:prstGeom prst="rect">
            <a:avLst/>
          </a:prstGeom>
          <a:noFill/>
          <a:ln/>
        </p:spPr>
        <p:txBody>
          <a:bodyPr wrap="square" lIns="0" tIns="0" rIns="0" bIns="0" rtlCol="0" anchor="t"/>
          <a:lstStyle/>
          <a:p>
            <a:pPr marL="342900" indent="-342900">
              <a:lnSpc>
                <a:spcPts val="1500"/>
              </a:lnSpc>
              <a:spcAft>
                <a:spcPts val="700"/>
              </a:spcAft>
              <a:buSzPct val="100000"/>
              <a:buChar char="•"/>
            </a:pPr>
            <a:r>
              <a:rPr lang="en-US" sz="1150" dirty="0">
                <a:solidFill>
                  <a:srgbClr val="FFFFFF"/>
                </a:solidFill>
                <a:latin typeface="Calibri" pitchFamily="34" charset="0"/>
                <a:ea typeface="Calibri" pitchFamily="34" charset="-122"/>
                <a:cs typeface="Calibri" pitchFamily="34" charset="-120"/>
              </a:rPr>
              <a:t>Generates prose and numbers by the same mechanism</a:t>
            </a:r>
            <a:endParaRPr lang="en-US" sz="1150" dirty="0"/>
          </a:p>
          <a:p>
            <a:pPr marL="342900" indent="-342900">
              <a:lnSpc>
                <a:spcPts val="1500"/>
              </a:lnSpc>
              <a:spcAft>
                <a:spcPts val="700"/>
              </a:spcAft>
              <a:buSzPct val="100000"/>
              <a:buChar char="•"/>
            </a:pPr>
            <a:r>
              <a:rPr lang="en-US" sz="1150" dirty="0">
                <a:solidFill>
                  <a:srgbClr val="FFFFFF"/>
                </a:solidFill>
                <a:latin typeface="Calibri" pitchFamily="34" charset="0"/>
                <a:ea typeface="Calibri" pitchFamily="34" charset="-122"/>
                <a:cs typeface="Calibri" pitchFamily="34" charset="-120"/>
              </a:rPr>
              <a:t>Cites links that rot — a third were dead the next day</a:t>
            </a:r>
            <a:endParaRPr lang="en-US" sz="1150" dirty="0"/>
          </a:p>
          <a:p>
            <a:pPr marL="342900" indent="-342900">
              <a:lnSpc>
                <a:spcPts val="1500"/>
              </a:lnSpc>
              <a:spcAft>
                <a:spcPts val="700"/>
              </a:spcAft>
              <a:buSzPct val="100000"/>
              <a:buChar char="•"/>
            </a:pPr>
            <a:r>
              <a:rPr lang="en-US" sz="1150" dirty="0">
                <a:solidFill>
                  <a:srgbClr val="FFFFFF"/>
                </a:solidFill>
                <a:latin typeface="Calibri" pitchFamily="34" charset="0"/>
                <a:ea typeface="Calibri" pitchFamily="34" charset="-122"/>
                <a:cs typeface="Calibri" pitchFamily="34" charset="-120"/>
              </a:rPr>
              <a:t>Keeps no structured record between sessions</a:t>
            </a:r>
            <a:endParaRPr lang="en-US" sz="1150" dirty="0"/>
          </a:p>
          <a:p>
            <a:pPr marL="342900" indent="-342900">
              <a:lnSpc>
                <a:spcPts val="1500"/>
              </a:lnSpc>
              <a:spcAft>
                <a:spcPts val="700"/>
              </a:spcAft>
              <a:buSzPct val="100000"/>
              <a:buChar char="•"/>
            </a:pPr>
            <a:r>
              <a:rPr lang="en-US" sz="1150" dirty="0">
                <a:solidFill>
                  <a:srgbClr val="FFFFFF"/>
                </a:solidFill>
                <a:latin typeface="Calibri" pitchFamily="34" charset="0"/>
                <a:ea typeface="Calibri" pitchFamily="34" charset="-122"/>
                <a:cs typeface="Calibri" pitchFamily="34" charset="-120"/>
              </a:rPr>
              <a:t>Cannot be re-run to check what it told you</a:t>
            </a:r>
            <a:endParaRPr lang="en-US" sz="1150" dirty="0"/>
          </a:p>
          <a:p>
            <a:pPr marL="342900" indent="-342900">
              <a:lnSpc>
                <a:spcPts val="1500"/>
              </a:lnSpc>
              <a:spcAft>
                <a:spcPts val="700"/>
              </a:spcAft>
              <a:buSzPct val="100000"/>
              <a:buChar char="•"/>
            </a:pPr>
            <a:r>
              <a:rPr lang="en-US" sz="1150" dirty="0">
                <a:solidFill>
                  <a:srgbClr val="FFFFFF"/>
                </a:solidFill>
                <a:latin typeface="Calibri" pitchFamily="34" charset="0"/>
                <a:ea typeface="Calibri" pitchFamily="34" charset="-122"/>
                <a:cs typeface="Calibri" pitchFamily="34" charset="-120"/>
              </a:rPr>
              <a:t>Spends until you stop it</a:t>
            </a:r>
            <a:endParaRPr lang="en-US" sz="1150" dirty="0"/>
          </a:p>
        </p:txBody>
      </p:sp>
      <p:sp>
        <p:nvSpPr>
          <p:cNvPr id="7" name="Shape 5"/>
          <p:cNvSpPr/>
          <p:nvPr/>
        </p:nvSpPr>
        <p:spPr>
          <a:xfrm>
            <a:off x="6217920" y="1691640"/>
            <a:ext cx="5285232" cy="3246120"/>
          </a:xfrm>
          <a:prstGeom prst="roundRect">
            <a:avLst>
              <a:gd name="adj" fmla="val 1690"/>
            </a:avLst>
          </a:prstGeom>
          <a:solidFill>
            <a:srgbClr val="2F5C47"/>
          </a:solidFill>
          <a:ln/>
        </p:spPr>
      </p:sp>
      <p:sp>
        <p:nvSpPr>
          <p:cNvPr id="8" name="Text 6"/>
          <p:cNvSpPr txBox="1"/>
          <p:nvPr/>
        </p:nvSpPr>
        <p:spPr>
          <a:xfrm>
            <a:off x="6537960" y="1901952"/>
            <a:ext cx="4663440" cy="320040"/>
          </a:xfrm>
          <a:prstGeom prst="rect">
            <a:avLst/>
          </a:prstGeom>
          <a:noFill/>
          <a:ln/>
        </p:spPr>
        <p:txBody>
          <a:bodyPr wrap="square" lIns="0" tIns="0" rIns="0" bIns="0" rtlCol="0" anchor="t"/>
          <a:lstStyle/>
          <a:p>
            <a:pPr indent="0" marL="0">
              <a:buNone/>
            </a:pPr>
            <a:r>
              <a:rPr lang="en-US" sz="1650" b="1" dirty="0">
                <a:solidFill>
                  <a:srgbClr val="CADCFC"/>
                </a:solidFill>
                <a:latin typeface="Cambria" pitchFamily="34" charset="0"/>
                <a:ea typeface="Cambria" pitchFamily="34" charset="-122"/>
                <a:cs typeface="Cambria" pitchFamily="34" charset="-120"/>
              </a:rPr>
              <a:t>This computes</a:t>
            </a:r>
            <a:endParaRPr lang="en-US" sz="1650" dirty="0"/>
          </a:p>
        </p:txBody>
      </p:sp>
      <p:sp>
        <p:nvSpPr>
          <p:cNvPr id="9" name="Text 7"/>
          <p:cNvSpPr txBox="1"/>
          <p:nvPr/>
        </p:nvSpPr>
        <p:spPr>
          <a:xfrm>
            <a:off x="6537960" y="2331720"/>
            <a:ext cx="4663440" cy="2468880"/>
          </a:xfrm>
          <a:prstGeom prst="rect">
            <a:avLst/>
          </a:prstGeom>
          <a:noFill/>
          <a:ln/>
        </p:spPr>
        <p:txBody>
          <a:bodyPr wrap="square" lIns="0" tIns="0" rIns="0" bIns="0" rtlCol="0" anchor="t"/>
          <a:lstStyle/>
          <a:p>
            <a:pPr marL="342900" indent="-342900">
              <a:lnSpc>
                <a:spcPts val="1500"/>
              </a:lnSpc>
              <a:spcAft>
                <a:spcPts val="700"/>
              </a:spcAft>
              <a:buSzPct val="100000"/>
              <a:buChar char="•"/>
            </a:pPr>
            <a:r>
              <a:rPr lang="en-US" sz="1150" dirty="0">
                <a:solidFill>
                  <a:srgbClr val="FFFFFF"/>
                </a:solidFill>
                <a:latin typeface="Calibri" pitchFamily="34" charset="0"/>
                <a:ea typeface="Calibri" pitchFamily="34" charset="-122"/>
                <a:cs typeface="Calibri" pitchFamily="34" charset="-120"/>
              </a:rPr>
              <a:t>Arithmetic in tested Python; the model cannot state a figure</a:t>
            </a:r>
            <a:endParaRPr lang="en-US" sz="1150" dirty="0"/>
          </a:p>
          <a:p>
            <a:pPr marL="342900" indent="-342900">
              <a:lnSpc>
                <a:spcPts val="1500"/>
              </a:lnSpc>
              <a:spcAft>
                <a:spcPts val="700"/>
              </a:spcAft>
              <a:buSzPct val="100000"/>
              <a:buChar char="•"/>
            </a:pPr>
            <a:r>
              <a:rPr lang="en-US" sz="1150" dirty="0">
                <a:solidFill>
                  <a:srgbClr val="FFFFFF"/>
                </a:solidFill>
                <a:latin typeface="Calibri" pitchFamily="34" charset="0"/>
                <a:ea typeface="Calibri" pitchFamily="34" charset="-122"/>
                <a:cs typeface="Calibri" pitchFamily="34" charset="-120"/>
              </a:rPr>
              <a:t>Evidence hashed at the moment it is fetched</a:t>
            </a:r>
            <a:endParaRPr lang="en-US" sz="1150" dirty="0"/>
          </a:p>
          <a:p>
            <a:pPr marL="342900" indent="-342900">
              <a:lnSpc>
                <a:spcPts val="1500"/>
              </a:lnSpc>
              <a:spcAft>
                <a:spcPts val="700"/>
              </a:spcAft>
              <a:buSzPct val="100000"/>
              <a:buChar char="•"/>
            </a:pPr>
            <a:r>
              <a:rPr lang="en-US" sz="1150" dirty="0">
                <a:solidFill>
                  <a:srgbClr val="FFFFFF"/>
                </a:solidFill>
                <a:latin typeface="Calibri" pitchFamily="34" charset="0"/>
                <a:ea typeface="Calibri" pitchFamily="34" charset="-122"/>
                <a:cs typeface="Calibri" pitchFamily="34" charset="-120"/>
              </a:rPr>
              <a:t>A queryable record of facts, calculations and decisions</a:t>
            </a:r>
            <a:endParaRPr lang="en-US" sz="1150" dirty="0"/>
          </a:p>
          <a:p>
            <a:pPr marL="342900" indent="-342900">
              <a:lnSpc>
                <a:spcPts val="1500"/>
              </a:lnSpc>
              <a:spcAft>
                <a:spcPts val="700"/>
              </a:spcAft>
              <a:buSzPct val="100000"/>
              <a:buChar char="•"/>
            </a:pPr>
            <a:r>
              <a:rPr lang="en-US" sz="1150" dirty="0">
                <a:solidFill>
                  <a:srgbClr val="FFFFFF"/>
                </a:solidFill>
                <a:latin typeface="Calibri" pitchFamily="34" charset="0"/>
                <a:ea typeface="Calibri" pitchFamily="34" charset="-122"/>
                <a:cs typeface="Calibri" pitchFamily="34" charset="-120"/>
              </a:rPr>
              <a:t>Any report re-executes from its own inputs, years later</a:t>
            </a:r>
            <a:endParaRPr lang="en-US" sz="1150" dirty="0"/>
          </a:p>
          <a:p>
            <a:pPr marL="342900" indent="-342900">
              <a:lnSpc>
                <a:spcPts val="1500"/>
              </a:lnSpc>
              <a:spcAft>
                <a:spcPts val="700"/>
              </a:spcAft>
              <a:buSzPct val="100000"/>
              <a:buChar char="•"/>
            </a:pPr>
            <a:r>
              <a:rPr lang="en-US" sz="1150" dirty="0">
                <a:solidFill>
                  <a:srgbClr val="FFFFFF"/>
                </a:solidFill>
                <a:latin typeface="Calibri" pitchFamily="34" charset="0"/>
                <a:ea typeface="Calibri" pitchFamily="34" charset="-122"/>
                <a:cs typeface="Calibri" pitchFamily="34" charset="-120"/>
              </a:rPr>
              <a:t>A ceiling enforced before the money moves</a:t>
            </a:r>
            <a:endParaRPr lang="en-US" sz="1150" dirty="0"/>
          </a:p>
        </p:txBody>
      </p:sp>
      <p:sp>
        <p:nvSpPr>
          <p:cNvPr id="10" name="Text 8"/>
          <p:cNvSpPr txBox="1"/>
          <p:nvPr/>
        </p:nvSpPr>
        <p:spPr>
          <a:xfrm>
            <a:off x="685800" y="5120640"/>
            <a:ext cx="10332720" cy="868680"/>
          </a:xfrm>
          <a:prstGeom prst="rect">
            <a:avLst/>
          </a:prstGeom>
          <a:noFill/>
          <a:ln/>
        </p:spPr>
        <p:txBody>
          <a:bodyPr wrap="square" lIns="0" tIns="0" rIns="0" bIns="0" rtlCol="0" anchor="t"/>
          <a:lstStyle/>
          <a:p>
            <a:pPr indent="0" marL="0">
              <a:lnSpc>
                <a:spcPts val="1700"/>
              </a:lnSpc>
              <a:buNone/>
            </a:pPr>
            <a:r>
              <a:rPr lang="en-US" sz="1250" dirty="0">
                <a:solidFill>
                  <a:srgbClr val="CADCFC"/>
                </a:solidFill>
                <a:latin typeface="Calibri" pitchFamily="34" charset="0"/>
                <a:ea typeface="Calibri" pitchFamily="34" charset="-122"/>
                <a:cs typeface="Calibri" pitchFamily="34" charset="-120"/>
              </a:rPr>
              <a:t>If Anthropic ships persistent memory tomorrow, it is memory of a conversation — not a versioned calculation engine with an immutable audit chain. The gap is architectural: one system generates, the other executes. That is why closing it from their side means building this.</a:t>
            </a:r>
            <a:endParaRPr lang="en-US" sz="1250" dirty="0"/>
          </a:p>
        </p:txBody>
      </p:sp>
      <p:sp>
        <p:nvSpPr>
          <p:cNvPr id="11" name="Text 9"/>
          <p:cNvSpPr txBox="1"/>
          <p:nvPr/>
        </p:nvSpPr>
        <p:spPr>
          <a:xfrm>
            <a:off x="685800" y="6272784"/>
            <a:ext cx="10817352" cy="274320"/>
          </a:xfrm>
          <a:prstGeom prst="rect">
            <a:avLst/>
          </a:prstGeom>
          <a:noFill/>
          <a:ln/>
        </p:spPr>
        <p:txBody>
          <a:bodyPr wrap="square" lIns="0" tIns="0" rIns="0" bIns="0" rtlCol="0" anchor="t"/>
          <a:lstStyle/>
          <a:p>
            <a:pPr indent="0" marL="0">
              <a:buNone/>
            </a:pPr>
            <a:r>
              <a:rPr lang="en-US" sz="950" i="1" dirty="0">
                <a:solidFill>
                  <a:srgbClr val="8FA3D8"/>
                </a:solidFill>
                <a:latin typeface="Calibri" pitchFamily="34" charset="0"/>
                <a:ea typeface="Calibri" pitchFamily="34" charset="-122"/>
                <a:cs typeface="Calibri" pitchFamily="34" charset="-120"/>
              </a:rPr>
              <a:t>Stated as a limit on us too: we will not out-argue or out-run a frontier model, and do not intend to try.</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02336"/>
            <a:ext cx="8778240" cy="274320"/>
          </a:xfrm>
          <a:prstGeom prst="rect">
            <a:avLst/>
          </a:prstGeom>
          <a:noFill/>
          <a:ln/>
        </p:spPr>
        <p:txBody>
          <a:bodyPr wrap="square" lIns="0" tIns="0" rIns="0" bIns="0" rtlCol="0" anchor="t"/>
          <a:lstStyle/>
          <a:p>
            <a:pPr indent="0" marL="0">
              <a:buNone/>
            </a:pPr>
            <a:r>
              <a:rPr lang="en-US" sz="1100" b="1" spc="220" kern="0" dirty="0">
                <a:solidFill>
                  <a:srgbClr val="7B83A6"/>
                </a:solidFill>
                <a:latin typeface="Calibri" pitchFamily="34" charset="0"/>
                <a:ea typeface="Calibri" pitchFamily="34" charset="-122"/>
                <a:cs typeface="Calibri" pitchFamily="34" charset="-120"/>
              </a:rPr>
              <a:t>THE FUTURE  —  THE CENTRAL MOVE</a:t>
            </a:r>
            <a:endParaRPr lang="en-US" sz="1100" dirty="0"/>
          </a:p>
        </p:txBody>
      </p:sp>
      <p:sp>
        <p:nvSpPr>
          <p:cNvPr id="3" name="Shape 1"/>
          <p:cNvSpPr/>
          <p:nvPr/>
        </p:nvSpPr>
        <p:spPr>
          <a:xfrm>
            <a:off x="10634472" y="384048"/>
            <a:ext cx="868680" cy="237744"/>
          </a:xfrm>
          <a:prstGeom prst="roundRect">
            <a:avLst>
              <a:gd name="adj" fmla="val 38462"/>
            </a:avLst>
          </a:prstGeom>
          <a:solidFill>
            <a:srgbClr val="B8862F"/>
          </a:solidFill>
          <a:ln/>
        </p:spPr>
      </p:sp>
      <p:sp>
        <p:nvSpPr>
          <p:cNvPr id="4" name="Text 2"/>
          <p:cNvSpPr txBox="1"/>
          <p:nvPr/>
        </p:nvSpPr>
        <p:spPr>
          <a:xfrm>
            <a:off x="10634472" y="384048"/>
            <a:ext cx="868680" cy="237744"/>
          </a:xfrm>
          <a:prstGeom prst="rect">
            <a:avLst/>
          </a:prstGeom>
          <a:noFill/>
          <a:ln/>
        </p:spPr>
        <p:txBody>
          <a:bodyPr wrap="square" lIns="0" tIns="0" rIns="0" bIns="0" rtlCol="0" anchor="ctr"/>
          <a:lstStyle/>
          <a:p>
            <a:pPr algn="ctr" indent="0" marL="0">
              <a:buNone/>
            </a:pPr>
            <a:r>
              <a:rPr lang="en-US" sz="850" b="1" spc="60" kern="0" dirty="0">
                <a:solidFill>
                  <a:srgbClr val="FFFFFF"/>
                </a:solidFill>
                <a:latin typeface="Calibri" pitchFamily="34" charset="0"/>
                <a:ea typeface="Calibri" pitchFamily="34" charset="-122"/>
                <a:cs typeface="Calibri" pitchFamily="34" charset="-120"/>
              </a:rPr>
              <a:t>VISION</a:t>
            </a:r>
            <a:endParaRPr lang="en-US" sz="850" dirty="0"/>
          </a:p>
        </p:txBody>
      </p:sp>
      <p:sp>
        <p:nvSpPr>
          <p:cNvPr id="5" name="Text 3"/>
          <p:cNvSpPr txBox="1"/>
          <p:nvPr/>
        </p:nvSpPr>
        <p:spPr>
          <a:xfrm>
            <a:off x="685800" y="777240"/>
            <a:ext cx="10817352" cy="566928"/>
          </a:xfrm>
          <a:prstGeom prst="rect">
            <a:avLst/>
          </a:prstGeom>
          <a:noFill/>
          <a:ln/>
        </p:spPr>
        <p:txBody>
          <a:bodyPr wrap="square" lIns="0" tIns="0" rIns="0" bIns="0" rtlCol="0" anchor="t"/>
          <a:lstStyle/>
          <a:p>
            <a:pPr indent="0" marL="0">
              <a:buNone/>
            </a:pPr>
            <a:r>
              <a:rPr lang="en-US" sz="3200" b="1" dirty="0">
                <a:solidFill>
                  <a:srgbClr val="1E2761"/>
                </a:solidFill>
                <a:latin typeface="Cambria" pitchFamily="34" charset="0"/>
                <a:ea typeface="Cambria" pitchFamily="34" charset="-122"/>
                <a:cs typeface="Cambria" pitchFamily="34" charset="-120"/>
              </a:rPr>
              <a:t>Stop selling reports. Start holding positions.</a:t>
            </a:r>
            <a:endParaRPr lang="en-US" sz="3200" dirty="0"/>
          </a:p>
        </p:txBody>
      </p:sp>
      <p:sp>
        <p:nvSpPr>
          <p:cNvPr id="6" name="Text 4"/>
          <p:cNvSpPr txBox="1"/>
          <p:nvPr/>
        </p:nvSpPr>
        <p:spPr>
          <a:xfrm>
            <a:off x="685800" y="1444752"/>
            <a:ext cx="10332720" cy="685800"/>
          </a:xfrm>
          <a:prstGeom prst="rect">
            <a:avLst/>
          </a:prstGeom>
          <a:noFill/>
          <a:ln/>
        </p:spPr>
        <p:txBody>
          <a:bodyPr wrap="square" lIns="0" tIns="0" rIns="0" bIns="0" rtlCol="0" anchor="t"/>
          <a:lstStyle/>
          <a:p>
            <a:pPr indent="0" marL="0">
              <a:lnSpc>
                <a:spcPts val="1700"/>
              </a:lnSpc>
              <a:buNone/>
            </a:pPr>
            <a:r>
              <a:rPr lang="en-US" sz="1300" dirty="0">
                <a:solidFill>
                  <a:srgbClr val="3E466B"/>
                </a:solidFill>
                <a:latin typeface="Calibri" pitchFamily="34" charset="0"/>
                <a:ea typeface="Calibri" pitchFamily="34" charset="-122"/>
                <a:cs typeface="Calibri" pitchFamily="34" charset="-120"/>
              </a:rPr>
              <a:t>A single report is a commodity a chat writes well and cheaply, and competing on it means fighting on their ground. A standing record of a company you follow is something a chat has no product for at all.</a:t>
            </a:r>
            <a:endParaRPr lang="en-US" sz="1300" dirty="0"/>
          </a:p>
        </p:txBody>
      </p:sp>
      <p:sp>
        <p:nvSpPr>
          <p:cNvPr id="7" name="Shape 5"/>
          <p:cNvSpPr/>
          <p:nvPr/>
        </p:nvSpPr>
        <p:spPr>
          <a:xfrm>
            <a:off x="685800" y="2286000"/>
            <a:ext cx="5285232" cy="1691640"/>
          </a:xfrm>
          <a:prstGeom prst="roundRect">
            <a:avLst>
              <a:gd name="adj" fmla="val 3243"/>
            </a:avLst>
          </a:prstGeom>
          <a:solidFill>
            <a:srgbClr val="26306A"/>
          </a:solidFill>
          <a:ln/>
        </p:spPr>
      </p:sp>
      <p:sp>
        <p:nvSpPr>
          <p:cNvPr id="8" name="Text 6"/>
          <p:cNvSpPr txBox="1"/>
          <p:nvPr/>
        </p:nvSpPr>
        <p:spPr>
          <a:xfrm>
            <a:off x="1005840" y="2468880"/>
            <a:ext cx="4663440" cy="320040"/>
          </a:xfrm>
          <a:prstGeom prst="rect">
            <a:avLst/>
          </a:prstGeom>
          <a:noFill/>
          <a:ln/>
        </p:spPr>
        <p:txBody>
          <a:bodyPr wrap="square" lIns="0" tIns="0" rIns="0" bIns="0" rtlCol="0" anchor="t"/>
          <a:lstStyle/>
          <a:p>
            <a:pPr indent="0" marL="0">
              <a:buNone/>
            </a:pPr>
            <a:r>
              <a:rPr lang="en-US" sz="1600" b="1" dirty="0">
                <a:solidFill>
                  <a:srgbClr val="CADCFC"/>
                </a:solidFill>
                <a:latin typeface="Cambria" pitchFamily="34" charset="0"/>
                <a:ea typeface="Cambria" pitchFamily="34" charset="-122"/>
                <a:cs typeface="Cambria" pitchFamily="34" charset="-120"/>
              </a:rPr>
              <a:t>Today</a:t>
            </a:r>
            <a:endParaRPr lang="en-US" sz="1600" dirty="0"/>
          </a:p>
        </p:txBody>
      </p:sp>
      <p:sp>
        <p:nvSpPr>
          <p:cNvPr id="9" name="Text 7"/>
          <p:cNvSpPr txBox="1"/>
          <p:nvPr/>
        </p:nvSpPr>
        <p:spPr>
          <a:xfrm>
            <a:off x="1005840" y="2852928"/>
            <a:ext cx="4663440" cy="1005840"/>
          </a:xfrm>
          <a:prstGeom prst="rect">
            <a:avLst/>
          </a:prstGeom>
          <a:noFill/>
          <a:ln/>
        </p:spPr>
        <p:txBody>
          <a:bodyPr wrap="square" lIns="0" tIns="0" rIns="0" bIns="0" rtlCol="0" anchor="t"/>
          <a:lstStyle/>
          <a:p>
            <a:pPr indent="0" marL="0">
              <a:lnSpc>
                <a:spcPts val="1500"/>
              </a:lnSpc>
              <a:buNone/>
            </a:pPr>
            <a:r>
              <a:rPr lang="en-US" sz="1200" dirty="0">
                <a:solidFill>
                  <a:srgbClr val="FFFFFF"/>
                </a:solidFill>
                <a:latin typeface="Calibri" pitchFamily="34" charset="0"/>
                <a:ea typeface="Calibri" pitchFamily="34" charset="-122"/>
                <a:cs typeface="Calibri" pitchFamily="34" charset="-120"/>
              </a:rPr>
              <a:t>You commission a report. You read it. It is finished, and so is the relationship.</a:t>
            </a:r>
            <a:endParaRPr lang="en-US" sz="1200" dirty="0"/>
          </a:p>
        </p:txBody>
      </p:sp>
      <p:sp>
        <p:nvSpPr>
          <p:cNvPr id="10" name="Shape 8"/>
          <p:cNvSpPr/>
          <p:nvPr/>
        </p:nvSpPr>
        <p:spPr>
          <a:xfrm>
            <a:off x="6217920" y="2286000"/>
            <a:ext cx="5285232" cy="1691640"/>
          </a:xfrm>
          <a:prstGeom prst="roundRect">
            <a:avLst>
              <a:gd name="adj" fmla="val 3243"/>
            </a:avLst>
          </a:prstGeom>
          <a:solidFill>
            <a:srgbClr val="1E2761"/>
          </a:solidFill>
          <a:ln/>
        </p:spPr>
      </p:sp>
      <p:sp>
        <p:nvSpPr>
          <p:cNvPr id="11" name="Text 9"/>
          <p:cNvSpPr txBox="1"/>
          <p:nvPr/>
        </p:nvSpPr>
        <p:spPr>
          <a:xfrm>
            <a:off x="6537960" y="2468880"/>
            <a:ext cx="4663440" cy="320040"/>
          </a:xfrm>
          <a:prstGeom prst="rect">
            <a:avLst/>
          </a:prstGeom>
          <a:noFill/>
          <a:ln/>
        </p:spPr>
        <p:txBody>
          <a:bodyPr wrap="square" lIns="0" tIns="0" rIns="0" bIns="0" rtlCol="0" anchor="t"/>
          <a:lstStyle/>
          <a:p>
            <a:pPr indent="0" marL="0">
              <a:buNone/>
            </a:pPr>
            <a:r>
              <a:rPr lang="en-US" sz="1600" b="1" dirty="0">
                <a:solidFill>
                  <a:srgbClr val="CADCFC"/>
                </a:solidFill>
                <a:latin typeface="Cambria" pitchFamily="34" charset="0"/>
                <a:ea typeface="Cambria" pitchFamily="34" charset="-122"/>
                <a:cs typeface="Cambria" pitchFamily="34" charset="-120"/>
              </a:rPr>
              <a:t>Next</a:t>
            </a:r>
            <a:endParaRPr lang="en-US" sz="1600" dirty="0"/>
          </a:p>
        </p:txBody>
      </p:sp>
      <p:sp>
        <p:nvSpPr>
          <p:cNvPr id="12" name="Text 10"/>
          <p:cNvSpPr txBox="1"/>
          <p:nvPr/>
        </p:nvSpPr>
        <p:spPr>
          <a:xfrm>
            <a:off x="6537960" y="2852928"/>
            <a:ext cx="4663440" cy="1005840"/>
          </a:xfrm>
          <a:prstGeom prst="rect">
            <a:avLst/>
          </a:prstGeom>
          <a:noFill/>
          <a:ln/>
        </p:spPr>
        <p:txBody>
          <a:bodyPr wrap="square" lIns="0" tIns="0" rIns="0" bIns="0" rtlCol="0" anchor="t"/>
          <a:lstStyle/>
          <a:p>
            <a:pPr indent="0" marL="0">
              <a:lnSpc>
                <a:spcPts val="1500"/>
              </a:lnSpc>
              <a:buNone/>
            </a:pPr>
            <a:r>
              <a:rPr lang="en-US" sz="1200" dirty="0">
                <a:solidFill>
                  <a:srgbClr val="FFFFFF"/>
                </a:solidFill>
                <a:latin typeface="Calibri" pitchFamily="34" charset="0"/>
                <a:ea typeface="Calibri" pitchFamily="34" charset="-122"/>
                <a:cs typeface="Calibri" pitchFamily="34" charset="-120"/>
              </a:rPr>
              <a:t>You follow a company. It is researched once, then watched — and when something moves, you are told what changed, against what you believed, with the arithmetic redone.</a:t>
            </a:r>
            <a:endParaRPr lang="en-US" sz="1200" dirty="0"/>
          </a:p>
        </p:txBody>
      </p:sp>
      <p:sp>
        <p:nvSpPr>
          <p:cNvPr id="13" name="Shape 11"/>
          <p:cNvSpPr/>
          <p:nvPr/>
        </p:nvSpPr>
        <p:spPr>
          <a:xfrm>
            <a:off x="685800" y="4114800"/>
            <a:ext cx="10817352" cy="1874520"/>
          </a:xfrm>
          <a:prstGeom prst="roundRect">
            <a:avLst>
              <a:gd name="adj" fmla="val 2927"/>
            </a:avLst>
          </a:prstGeom>
          <a:solidFill>
            <a:srgbClr val="F2F5FC"/>
          </a:solidFill>
          <a:ln/>
          <a:effectLst>
            <a:outerShdw sx="100000" sy="100000" kx="0" ky="0" algn="bl" rotWithShape="0" blurRad="152400" dist="38100" dir="5400000">
              <a:srgbClr val="1E2761">
                <a:alpha val="13000"/>
              </a:srgbClr>
            </a:outerShdw>
          </a:effectLst>
        </p:spPr>
      </p:sp>
      <p:sp>
        <p:nvSpPr>
          <p:cNvPr id="14" name="Text 12"/>
          <p:cNvSpPr txBox="1"/>
          <p:nvPr/>
        </p:nvSpPr>
        <p:spPr>
          <a:xfrm>
            <a:off x="1005840" y="4279392"/>
            <a:ext cx="2743200" cy="320040"/>
          </a:xfrm>
          <a:prstGeom prst="rect">
            <a:avLst/>
          </a:prstGeom>
          <a:noFill/>
          <a:ln/>
        </p:spPr>
        <p:txBody>
          <a:bodyPr wrap="square" lIns="0" tIns="0" rIns="0" bIns="0" rtlCol="0" anchor="t"/>
          <a:lstStyle/>
          <a:p>
            <a:pPr indent="0" marL="0">
              <a:buNone/>
            </a:pPr>
            <a:r>
              <a:rPr lang="en-US" sz="1500" b="1" dirty="0">
                <a:solidFill>
                  <a:srgbClr val="1E2761"/>
                </a:solidFill>
                <a:latin typeface="Cambria" pitchFamily="34" charset="0"/>
                <a:ea typeface="Cambria" pitchFamily="34" charset="-122"/>
                <a:cs typeface="Cambria" pitchFamily="34" charset="-120"/>
              </a:rPr>
              <a:t>The effect</a:t>
            </a:r>
            <a:endParaRPr lang="en-US" sz="1500" dirty="0"/>
          </a:p>
        </p:txBody>
      </p:sp>
      <p:sp>
        <p:nvSpPr>
          <p:cNvPr id="15" name="Text 13"/>
          <p:cNvSpPr txBox="1"/>
          <p:nvPr/>
        </p:nvSpPr>
        <p:spPr>
          <a:xfrm>
            <a:off x="1005840" y="4681728"/>
            <a:ext cx="10149840" cy="1188720"/>
          </a:xfrm>
          <a:prstGeom prst="rect">
            <a:avLst/>
          </a:prstGeom>
          <a:noFill/>
          <a:ln/>
        </p:spPr>
        <p:txBody>
          <a:bodyPr wrap="square" lIns="0" tIns="0" rIns="0" bIns="0" rtlCol="0" anchor="t"/>
          <a:lstStyle/>
          <a:p>
            <a:pPr marL="342900" indent="-342900">
              <a:lnSpc>
                <a:spcPts val="1600"/>
              </a:lnSpc>
              <a:spcAft>
                <a:spcPts val="900"/>
              </a:spcAft>
              <a:buSzPct val="100000"/>
              <a:buChar char="•"/>
            </a:pPr>
            <a:r>
              <a:rPr lang="en-US" sz="1150" dirty="0">
                <a:solidFill>
                  <a:srgbClr val="3E466B"/>
                </a:solidFill>
                <a:latin typeface="Calibri" pitchFamily="34" charset="0"/>
                <a:ea typeface="Calibri" pitchFamily="34" charset="-122"/>
                <a:cs typeface="Calibri" pitchFamily="34" charset="-120"/>
              </a:rPr>
              <a:t>It changes the unit sold from a one-off document to a subscription with a reason to renew every month.</a:t>
            </a:r>
            <a:endParaRPr lang="en-US" sz="1150" dirty="0"/>
          </a:p>
          <a:p>
            <a:pPr marL="342900" indent="-342900">
              <a:lnSpc>
                <a:spcPts val="1600"/>
              </a:lnSpc>
              <a:spcAft>
                <a:spcPts val="900"/>
              </a:spcAft>
              <a:buSzPct val="100000"/>
              <a:buChar char="•"/>
            </a:pPr>
            <a:r>
              <a:rPr lang="en-US" sz="1150" dirty="0">
                <a:solidFill>
                  <a:srgbClr val="3E466B"/>
                </a:solidFill>
                <a:latin typeface="Calibri" pitchFamily="34" charset="0"/>
                <a:ea typeface="Calibri" pitchFamily="34" charset="-122"/>
                <a:cs typeface="Calibri" pitchFamily="34" charset="-120"/>
              </a:rPr>
              <a:t>It moves the competition off the axis we lose on — nobody compares a monitor to a chat answer, because a chat cannot tell you what changed since it last spoke to you.</a:t>
            </a:r>
            <a:endParaRPr lang="en-US" sz="1150" dirty="0"/>
          </a:p>
          <a:p>
            <a:pPr marL="342900" indent="-342900">
              <a:lnSpc>
                <a:spcPts val="1600"/>
              </a:lnSpc>
              <a:spcAft>
                <a:spcPts val="900"/>
              </a:spcAft>
              <a:buSzPct val="100000"/>
              <a:buChar char="•"/>
            </a:pPr>
            <a:r>
              <a:rPr lang="en-US" sz="1150" dirty="0">
                <a:solidFill>
                  <a:srgbClr val="3E466B"/>
                </a:solidFill>
                <a:latin typeface="Calibri" pitchFamily="34" charset="0"/>
                <a:ea typeface="Calibri" pitchFamily="34" charset="-122"/>
                <a:cs typeface="Calibri" pitchFamily="34" charset="-120"/>
              </a:rPr>
              <a:t>It is the cheapest large move available: the judgement record and the monitor already exist in the codebase, built and unused.</a:t>
            </a:r>
            <a:endParaRPr lang="en-US" sz="1150" dirty="0"/>
          </a:p>
        </p:txBody>
      </p:sp>
      <p:sp>
        <p:nvSpPr>
          <p:cNvPr id="16" name="Text 14"/>
          <p:cNvSpPr txBox="1"/>
          <p:nvPr/>
        </p:nvSpPr>
        <p:spPr>
          <a:xfrm>
            <a:off x="685800" y="6272784"/>
            <a:ext cx="10817352" cy="274320"/>
          </a:xfrm>
          <a:prstGeom prst="rect">
            <a:avLst/>
          </a:prstGeom>
          <a:noFill/>
          <a:ln/>
        </p:spPr>
        <p:txBody>
          <a:bodyPr wrap="square" lIns="0" tIns="0" rIns="0" bIns="0" rtlCol="0" anchor="t"/>
          <a:lstStyle/>
          <a:p>
            <a:pPr indent="0" marL="0">
              <a:buNone/>
            </a:pPr>
            <a:r>
              <a:rPr lang="en-US" sz="950" i="1" dirty="0">
                <a:solidFill>
                  <a:srgbClr val="7B83A6"/>
                </a:solidFill>
                <a:latin typeface="Calibri" pitchFamily="34" charset="0"/>
                <a:ea typeface="Calibri" pitchFamily="34" charset="-122"/>
                <a:cs typeface="Calibri" pitchFamily="34" charset="-120"/>
              </a:rPr>
              <a:t>VISION — planned, not built. The prerequisites are recorded and the components exist unwired.</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02336"/>
            <a:ext cx="8778240" cy="274320"/>
          </a:xfrm>
          <a:prstGeom prst="rect">
            <a:avLst/>
          </a:prstGeom>
          <a:noFill/>
          <a:ln/>
        </p:spPr>
        <p:txBody>
          <a:bodyPr wrap="square" lIns="0" tIns="0" rIns="0" bIns="0" rtlCol="0" anchor="t"/>
          <a:lstStyle/>
          <a:p>
            <a:pPr indent="0" marL="0">
              <a:buNone/>
            </a:pPr>
            <a:r>
              <a:rPr lang="en-US" sz="1100" b="1" spc="220" kern="0" dirty="0">
                <a:solidFill>
                  <a:srgbClr val="7B83A6"/>
                </a:solidFill>
                <a:latin typeface="Calibri" pitchFamily="34" charset="0"/>
                <a:ea typeface="Calibri" pitchFamily="34" charset="-122"/>
                <a:cs typeface="Calibri" pitchFamily="34" charset="-120"/>
              </a:rPr>
              <a:t>THE FUTURE  —  AND WHAT EACH CHANGES</a:t>
            </a:r>
            <a:endParaRPr lang="en-US" sz="1100" dirty="0"/>
          </a:p>
        </p:txBody>
      </p:sp>
      <p:sp>
        <p:nvSpPr>
          <p:cNvPr id="3" name="Shape 1"/>
          <p:cNvSpPr/>
          <p:nvPr/>
        </p:nvSpPr>
        <p:spPr>
          <a:xfrm>
            <a:off x="10634472" y="384048"/>
            <a:ext cx="868680" cy="237744"/>
          </a:xfrm>
          <a:prstGeom prst="roundRect">
            <a:avLst>
              <a:gd name="adj" fmla="val 38462"/>
            </a:avLst>
          </a:prstGeom>
          <a:solidFill>
            <a:srgbClr val="B8862F"/>
          </a:solidFill>
          <a:ln/>
        </p:spPr>
      </p:sp>
      <p:sp>
        <p:nvSpPr>
          <p:cNvPr id="4" name="Text 2"/>
          <p:cNvSpPr txBox="1"/>
          <p:nvPr/>
        </p:nvSpPr>
        <p:spPr>
          <a:xfrm>
            <a:off x="10634472" y="384048"/>
            <a:ext cx="868680" cy="237744"/>
          </a:xfrm>
          <a:prstGeom prst="rect">
            <a:avLst/>
          </a:prstGeom>
          <a:noFill/>
          <a:ln/>
        </p:spPr>
        <p:txBody>
          <a:bodyPr wrap="square" lIns="0" tIns="0" rIns="0" bIns="0" rtlCol="0" anchor="ctr"/>
          <a:lstStyle/>
          <a:p>
            <a:pPr algn="ctr" indent="0" marL="0">
              <a:buNone/>
            </a:pPr>
            <a:r>
              <a:rPr lang="en-US" sz="850" b="1" spc="60" kern="0" dirty="0">
                <a:solidFill>
                  <a:srgbClr val="FFFFFF"/>
                </a:solidFill>
                <a:latin typeface="Calibri" pitchFamily="34" charset="0"/>
                <a:ea typeface="Calibri" pitchFamily="34" charset="-122"/>
                <a:cs typeface="Calibri" pitchFamily="34" charset="-120"/>
              </a:rPr>
              <a:t>VISION</a:t>
            </a:r>
            <a:endParaRPr lang="en-US" sz="850" dirty="0"/>
          </a:p>
        </p:txBody>
      </p:sp>
      <p:sp>
        <p:nvSpPr>
          <p:cNvPr id="5" name="Text 3"/>
          <p:cNvSpPr txBox="1"/>
          <p:nvPr/>
        </p:nvSpPr>
        <p:spPr>
          <a:xfrm>
            <a:off x="685800" y="777240"/>
            <a:ext cx="10817352" cy="566928"/>
          </a:xfrm>
          <a:prstGeom prst="rect">
            <a:avLst/>
          </a:prstGeom>
          <a:noFill/>
          <a:ln/>
        </p:spPr>
        <p:txBody>
          <a:bodyPr wrap="square" lIns="0" tIns="0" rIns="0" bIns="0" rtlCol="0" anchor="t"/>
          <a:lstStyle/>
          <a:p>
            <a:pPr indent="0" marL="0">
              <a:buNone/>
            </a:pPr>
            <a:r>
              <a:rPr lang="en-US" sz="3200" b="1" dirty="0">
                <a:solidFill>
                  <a:srgbClr val="1E2761"/>
                </a:solidFill>
                <a:latin typeface="Cambria" pitchFamily="34" charset="0"/>
                <a:ea typeface="Cambria" pitchFamily="34" charset="-122"/>
                <a:cs typeface="Cambria" pitchFamily="34" charset="-120"/>
              </a:rPr>
              <a:t>Five more moves, and their effect</a:t>
            </a:r>
            <a:endParaRPr lang="en-US" sz="3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85800" y="1645920"/>
          <a:ext cx="10817352" cy="914400"/>
        </p:xfrm>
        <a:graphic>
          <a:graphicData uri="http://schemas.openxmlformats.org/drawingml/2006/table">
            <a:tbl>
              <a:tblPr/>
              <a:tblGrid>
                <a:gridCol w="2743200"/>
                <a:gridCol w="4206240"/>
                <a:gridCol w="3867912"/>
              </a:tblGrid>
              <a:tr h="530352">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The move</a:t>
                      </a:r>
                      <a:endParaRPr lang="en-US" sz="1150" dirty="0">
                        <a:latin typeface="Calibri" charset="0"/>
                        <a:ea typeface="Calibri" charset="0"/>
                        <a:cs typeface="Calibri" charset="0"/>
                      </a:endParaRPr>
                    </a:p>
                  </a:txBody>
                  <a:tcPr marL="114300" marR="114300" marT="63500" marB="63500" anchor="t">
                    <a:lnL w="12700" cap="flat" cmpd="sng" algn="ctr">
                      <a:solidFill>
                        <a:srgbClr val="D8E0F2"/>
                      </a:solidFill>
                      <a:prstDash val="solid"/>
                      <a:round/>
                      <a:headEnd type="none" w="med" len="med"/>
                      <a:tailEnd type="none" w="med" len="med"/>
                    </a:lnL>
                    <a:lnR w="12700" cap="flat" cmpd="sng" algn="ctr">
                      <a:solidFill>
                        <a:srgbClr val="D8E0F2"/>
                      </a:solidFill>
                      <a:prstDash val="solid"/>
                      <a:round/>
                      <a:headEnd type="none" w="med" len="med"/>
                      <a:tailEnd type="none" w="med" len="med"/>
                    </a:lnR>
                    <a:lnT w="12700" cap="flat" cmpd="sng" algn="ctr">
                      <a:solidFill>
                        <a:srgbClr val="D8E0F2"/>
                      </a:solidFill>
                      <a:prstDash val="solid"/>
                      <a:round/>
                      <a:headEnd type="none" w="med" len="med"/>
                      <a:tailEnd type="none" w="med" len="med"/>
                    </a:lnT>
                    <a:lnB w="12700" cap="flat" cmpd="sng" algn="ctr">
                      <a:solidFill>
                        <a:srgbClr val="D8E0F2"/>
                      </a:solidFill>
                      <a:prstDash val="solid"/>
                      <a:round/>
                      <a:headEnd type="none" w="med" len="med"/>
                      <a:tailEnd type="none" w="med" len="med"/>
                    </a:lnB>
                    <a:solidFill>
                      <a:srgbClr val="1E2761"/>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changes for the user</a:t>
                      </a:r>
                      <a:endParaRPr lang="en-US" sz="1150" dirty="0">
                        <a:latin typeface="Calibri" charset="0"/>
                        <a:ea typeface="Calibri" charset="0"/>
                        <a:cs typeface="Calibri" charset="0"/>
                      </a:endParaRPr>
                    </a:p>
                  </a:txBody>
                  <a:tcPr marL="114300" marR="114300" marT="63500" marB="63500" anchor="t">
                    <a:lnL w="12700" cap="flat" cmpd="sng" algn="ctr">
                      <a:solidFill>
                        <a:srgbClr val="D8E0F2"/>
                      </a:solidFill>
                      <a:prstDash val="solid"/>
                      <a:round/>
                      <a:headEnd type="none" w="med" len="med"/>
                      <a:tailEnd type="none" w="med" len="med"/>
                    </a:lnL>
                    <a:lnR w="12700" cap="flat" cmpd="sng" algn="ctr">
                      <a:solidFill>
                        <a:srgbClr val="D8E0F2"/>
                      </a:solidFill>
                      <a:prstDash val="solid"/>
                      <a:round/>
                      <a:headEnd type="none" w="med" len="med"/>
                      <a:tailEnd type="none" w="med" len="med"/>
                    </a:lnR>
                    <a:lnT w="12700" cap="flat" cmpd="sng" algn="ctr">
                      <a:solidFill>
                        <a:srgbClr val="D8E0F2"/>
                      </a:solidFill>
                      <a:prstDash val="solid"/>
                      <a:round/>
                      <a:headEnd type="none" w="med" len="med"/>
                      <a:tailEnd type="none" w="med" len="med"/>
                    </a:lnT>
                    <a:lnB w="12700" cap="flat" cmpd="sng" algn="ctr">
                      <a:solidFill>
                        <a:srgbClr val="D8E0F2"/>
                      </a:solidFill>
                      <a:prstDash val="solid"/>
                      <a:round/>
                      <a:headEnd type="none" w="med" len="med"/>
                      <a:tailEnd type="none" w="med" len="med"/>
                    </a:lnB>
                    <a:solidFill>
                      <a:srgbClr val="1E2761"/>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Effect on the competitive picture</a:t>
                      </a:r>
                      <a:endParaRPr lang="en-US" sz="1150" dirty="0">
                        <a:latin typeface="Calibri" charset="0"/>
                        <a:ea typeface="Calibri" charset="0"/>
                        <a:cs typeface="Calibri" charset="0"/>
                      </a:endParaRPr>
                    </a:p>
                  </a:txBody>
                  <a:tcPr marL="114300" marR="114300" marT="63500" marB="63500" anchor="t">
                    <a:lnL w="12700" cap="flat" cmpd="sng" algn="ctr">
                      <a:solidFill>
                        <a:srgbClr val="D8E0F2"/>
                      </a:solidFill>
                      <a:prstDash val="solid"/>
                      <a:round/>
                      <a:headEnd type="none" w="med" len="med"/>
                      <a:tailEnd type="none" w="med" len="med"/>
                    </a:lnL>
                    <a:lnR w="12700" cap="flat" cmpd="sng" algn="ctr">
                      <a:solidFill>
                        <a:srgbClr val="D8E0F2"/>
                      </a:solidFill>
                      <a:prstDash val="solid"/>
                      <a:round/>
                      <a:headEnd type="none" w="med" len="med"/>
                      <a:tailEnd type="none" w="med" len="med"/>
                    </a:lnR>
                    <a:lnT w="12700" cap="flat" cmpd="sng" algn="ctr">
                      <a:solidFill>
                        <a:srgbClr val="D8E0F2"/>
                      </a:solidFill>
                      <a:prstDash val="solid"/>
                      <a:round/>
                      <a:headEnd type="none" w="med" len="med"/>
                      <a:tailEnd type="none" w="med" len="med"/>
                    </a:lnT>
                    <a:lnB w="12700" cap="flat" cmpd="sng" algn="ctr">
                      <a:solidFill>
                        <a:srgbClr val="D8E0F2"/>
                      </a:solidFill>
                      <a:prstDash val="solid"/>
                      <a:round/>
                      <a:headEnd type="none" w="med" len="med"/>
                      <a:tailEnd type="none" w="med" len="med"/>
                    </a:lnB>
                    <a:solidFill>
                      <a:srgbClr val="1E2761"/>
                    </a:solidFill>
                  </a:tcPr>
                </a:tc>
              </a:tr>
              <a:tr h="530352">
                <a:tc>
                  <a:txBody>
                    <a:bodyPr/>
                    <a:lstStyle/>
                    <a:p>
                      <a:pPr indent="0" marL="0">
                        <a:buNone/>
                      </a:pPr>
                      <a:r>
                        <a:rPr lang="en-US" sz="1050" dirty="0">
                          <a:solidFill>
                            <a:srgbClr val="3E466B"/>
                          </a:solidFill>
                          <a:latin typeface="Calibri" pitchFamily="34" charset="0"/>
                          <a:ea typeface="Calibri" pitchFamily="34" charset="-122"/>
                          <a:cs typeface="Calibri" pitchFamily="34" charset="-120"/>
                        </a:rPr>
                        <a:t>Ask it anything, grounded</a:t>
                      </a:r>
                      <a:endParaRPr lang="en-US" sz="1050" dirty="0">
                        <a:latin typeface="Calibri" charset="0"/>
                        <a:ea typeface="Calibri" charset="0"/>
                        <a:cs typeface="Calibri" charset="0"/>
                      </a:endParaRPr>
                    </a:p>
                  </a:txBody>
                  <a:tcPr marL="114300" marR="114300" marT="63500" marB="63500" anchor="t">
                    <a:lnL w="12700" cap="flat" cmpd="sng" algn="ctr">
                      <a:solidFill>
                        <a:srgbClr val="D8E0F2"/>
                      </a:solidFill>
                      <a:prstDash val="solid"/>
                      <a:round/>
                      <a:headEnd type="none" w="med" len="med"/>
                      <a:tailEnd type="none" w="med" len="med"/>
                    </a:lnL>
                    <a:lnR w="12700" cap="flat" cmpd="sng" algn="ctr">
                      <a:solidFill>
                        <a:srgbClr val="D8E0F2"/>
                      </a:solidFill>
                      <a:prstDash val="solid"/>
                      <a:round/>
                      <a:headEnd type="none" w="med" len="med"/>
                      <a:tailEnd type="none" w="med" len="med"/>
                    </a:lnR>
                    <a:lnT w="12700" cap="flat" cmpd="sng" algn="ctr">
                      <a:solidFill>
                        <a:srgbClr val="D8E0F2"/>
                      </a:solidFill>
                      <a:prstDash val="solid"/>
                      <a:round/>
                      <a:headEnd type="none" w="med" len="med"/>
                      <a:tailEnd type="none" w="med" len="med"/>
                    </a:lnT>
                    <a:lnB w="12700" cap="flat" cmpd="sng" algn="ctr">
                      <a:solidFill>
                        <a:srgbClr val="D8E0F2"/>
                      </a:solidFill>
                      <a:prstDash val="solid"/>
                      <a:round/>
                      <a:headEnd type="none" w="med" len="med"/>
                      <a:tailEnd type="none" w="med" len="med"/>
                    </a:lnB>
                    <a:solidFill>
                      <a:srgbClr val="FFFFFF"/>
                    </a:solidFill>
                  </a:tcPr>
                </a:tc>
                <a:tc>
                  <a:txBody>
                    <a:bodyPr/>
                    <a:lstStyle/>
                    <a:p>
                      <a:pPr indent="0" marL="0">
                        <a:buNone/>
                      </a:pPr>
                      <a:r>
                        <a:rPr lang="en-US" sz="1050" dirty="0">
                          <a:solidFill>
                            <a:srgbClr val="3E466B"/>
                          </a:solidFill>
                          <a:latin typeface="Calibri" pitchFamily="34" charset="0"/>
                          <a:ea typeface="Calibri" pitchFamily="34" charset="-122"/>
                          <a:cs typeface="Calibri" pitchFamily="34" charset="-120"/>
                        </a:rPr>
                        <a:t>Follow-up questions answered instantly from stored calculations — “what if the discount rate is half a point higher” re-runs the real model</a:t>
                      </a:r>
                      <a:endParaRPr lang="en-US" sz="1050" dirty="0">
                        <a:latin typeface="Calibri" charset="0"/>
                        <a:ea typeface="Calibri" charset="0"/>
                        <a:cs typeface="Calibri" charset="0"/>
                      </a:endParaRPr>
                    </a:p>
                  </a:txBody>
                  <a:tcPr marL="114300" marR="114300" marT="63500" marB="63500" anchor="t">
                    <a:lnL w="12700" cap="flat" cmpd="sng" algn="ctr">
                      <a:solidFill>
                        <a:srgbClr val="D8E0F2"/>
                      </a:solidFill>
                      <a:prstDash val="solid"/>
                      <a:round/>
                      <a:headEnd type="none" w="med" len="med"/>
                      <a:tailEnd type="none" w="med" len="med"/>
                    </a:lnL>
                    <a:lnR w="12700" cap="flat" cmpd="sng" algn="ctr">
                      <a:solidFill>
                        <a:srgbClr val="D8E0F2"/>
                      </a:solidFill>
                      <a:prstDash val="solid"/>
                      <a:round/>
                      <a:headEnd type="none" w="med" len="med"/>
                      <a:tailEnd type="none" w="med" len="med"/>
                    </a:lnR>
                    <a:lnT w="12700" cap="flat" cmpd="sng" algn="ctr">
                      <a:solidFill>
                        <a:srgbClr val="D8E0F2"/>
                      </a:solidFill>
                      <a:prstDash val="solid"/>
                      <a:round/>
                      <a:headEnd type="none" w="med" len="med"/>
                      <a:tailEnd type="none" w="med" len="med"/>
                    </a:lnT>
                    <a:lnB w="12700" cap="flat" cmpd="sng" algn="ctr">
                      <a:solidFill>
                        <a:srgbClr val="D8E0F2"/>
                      </a:solidFill>
                      <a:prstDash val="solid"/>
                      <a:round/>
                      <a:headEnd type="none" w="med" len="med"/>
                      <a:tailEnd type="none" w="med" len="med"/>
                    </a:lnB>
                    <a:solidFill>
                      <a:srgbClr val="FFFFFF"/>
                    </a:solidFill>
                  </a:tcPr>
                </a:tc>
                <a:tc>
                  <a:txBody>
                    <a:bodyPr/>
                    <a:lstStyle/>
                    <a:p>
                      <a:pPr indent="0" marL="0">
                        <a:buNone/>
                      </a:pPr>
                      <a:r>
                        <a:rPr lang="en-US" sz="1050" dirty="0">
                          <a:solidFill>
                            <a:srgbClr val="3E466B"/>
                          </a:solidFill>
                          <a:latin typeface="Calibri" pitchFamily="34" charset="0"/>
                          <a:ea typeface="Calibri" pitchFamily="34" charset="-122"/>
                          <a:cs typeface="Calibri" pitchFamily="34" charset="-120"/>
                        </a:rPr>
                        <a:t>Closes the flexibility gap without breaking the rule. The engine already exists, unused</a:t>
                      </a:r>
                      <a:endParaRPr lang="en-US" sz="1050" dirty="0">
                        <a:latin typeface="Calibri" charset="0"/>
                        <a:ea typeface="Calibri" charset="0"/>
                        <a:cs typeface="Calibri" charset="0"/>
                      </a:endParaRPr>
                    </a:p>
                  </a:txBody>
                  <a:tcPr marL="114300" marR="114300" marT="63500" marB="63500" anchor="t">
                    <a:lnL w="12700" cap="flat" cmpd="sng" algn="ctr">
                      <a:solidFill>
                        <a:srgbClr val="D8E0F2"/>
                      </a:solidFill>
                      <a:prstDash val="solid"/>
                      <a:round/>
                      <a:headEnd type="none" w="med" len="med"/>
                      <a:tailEnd type="none" w="med" len="med"/>
                    </a:lnL>
                    <a:lnR w="12700" cap="flat" cmpd="sng" algn="ctr">
                      <a:solidFill>
                        <a:srgbClr val="D8E0F2"/>
                      </a:solidFill>
                      <a:prstDash val="solid"/>
                      <a:round/>
                      <a:headEnd type="none" w="med" len="med"/>
                      <a:tailEnd type="none" w="med" len="med"/>
                    </a:lnR>
                    <a:lnT w="12700" cap="flat" cmpd="sng" algn="ctr">
                      <a:solidFill>
                        <a:srgbClr val="D8E0F2"/>
                      </a:solidFill>
                      <a:prstDash val="solid"/>
                      <a:round/>
                      <a:headEnd type="none" w="med" len="med"/>
                      <a:tailEnd type="none" w="med" len="med"/>
                    </a:lnT>
                    <a:lnB w="12700" cap="flat" cmpd="sng" algn="ctr">
                      <a:solidFill>
                        <a:srgbClr val="D8E0F2"/>
                      </a:solidFill>
                      <a:prstDash val="solid"/>
                      <a:round/>
                      <a:headEnd type="none" w="med" len="med"/>
                      <a:tailEnd type="none" w="med" len="med"/>
                    </a:lnB>
                    <a:solidFill>
                      <a:srgbClr val="FFFFFF"/>
                    </a:solidFill>
                  </a:tcPr>
                </a:tc>
              </a:tr>
              <a:tr h="530352">
                <a:tc>
                  <a:txBody>
                    <a:bodyPr/>
                    <a:lstStyle/>
                    <a:p>
                      <a:pPr indent="0" marL="0">
                        <a:buNone/>
                      </a:pPr>
                      <a:r>
                        <a:rPr lang="en-US" sz="1050" dirty="0">
                          <a:solidFill>
                            <a:srgbClr val="3E466B"/>
                          </a:solidFill>
                          <a:latin typeface="Calibri" pitchFamily="34" charset="0"/>
                          <a:ea typeface="Calibri" pitchFamily="34" charset="-122"/>
                          <a:cs typeface="Calibri" pitchFamily="34" charset="-120"/>
                        </a:rPr>
                        <a:t>Make trust visible</a:t>
                      </a:r>
                      <a:endParaRPr lang="en-US" sz="1050" dirty="0">
                        <a:latin typeface="Calibri" charset="0"/>
                        <a:ea typeface="Calibri" charset="0"/>
                        <a:cs typeface="Calibri" charset="0"/>
                      </a:endParaRPr>
                    </a:p>
                  </a:txBody>
                  <a:tcPr marL="114300" marR="114300" marT="63500" marB="63500" anchor="t">
                    <a:lnL w="12700" cap="flat" cmpd="sng" algn="ctr">
                      <a:solidFill>
                        <a:srgbClr val="D8E0F2"/>
                      </a:solidFill>
                      <a:prstDash val="solid"/>
                      <a:round/>
                      <a:headEnd type="none" w="med" len="med"/>
                      <a:tailEnd type="none" w="med" len="med"/>
                    </a:lnL>
                    <a:lnR w="12700" cap="flat" cmpd="sng" algn="ctr">
                      <a:solidFill>
                        <a:srgbClr val="D8E0F2"/>
                      </a:solidFill>
                      <a:prstDash val="solid"/>
                      <a:round/>
                      <a:headEnd type="none" w="med" len="med"/>
                      <a:tailEnd type="none" w="med" len="med"/>
                    </a:lnR>
                    <a:lnT w="12700" cap="flat" cmpd="sng" algn="ctr">
                      <a:solidFill>
                        <a:srgbClr val="D8E0F2"/>
                      </a:solidFill>
                      <a:prstDash val="solid"/>
                      <a:round/>
                      <a:headEnd type="none" w="med" len="med"/>
                      <a:tailEnd type="none" w="med" len="med"/>
                    </a:lnT>
                    <a:lnB w="12700" cap="flat" cmpd="sng" algn="ctr">
                      <a:solidFill>
                        <a:srgbClr val="D8E0F2"/>
                      </a:solidFill>
                      <a:prstDash val="solid"/>
                      <a:round/>
                      <a:headEnd type="none" w="med" len="med"/>
                      <a:tailEnd type="none" w="med" len="med"/>
                    </a:lnB>
                    <a:solidFill>
                      <a:srgbClr val="FFFFFF"/>
                    </a:solidFill>
                  </a:tcPr>
                </a:tc>
                <a:tc>
                  <a:txBody>
                    <a:bodyPr/>
                    <a:lstStyle/>
                    <a:p>
                      <a:pPr indent="0" marL="0">
                        <a:buNone/>
                      </a:pPr>
                      <a:r>
                        <a:rPr lang="en-US" sz="1050" dirty="0">
                          <a:solidFill>
                            <a:srgbClr val="3E466B"/>
                          </a:solidFill>
                          <a:latin typeface="Calibri" pitchFamily="34" charset="0"/>
                          <a:ea typeface="Calibri" pitchFamily="34" charset="-122"/>
                          <a:cs typeface="Calibri" pitchFamily="34" charset="-120"/>
                        </a:rPr>
                        <a:t>A verification badge on load and one click from any number to the page it came from</a:t>
                      </a:r>
                      <a:endParaRPr lang="en-US" sz="1050" dirty="0">
                        <a:latin typeface="Calibri" charset="0"/>
                        <a:ea typeface="Calibri" charset="0"/>
                        <a:cs typeface="Calibri" charset="0"/>
                      </a:endParaRPr>
                    </a:p>
                  </a:txBody>
                  <a:tcPr marL="114300" marR="114300" marT="63500" marB="63500" anchor="t">
                    <a:lnL w="12700" cap="flat" cmpd="sng" algn="ctr">
                      <a:solidFill>
                        <a:srgbClr val="D8E0F2"/>
                      </a:solidFill>
                      <a:prstDash val="solid"/>
                      <a:round/>
                      <a:headEnd type="none" w="med" len="med"/>
                      <a:tailEnd type="none" w="med" len="med"/>
                    </a:lnL>
                    <a:lnR w="12700" cap="flat" cmpd="sng" algn="ctr">
                      <a:solidFill>
                        <a:srgbClr val="D8E0F2"/>
                      </a:solidFill>
                      <a:prstDash val="solid"/>
                      <a:round/>
                      <a:headEnd type="none" w="med" len="med"/>
                      <a:tailEnd type="none" w="med" len="med"/>
                    </a:lnR>
                    <a:lnT w="12700" cap="flat" cmpd="sng" algn="ctr">
                      <a:solidFill>
                        <a:srgbClr val="D8E0F2"/>
                      </a:solidFill>
                      <a:prstDash val="solid"/>
                      <a:round/>
                      <a:headEnd type="none" w="med" len="med"/>
                      <a:tailEnd type="none" w="med" len="med"/>
                    </a:lnT>
                    <a:lnB w="12700" cap="flat" cmpd="sng" algn="ctr">
                      <a:solidFill>
                        <a:srgbClr val="D8E0F2"/>
                      </a:solidFill>
                      <a:prstDash val="solid"/>
                      <a:round/>
                      <a:headEnd type="none" w="med" len="med"/>
                      <a:tailEnd type="none" w="med" len="med"/>
                    </a:lnB>
                    <a:solidFill>
                      <a:srgbClr val="FFFFFF"/>
                    </a:solidFill>
                  </a:tcPr>
                </a:tc>
                <a:tc>
                  <a:txBody>
                    <a:bodyPr/>
                    <a:lstStyle/>
                    <a:p>
                      <a:pPr indent="0" marL="0">
                        <a:buNone/>
                      </a:pPr>
                      <a:r>
                        <a:rPr lang="en-US" sz="1050" dirty="0">
                          <a:solidFill>
                            <a:srgbClr val="3E466B"/>
                          </a:solidFill>
                          <a:latin typeface="Calibri" pitchFamily="34" charset="0"/>
                          <a:ea typeface="Calibri" pitchFamily="34" charset="-122"/>
                          <a:cs typeface="Calibri" pitchFamily="34" charset="-120"/>
                        </a:rPr>
                        <a:t>Turns an invisible guarantee into something a user feels in the first ten seconds</a:t>
                      </a:r>
                      <a:endParaRPr lang="en-US" sz="1050" dirty="0">
                        <a:latin typeface="Calibri" charset="0"/>
                        <a:ea typeface="Calibri" charset="0"/>
                        <a:cs typeface="Calibri" charset="0"/>
                      </a:endParaRPr>
                    </a:p>
                  </a:txBody>
                  <a:tcPr marL="114300" marR="114300" marT="63500" marB="63500" anchor="t">
                    <a:lnL w="12700" cap="flat" cmpd="sng" algn="ctr">
                      <a:solidFill>
                        <a:srgbClr val="D8E0F2"/>
                      </a:solidFill>
                      <a:prstDash val="solid"/>
                      <a:round/>
                      <a:headEnd type="none" w="med" len="med"/>
                      <a:tailEnd type="none" w="med" len="med"/>
                    </a:lnL>
                    <a:lnR w="12700" cap="flat" cmpd="sng" algn="ctr">
                      <a:solidFill>
                        <a:srgbClr val="D8E0F2"/>
                      </a:solidFill>
                      <a:prstDash val="solid"/>
                      <a:round/>
                      <a:headEnd type="none" w="med" len="med"/>
                      <a:tailEnd type="none" w="med" len="med"/>
                    </a:lnR>
                    <a:lnT w="12700" cap="flat" cmpd="sng" algn="ctr">
                      <a:solidFill>
                        <a:srgbClr val="D8E0F2"/>
                      </a:solidFill>
                      <a:prstDash val="solid"/>
                      <a:round/>
                      <a:headEnd type="none" w="med" len="med"/>
                      <a:tailEnd type="none" w="med" len="med"/>
                    </a:lnT>
                    <a:lnB w="12700" cap="flat" cmpd="sng" algn="ctr">
                      <a:solidFill>
                        <a:srgbClr val="D8E0F2"/>
                      </a:solidFill>
                      <a:prstDash val="solid"/>
                      <a:round/>
                      <a:headEnd type="none" w="med" len="med"/>
                      <a:tailEnd type="none" w="med" len="med"/>
                    </a:lnB>
                    <a:solidFill>
                      <a:srgbClr val="FFFFFF"/>
                    </a:solidFill>
                  </a:tcPr>
                </a:tc>
              </a:tr>
              <a:tr h="530352">
                <a:tc>
                  <a:txBody>
                    <a:bodyPr/>
                    <a:lstStyle/>
                    <a:p>
                      <a:pPr indent="0" marL="0">
                        <a:buNone/>
                      </a:pPr>
                      <a:r>
                        <a:rPr lang="en-US" sz="1050" dirty="0">
                          <a:solidFill>
                            <a:srgbClr val="3E466B"/>
                          </a:solidFill>
                          <a:latin typeface="Calibri" pitchFamily="34" charset="0"/>
                          <a:ea typeface="Calibri" pitchFamily="34" charset="-122"/>
                          <a:cs typeface="Calibri" pitchFamily="34" charset="-120"/>
                        </a:rPr>
                        <a:t>Print what it already knows</a:t>
                      </a:r>
                      <a:endParaRPr lang="en-US" sz="1050" dirty="0">
                        <a:latin typeface="Calibri" charset="0"/>
                        <a:ea typeface="Calibri" charset="0"/>
                        <a:cs typeface="Calibri" charset="0"/>
                      </a:endParaRPr>
                    </a:p>
                  </a:txBody>
                  <a:tcPr marL="114300" marR="114300" marT="63500" marB="63500" anchor="t">
                    <a:lnL w="12700" cap="flat" cmpd="sng" algn="ctr">
                      <a:solidFill>
                        <a:srgbClr val="D8E0F2"/>
                      </a:solidFill>
                      <a:prstDash val="solid"/>
                      <a:round/>
                      <a:headEnd type="none" w="med" len="med"/>
                      <a:tailEnd type="none" w="med" len="med"/>
                    </a:lnL>
                    <a:lnR w="12700" cap="flat" cmpd="sng" algn="ctr">
                      <a:solidFill>
                        <a:srgbClr val="D8E0F2"/>
                      </a:solidFill>
                      <a:prstDash val="solid"/>
                      <a:round/>
                      <a:headEnd type="none" w="med" len="med"/>
                      <a:tailEnd type="none" w="med" len="med"/>
                    </a:lnR>
                    <a:lnT w="12700" cap="flat" cmpd="sng" algn="ctr">
                      <a:solidFill>
                        <a:srgbClr val="D8E0F2"/>
                      </a:solidFill>
                      <a:prstDash val="solid"/>
                      <a:round/>
                      <a:headEnd type="none" w="med" len="med"/>
                      <a:tailEnd type="none" w="med" len="med"/>
                    </a:lnT>
                    <a:lnB w="12700" cap="flat" cmpd="sng" algn="ctr">
                      <a:solidFill>
                        <a:srgbClr val="D8E0F2"/>
                      </a:solidFill>
                      <a:prstDash val="solid"/>
                      <a:round/>
                      <a:headEnd type="none" w="med" len="med"/>
                      <a:tailEnd type="none" w="med" len="med"/>
                    </a:lnB>
                    <a:solidFill>
                      <a:srgbClr val="FFFFFF"/>
                    </a:solidFill>
                  </a:tcPr>
                </a:tc>
                <a:tc>
                  <a:txBody>
                    <a:bodyPr/>
                    <a:lstStyle/>
                    <a:p>
                      <a:pPr indent="0" marL="0">
                        <a:buNone/>
                      </a:pPr>
                      <a:r>
                        <a:rPr lang="en-US" sz="1050" dirty="0">
                          <a:solidFill>
                            <a:srgbClr val="3E466B"/>
                          </a:solidFill>
                          <a:latin typeface="Calibri" pitchFamily="34" charset="0"/>
                          <a:ea typeface="Calibri" pitchFamily="34" charset="-122"/>
                          <a:cs typeface="Calibri" pitchFamily="34" charset="-120"/>
                        </a:rPr>
                        <a:t>Peer multiples, segment revenue, guidance and a stated view reach the page</a:t>
                      </a:r>
                      <a:endParaRPr lang="en-US" sz="1050" dirty="0">
                        <a:latin typeface="Calibri" charset="0"/>
                        <a:ea typeface="Calibri" charset="0"/>
                        <a:cs typeface="Calibri" charset="0"/>
                      </a:endParaRPr>
                    </a:p>
                  </a:txBody>
                  <a:tcPr marL="114300" marR="114300" marT="63500" marB="63500" anchor="t">
                    <a:lnL w="12700" cap="flat" cmpd="sng" algn="ctr">
                      <a:solidFill>
                        <a:srgbClr val="D8E0F2"/>
                      </a:solidFill>
                      <a:prstDash val="solid"/>
                      <a:round/>
                      <a:headEnd type="none" w="med" len="med"/>
                      <a:tailEnd type="none" w="med" len="med"/>
                    </a:lnL>
                    <a:lnR w="12700" cap="flat" cmpd="sng" algn="ctr">
                      <a:solidFill>
                        <a:srgbClr val="D8E0F2"/>
                      </a:solidFill>
                      <a:prstDash val="solid"/>
                      <a:round/>
                      <a:headEnd type="none" w="med" len="med"/>
                      <a:tailEnd type="none" w="med" len="med"/>
                    </a:lnR>
                    <a:lnT w="12700" cap="flat" cmpd="sng" algn="ctr">
                      <a:solidFill>
                        <a:srgbClr val="D8E0F2"/>
                      </a:solidFill>
                      <a:prstDash val="solid"/>
                      <a:round/>
                      <a:headEnd type="none" w="med" len="med"/>
                      <a:tailEnd type="none" w="med" len="med"/>
                    </a:lnT>
                    <a:lnB w="12700" cap="flat" cmpd="sng" algn="ctr">
                      <a:solidFill>
                        <a:srgbClr val="D8E0F2"/>
                      </a:solidFill>
                      <a:prstDash val="solid"/>
                      <a:round/>
                      <a:headEnd type="none" w="med" len="med"/>
                      <a:tailEnd type="none" w="med" len="med"/>
                    </a:lnB>
                    <a:solidFill>
                      <a:srgbClr val="FFFFFF"/>
                    </a:solidFill>
                  </a:tcPr>
                </a:tc>
                <a:tc>
                  <a:txBody>
                    <a:bodyPr/>
                    <a:lstStyle/>
                    <a:p>
                      <a:pPr indent="0" marL="0">
                        <a:buNone/>
                      </a:pPr>
                      <a:r>
                        <a:rPr lang="en-US" sz="1050" dirty="0">
                          <a:solidFill>
                            <a:srgbClr val="3E466B"/>
                          </a:solidFill>
                          <a:latin typeface="Calibri" pitchFamily="34" charset="0"/>
                          <a:ea typeface="Calibri" pitchFamily="34" charset="-122"/>
                          <a:cs typeface="Calibri" pitchFamily="34" charset="-120"/>
                        </a:rPr>
                        <a:t>Converts today's clear losses into ties. Mostly plumbing, not new capability</a:t>
                      </a:r>
                      <a:endParaRPr lang="en-US" sz="1050" dirty="0">
                        <a:latin typeface="Calibri" charset="0"/>
                        <a:ea typeface="Calibri" charset="0"/>
                        <a:cs typeface="Calibri" charset="0"/>
                      </a:endParaRPr>
                    </a:p>
                  </a:txBody>
                  <a:tcPr marL="114300" marR="114300" marT="63500" marB="63500" anchor="t">
                    <a:lnL w="12700" cap="flat" cmpd="sng" algn="ctr">
                      <a:solidFill>
                        <a:srgbClr val="D8E0F2"/>
                      </a:solidFill>
                      <a:prstDash val="solid"/>
                      <a:round/>
                      <a:headEnd type="none" w="med" len="med"/>
                      <a:tailEnd type="none" w="med" len="med"/>
                    </a:lnL>
                    <a:lnR w="12700" cap="flat" cmpd="sng" algn="ctr">
                      <a:solidFill>
                        <a:srgbClr val="D8E0F2"/>
                      </a:solidFill>
                      <a:prstDash val="solid"/>
                      <a:round/>
                      <a:headEnd type="none" w="med" len="med"/>
                      <a:tailEnd type="none" w="med" len="med"/>
                    </a:lnR>
                    <a:lnT w="12700" cap="flat" cmpd="sng" algn="ctr">
                      <a:solidFill>
                        <a:srgbClr val="D8E0F2"/>
                      </a:solidFill>
                      <a:prstDash val="solid"/>
                      <a:round/>
                      <a:headEnd type="none" w="med" len="med"/>
                      <a:tailEnd type="none" w="med" len="med"/>
                    </a:lnT>
                    <a:lnB w="12700" cap="flat" cmpd="sng" algn="ctr">
                      <a:solidFill>
                        <a:srgbClr val="D8E0F2"/>
                      </a:solidFill>
                      <a:prstDash val="solid"/>
                      <a:round/>
                      <a:headEnd type="none" w="med" len="med"/>
                      <a:tailEnd type="none" w="med" len="med"/>
                    </a:lnB>
                    <a:solidFill>
                      <a:srgbClr val="FFFFFF"/>
                    </a:solidFill>
                  </a:tcPr>
                </a:tc>
              </a:tr>
              <a:tr h="530352">
                <a:tc>
                  <a:txBody>
                    <a:bodyPr/>
                    <a:lstStyle/>
                    <a:p>
                      <a:pPr indent="0" marL="0">
                        <a:buNone/>
                      </a:pPr>
                      <a:r>
                        <a:rPr lang="en-US" sz="1050" dirty="0">
                          <a:solidFill>
                            <a:srgbClr val="3E466B"/>
                          </a:solidFill>
                          <a:latin typeface="Calibri" pitchFamily="34" charset="0"/>
                          <a:ea typeface="Calibri" pitchFamily="34" charset="-122"/>
                          <a:cs typeface="Calibri" pitchFamily="34" charset="-120"/>
                        </a:rPr>
                        <a:t>Reproduce it live</a:t>
                      </a:r>
                      <a:endParaRPr lang="en-US" sz="1050" dirty="0">
                        <a:latin typeface="Calibri" charset="0"/>
                        <a:ea typeface="Calibri" charset="0"/>
                        <a:cs typeface="Calibri" charset="0"/>
                      </a:endParaRPr>
                    </a:p>
                  </a:txBody>
                  <a:tcPr marL="114300" marR="114300" marT="63500" marB="63500" anchor="t">
                    <a:lnL w="12700" cap="flat" cmpd="sng" algn="ctr">
                      <a:solidFill>
                        <a:srgbClr val="D8E0F2"/>
                      </a:solidFill>
                      <a:prstDash val="solid"/>
                      <a:round/>
                      <a:headEnd type="none" w="med" len="med"/>
                      <a:tailEnd type="none" w="med" len="med"/>
                    </a:lnL>
                    <a:lnR w="12700" cap="flat" cmpd="sng" algn="ctr">
                      <a:solidFill>
                        <a:srgbClr val="D8E0F2"/>
                      </a:solidFill>
                      <a:prstDash val="solid"/>
                      <a:round/>
                      <a:headEnd type="none" w="med" len="med"/>
                      <a:tailEnd type="none" w="med" len="med"/>
                    </a:lnR>
                    <a:lnT w="12700" cap="flat" cmpd="sng" algn="ctr">
                      <a:solidFill>
                        <a:srgbClr val="D8E0F2"/>
                      </a:solidFill>
                      <a:prstDash val="solid"/>
                      <a:round/>
                      <a:headEnd type="none" w="med" len="med"/>
                      <a:tailEnd type="none" w="med" len="med"/>
                    </a:lnT>
                    <a:lnB w="12700" cap="flat" cmpd="sng" algn="ctr">
                      <a:solidFill>
                        <a:srgbClr val="D8E0F2"/>
                      </a:solidFill>
                      <a:prstDash val="solid"/>
                      <a:round/>
                      <a:headEnd type="none" w="med" len="med"/>
                      <a:tailEnd type="none" w="med" len="med"/>
                    </a:lnB>
                    <a:solidFill>
                      <a:srgbClr val="FFFFFF"/>
                    </a:solidFill>
                  </a:tcPr>
                </a:tc>
                <a:tc>
                  <a:txBody>
                    <a:bodyPr/>
                    <a:lstStyle/>
                    <a:p>
                      <a:pPr indent="0" marL="0">
                        <a:buNone/>
                      </a:pPr>
                      <a:r>
                        <a:rPr lang="en-US" sz="1050" dirty="0">
                          <a:solidFill>
                            <a:srgbClr val="3E466B"/>
                          </a:solidFill>
                          <a:latin typeface="Calibri" pitchFamily="34" charset="0"/>
                          <a:ea typeface="Calibri" pitchFamily="34" charset="-122"/>
                          <a:cs typeface="Calibri" pitchFamily="34" charset="-120"/>
                        </a:rPr>
                        <a:t>Replay a six-month-old report on stage and show the numbers land identically</a:t>
                      </a:r>
                      <a:endParaRPr lang="en-US" sz="1050" dirty="0">
                        <a:latin typeface="Calibri" charset="0"/>
                        <a:ea typeface="Calibri" charset="0"/>
                        <a:cs typeface="Calibri" charset="0"/>
                      </a:endParaRPr>
                    </a:p>
                  </a:txBody>
                  <a:tcPr marL="114300" marR="114300" marT="63500" marB="63500" anchor="t">
                    <a:lnL w="12700" cap="flat" cmpd="sng" algn="ctr">
                      <a:solidFill>
                        <a:srgbClr val="D8E0F2"/>
                      </a:solidFill>
                      <a:prstDash val="solid"/>
                      <a:round/>
                      <a:headEnd type="none" w="med" len="med"/>
                      <a:tailEnd type="none" w="med" len="med"/>
                    </a:lnL>
                    <a:lnR w="12700" cap="flat" cmpd="sng" algn="ctr">
                      <a:solidFill>
                        <a:srgbClr val="D8E0F2"/>
                      </a:solidFill>
                      <a:prstDash val="solid"/>
                      <a:round/>
                      <a:headEnd type="none" w="med" len="med"/>
                      <a:tailEnd type="none" w="med" len="med"/>
                    </a:lnR>
                    <a:lnT w="12700" cap="flat" cmpd="sng" algn="ctr">
                      <a:solidFill>
                        <a:srgbClr val="D8E0F2"/>
                      </a:solidFill>
                      <a:prstDash val="solid"/>
                      <a:round/>
                      <a:headEnd type="none" w="med" len="med"/>
                      <a:tailEnd type="none" w="med" len="med"/>
                    </a:lnT>
                    <a:lnB w="12700" cap="flat" cmpd="sng" algn="ctr">
                      <a:solidFill>
                        <a:srgbClr val="D8E0F2"/>
                      </a:solidFill>
                      <a:prstDash val="solid"/>
                      <a:round/>
                      <a:headEnd type="none" w="med" len="med"/>
                      <a:tailEnd type="none" w="med" len="med"/>
                    </a:lnB>
                    <a:solidFill>
                      <a:srgbClr val="FFFFFF"/>
                    </a:solidFill>
                  </a:tcPr>
                </a:tc>
                <a:tc>
                  <a:txBody>
                    <a:bodyPr/>
                    <a:lstStyle/>
                    <a:p>
                      <a:pPr indent="0" marL="0">
                        <a:buNone/>
                      </a:pPr>
                      <a:r>
                        <a:rPr lang="en-US" sz="1050" dirty="0">
                          <a:solidFill>
                            <a:srgbClr val="3E466B"/>
                          </a:solidFill>
                          <a:latin typeface="Calibri" pitchFamily="34" charset="0"/>
                          <a:ea typeface="Calibri" pitchFamily="34" charset="-122"/>
                          <a:cs typeface="Calibri" pitchFamily="34" charset="-120"/>
                        </a:rPr>
                        <a:t>Makes the strongest claim a demonstration rather than an assertion</a:t>
                      </a:r>
                      <a:endParaRPr lang="en-US" sz="1050" dirty="0">
                        <a:latin typeface="Calibri" charset="0"/>
                        <a:ea typeface="Calibri" charset="0"/>
                        <a:cs typeface="Calibri" charset="0"/>
                      </a:endParaRPr>
                    </a:p>
                  </a:txBody>
                  <a:tcPr marL="114300" marR="114300" marT="63500" marB="63500" anchor="t">
                    <a:lnL w="12700" cap="flat" cmpd="sng" algn="ctr">
                      <a:solidFill>
                        <a:srgbClr val="D8E0F2"/>
                      </a:solidFill>
                      <a:prstDash val="solid"/>
                      <a:round/>
                      <a:headEnd type="none" w="med" len="med"/>
                      <a:tailEnd type="none" w="med" len="med"/>
                    </a:lnL>
                    <a:lnR w="12700" cap="flat" cmpd="sng" algn="ctr">
                      <a:solidFill>
                        <a:srgbClr val="D8E0F2"/>
                      </a:solidFill>
                      <a:prstDash val="solid"/>
                      <a:round/>
                      <a:headEnd type="none" w="med" len="med"/>
                      <a:tailEnd type="none" w="med" len="med"/>
                    </a:lnR>
                    <a:lnT w="12700" cap="flat" cmpd="sng" algn="ctr">
                      <a:solidFill>
                        <a:srgbClr val="D8E0F2"/>
                      </a:solidFill>
                      <a:prstDash val="solid"/>
                      <a:round/>
                      <a:headEnd type="none" w="med" len="med"/>
                      <a:tailEnd type="none" w="med" len="med"/>
                    </a:lnT>
                    <a:lnB w="12700" cap="flat" cmpd="sng" algn="ctr">
                      <a:solidFill>
                        <a:srgbClr val="D8E0F2"/>
                      </a:solidFill>
                      <a:prstDash val="solid"/>
                      <a:round/>
                      <a:headEnd type="none" w="med" len="med"/>
                      <a:tailEnd type="none" w="med" len="med"/>
                    </a:lnB>
                    <a:solidFill>
                      <a:srgbClr val="FFFFFF"/>
                    </a:solidFill>
                  </a:tcPr>
                </a:tc>
              </a:tr>
              <a:tr h="530352">
                <a:tc>
                  <a:txBody>
                    <a:bodyPr/>
                    <a:lstStyle/>
                    <a:p>
                      <a:pPr indent="0" marL="0">
                        <a:buNone/>
                      </a:pPr>
                      <a:r>
                        <a:rPr lang="en-US" sz="1050" dirty="0">
                          <a:solidFill>
                            <a:srgbClr val="3E466B"/>
                          </a:solidFill>
                          <a:latin typeface="Calibri" pitchFamily="34" charset="0"/>
                          <a:ea typeface="Calibri" pitchFamily="34" charset="-122"/>
                          <a:cs typeface="Calibri" pitchFamily="34" charset="-120"/>
                        </a:rPr>
                        <a:t>Build for the accountable buyer</a:t>
                      </a:r>
                      <a:endParaRPr lang="en-US" sz="1050" dirty="0">
                        <a:latin typeface="Calibri" charset="0"/>
                        <a:ea typeface="Calibri" charset="0"/>
                        <a:cs typeface="Calibri" charset="0"/>
                      </a:endParaRPr>
                    </a:p>
                  </a:txBody>
                  <a:tcPr marL="114300" marR="114300" marT="63500" marB="63500" anchor="t">
                    <a:lnL w="12700" cap="flat" cmpd="sng" algn="ctr">
                      <a:solidFill>
                        <a:srgbClr val="D8E0F2"/>
                      </a:solidFill>
                      <a:prstDash val="solid"/>
                      <a:round/>
                      <a:headEnd type="none" w="med" len="med"/>
                      <a:tailEnd type="none" w="med" len="med"/>
                    </a:lnL>
                    <a:lnR w="12700" cap="flat" cmpd="sng" algn="ctr">
                      <a:solidFill>
                        <a:srgbClr val="D8E0F2"/>
                      </a:solidFill>
                      <a:prstDash val="solid"/>
                      <a:round/>
                      <a:headEnd type="none" w="med" len="med"/>
                      <a:tailEnd type="none" w="med" len="med"/>
                    </a:lnR>
                    <a:lnT w="12700" cap="flat" cmpd="sng" algn="ctr">
                      <a:solidFill>
                        <a:srgbClr val="D8E0F2"/>
                      </a:solidFill>
                      <a:prstDash val="solid"/>
                      <a:round/>
                      <a:headEnd type="none" w="med" len="med"/>
                      <a:tailEnd type="none" w="med" len="med"/>
                    </a:lnT>
                    <a:lnB w="12700" cap="flat" cmpd="sng" algn="ctr">
                      <a:solidFill>
                        <a:srgbClr val="D8E0F2"/>
                      </a:solidFill>
                      <a:prstDash val="solid"/>
                      <a:round/>
                      <a:headEnd type="none" w="med" len="med"/>
                      <a:tailEnd type="none" w="med" len="med"/>
                    </a:lnB>
                    <a:solidFill>
                      <a:srgbClr val="FFFFFF"/>
                    </a:solidFill>
                  </a:tcPr>
                </a:tc>
                <a:tc>
                  <a:txBody>
                    <a:bodyPr/>
                    <a:lstStyle/>
                    <a:p>
                      <a:pPr indent="0" marL="0">
                        <a:buNone/>
                      </a:pPr>
                      <a:r>
                        <a:rPr lang="en-US" sz="1050" dirty="0">
                          <a:solidFill>
                            <a:srgbClr val="3E466B"/>
                          </a:solidFill>
                          <a:latin typeface="Calibri" pitchFamily="34" charset="0"/>
                          <a:ea typeface="Calibri" pitchFamily="34" charset="-122"/>
                          <a:cs typeface="Calibri" pitchFamily="34" charset="-120"/>
                        </a:rPr>
                        <a:t>Authentication, sharing, and an evidence pack built for someone else's scrutiny</a:t>
                      </a:r>
                      <a:endParaRPr lang="en-US" sz="1050" dirty="0">
                        <a:latin typeface="Calibri" charset="0"/>
                        <a:ea typeface="Calibri" charset="0"/>
                        <a:cs typeface="Calibri" charset="0"/>
                      </a:endParaRPr>
                    </a:p>
                  </a:txBody>
                  <a:tcPr marL="114300" marR="114300" marT="63500" marB="63500" anchor="t">
                    <a:lnL w="12700" cap="flat" cmpd="sng" algn="ctr">
                      <a:solidFill>
                        <a:srgbClr val="D8E0F2"/>
                      </a:solidFill>
                      <a:prstDash val="solid"/>
                      <a:round/>
                      <a:headEnd type="none" w="med" len="med"/>
                      <a:tailEnd type="none" w="med" len="med"/>
                    </a:lnL>
                    <a:lnR w="12700" cap="flat" cmpd="sng" algn="ctr">
                      <a:solidFill>
                        <a:srgbClr val="D8E0F2"/>
                      </a:solidFill>
                      <a:prstDash val="solid"/>
                      <a:round/>
                      <a:headEnd type="none" w="med" len="med"/>
                      <a:tailEnd type="none" w="med" len="med"/>
                    </a:lnR>
                    <a:lnT w="12700" cap="flat" cmpd="sng" algn="ctr">
                      <a:solidFill>
                        <a:srgbClr val="D8E0F2"/>
                      </a:solidFill>
                      <a:prstDash val="solid"/>
                      <a:round/>
                      <a:headEnd type="none" w="med" len="med"/>
                      <a:tailEnd type="none" w="med" len="med"/>
                    </a:lnT>
                    <a:lnB w="12700" cap="flat" cmpd="sng" algn="ctr">
                      <a:solidFill>
                        <a:srgbClr val="D8E0F2"/>
                      </a:solidFill>
                      <a:prstDash val="solid"/>
                      <a:round/>
                      <a:headEnd type="none" w="med" len="med"/>
                      <a:tailEnd type="none" w="med" len="med"/>
                    </a:lnB>
                    <a:solidFill>
                      <a:srgbClr val="FFFFFF"/>
                    </a:solidFill>
                  </a:tcPr>
                </a:tc>
                <a:tc>
                  <a:txBody>
                    <a:bodyPr/>
                    <a:lstStyle/>
                    <a:p>
                      <a:pPr indent="0" marL="0">
                        <a:buNone/>
                      </a:pPr>
                      <a:r>
                        <a:rPr lang="en-US" sz="1050" dirty="0">
                          <a:solidFill>
                            <a:srgbClr val="3E466B"/>
                          </a:solidFill>
                          <a:latin typeface="Calibri" pitchFamily="34" charset="0"/>
                          <a:ea typeface="Calibri" pitchFamily="34" charset="-122"/>
                          <a:cs typeface="Calibri" pitchFamily="34" charset="-120"/>
                        </a:rPr>
                        <a:t>Serves the user who actually has a reason to pay: one who must defend the work</a:t>
                      </a:r>
                      <a:endParaRPr lang="en-US" sz="1050" dirty="0">
                        <a:latin typeface="Calibri" charset="0"/>
                        <a:ea typeface="Calibri" charset="0"/>
                        <a:cs typeface="Calibri" charset="0"/>
                      </a:endParaRPr>
                    </a:p>
                  </a:txBody>
                  <a:tcPr marL="114300" marR="114300" marT="63500" marB="63500" anchor="t">
                    <a:lnL w="12700" cap="flat" cmpd="sng" algn="ctr">
                      <a:solidFill>
                        <a:srgbClr val="D8E0F2"/>
                      </a:solidFill>
                      <a:prstDash val="solid"/>
                      <a:round/>
                      <a:headEnd type="none" w="med" len="med"/>
                      <a:tailEnd type="none" w="med" len="med"/>
                    </a:lnL>
                    <a:lnR w="12700" cap="flat" cmpd="sng" algn="ctr">
                      <a:solidFill>
                        <a:srgbClr val="D8E0F2"/>
                      </a:solidFill>
                      <a:prstDash val="solid"/>
                      <a:round/>
                      <a:headEnd type="none" w="med" len="med"/>
                      <a:tailEnd type="none" w="med" len="med"/>
                    </a:lnR>
                    <a:lnT w="12700" cap="flat" cmpd="sng" algn="ctr">
                      <a:solidFill>
                        <a:srgbClr val="D8E0F2"/>
                      </a:solidFill>
                      <a:prstDash val="solid"/>
                      <a:round/>
                      <a:headEnd type="none" w="med" len="med"/>
                      <a:tailEnd type="none" w="med" len="med"/>
                    </a:lnT>
                    <a:lnB w="12700" cap="flat" cmpd="sng" algn="ctr">
                      <a:solidFill>
                        <a:srgbClr val="D8E0F2"/>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685800" y="5394960"/>
            <a:ext cx="10332720" cy="731520"/>
          </a:xfrm>
          <a:prstGeom prst="rect">
            <a:avLst/>
          </a:prstGeom>
          <a:noFill/>
          <a:ln/>
        </p:spPr>
        <p:txBody>
          <a:bodyPr wrap="square" lIns="0" tIns="0" rIns="0" bIns="0" rtlCol="0" anchor="t"/>
          <a:lstStyle/>
          <a:p>
            <a:pPr indent="0" marL="0">
              <a:lnSpc>
                <a:spcPts val="1700"/>
              </a:lnSpc>
              <a:buNone/>
            </a:pPr>
            <a:r>
              <a:rPr lang="en-US" sz="1200" dirty="0">
                <a:solidFill>
                  <a:srgbClr val="3E466B"/>
                </a:solidFill>
                <a:latin typeface="Calibri" pitchFamily="34" charset="0"/>
                <a:ea typeface="Calibri" pitchFamily="34" charset="-122"/>
                <a:cs typeface="Calibri" pitchFamily="34" charset="-120"/>
              </a:rPr>
              <a:t>Together with the monitor, these take the product from “an evidence base you can trust” to “the research you keep”. The first four are scoped and costed at roughly sixty working sessions and £64 of live model spend; the fifth is a deliberate change of who the product is for.</a:t>
            </a:r>
            <a:endParaRPr lang="en-US" sz="1200" dirty="0"/>
          </a:p>
        </p:txBody>
      </p:sp>
      <p:sp>
        <p:nvSpPr>
          <p:cNvPr id="8" name="Text 5"/>
          <p:cNvSpPr txBox="1"/>
          <p:nvPr/>
        </p:nvSpPr>
        <p:spPr>
          <a:xfrm>
            <a:off x="685800" y="6272784"/>
            <a:ext cx="10817352" cy="274320"/>
          </a:xfrm>
          <a:prstGeom prst="rect">
            <a:avLst/>
          </a:prstGeom>
          <a:noFill/>
          <a:ln/>
        </p:spPr>
        <p:txBody>
          <a:bodyPr wrap="square" lIns="0" tIns="0" rIns="0" bIns="0" rtlCol="0" anchor="t"/>
          <a:lstStyle/>
          <a:p>
            <a:pPr indent="0" marL="0">
              <a:buNone/>
            </a:pPr>
            <a:r>
              <a:rPr lang="en-US" sz="950" i="1" dirty="0">
                <a:solidFill>
                  <a:srgbClr val="7B83A6"/>
                </a:solidFill>
                <a:latin typeface="Calibri" pitchFamily="34" charset="0"/>
                <a:ea typeface="Calibri" pitchFamily="34" charset="-122"/>
                <a:cs typeface="Calibri" pitchFamily="34" charset="-120"/>
              </a:rPr>
              <a:t>VISION — from the remediation plan committed 13 September 2026, with targets set before the work starts.</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685800" y="402336"/>
            <a:ext cx="8778240" cy="274320"/>
          </a:xfrm>
          <a:prstGeom prst="rect">
            <a:avLst/>
          </a:prstGeom>
          <a:noFill/>
          <a:ln/>
        </p:spPr>
        <p:txBody>
          <a:bodyPr wrap="square" lIns="0" tIns="0" rIns="0" bIns="0" rtlCol="0" anchor="t"/>
          <a:lstStyle/>
          <a:p>
            <a:pPr indent="0" marL="0">
              <a:buNone/>
            </a:pPr>
            <a:r>
              <a:rPr lang="en-US" sz="1100" b="1" spc="220" kern="0" dirty="0">
                <a:solidFill>
                  <a:srgbClr val="CADCFC"/>
                </a:solidFill>
                <a:latin typeface="Calibri" pitchFamily="34" charset="0"/>
                <a:ea typeface="Calibri" pitchFamily="34" charset="-122"/>
                <a:cs typeface="Calibri" pitchFamily="34" charset="-120"/>
              </a:rPr>
              <a:t>WHAT WE WILL NOT WIN, ON PURPOSE</a:t>
            </a:r>
            <a:endParaRPr lang="en-US" sz="1100" dirty="0"/>
          </a:p>
        </p:txBody>
      </p:sp>
      <p:sp>
        <p:nvSpPr>
          <p:cNvPr id="3" name="Text 1"/>
          <p:cNvSpPr txBox="1"/>
          <p:nvPr/>
        </p:nvSpPr>
        <p:spPr>
          <a:xfrm>
            <a:off x="685800" y="777240"/>
            <a:ext cx="10817352" cy="566928"/>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Three things we concede to the chat</a:t>
            </a:r>
            <a:endParaRPr lang="en-US" sz="3200" dirty="0"/>
          </a:p>
        </p:txBody>
      </p:sp>
      <p:sp>
        <p:nvSpPr>
          <p:cNvPr id="4" name="Shape 2"/>
          <p:cNvSpPr/>
          <p:nvPr/>
        </p:nvSpPr>
        <p:spPr>
          <a:xfrm>
            <a:off x="685800" y="1828800"/>
            <a:ext cx="3383280" cy="2148840"/>
          </a:xfrm>
          <a:prstGeom prst="roundRect">
            <a:avLst>
              <a:gd name="adj" fmla="val 2553"/>
            </a:avLst>
          </a:prstGeom>
          <a:solidFill>
            <a:srgbClr val="26306A"/>
          </a:solidFill>
          <a:ln/>
        </p:spPr>
      </p:sp>
      <p:sp>
        <p:nvSpPr>
          <p:cNvPr id="5" name="Text 3"/>
          <p:cNvSpPr txBox="1"/>
          <p:nvPr/>
        </p:nvSpPr>
        <p:spPr>
          <a:xfrm>
            <a:off x="960120" y="2029968"/>
            <a:ext cx="2834640" cy="640080"/>
          </a:xfrm>
          <a:prstGeom prst="rect">
            <a:avLst/>
          </a:prstGeom>
          <a:noFill/>
          <a:ln/>
        </p:spPr>
        <p:txBody>
          <a:bodyPr wrap="square" lIns="0" tIns="0" rIns="0" bIns="0" rtlCol="0" anchor="t"/>
          <a:lstStyle/>
          <a:p>
            <a:pPr indent="0" marL="0">
              <a:buNone/>
            </a:pPr>
            <a:r>
              <a:rPr lang="en-US" sz="1500" b="1" dirty="0">
                <a:solidFill>
                  <a:srgbClr val="CADCFC"/>
                </a:solidFill>
                <a:latin typeface="Cambria" pitchFamily="34" charset="0"/>
                <a:ea typeface="Cambria" pitchFamily="34" charset="-122"/>
                <a:cs typeface="Cambria" pitchFamily="34" charset="-120"/>
              </a:rPr>
              <a:t>Breadth of commentary</a:t>
            </a:r>
            <a:endParaRPr lang="en-US" sz="1500" dirty="0"/>
          </a:p>
        </p:txBody>
      </p:sp>
      <p:sp>
        <p:nvSpPr>
          <p:cNvPr id="6" name="Text 4"/>
          <p:cNvSpPr txBox="1"/>
          <p:nvPr/>
        </p:nvSpPr>
        <p:spPr>
          <a:xfrm>
            <a:off x="960120" y="2743200"/>
            <a:ext cx="2834640" cy="1097280"/>
          </a:xfrm>
          <a:prstGeom prst="rect">
            <a:avLst/>
          </a:prstGeom>
          <a:noFill/>
          <a:ln/>
        </p:spPr>
        <p:txBody>
          <a:bodyPr wrap="square" lIns="0" tIns="0" rIns="0" bIns="0" rtlCol="0" anchor="t"/>
          <a:lstStyle/>
          <a:p>
            <a:pPr indent="0" marL="0">
              <a:lnSpc>
                <a:spcPts val="1500"/>
              </a:lnSpc>
              <a:buNone/>
            </a:pPr>
            <a:r>
              <a:rPr lang="en-US" sz="1150" dirty="0">
                <a:solidFill>
                  <a:srgbClr val="FFFFFF"/>
                </a:solidFill>
                <a:latin typeface="Calibri" pitchFamily="34" charset="0"/>
                <a:ea typeface="Calibri" pitchFamily="34" charset="-122"/>
                <a:cs typeface="Calibri" pitchFamily="34" charset="-120"/>
              </a:rPr>
              <a:t>Analyst opinion, market narrative, anything outside the filings. Closing it means licensing, and our buyer is not paying for it.</a:t>
            </a:r>
            <a:endParaRPr lang="en-US" sz="1150" dirty="0"/>
          </a:p>
        </p:txBody>
      </p:sp>
      <p:sp>
        <p:nvSpPr>
          <p:cNvPr id="7" name="Shape 5"/>
          <p:cNvSpPr/>
          <p:nvPr/>
        </p:nvSpPr>
        <p:spPr>
          <a:xfrm>
            <a:off x="4389120" y="1828800"/>
            <a:ext cx="3383280" cy="2148840"/>
          </a:xfrm>
          <a:prstGeom prst="roundRect">
            <a:avLst>
              <a:gd name="adj" fmla="val 2553"/>
            </a:avLst>
          </a:prstGeom>
          <a:solidFill>
            <a:srgbClr val="26306A"/>
          </a:solidFill>
          <a:ln/>
        </p:spPr>
      </p:sp>
      <p:sp>
        <p:nvSpPr>
          <p:cNvPr id="8" name="Text 6"/>
          <p:cNvSpPr txBox="1"/>
          <p:nvPr/>
        </p:nvSpPr>
        <p:spPr>
          <a:xfrm>
            <a:off x="4663440" y="2029968"/>
            <a:ext cx="2834640" cy="640080"/>
          </a:xfrm>
          <a:prstGeom prst="rect">
            <a:avLst/>
          </a:prstGeom>
          <a:noFill/>
          <a:ln/>
        </p:spPr>
        <p:txBody>
          <a:bodyPr wrap="square" lIns="0" tIns="0" rIns="0" bIns="0" rtlCol="0" anchor="t"/>
          <a:lstStyle/>
          <a:p>
            <a:pPr indent="0" marL="0">
              <a:buNone/>
            </a:pPr>
            <a:r>
              <a:rPr lang="en-US" sz="1500" b="1" dirty="0">
                <a:solidFill>
                  <a:srgbClr val="CADCFC"/>
                </a:solidFill>
                <a:latin typeface="Cambria" pitchFamily="34" charset="0"/>
                <a:ea typeface="Cambria" pitchFamily="34" charset="-122"/>
                <a:cs typeface="Cambria" pitchFamily="34" charset="-120"/>
              </a:rPr>
              <a:t>Speed on a cold subject</a:t>
            </a:r>
            <a:endParaRPr lang="en-US" sz="1500" dirty="0"/>
          </a:p>
        </p:txBody>
      </p:sp>
      <p:sp>
        <p:nvSpPr>
          <p:cNvPr id="9" name="Text 7"/>
          <p:cNvSpPr txBox="1"/>
          <p:nvPr/>
        </p:nvSpPr>
        <p:spPr>
          <a:xfrm>
            <a:off x="4663440" y="2743200"/>
            <a:ext cx="2834640" cy="1097280"/>
          </a:xfrm>
          <a:prstGeom prst="rect">
            <a:avLst/>
          </a:prstGeom>
          <a:noFill/>
          <a:ln/>
        </p:spPr>
        <p:txBody>
          <a:bodyPr wrap="square" lIns="0" tIns="0" rIns="0" bIns="0" rtlCol="0" anchor="t"/>
          <a:lstStyle/>
          <a:p>
            <a:pPr indent="0" marL="0">
              <a:lnSpc>
                <a:spcPts val="1500"/>
              </a:lnSpc>
              <a:buNone/>
            </a:pPr>
            <a:r>
              <a:rPr lang="en-US" sz="1150" dirty="0">
                <a:solidFill>
                  <a:srgbClr val="FFFFFF"/>
                </a:solidFill>
                <a:latin typeface="Calibri" pitchFamily="34" charset="0"/>
                <a:ea typeface="Calibri" pitchFamily="34" charset="-122"/>
                <a:cs typeface="Calibri" pitchFamily="34" charset="-120"/>
              </a:rPr>
              <a:t>A chat answers a company nobody has researched in minutes. Our guarantees cost time, and we would rather keep the guarantees.</a:t>
            </a:r>
            <a:endParaRPr lang="en-US" sz="1150" dirty="0"/>
          </a:p>
        </p:txBody>
      </p:sp>
      <p:sp>
        <p:nvSpPr>
          <p:cNvPr id="10" name="Shape 8"/>
          <p:cNvSpPr/>
          <p:nvPr/>
        </p:nvSpPr>
        <p:spPr>
          <a:xfrm>
            <a:off x="8092440" y="1828800"/>
            <a:ext cx="3383280" cy="2148840"/>
          </a:xfrm>
          <a:prstGeom prst="roundRect">
            <a:avLst>
              <a:gd name="adj" fmla="val 2553"/>
            </a:avLst>
          </a:prstGeom>
          <a:solidFill>
            <a:srgbClr val="26306A"/>
          </a:solidFill>
          <a:ln/>
        </p:spPr>
      </p:sp>
      <p:sp>
        <p:nvSpPr>
          <p:cNvPr id="11" name="Text 9"/>
          <p:cNvSpPr txBox="1"/>
          <p:nvPr/>
        </p:nvSpPr>
        <p:spPr>
          <a:xfrm>
            <a:off x="8366760" y="2029968"/>
            <a:ext cx="2834640" cy="640080"/>
          </a:xfrm>
          <a:prstGeom prst="rect">
            <a:avLst/>
          </a:prstGeom>
          <a:noFill/>
          <a:ln/>
        </p:spPr>
        <p:txBody>
          <a:bodyPr wrap="square" lIns="0" tIns="0" rIns="0" bIns="0" rtlCol="0" anchor="t"/>
          <a:lstStyle/>
          <a:p>
            <a:pPr indent="0" marL="0">
              <a:buNone/>
            </a:pPr>
            <a:r>
              <a:rPr lang="en-US" sz="1500" b="1" dirty="0">
                <a:solidFill>
                  <a:srgbClr val="CADCFC"/>
                </a:solidFill>
                <a:latin typeface="Cambria" pitchFamily="34" charset="0"/>
                <a:ea typeface="Cambria" pitchFamily="34" charset="-122"/>
                <a:cs typeface="Cambria" pitchFamily="34" charset="-120"/>
              </a:rPr>
              <a:t>Open-ended conversation</a:t>
            </a:r>
            <a:endParaRPr lang="en-US" sz="1500" dirty="0"/>
          </a:p>
        </p:txBody>
      </p:sp>
      <p:sp>
        <p:nvSpPr>
          <p:cNvPr id="12" name="Text 10"/>
          <p:cNvSpPr txBox="1"/>
          <p:nvPr/>
        </p:nvSpPr>
        <p:spPr>
          <a:xfrm>
            <a:off x="8366760" y="2743200"/>
            <a:ext cx="2834640" cy="1097280"/>
          </a:xfrm>
          <a:prstGeom prst="rect">
            <a:avLst/>
          </a:prstGeom>
          <a:noFill/>
          <a:ln/>
        </p:spPr>
        <p:txBody>
          <a:bodyPr wrap="square" lIns="0" tIns="0" rIns="0" bIns="0" rtlCol="0" anchor="t"/>
          <a:lstStyle/>
          <a:p>
            <a:pPr indent="0" marL="0">
              <a:lnSpc>
                <a:spcPts val="1500"/>
              </a:lnSpc>
              <a:buNone/>
            </a:pPr>
            <a:r>
              <a:rPr lang="en-US" sz="1150" dirty="0">
                <a:solidFill>
                  <a:srgbClr val="FFFFFF"/>
                </a:solidFill>
                <a:latin typeface="Calibri" pitchFamily="34" charset="0"/>
                <a:ea typeface="Calibri" pitchFamily="34" charset="-122"/>
                <a:cs typeface="Calibri" pitchFamily="34" charset="-120"/>
              </a:rPr>
              <a:t>A general model will always range wider. We answer narrowly and prove it, which is a different promise.</a:t>
            </a:r>
            <a:endParaRPr lang="en-US" sz="1150" dirty="0"/>
          </a:p>
        </p:txBody>
      </p:sp>
      <p:sp>
        <p:nvSpPr>
          <p:cNvPr id="13" name="Text 11"/>
          <p:cNvSpPr txBox="1"/>
          <p:nvPr/>
        </p:nvSpPr>
        <p:spPr>
          <a:xfrm>
            <a:off x="685800" y="4434840"/>
            <a:ext cx="10332720" cy="822960"/>
          </a:xfrm>
          <a:prstGeom prst="rect">
            <a:avLst/>
          </a:prstGeom>
          <a:noFill/>
          <a:ln/>
        </p:spPr>
        <p:txBody>
          <a:bodyPr wrap="square" lIns="0" tIns="0" rIns="0" bIns="0" rtlCol="0" anchor="t"/>
          <a:lstStyle/>
          <a:p>
            <a:pPr indent="0" marL="0">
              <a:lnSpc>
                <a:spcPts val="2400"/>
              </a:lnSpc>
              <a:buNone/>
            </a:pPr>
            <a:r>
              <a:rPr lang="en-US" sz="1650" i="1" dirty="0">
                <a:solidFill>
                  <a:srgbClr val="CADCFC"/>
                </a:solidFill>
                <a:latin typeface="Cambria" pitchFamily="34" charset="0"/>
                <a:ea typeface="Cambria" pitchFamily="34" charset="-122"/>
                <a:cs typeface="Cambria" pitchFamily="34" charset="-120"/>
              </a:rPr>
              <a:t>A product that claims to beat a frontier model at everything is telling you it has not measured itself. We have, and we publish the losses.</a:t>
            </a:r>
            <a:endParaRPr lang="en-US" sz="1650" dirty="0"/>
          </a:p>
        </p:txBody>
      </p:sp>
      <p:sp>
        <p:nvSpPr>
          <p:cNvPr id="14" name="Text 12"/>
          <p:cNvSpPr txBox="1"/>
          <p:nvPr/>
        </p:nvSpPr>
        <p:spPr>
          <a:xfrm>
            <a:off x="685800" y="6272784"/>
            <a:ext cx="10817352" cy="274320"/>
          </a:xfrm>
          <a:prstGeom prst="rect">
            <a:avLst/>
          </a:prstGeom>
          <a:noFill/>
          <a:ln/>
        </p:spPr>
        <p:txBody>
          <a:bodyPr wrap="square" lIns="0" tIns="0" rIns="0" bIns="0" rtlCol="0" anchor="t"/>
          <a:lstStyle/>
          <a:p>
            <a:pPr indent="0" marL="0">
              <a:buNone/>
            </a:pPr>
            <a:r>
              <a:rPr lang="en-US" sz="950" i="1" dirty="0">
                <a:solidFill>
                  <a:srgbClr val="8FA3D8"/>
                </a:solidFill>
                <a:latin typeface="Calibri" pitchFamily="34" charset="0"/>
                <a:ea typeface="Calibri" pitchFamily="34" charset="-122"/>
                <a:cs typeface="Calibri" pitchFamily="34" charset="-120"/>
              </a:rPr>
              <a:t>The nine blind comparisons we lost are committed to the repository with the rubrics that scored them.</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02336"/>
            <a:ext cx="8778240" cy="274320"/>
          </a:xfrm>
          <a:prstGeom prst="rect">
            <a:avLst/>
          </a:prstGeom>
          <a:noFill/>
          <a:ln/>
        </p:spPr>
        <p:txBody>
          <a:bodyPr wrap="square" lIns="0" tIns="0" rIns="0" bIns="0" rtlCol="0" anchor="t"/>
          <a:lstStyle/>
          <a:p>
            <a:pPr indent="0" marL="0">
              <a:buNone/>
            </a:pPr>
            <a:r>
              <a:rPr lang="en-US" sz="1100" b="1" spc="220" kern="0" dirty="0">
                <a:solidFill>
                  <a:srgbClr val="7B83A6"/>
                </a:solidFill>
                <a:latin typeface="Calibri" pitchFamily="34" charset="0"/>
                <a:ea typeface="Calibri" pitchFamily="34" charset="-122"/>
                <a:cs typeface="Calibri" pitchFamily="34" charset="-120"/>
              </a:rPr>
              <a:t>FURTHER OPPORTUNITIES</a:t>
            </a:r>
            <a:endParaRPr lang="en-US" sz="1100" dirty="0"/>
          </a:p>
        </p:txBody>
      </p:sp>
      <p:sp>
        <p:nvSpPr>
          <p:cNvPr id="3" name="Shape 1"/>
          <p:cNvSpPr/>
          <p:nvPr/>
        </p:nvSpPr>
        <p:spPr>
          <a:xfrm>
            <a:off x="10634472" y="384048"/>
            <a:ext cx="868680" cy="237744"/>
          </a:xfrm>
          <a:prstGeom prst="roundRect">
            <a:avLst>
              <a:gd name="adj" fmla="val 38462"/>
            </a:avLst>
          </a:prstGeom>
          <a:solidFill>
            <a:srgbClr val="7B83A6"/>
          </a:solidFill>
          <a:ln/>
        </p:spPr>
      </p:sp>
      <p:sp>
        <p:nvSpPr>
          <p:cNvPr id="4" name="Text 2"/>
          <p:cNvSpPr txBox="1"/>
          <p:nvPr/>
        </p:nvSpPr>
        <p:spPr>
          <a:xfrm>
            <a:off x="10634472" y="384048"/>
            <a:ext cx="868680" cy="237744"/>
          </a:xfrm>
          <a:prstGeom prst="rect">
            <a:avLst/>
          </a:prstGeom>
          <a:noFill/>
          <a:ln/>
        </p:spPr>
        <p:txBody>
          <a:bodyPr wrap="square" lIns="0" tIns="0" rIns="0" bIns="0" rtlCol="0" anchor="ctr"/>
          <a:lstStyle/>
          <a:p>
            <a:pPr algn="ctr" indent="0" marL="0">
              <a:buNone/>
            </a:pPr>
            <a:r>
              <a:rPr lang="en-US" sz="850" b="1" spc="60" kern="0" dirty="0">
                <a:solidFill>
                  <a:srgbClr val="FFFFFF"/>
                </a:solidFill>
                <a:latin typeface="Calibri" pitchFamily="34" charset="0"/>
                <a:ea typeface="Calibri" pitchFamily="34" charset="-122"/>
                <a:cs typeface="Calibri" pitchFamily="34" charset="-120"/>
              </a:rPr>
              <a:t>IDEAS</a:t>
            </a:r>
            <a:endParaRPr lang="en-US" sz="850" dirty="0"/>
          </a:p>
        </p:txBody>
      </p:sp>
      <p:sp>
        <p:nvSpPr>
          <p:cNvPr id="5" name="Text 3"/>
          <p:cNvSpPr txBox="1"/>
          <p:nvPr/>
        </p:nvSpPr>
        <p:spPr>
          <a:xfrm>
            <a:off x="685800" y="777240"/>
            <a:ext cx="10817352" cy="566928"/>
          </a:xfrm>
          <a:prstGeom prst="rect">
            <a:avLst/>
          </a:prstGeom>
          <a:noFill/>
          <a:ln/>
        </p:spPr>
        <p:txBody>
          <a:bodyPr wrap="square" lIns="0" tIns="0" rIns="0" bIns="0" rtlCol="0" anchor="t"/>
          <a:lstStyle/>
          <a:p>
            <a:pPr indent="0" marL="0">
              <a:buNone/>
            </a:pPr>
            <a:r>
              <a:rPr lang="en-US" sz="3200" b="1" dirty="0">
                <a:solidFill>
                  <a:srgbClr val="1E2761"/>
                </a:solidFill>
                <a:latin typeface="Cambria" pitchFamily="34" charset="0"/>
                <a:ea typeface="Cambria" pitchFamily="34" charset="-122"/>
                <a:cs typeface="Cambria" pitchFamily="34" charset="-120"/>
              </a:rPr>
              <a:t>Six more worth considering</a:t>
            </a:r>
            <a:endParaRPr lang="en-US" sz="3200" dirty="0"/>
          </a:p>
        </p:txBody>
      </p:sp>
      <p:sp>
        <p:nvSpPr>
          <p:cNvPr id="6" name="Text 4"/>
          <p:cNvSpPr txBox="1"/>
          <p:nvPr/>
        </p:nvSpPr>
        <p:spPr>
          <a:xfrm>
            <a:off x="685800" y="1444752"/>
            <a:ext cx="10332720" cy="365760"/>
          </a:xfrm>
          <a:prstGeom prst="rect">
            <a:avLst/>
          </a:prstGeom>
          <a:noFill/>
          <a:ln/>
        </p:spPr>
        <p:txBody>
          <a:bodyPr wrap="square" lIns="0" tIns="0" rIns="0" bIns="0" rtlCol="0" anchor="t"/>
          <a:lstStyle/>
          <a:p>
            <a:pPr indent="0" marL="0">
              <a:lnSpc>
                <a:spcPts val="1700"/>
              </a:lnSpc>
              <a:buNone/>
            </a:pPr>
            <a:r>
              <a:rPr lang="en-US" sz="1250" dirty="0">
                <a:solidFill>
                  <a:srgbClr val="3E466B"/>
                </a:solidFill>
                <a:latin typeface="Calibri" pitchFamily="34" charset="0"/>
                <a:ea typeface="Calibri" pitchFamily="34" charset="-122"/>
                <a:cs typeface="Calibri" pitchFamily="34" charset="-120"/>
              </a:rPr>
              <a:t>Not in the plan, not costed — but each follows naturally from what the architecture already guarantees.</a:t>
            </a:r>
            <a:endParaRPr lang="en-US" sz="1250" dirty="0"/>
          </a:p>
        </p:txBody>
      </p:sp>
      <p:sp>
        <p:nvSpPr>
          <p:cNvPr id="7" name="Shape 5"/>
          <p:cNvSpPr/>
          <p:nvPr/>
        </p:nvSpPr>
        <p:spPr>
          <a:xfrm>
            <a:off x="685800" y="2011680"/>
            <a:ext cx="3291840" cy="1874520"/>
          </a:xfrm>
          <a:prstGeom prst="roundRect">
            <a:avLst>
              <a:gd name="adj" fmla="val 2927"/>
            </a:avLst>
          </a:prstGeom>
          <a:solidFill>
            <a:srgbClr val="F2F5FC"/>
          </a:solidFill>
          <a:ln/>
          <a:effectLst>
            <a:outerShdw sx="100000" sy="100000" kx="0" ky="0" algn="bl" rotWithShape="0" blurRad="152400" dist="38100" dir="5400000">
              <a:srgbClr val="1E2761">
                <a:alpha val="13000"/>
              </a:srgbClr>
            </a:outerShdw>
          </a:effectLst>
        </p:spPr>
      </p:sp>
      <p:sp>
        <p:nvSpPr>
          <p:cNvPr id="8" name="Text 6"/>
          <p:cNvSpPr txBox="1"/>
          <p:nvPr/>
        </p:nvSpPr>
        <p:spPr>
          <a:xfrm>
            <a:off x="960120" y="2176272"/>
            <a:ext cx="2743200" cy="320040"/>
          </a:xfrm>
          <a:prstGeom prst="rect">
            <a:avLst/>
          </a:prstGeom>
          <a:noFill/>
          <a:ln/>
        </p:spPr>
        <p:txBody>
          <a:bodyPr wrap="square" lIns="0" tIns="0" rIns="0" bIns="0" rtlCol="0" anchor="t"/>
          <a:lstStyle/>
          <a:p>
            <a:pPr indent="0" marL="0">
              <a:buNone/>
            </a:pPr>
            <a:r>
              <a:rPr lang="en-US" sz="1400" b="1" dirty="0">
                <a:solidFill>
                  <a:srgbClr val="1E2761"/>
                </a:solidFill>
                <a:latin typeface="Cambria" pitchFamily="34" charset="0"/>
                <a:ea typeface="Cambria" pitchFamily="34" charset="-122"/>
                <a:cs typeface="Cambria" pitchFamily="34" charset="-120"/>
              </a:rPr>
              <a:t>A provable track record</a:t>
            </a:r>
            <a:endParaRPr lang="en-US" sz="1400" dirty="0"/>
          </a:p>
        </p:txBody>
      </p:sp>
      <p:sp>
        <p:nvSpPr>
          <p:cNvPr id="9" name="Text 7"/>
          <p:cNvSpPr txBox="1"/>
          <p:nvPr/>
        </p:nvSpPr>
        <p:spPr>
          <a:xfrm>
            <a:off x="960120" y="2578608"/>
            <a:ext cx="2743200" cy="1188720"/>
          </a:xfrm>
          <a:prstGeom prst="rect">
            <a:avLst/>
          </a:prstGeom>
          <a:noFill/>
          <a:ln/>
        </p:spPr>
        <p:txBody>
          <a:bodyPr wrap="square" lIns="0" tIns="0" rIns="0" bIns="0" rtlCol="0" anchor="t"/>
          <a:lstStyle/>
          <a:p>
            <a:pPr indent="0" marL="0">
              <a:lnSpc>
                <a:spcPts val="1400"/>
              </a:lnSpc>
              <a:buNone/>
            </a:pPr>
            <a:r>
              <a:rPr lang="en-US" sz="1050" dirty="0">
                <a:solidFill>
                  <a:srgbClr val="3E466B"/>
                </a:solidFill>
                <a:latin typeface="Calibri" pitchFamily="34" charset="0"/>
                <a:ea typeface="Calibri" pitchFamily="34" charset="-122"/>
                <a:cs typeface="Calibri" pitchFamily="34" charset="-120"/>
              </a:rPr>
              <a:t>Every report is immutable and hashed, so the views it recorded can be scored against what actually happened — a published, tamper-evident record of being right or wrong. No competitor in this space can offer one.</a:t>
            </a:r>
            <a:endParaRPr lang="en-US" sz="1050" dirty="0"/>
          </a:p>
        </p:txBody>
      </p:sp>
      <p:sp>
        <p:nvSpPr>
          <p:cNvPr id="10" name="Shape 8"/>
          <p:cNvSpPr/>
          <p:nvPr/>
        </p:nvSpPr>
        <p:spPr>
          <a:xfrm>
            <a:off x="4343400" y="2011680"/>
            <a:ext cx="3291840" cy="1874520"/>
          </a:xfrm>
          <a:prstGeom prst="roundRect">
            <a:avLst>
              <a:gd name="adj" fmla="val 2927"/>
            </a:avLst>
          </a:prstGeom>
          <a:solidFill>
            <a:srgbClr val="F2F5FC"/>
          </a:solidFill>
          <a:ln/>
          <a:effectLst>
            <a:outerShdw sx="100000" sy="100000" kx="0" ky="0" algn="bl" rotWithShape="0" blurRad="152400" dist="38100" dir="5400000">
              <a:srgbClr val="1E2761">
                <a:alpha val="13000"/>
              </a:srgbClr>
            </a:outerShdw>
          </a:effectLst>
        </p:spPr>
      </p:sp>
      <p:sp>
        <p:nvSpPr>
          <p:cNvPr id="11" name="Text 9"/>
          <p:cNvSpPr txBox="1"/>
          <p:nvPr/>
        </p:nvSpPr>
        <p:spPr>
          <a:xfrm>
            <a:off x="4617720" y="2176272"/>
            <a:ext cx="2743200" cy="320040"/>
          </a:xfrm>
          <a:prstGeom prst="rect">
            <a:avLst/>
          </a:prstGeom>
          <a:noFill/>
          <a:ln/>
        </p:spPr>
        <p:txBody>
          <a:bodyPr wrap="square" lIns="0" tIns="0" rIns="0" bIns="0" rtlCol="0" anchor="t"/>
          <a:lstStyle/>
          <a:p>
            <a:pPr indent="0" marL="0">
              <a:buNone/>
            </a:pPr>
            <a:r>
              <a:rPr lang="en-US" sz="1400" b="1" dirty="0">
                <a:solidFill>
                  <a:srgbClr val="1E2761"/>
                </a:solidFill>
                <a:latin typeface="Cambria" pitchFamily="34" charset="0"/>
                <a:ea typeface="Cambria" pitchFamily="34" charset="-122"/>
                <a:cs typeface="Cambria" pitchFamily="34" charset="-120"/>
              </a:rPr>
              <a:t>Model portability</a:t>
            </a:r>
            <a:endParaRPr lang="en-US" sz="1400" dirty="0"/>
          </a:p>
        </p:txBody>
      </p:sp>
      <p:sp>
        <p:nvSpPr>
          <p:cNvPr id="12" name="Text 10"/>
          <p:cNvSpPr txBox="1"/>
          <p:nvPr/>
        </p:nvSpPr>
        <p:spPr>
          <a:xfrm>
            <a:off x="4617720" y="2578608"/>
            <a:ext cx="2743200" cy="1188720"/>
          </a:xfrm>
          <a:prstGeom prst="rect">
            <a:avLst/>
          </a:prstGeom>
          <a:noFill/>
          <a:ln/>
        </p:spPr>
        <p:txBody>
          <a:bodyPr wrap="square" lIns="0" tIns="0" rIns="0" bIns="0" rtlCol="0" anchor="t"/>
          <a:lstStyle/>
          <a:p>
            <a:pPr indent="0" marL="0">
              <a:lnSpc>
                <a:spcPts val="1400"/>
              </a:lnSpc>
              <a:buNone/>
            </a:pPr>
            <a:r>
              <a:rPr lang="en-US" sz="1050" dirty="0">
                <a:solidFill>
                  <a:srgbClr val="3E466B"/>
                </a:solidFill>
                <a:latin typeface="Calibri" pitchFamily="34" charset="0"/>
                <a:ea typeface="Calibri" pitchFamily="34" charset="-122"/>
                <a:cs typeface="Calibri" pitchFamily="34" charset="-120"/>
              </a:rPr>
              <a:t>Because arithmetic lives in Python, the language model is swappable. That is a hedge against a supplier's price or policy, and margin that improves as models commoditise.</a:t>
            </a:r>
            <a:endParaRPr lang="en-US" sz="1050" dirty="0"/>
          </a:p>
        </p:txBody>
      </p:sp>
      <p:sp>
        <p:nvSpPr>
          <p:cNvPr id="13" name="Shape 11"/>
          <p:cNvSpPr/>
          <p:nvPr/>
        </p:nvSpPr>
        <p:spPr>
          <a:xfrm>
            <a:off x="8001000" y="2011680"/>
            <a:ext cx="3291840" cy="1874520"/>
          </a:xfrm>
          <a:prstGeom prst="roundRect">
            <a:avLst>
              <a:gd name="adj" fmla="val 2927"/>
            </a:avLst>
          </a:prstGeom>
          <a:solidFill>
            <a:srgbClr val="F2F5FC"/>
          </a:solidFill>
          <a:ln/>
          <a:effectLst>
            <a:outerShdw sx="100000" sy="100000" kx="0" ky="0" algn="bl" rotWithShape="0" blurRad="152400" dist="38100" dir="5400000">
              <a:srgbClr val="1E2761">
                <a:alpha val="13000"/>
              </a:srgbClr>
            </a:outerShdw>
          </a:effectLst>
        </p:spPr>
      </p:sp>
      <p:sp>
        <p:nvSpPr>
          <p:cNvPr id="14" name="Text 12"/>
          <p:cNvSpPr txBox="1"/>
          <p:nvPr/>
        </p:nvSpPr>
        <p:spPr>
          <a:xfrm>
            <a:off x="8275320" y="2176272"/>
            <a:ext cx="2743200" cy="320040"/>
          </a:xfrm>
          <a:prstGeom prst="rect">
            <a:avLst/>
          </a:prstGeom>
          <a:noFill/>
          <a:ln/>
        </p:spPr>
        <p:txBody>
          <a:bodyPr wrap="square" lIns="0" tIns="0" rIns="0" bIns="0" rtlCol="0" anchor="t"/>
          <a:lstStyle/>
          <a:p>
            <a:pPr indent="0" marL="0">
              <a:buNone/>
            </a:pPr>
            <a:r>
              <a:rPr lang="en-US" sz="1400" b="1" dirty="0">
                <a:solidFill>
                  <a:srgbClr val="1E2761"/>
                </a:solidFill>
                <a:latin typeface="Cambria" pitchFamily="34" charset="0"/>
                <a:ea typeface="Cambria" pitchFamily="34" charset="-122"/>
                <a:cs typeface="Cambria" pitchFamily="34" charset="-120"/>
              </a:rPr>
              <a:t>A second-opinion mode</a:t>
            </a:r>
            <a:endParaRPr lang="en-US" sz="1400" dirty="0"/>
          </a:p>
        </p:txBody>
      </p:sp>
      <p:sp>
        <p:nvSpPr>
          <p:cNvPr id="15" name="Text 13"/>
          <p:cNvSpPr txBox="1"/>
          <p:nvPr/>
        </p:nvSpPr>
        <p:spPr>
          <a:xfrm>
            <a:off x="8275320" y="2578608"/>
            <a:ext cx="2743200" cy="1188720"/>
          </a:xfrm>
          <a:prstGeom prst="rect">
            <a:avLst/>
          </a:prstGeom>
          <a:noFill/>
          <a:ln/>
        </p:spPr>
        <p:txBody>
          <a:bodyPr wrap="square" lIns="0" tIns="0" rIns="0" bIns="0" rtlCol="0" anchor="t"/>
          <a:lstStyle/>
          <a:p>
            <a:pPr indent="0" marL="0">
              <a:lnSpc>
                <a:spcPts val="1400"/>
              </a:lnSpc>
              <a:buNone/>
            </a:pPr>
            <a:r>
              <a:rPr lang="en-US" sz="1050" dirty="0">
                <a:solidFill>
                  <a:srgbClr val="3E466B"/>
                </a:solidFill>
                <a:latin typeface="Calibri" pitchFamily="34" charset="0"/>
                <a:ea typeface="Calibri" pitchFamily="34" charset="-122"/>
                <a:cs typeface="Calibri" pitchFamily="34" charset="-120"/>
              </a:rPr>
              <a:t>Run a brief through both the platform and a raw chat, then diff them and show exactly where they disagree. It turns the competitor into a feature.</a:t>
            </a:r>
            <a:endParaRPr lang="en-US" sz="1050" dirty="0"/>
          </a:p>
        </p:txBody>
      </p:sp>
      <p:sp>
        <p:nvSpPr>
          <p:cNvPr id="16" name="Shape 14"/>
          <p:cNvSpPr/>
          <p:nvPr/>
        </p:nvSpPr>
        <p:spPr>
          <a:xfrm>
            <a:off x="685800" y="4114800"/>
            <a:ext cx="3291840" cy="1874520"/>
          </a:xfrm>
          <a:prstGeom prst="roundRect">
            <a:avLst>
              <a:gd name="adj" fmla="val 2927"/>
            </a:avLst>
          </a:prstGeom>
          <a:solidFill>
            <a:srgbClr val="F2F5FC"/>
          </a:solidFill>
          <a:ln/>
          <a:effectLst>
            <a:outerShdw sx="100000" sy="100000" kx="0" ky="0" algn="bl" rotWithShape="0" blurRad="152400" dist="38100" dir="5400000">
              <a:srgbClr val="1E2761">
                <a:alpha val="13000"/>
              </a:srgbClr>
            </a:outerShdw>
          </a:effectLst>
        </p:spPr>
      </p:sp>
      <p:sp>
        <p:nvSpPr>
          <p:cNvPr id="17" name="Text 15"/>
          <p:cNvSpPr txBox="1"/>
          <p:nvPr/>
        </p:nvSpPr>
        <p:spPr>
          <a:xfrm>
            <a:off x="960120" y="4279392"/>
            <a:ext cx="2743200" cy="320040"/>
          </a:xfrm>
          <a:prstGeom prst="rect">
            <a:avLst/>
          </a:prstGeom>
          <a:noFill/>
          <a:ln/>
        </p:spPr>
        <p:txBody>
          <a:bodyPr wrap="square" lIns="0" tIns="0" rIns="0" bIns="0" rtlCol="0" anchor="t"/>
          <a:lstStyle/>
          <a:p>
            <a:pPr indent="0" marL="0">
              <a:buNone/>
            </a:pPr>
            <a:r>
              <a:rPr lang="en-US" sz="1400" b="1" dirty="0">
                <a:solidFill>
                  <a:srgbClr val="1E2761"/>
                </a:solidFill>
                <a:latin typeface="Cambria" pitchFamily="34" charset="0"/>
                <a:ea typeface="Cambria" pitchFamily="34" charset="-122"/>
                <a:cs typeface="Cambria" pitchFamily="34" charset="-120"/>
              </a:rPr>
              <a:t>Fixed-price research</a:t>
            </a:r>
            <a:endParaRPr lang="en-US" sz="1400" dirty="0"/>
          </a:p>
        </p:txBody>
      </p:sp>
      <p:sp>
        <p:nvSpPr>
          <p:cNvPr id="18" name="Text 16"/>
          <p:cNvSpPr txBox="1"/>
          <p:nvPr/>
        </p:nvSpPr>
        <p:spPr>
          <a:xfrm>
            <a:off x="960120" y="4681728"/>
            <a:ext cx="2743200" cy="1188720"/>
          </a:xfrm>
          <a:prstGeom prst="rect">
            <a:avLst/>
          </a:prstGeom>
          <a:noFill/>
          <a:ln/>
        </p:spPr>
        <p:txBody>
          <a:bodyPr wrap="square" lIns="0" tIns="0" rIns="0" bIns="0" rtlCol="0" anchor="t"/>
          <a:lstStyle/>
          <a:p>
            <a:pPr indent="0" marL="0">
              <a:lnSpc>
                <a:spcPts val="1400"/>
              </a:lnSpc>
              <a:buNone/>
            </a:pPr>
            <a:r>
              <a:rPr lang="en-US" sz="1050" dirty="0">
                <a:solidFill>
                  <a:srgbClr val="3E466B"/>
                </a:solidFill>
                <a:latin typeface="Calibri" pitchFamily="34" charset="0"/>
                <a:ea typeface="Calibri" pitchFamily="34" charset="-122"/>
                <a:cs typeface="Calibri" pitchFamily="34" charset="-120"/>
              </a:rPr>
              <a:t>Because cost is bounded in code rather than estimated, a flat price per report can be offered with confidence a metered competitor cannot match.</a:t>
            </a:r>
            <a:endParaRPr lang="en-US" sz="1050" dirty="0"/>
          </a:p>
        </p:txBody>
      </p:sp>
      <p:sp>
        <p:nvSpPr>
          <p:cNvPr id="19" name="Shape 17"/>
          <p:cNvSpPr/>
          <p:nvPr/>
        </p:nvSpPr>
        <p:spPr>
          <a:xfrm>
            <a:off x="4343400" y="4114800"/>
            <a:ext cx="3291840" cy="1874520"/>
          </a:xfrm>
          <a:prstGeom prst="roundRect">
            <a:avLst>
              <a:gd name="adj" fmla="val 2927"/>
            </a:avLst>
          </a:prstGeom>
          <a:solidFill>
            <a:srgbClr val="F2F5FC"/>
          </a:solidFill>
          <a:ln/>
          <a:effectLst>
            <a:outerShdw sx="100000" sy="100000" kx="0" ky="0" algn="bl" rotWithShape="0" blurRad="152400" dist="38100" dir="5400000">
              <a:srgbClr val="1E2761">
                <a:alpha val="13000"/>
              </a:srgbClr>
            </a:outerShdw>
          </a:effectLst>
        </p:spPr>
      </p:sp>
      <p:sp>
        <p:nvSpPr>
          <p:cNvPr id="20" name="Text 18"/>
          <p:cNvSpPr txBox="1"/>
          <p:nvPr/>
        </p:nvSpPr>
        <p:spPr>
          <a:xfrm>
            <a:off x="4617720" y="4279392"/>
            <a:ext cx="2743200" cy="320040"/>
          </a:xfrm>
          <a:prstGeom prst="rect">
            <a:avLst/>
          </a:prstGeom>
          <a:noFill/>
          <a:ln/>
        </p:spPr>
        <p:txBody>
          <a:bodyPr wrap="square" lIns="0" tIns="0" rIns="0" bIns="0" rtlCol="0" anchor="t"/>
          <a:lstStyle/>
          <a:p>
            <a:pPr indent="0" marL="0">
              <a:buNone/>
            </a:pPr>
            <a:r>
              <a:rPr lang="en-US" sz="1400" b="1" dirty="0">
                <a:solidFill>
                  <a:srgbClr val="1E2761"/>
                </a:solidFill>
                <a:latin typeface="Cambria" pitchFamily="34" charset="0"/>
                <a:ea typeface="Cambria" pitchFamily="34" charset="-122"/>
                <a:cs typeface="Cambria" pitchFamily="34" charset="-120"/>
              </a:rPr>
              <a:t>Breadth by filing type</a:t>
            </a:r>
            <a:endParaRPr lang="en-US" sz="1400" dirty="0"/>
          </a:p>
        </p:txBody>
      </p:sp>
      <p:sp>
        <p:nvSpPr>
          <p:cNvPr id="21" name="Text 19"/>
          <p:cNvSpPr txBox="1"/>
          <p:nvPr/>
        </p:nvSpPr>
        <p:spPr>
          <a:xfrm>
            <a:off x="4617720" y="4681728"/>
            <a:ext cx="2743200" cy="1188720"/>
          </a:xfrm>
          <a:prstGeom prst="rect">
            <a:avLst/>
          </a:prstGeom>
          <a:noFill/>
          <a:ln/>
        </p:spPr>
        <p:txBody>
          <a:bodyPr wrap="square" lIns="0" tIns="0" rIns="0" bIns="0" rtlCol="0" anchor="t"/>
          <a:lstStyle/>
          <a:p>
            <a:pPr indent="0" marL="0">
              <a:lnSpc>
                <a:spcPts val="1400"/>
              </a:lnSpc>
              <a:buNone/>
            </a:pPr>
            <a:r>
              <a:rPr lang="en-US" sz="1050" dirty="0">
                <a:solidFill>
                  <a:srgbClr val="3E466B"/>
                </a:solidFill>
                <a:latin typeface="Calibri" pitchFamily="34" charset="0"/>
                <a:ea typeface="Calibri" pitchFamily="34" charset="-122"/>
                <a:cs typeface="Calibri" pitchFamily="34" charset="-120"/>
              </a:rPr>
              <a:t>The cheapest coverage win is not new countries but new documents — S-1s, 8-K exhibits, 13F holdings — all reachable through a source already wired.</a:t>
            </a:r>
            <a:endParaRPr lang="en-US" sz="1050" dirty="0"/>
          </a:p>
        </p:txBody>
      </p:sp>
      <p:sp>
        <p:nvSpPr>
          <p:cNvPr id="22" name="Shape 20"/>
          <p:cNvSpPr/>
          <p:nvPr/>
        </p:nvSpPr>
        <p:spPr>
          <a:xfrm>
            <a:off x="8001000" y="4114800"/>
            <a:ext cx="3291840" cy="1874520"/>
          </a:xfrm>
          <a:prstGeom prst="roundRect">
            <a:avLst>
              <a:gd name="adj" fmla="val 2927"/>
            </a:avLst>
          </a:prstGeom>
          <a:solidFill>
            <a:srgbClr val="F2F5FC"/>
          </a:solidFill>
          <a:ln/>
          <a:effectLst>
            <a:outerShdw sx="100000" sy="100000" kx="0" ky="0" algn="bl" rotWithShape="0" blurRad="152400" dist="38100" dir="5400000">
              <a:srgbClr val="1E2761">
                <a:alpha val="13000"/>
              </a:srgbClr>
            </a:outerShdw>
          </a:effectLst>
        </p:spPr>
      </p:sp>
      <p:sp>
        <p:nvSpPr>
          <p:cNvPr id="23" name="Text 21"/>
          <p:cNvSpPr txBox="1"/>
          <p:nvPr/>
        </p:nvSpPr>
        <p:spPr>
          <a:xfrm>
            <a:off x="8275320" y="4279392"/>
            <a:ext cx="2743200" cy="320040"/>
          </a:xfrm>
          <a:prstGeom prst="rect">
            <a:avLst/>
          </a:prstGeom>
          <a:noFill/>
          <a:ln/>
        </p:spPr>
        <p:txBody>
          <a:bodyPr wrap="square" lIns="0" tIns="0" rIns="0" bIns="0" rtlCol="0" anchor="t"/>
          <a:lstStyle/>
          <a:p>
            <a:pPr indent="0" marL="0">
              <a:buNone/>
            </a:pPr>
            <a:r>
              <a:rPr lang="en-US" sz="1400" b="1" dirty="0">
                <a:solidFill>
                  <a:srgbClr val="1E2761"/>
                </a:solidFill>
                <a:latin typeface="Cambria" pitchFamily="34" charset="0"/>
                <a:ea typeface="Cambria" pitchFamily="34" charset="-122"/>
                <a:cs typeface="Cambria" pitchFamily="34" charset="-120"/>
              </a:rPr>
              <a:t>A methodology library</a:t>
            </a:r>
            <a:endParaRPr lang="en-US" sz="1400" dirty="0"/>
          </a:p>
        </p:txBody>
      </p:sp>
      <p:sp>
        <p:nvSpPr>
          <p:cNvPr id="24" name="Text 22"/>
          <p:cNvSpPr txBox="1"/>
          <p:nvPr/>
        </p:nvSpPr>
        <p:spPr>
          <a:xfrm>
            <a:off x="8275320" y="4681728"/>
            <a:ext cx="2743200" cy="1188720"/>
          </a:xfrm>
          <a:prstGeom prst="rect">
            <a:avLst/>
          </a:prstGeom>
          <a:noFill/>
          <a:ln/>
        </p:spPr>
        <p:txBody>
          <a:bodyPr wrap="square" lIns="0" tIns="0" rIns="0" bIns="0" rtlCol="0" anchor="t"/>
          <a:lstStyle/>
          <a:p>
            <a:pPr indent="0" marL="0">
              <a:lnSpc>
                <a:spcPts val="1400"/>
              </a:lnSpc>
              <a:buNone/>
            </a:pPr>
            <a:r>
              <a:rPr lang="en-US" sz="1050" dirty="0">
                <a:solidFill>
                  <a:srgbClr val="3E466B"/>
                </a:solidFill>
                <a:latin typeface="Calibri" pitchFamily="34" charset="0"/>
                <a:ea typeface="Calibri" pitchFamily="34" charset="-122"/>
                <a:cs typeface="Calibri" pitchFamily="34" charset="-120"/>
              </a:rPr>
              <a:t>User-written sections are additive-only and attack-tested. A shared library of methods — a screen, a checklist, a house style — is a network effect the safety model already permits.</a:t>
            </a:r>
            <a:endParaRPr lang="en-US" sz="1050" dirty="0"/>
          </a:p>
        </p:txBody>
      </p:sp>
      <p:sp>
        <p:nvSpPr>
          <p:cNvPr id="25" name="Text 23"/>
          <p:cNvSpPr txBox="1"/>
          <p:nvPr/>
        </p:nvSpPr>
        <p:spPr>
          <a:xfrm>
            <a:off x="685800" y="6272784"/>
            <a:ext cx="10817352" cy="274320"/>
          </a:xfrm>
          <a:prstGeom prst="rect">
            <a:avLst/>
          </a:prstGeom>
          <a:noFill/>
          <a:ln/>
        </p:spPr>
        <p:txBody>
          <a:bodyPr wrap="square" lIns="0" tIns="0" rIns="0" bIns="0" rtlCol="0" anchor="t"/>
          <a:lstStyle/>
          <a:p>
            <a:pPr indent="0" marL="0">
              <a:buNone/>
            </a:pPr>
            <a:r>
              <a:rPr lang="en-US" sz="950" i="1" dirty="0">
                <a:solidFill>
                  <a:srgbClr val="7B83A6"/>
                </a:solidFill>
                <a:latin typeface="Calibri" pitchFamily="34" charset="0"/>
                <a:ea typeface="Calibri" pitchFamily="34" charset="-122"/>
                <a:cs typeface="Calibri" pitchFamily="34" charset="-120"/>
              </a:rPr>
              <a:t>IDEAS — unscoped. Listed because each is cheap relative to what it would return, not because it is planned.</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685800" y="402336"/>
            <a:ext cx="8778240" cy="274320"/>
          </a:xfrm>
          <a:prstGeom prst="rect">
            <a:avLst/>
          </a:prstGeom>
          <a:noFill/>
          <a:ln/>
        </p:spPr>
        <p:txBody>
          <a:bodyPr wrap="square" lIns="0" tIns="0" rIns="0" bIns="0" rtlCol="0" anchor="t"/>
          <a:lstStyle/>
          <a:p>
            <a:pPr indent="0" marL="0">
              <a:buNone/>
            </a:pPr>
            <a:r>
              <a:rPr lang="en-US" sz="1100" b="1" spc="220" kern="0" dirty="0">
                <a:solidFill>
                  <a:srgbClr val="CADCFC"/>
                </a:solidFill>
                <a:latin typeface="Calibri" pitchFamily="34" charset="0"/>
                <a:ea typeface="Calibri" pitchFamily="34" charset="-122"/>
                <a:cs typeface="Calibri" pitchFamily="34" charset="-120"/>
              </a:rPr>
              <a:t>IN ONE LINE</a:t>
            </a:r>
            <a:endParaRPr lang="en-US" sz="1100" dirty="0"/>
          </a:p>
        </p:txBody>
      </p:sp>
      <p:sp>
        <p:nvSpPr>
          <p:cNvPr id="3" name="Text 1"/>
          <p:cNvSpPr txBox="1"/>
          <p:nvPr/>
        </p:nvSpPr>
        <p:spPr>
          <a:xfrm>
            <a:off x="685800" y="1417320"/>
            <a:ext cx="10817352" cy="1554480"/>
          </a:xfrm>
          <a:prstGeom prst="rect">
            <a:avLst/>
          </a:prstGeom>
          <a:noFill/>
          <a:ln/>
        </p:spPr>
        <p:txBody>
          <a:bodyPr wrap="square" lIns="0" tIns="0" rIns="0" bIns="0" rtlCol="0" anchor="t"/>
          <a:lstStyle/>
          <a:p>
            <a:pPr indent="0" marL="0">
              <a:lnSpc>
                <a:spcPts val="4400"/>
              </a:lnSpc>
              <a:buNone/>
            </a:pPr>
            <a:r>
              <a:rPr lang="en-US" sz="3000" b="1" dirty="0">
                <a:solidFill>
                  <a:srgbClr val="CADCFC"/>
                </a:solidFill>
                <a:latin typeface="Cambria" pitchFamily="34" charset="0"/>
                <a:ea typeface="Cambria" pitchFamily="34" charset="-122"/>
                <a:cs typeface="Cambria" pitchFamily="34" charset="-120"/>
              </a:rPr>
              <a:t>A chat gives you an answer you have to trust.</a:t>
            </a:r>
            <a:endParaRPr lang="en-US" sz="3000" dirty="0"/>
          </a:p>
          <a:p>
            <a:pPr indent="0" marL="0">
              <a:lnSpc>
                <a:spcPts val="4400"/>
              </a:lnSpc>
              <a:buNone/>
            </a:pPr>
            <a:r>
              <a:rPr lang="en-US" sz="3000" b="1" dirty="0">
                <a:solidFill>
                  <a:srgbClr val="FFFFFF"/>
                </a:solidFill>
                <a:latin typeface="Cambria" pitchFamily="34" charset="0"/>
                <a:ea typeface="Cambria" pitchFamily="34" charset="-122"/>
                <a:cs typeface="Cambria" pitchFamily="34" charset="-120"/>
              </a:rPr>
              <a:t>This gives you research you can keep.</a:t>
            </a:r>
            <a:endParaRPr lang="en-US" sz="3000" dirty="0"/>
          </a:p>
        </p:txBody>
      </p:sp>
      <p:sp>
        <p:nvSpPr>
          <p:cNvPr id="4" name="Text 2"/>
          <p:cNvSpPr txBox="1"/>
          <p:nvPr/>
        </p:nvSpPr>
        <p:spPr>
          <a:xfrm>
            <a:off x="685800" y="3200400"/>
            <a:ext cx="10332720" cy="914400"/>
          </a:xfrm>
          <a:prstGeom prst="rect">
            <a:avLst/>
          </a:prstGeom>
          <a:noFill/>
          <a:ln/>
        </p:spPr>
        <p:txBody>
          <a:bodyPr wrap="square" lIns="0" tIns="0" rIns="0" bIns="0" rtlCol="0" anchor="t"/>
          <a:lstStyle/>
          <a:p>
            <a:pPr indent="0" marL="0">
              <a:lnSpc>
                <a:spcPts val="1700"/>
              </a:lnSpc>
              <a:buNone/>
            </a:pPr>
            <a:r>
              <a:rPr lang="en-US" sz="1350" dirty="0">
                <a:solidFill>
                  <a:srgbClr val="CADCFC"/>
                </a:solidFill>
                <a:latin typeface="Calibri" pitchFamily="34" charset="0"/>
                <a:ea typeface="Calibri" pitchFamily="34" charset="-122"/>
                <a:cs typeface="Calibri" pitchFamily="34" charset="-120"/>
              </a:rPr>
              <a:t>Built and audited: the chain, the arithmetic, the cost ceiling, the refusals. Scoped and costed: the figures it withholds, the view it does not state, the bank it cannot research. Designed and not yet built: the monitor that turns a report into a position you hold.</a:t>
            </a:r>
            <a:endParaRPr lang="en-US" sz="1350" dirty="0"/>
          </a:p>
        </p:txBody>
      </p:sp>
      <p:sp>
        <p:nvSpPr>
          <p:cNvPr id="5" name="Shape 3"/>
          <p:cNvSpPr/>
          <p:nvPr/>
        </p:nvSpPr>
        <p:spPr>
          <a:xfrm>
            <a:off x="685800" y="4343400"/>
            <a:ext cx="10817352" cy="1371600"/>
          </a:xfrm>
          <a:prstGeom prst="roundRect">
            <a:avLst>
              <a:gd name="adj" fmla="val 4000"/>
            </a:avLst>
          </a:prstGeom>
          <a:solidFill>
            <a:srgbClr val="26306A"/>
          </a:solidFill>
          <a:ln/>
        </p:spPr>
      </p:sp>
      <p:sp>
        <p:nvSpPr>
          <p:cNvPr id="6" name="Text 4"/>
          <p:cNvSpPr txBox="1"/>
          <p:nvPr/>
        </p:nvSpPr>
        <p:spPr>
          <a:xfrm>
            <a:off x="1005840" y="4526280"/>
            <a:ext cx="5486400" cy="292608"/>
          </a:xfrm>
          <a:prstGeom prst="rect">
            <a:avLst/>
          </a:prstGeom>
          <a:noFill/>
          <a:ln/>
        </p:spPr>
        <p:txBody>
          <a:bodyPr wrap="square" lIns="0" tIns="0" rIns="0" bIns="0" rtlCol="0" anchor="t"/>
          <a:lstStyle/>
          <a:p>
            <a:pPr indent="0" marL="0">
              <a:buNone/>
            </a:pPr>
            <a:r>
              <a:rPr lang="en-US" sz="1100" b="1" spc="140" kern="0" dirty="0">
                <a:solidFill>
                  <a:srgbClr val="CADCFC"/>
                </a:solidFill>
                <a:latin typeface="Calibri" pitchFamily="34" charset="0"/>
                <a:ea typeface="Calibri" pitchFamily="34" charset="-122"/>
                <a:cs typeface="Calibri" pitchFamily="34" charset="-120"/>
              </a:rPr>
              <a:t>Where the money goes</a:t>
            </a:r>
            <a:endParaRPr lang="en-US" sz="1100" dirty="0"/>
          </a:p>
        </p:txBody>
      </p:sp>
      <p:sp>
        <p:nvSpPr>
          <p:cNvPr id="7" name="Text 5"/>
          <p:cNvSpPr txBox="1"/>
          <p:nvPr/>
        </p:nvSpPr>
        <p:spPr>
          <a:xfrm>
            <a:off x="1005840" y="4919472"/>
            <a:ext cx="10149840" cy="731520"/>
          </a:xfrm>
          <a:prstGeom prst="rect">
            <a:avLst/>
          </a:prstGeom>
          <a:noFill/>
          <a:ln/>
        </p:spPr>
        <p:txBody>
          <a:bodyPr wrap="square" lIns="0" tIns="0" rIns="0" bIns="0" rtlCol="0" anchor="t"/>
          <a:lstStyle/>
          <a:p>
            <a:pPr indent="0" marL="0">
              <a:lnSpc>
                <a:spcPts val="1800"/>
              </a:lnSpc>
              <a:buNone/>
            </a:pPr>
            <a:r>
              <a:rPr lang="en-US" sz="1250" dirty="0">
                <a:solidFill>
                  <a:srgbClr val="FFFFFF"/>
                </a:solidFill>
                <a:latin typeface="Calibri" pitchFamily="34" charset="0"/>
                <a:ea typeface="Calibri" pitchFamily="34" charset="-122"/>
                <a:cs typeface="Calibri" pitchFamily="34" charset="-120"/>
              </a:rPr>
              <a:t>The monitor and the standing record   ·   the figures the report already computes but never prints   ·   a stated view   ·   and the authentication and sharing that let somebody other than its author use it.</a:t>
            </a:r>
            <a:endParaRPr lang="en-US" sz="1250" dirty="0"/>
          </a:p>
        </p:txBody>
      </p:sp>
      <p:sp>
        <p:nvSpPr>
          <p:cNvPr id="8" name="Text 6"/>
          <p:cNvSpPr txBox="1"/>
          <p:nvPr/>
        </p:nvSpPr>
        <p:spPr>
          <a:xfrm>
            <a:off x="685800" y="6272784"/>
            <a:ext cx="10817352" cy="274320"/>
          </a:xfrm>
          <a:prstGeom prst="rect">
            <a:avLst/>
          </a:prstGeom>
          <a:noFill/>
          <a:ln/>
        </p:spPr>
        <p:txBody>
          <a:bodyPr wrap="square" lIns="0" tIns="0" rIns="0" bIns="0" rtlCol="0" anchor="t"/>
          <a:lstStyle/>
          <a:p>
            <a:pPr indent="0" marL="0">
              <a:buNone/>
            </a:pPr>
            <a:r>
              <a:rPr lang="en-US" sz="950" i="1" dirty="0">
                <a:solidFill>
                  <a:srgbClr val="8FA3D8"/>
                </a:solidFill>
                <a:latin typeface="Calibri" pitchFamily="34" charset="0"/>
                <a:ea typeface="Calibri" pitchFamily="34" charset="-122"/>
                <a:cs typeface="Calibri" pitchFamily="34" charset="-120"/>
              </a:rPr>
              <a:t>Ageantic — a local-first, auditable equity research platform. Not regulated investment advice.</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Ageantic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Ageantic — investor overview</dc:title>
  <dc:subject>An equity research system where every number can be checked</dc:subject>
  <dc:creator>Ageantic</dc:creator>
  <cp:lastModifiedBy>Ageantic</cp:lastModifiedBy>
  <cp:revision>1</cp:revision>
  <dcterms:created xsi:type="dcterms:W3CDTF">2026-09-14T07:44:37Z</dcterms:created>
  <dcterms:modified xsi:type="dcterms:W3CDTF">2026-09-14T07:44:37Z</dcterms:modified>
</cp:coreProperties>
</file>