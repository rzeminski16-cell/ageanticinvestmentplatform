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deck in one line: today the platform produces a document and then forgets you. V1.0 makes it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good numbers because they are real, then name the gap without flinching. The audit is the reason anyone should believe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 slide. If someone only remembers one thing, it is this: the product stops being a document and becomes a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judgement layer already exists in the database: decisions, premises, findings, review verdicts. V1.0 is mostly about connecting it, not inventing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operator's own correction during design: the company page is not where you live. The portfolio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thesis, nothing else in the judgement layer can exist. It is the first thing built after the deletions.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that keeps this trustworthy: code measures the crossing, the model interprets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turns a tool into something you keep using. A purchase becomes a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recurring theme of the audit: the system holds more than it shows. Three of these four are just opening the tap.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workbook is also a quiet distribution channel: somebody emails the model to a colleague and the provenance tab travels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Fans respond well to this slide. It is the credibility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this from a pitch. We pre-register the result that would make us abandon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 of live spend for the whole plan. The point is that the work is priced and gated, not open-ended.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distinction the whole product rests on: a note versus a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71D"/>
        </a:solidFill>
      </p:bgPr>
    </p:bg>
    <p:spTree>
      <p:nvGrpSpPr>
        <p:cNvPr id="1" name=""/>
        <p:cNvGrpSpPr/>
        <p:nvPr/>
      </p:nvGrpSpPr>
      <p:grpSpPr>
        <a:xfrm>
          <a:off x="0" y="0"/>
          <a:ext cx="0" cy="0"/>
          <a:chOff x="0" y="0"/>
          <a:chExt cx="0" cy="0"/>
        </a:xfrm>
      </p:grpSpPr>
      <p:sp>
        <p:nvSpPr>
          <p:cNvPr id="2" name="Shape 0"/>
          <p:cNvSpPr/>
          <p:nvPr/>
        </p:nvSpPr>
        <p:spPr>
          <a:xfrm>
            <a:off x="8595360" y="-1371600"/>
            <a:ext cx="5669280" cy="5669280"/>
          </a:xfrm>
          <a:prstGeom prst="ellipse">
            <a:avLst/>
          </a:prstGeom>
          <a:solidFill>
            <a:srgbClr val="102B35"/>
          </a:solidFill>
          <a:ln/>
        </p:spPr>
      </p:sp>
      <p:sp>
        <p:nvSpPr>
          <p:cNvPr id="3" name="Shape 1"/>
          <p:cNvSpPr/>
          <p:nvPr/>
        </p:nvSpPr>
        <p:spPr>
          <a:xfrm>
            <a:off x="9966960" y="91440"/>
            <a:ext cx="2926080" cy="2926080"/>
          </a:xfrm>
          <a:prstGeom prst="ellipse">
            <a:avLst/>
          </a:prstGeom>
          <a:solidFill>
            <a:srgbClr val="12343D"/>
          </a:solidFill>
          <a:ln/>
        </p:spPr>
      </p:sp>
      <p:sp>
        <p:nvSpPr>
          <p:cNvPr id="4" name="Text 2"/>
          <p:cNvSpPr txBox="1"/>
          <p:nvPr/>
        </p:nvSpPr>
        <p:spPr>
          <a:xfrm>
            <a:off x="685800" y="1371600"/>
            <a:ext cx="7863840" cy="310896"/>
          </a:xfrm>
          <a:prstGeom prst="rect">
            <a:avLst/>
          </a:prstGeom>
          <a:noFill/>
          <a:ln/>
        </p:spPr>
        <p:txBody>
          <a:bodyPr wrap="square" lIns="0" tIns="0" rIns="0" bIns="0" rtlCol="0" anchor="t"/>
          <a:lstStyle/>
          <a:p>
            <a:pPr indent="0" marL="0">
              <a:buNone/>
            </a:pPr>
            <a:r>
              <a:rPr lang="en-US" sz="1200" b="1" spc="300" kern="0" dirty="0">
                <a:solidFill>
                  <a:srgbClr val="B5ECF0"/>
                </a:solidFill>
                <a:latin typeface="Calibri" pitchFamily="34" charset="0"/>
                <a:ea typeface="Calibri" pitchFamily="34" charset="-122"/>
                <a:cs typeface="Calibri" pitchFamily="34" charset="-120"/>
              </a:rPr>
              <a:t>AGEANTIC  ·  V1.0 ALPHA</a:t>
            </a:r>
            <a:endParaRPr lang="en-US" sz="1200" dirty="0"/>
          </a:p>
        </p:txBody>
      </p:sp>
      <p:sp>
        <p:nvSpPr>
          <p:cNvPr id="5" name="Text 3"/>
          <p:cNvSpPr txBox="1"/>
          <p:nvPr/>
        </p:nvSpPr>
        <p:spPr>
          <a:xfrm>
            <a:off x="685800" y="1920240"/>
            <a:ext cx="7863840" cy="1371600"/>
          </a:xfrm>
          <a:prstGeom prst="rect">
            <a:avLst/>
          </a:prstGeom>
          <a:noFill/>
          <a:ln/>
        </p:spPr>
        <p:txBody>
          <a:bodyPr wrap="square" lIns="0" tIns="0" rIns="0" bIns="0" rtlCol="0" anchor="t"/>
          <a:lstStyle/>
          <a:p>
            <a:pPr indent="0" marL="0">
              <a:lnSpc>
                <a:spcPts val="5200"/>
              </a:lnSpc>
              <a:buNone/>
            </a:pPr>
            <a:r>
              <a:rPr lang="en-US" sz="4800" b="1" dirty="0">
                <a:solidFill>
                  <a:srgbClr val="FFFFFF"/>
                </a:solidFill>
                <a:latin typeface="Cambria" pitchFamily="34" charset="0"/>
                <a:ea typeface="Cambria" pitchFamily="34" charset="-122"/>
                <a:cs typeface="Cambria" pitchFamily="34" charset="-120"/>
              </a:rPr>
              <a:t>The report becomes a loop</a:t>
            </a:r>
            <a:endParaRPr lang="en-US" sz="4800" dirty="0"/>
          </a:p>
        </p:txBody>
      </p:sp>
      <p:sp>
        <p:nvSpPr>
          <p:cNvPr id="6" name="Text 4"/>
          <p:cNvSpPr txBox="1"/>
          <p:nvPr/>
        </p:nvSpPr>
        <p:spPr>
          <a:xfrm>
            <a:off x="685800" y="3429000"/>
            <a:ext cx="7498080" cy="731520"/>
          </a:xfrm>
          <a:prstGeom prst="rect">
            <a:avLst/>
          </a:prstGeom>
          <a:noFill/>
          <a:ln/>
        </p:spPr>
        <p:txBody>
          <a:bodyPr wrap="square" lIns="0" tIns="0" rIns="0" bIns="0" rtlCol="0" anchor="t"/>
          <a:lstStyle/>
          <a:p>
            <a:pPr indent="0" marL="0">
              <a:lnSpc>
                <a:spcPts val="2200"/>
              </a:lnSpc>
              <a:buNone/>
            </a:pPr>
            <a:r>
              <a:rPr lang="en-US" sz="1500" dirty="0">
                <a:solidFill>
                  <a:srgbClr val="B5ECF0"/>
                </a:solidFill>
                <a:latin typeface="Calibri" pitchFamily="34" charset="0"/>
                <a:ea typeface="Calibri" pitchFamily="34" charset="-122"/>
                <a:cs typeface="Calibri" pitchFamily="34" charset="-120"/>
              </a:rPr>
              <a:t>What changes when the next version lands — and what deliberately does not.</a:t>
            </a:r>
            <a:endParaRPr lang="en-US" sz="1500" dirty="0"/>
          </a:p>
        </p:txBody>
      </p:sp>
      <p:sp>
        <p:nvSpPr>
          <p:cNvPr id="7" name="Text 5"/>
          <p:cNvSpPr txBox="1"/>
          <p:nvPr/>
        </p:nvSpPr>
        <p:spPr>
          <a:xfrm>
            <a:off x="685800" y="4663440"/>
            <a:ext cx="7863840" cy="365760"/>
          </a:xfrm>
          <a:prstGeom prst="rect">
            <a:avLst/>
          </a:prstGeom>
          <a:noFill/>
          <a:ln/>
        </p:spPr>
        <p:txBody>
          <a:bodyPr wrap="square" lIns="0" tIns="0" rIns="0" bIns="0" rtlCol="0" anchor="t"/>
          <a:lstStyle/>
          <a:p>
            <a:pPr indent="0" marL="0">
              <a:buNone/>
            </a:pPr>
            <a:r>
              <a:rPr lang="en-US" sz="1900" i="1" dirty="0">
                <a:solidFill>
                  <a:srgbClr val="FFD27A"/>
                </a:solidFill>
                <a:latin typeface="Cambria" pitchFamily="34" charset="0"/>
                <a:ea typeface="Cambria" pitchFamily="34" charset="-122"/>
                <a:cs typeface="Cambria" pitchFamily="34" charset="-120"/>
              </a:rPr>
              <a:t>Research  →  Decide  →  Hold  →  Review</a:t>
            </a:r>
            <a:endParaRPr lang="en-US" sz="1900" dirty="0"/>
          </a:p>
        </p:txBody>
      </p:sp>
      <p:sp>
        <p:nvSpPr>
          <p:cNvPr id="8" name="Text 6"/>
          <p:cNvSpPr txBox="1"/>
          <p:nvPr/>
        </p:nvSpPr>
        <p:spPr>
          <a:xfrm>
            <a:off x="685800" y="6291072"/>
            <a:ext cx="10817352" cy="274320"/>
          </a:xfrm>
          <a:prstGeom prst="rect">
            <a:avLst/>
          </a:prstGeom>
          <a:noFill/>
          <a:ln/>
        </p:spPr>
        <p:txBody>
          <a:bodyPr wrap="square" lIns="0" tIns="0" rIns="0" bIns="0" rtlCol="0" anchor="t"/>
          <a:lstStyle/>
          <a:p>
            <a:pPr indent="0" marL="0">
              <a:buNone/>
            </a:pPr>
            <a:r>
              <a:rPr lang="en-US" sz="950" i="1" dirty="0">
                <a:solidFill>
                  <a:srgbClr val="6E8A92"/>
                </a:solidFill>
                <a:latin typeface="Calibri" pitchFamily="34" charset="0"/>
                <a:ea typeface="Calibri" pitchFamily="34" charset="-122"/>
                <a:cs typeface="Calibri" pitchFamily="34" charset="-120"/>
              </a:rPr>
              <a:t>Present-tense figures are from the readiness audit of 12 September 2026. Everything forward-looking is tagged PLANNED and carries no measured claim.</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685800" y="402336"/>
            <a:ext cx="9601200" cy="274320"/>
          </a:xfrm>
          <a:prstGeom prst="rect">
            <a:avLst/>
          </a:prstGeom>
          <a:noFill/>
          <a:ln/>
        </p:spPr>
        <p:txBody>
          <a:bodyPr wrap="square" lIns="0" tIns="0" rIns="0" bIns="0" rtlCol="0" anchor="t"/>
          <a:lstStyle/>
          <a:p>
            <a:pPr indent="0" marL="0">
              <a:buNone/>
            </a:pPr>
            <a:r>
              <a:rPr lang="en-US" sz="1100" b="1" spc="220" kern="0" dirty="0">
                <a:solidFill>
                  <a:srgbClr val="0F6673"/>
                </a:solidFill>
                <a:latin typeface="Calibri" pitchFamily="34" charset="0"/>
                <a:ea typeface="Calibri" pitchFamily="34" charset="-122"/>
                <a:cs typeface="Calibri" pitchFamily="34" charset="-120"/>
              </a:rPr>
              <a:t>WHERE WE ARE TODAY</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5252E"/>
                </a:solidFill>
                <a:latin typeface="Cambria" pitchFamily="34" charset="0"/>
                <a:ea typeface="Cambria" pitchFamily="34" charset="-122"/>
                <a:cs typeface="Cambria" pitchFamily="34" charset="-120"/>
              </a:rPr>
              <a:t>The hard part already works</a:t>
            </a:r>
            <a:endParaRPr lang="en-US" sz="3200" dirty="0"/>
          </a:p>
        </p:txBody>
      </p:sp>
      <p:sp>
        <p:nvSpPr>
          <p:cNvPr id="4" name="Text 2"/>
          <p:cNvSpPr txBox="1"/>
          <p:nvPr/>
        </p:nvSpPr>
        <p:spPr>
          <a:xfrm>
            <a:off x="685800" y="1444752"/>
            <a:ext cx="10058400" cy="457200"/>
          </a:xfrm>
          <a:prstGeom prst="rect">
            <a:avLst/>
          </a:prstGeom>
          <a:noFill/>
          <a:ln/>
        </p:spPr>
        <p:txBody>
          <a:bodyPr wrap="square" lIns="0" tIns="0" rIns="0" bIns="0" rtlCol="0" anchor="t"/>
          <a:lstStyle/>
          <a:p>
            <a:pPr indent="0" marL="0">
              <a:lnSpc>
                <a:spcPts val="1700"/>
              </a:lnSpc>
              <a:buNone/>
            </a:pPr>
            <a:r>
              <a:rPr lang="en-US" sz="1250" dirty="0">
                <a:solidFill>
                  <a:srgbClr val="52656E"/>
                </a:solidFill>
                <a:latin typeface="Calibri" pitchFamily="34" charset="0"/>
                <a:ea typeface="Calibri" pitchFamily="34" charset="-122"/>
                <a:cs typeface="Calibri" pitchFamily="34" charset="-120"/>
              </a:rPr>
              <a:t>The research tool was audited across six live runs in September. What it does, it does properly.</a:t>
            </a:r>
            <a:endParaRPr lang="en-US" sz="1250" dirty="0"/>
          </a:p>
        </p:txBody>
      </p:sp>
      <p:sp>
        <p:nvSpPr>
          <p:cNvPr id="5" name="Shape 3"/>
          <p:cNvSpPr/>
          <p:nvPr/>
        </p:nvSpPr>
        <p:spPr>
          <a:xfrm>
            <a:off x="685800" y="2103120"/>
            <a:ext cx="2487168" cy="1810512"/>
          </a:xfrm>
          <a:prstGeom prst="roundRect">
            <a:avLst>
              <a:gd name="adj" fmla="val 2525"/>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6" name="Text 4"/>
          <p:cNvSpPr txBox="1"/>
          <p:nvPr/>
        </p:nvSpPr>
        <p:spPr>
          <a:xfrm>
            <a:off x="868680" y="2286000"/>
            <a:ext cx="2121408" cy="502920"/>
          </a:xfrm>
          <a:prstGeom prst="rect">
            <a:avLst/>
          </a:prstGeom>
          <a:noFill/>
          <a:ln/>
        </p:spPr>
        <p:txBody>
          <a:bodyPr wrap="square" lIns="0" tIns="0" rIns="0" bIns="0" rtlCol="0" anchor="t"/>
          <a:lstStyle/>
          <a:p>
            <a:pPr indent="0" marL="0">
              <a:buNone/>
            </a:pPr>
            <a:r>
              <a:rPr lang="en-US" sz="2700" b="1" dirty="0">
                <a:solidFill>
                  <a:srgbClr val="14613F"/>
                </a:solidFill>
                <a:latin typeface="Cambria" pitchFamily="34" charset="0"/>
                <a:ea typeface="Cambria" pitchFamily="34" charset="-122"/>
                <a:cs typeface="Cambria" pitchFamily="34" charset="-120"/>
              </a:rPr>
              <a:t>0</a:t>
            </a:r>
            <a:endParaRPr lang="en-US" sz="2700" dirty="0"/>
          </a:p>
        </p:txBody>
      </p:sp>
      <p:sp>
        <p:nvSpPr>
          <p:cNvPr id="7" name="Text 5"/>
          <p:cNvSpPr txBox="1"/>
          <p:nvPr/>
        </p:nvSpPr>
        <p:spPr>
          <a:xfrm>
            <a:off x="868680" y="2816352"/>
            <a:ext cx="2121408" cy="274320"/>
          </a:xfrm>
          <a:prstGeom prst="rect">
            <a:avLst/>
          </a:prstGeom>
          <a:noFill/>
          <a:ln/>
        </p:spPr>
        <p:txBody>
          <a:bodyPr wrap="square" lIns="0" tIns="0" rIns="0" bIns="0" rtlCol="0" anchor="t"/>
          <a:lstStyle/>
          <a:p>
            <a:pPr indent="0" marL="0">
              <a:buNone/>
            </a:pPr>
            <a:r>
              <a:rPr lang="en-US" sz="1150" b="1" dirty="0">
                <a:solidFill>
                  <a:srgbClr val="15252E"/>
                </a:solidFill>
                <a:latin typeface="Calibri" pitchFamily="34" charset="0"/>
                <a:ea typeface="Calibri" pitchFamily="34" charset="-122"/>
                <a:cs typeface="Calibri" pitchFamily="34" charset="-120"/>
              </a:rPr>
              <a:t>contradicted figures</a:t>
            </a:r>
            <a:endParaRPr lang="en-US" sz="1150" dirty="0"/>
          </a:p>
        </p:txBody>
      </p:sp>
      <p:sp>
        <p:nvSpPr>
          <p:cNvPr id="8" name="Text 6"/>
          <p:cNvSpPr txBox="1"/>
          <p:nvPr/>
        </p:nvSpPr>
        <p:spPr>
          <a:xfrm>
            <a:off x="868680" y="3127248"/>
            <a:ext cx="2121408" cy="685800"/>
          </a:xfrm>
          <a:prstGeom prst="rect">
            <a:avLst/>
          </a:prstGeom>
          <a:noFill/>
          <a:ln/>
        </p:spPr>
        <p:txBody>
          <a:bodyPr wrap="square" lIns="0" tIns="0" rIns="0" bIns="0" rtlCol="0" anchor="t"/>
          <a:lstStyle/>
          <a:p>
            <a:pPr indent="0" marL="0">
              <a:lnSpc>
                <a:spcPts val="1350"/>
              </a:lnSpc>
              <a:buNone/>
            </a:pPr>
            <a:r>
              <a:rPr lang="en-US" sz="1050" dirty="0">
                <a:solidFill>
                  <a:srgbClr val="52656E"/>
                </a:solidFill>
                <a:latin typeface="Calibri" pitchFamily="34" charset="0"/>
                <a:ea typeface="Calibri" pitchFamily="34" charset="-122"/>
                <a:cs typeface="Calibri" pitchFamily="34" charset="-120"/>
              </a:rPr>
              <a:t>of 779 checkable, against the filings themselves</a:t>
            </a:r>
            <a:endParaRPr lang="en-US" sz="1050" dirty="0"/>
          </a:p>
        </p:txBody>
      </p:sp>
      <p:sp>
        <p:nvSpPr>
          <p:cNvPr id="9" name="Shape 7"/>
          <p:cNvSpPr/>
          <p:nvPr/>
        </p:nvSpPr>
        <p:spPr>
          <a:xfrm>
            <a:off x="3383280" y="2103120"/>
            <a:ext cx="2487168" cy="1810512"/>
          </a:xfrm>
          <a:prstGeom prst="roundRect">
            <a:avLst>
              <a:gd name="adj" fmla="val 2525"/>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10" name="Text 8"/>
          <p:cNvSpPr txBox="1"/>
          <p:nvPr/>
        </p:nvSpPr>
        <p:spPr>
          <a:xfrm>
            <a:off x="3566160" y="2286000"/>
            <a:ext cx="2121408" cy="502920"/>
          </a:xfrm>
          <a:prstGeom prst="rect">
            <a:avLst/>
          </a:prstGeom>
          <a:noFill/>
          <a:ln/>
        </p:spPr>
        <p:txBody>
          <a:bodyPr wrap="square" lIns="0" tIns="0" rIns="0" bIns="0" rtlCol="0" anchor="t"/>
          <a:lstStyle/>
          <a:p>
            <a:pPr indent="0" marL="0">
              <a:buNone/>
            </a:pPr>
            <a:r>
              <a:rPr lang="en-US" sz="2700" b="1" dirty="0">
                <a:solidFill>
                  <a:srgbClr val="0F6673"/>
                </a:solidFill>
                <a:latin typeface="Cambria" pitchFamily="34" charset="0"/>
                <a:ea typeface="Cambria" pitchFamily="34" charset="-122"/>
                <a:cs typeface="Cambria" pitchFamily="34" charset="-120"/>
              </a:rPr>
              <a:t>259 / 259</a:t>
            </a:r>
            <a:endParaRPr lang="en-US" sz="2700" dirty="0"/>
          </a:p>
        </p:txBody>
      </p:sp>
      <p:sp>
        <p:nvSpPr>
          <p:cNvPr id="11" name="Text 9"/>
          <p:cNvSpPr txBox="1"/>
          <p:nvPr/>
        </p:nvSpPr>
        <p:spPr>
          <a:xfrm>
            <a:off x="3566160" y="2816352"/>
            <a:ext cx="2121408" cy="274320"/>
          </a:xfrm>
          <a:prstGeom prst="rect">
            <a:avLst/>
          </a:prstGeom>
          <a:noFill/>
          <a:ln/>
        </p:spPr>
        <p:txBody>
          <a:bodyPr wrap="square" lIns="0" tIns="0" rIns="0" bIns="0" rtlCol="0" anchor="t"/>
          <a:lstStyle/>
          <a:p>
            <a:pPr indent="0" marL="0">
              <a:buNone/>
            </a:pPr>
            <a:r>
              <a:rPr lang="en-US" sz="1150" b="1" dirty="0">
                <a:solidFill>
                  <a:srgbClr val="15252E"/>
                </a:solidFill>
                <a:latin typeface="Calibri" pitchFamily="34" charset="0"/>
                <a:ea typeface="Calibri" pitchFamily="34" charset="-122"/>
                <a:cs typeface="Calibri" pitchFamily="34" charset="-120"/>
              </a:rPr>
              <a:t>citations verified</a:t>
            </a:r>
            <a:endParaRPr lang="en-US" sz="1150" dirty="0"/>
          </a:p>
        </p:txBody>
      </p:sp>
      <p:sp>
        <p:nvSpPr>
          <p:cNvPr id="12" name="Text 10"/>
          <p:cNvSpPr txBox="1"/>
          <p:nvPr/>
        </p:nvSpPr>
        <p:spPr>
          <a:xfrm>
            <a:off x="3566160" y="3127248"/>
            <a:ext cx="2121408" cy="685800"/>
          </a:xfrm>
          <a:prstGeom prst="rect">
            <a:avLst/>
          </a:prstGeom>
          <a:noFill/>
          <a:ln/>
        </p:spPr>
        <p:txBody>
          <a:bodyPr wrap="square" lIns="0" tIns="0" rIns="0" bIns="0" rtlCol="0" anchor="t"/>
          <a:lstStyle/>
          <a:p>
            <a:pPr indent="0" marL="0">
              <a:lnSpc>
                <a:spcPts val="1350"/>
              </a:lnSpc>
              <a:buNone/>
            </a:pPr>
            <a:r>
              <a:rPr lang="en-US" sz="1050" dirty="0">
                <a:solidFill>
                  <a:srgbClr val="52656E"/>
                </a:solidFill>
                <a:latin typeface="Calibri" pitchFamily="34" charset="0"/>
                <a:ea typeface="Calibri" pitchFamily="34" charset="-122"/>
                <a:cs typeface="Calibri" pitchFamily="34" charset="-120"/>
              </a:rPr>
              <a:t>every excerpt re-read from the hashed artefact</a:t>
            </a:r>
            <a:endParaRPr lang="en-US" sz="1050" dirty="0"/>
          </a:p>
        </p:txBody>
      </p:sp>
      <p:sp>
        <p:nvSpPr>
          <p:cNvPr id="13" name="Shape 11"/>
          <p:cNvSpPr/>
          <p:nvPr/>
        </p:nvSpPr>
        <p:spPr>
          <a:xfrm>
            <a:off x="6080760" y="2103120"/>
            <a:ext cx="2487168" cy="1810512"/>
          </a:xfrm>
          <a:prstGeom prst="roundRect">
            <a:avLst>
              <a:gd name="adj" fmla="val 2525"/>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14" name="Text 12"/>
          <p:cNvSpPr txBox="1"/>
          <p:nvPr/>
        </p:nvSpPr>
        <p:spPr>
          <a:xfrm>
            <a:off x="6263640" y="2286000"/>
            <a:ext cx="2121408" cy="502920"/>
          </a:xfrm>
          <a:prstGeom prst="rect">
            <a:avLst/>
          </a:prstGeom>
          <a:noFill/>
          <a:ln/>
        </p:spPr>
        <p:txBody>
          <a:bodyPr wrap="square" lIns="0" tIns="0" rIns="0" bIns="0" rtlCol="0" anchor="t"/>
          <a:lstStyle/>
          <a:p>
            <a:pPr indent="0" marL="0">
              <a:buNone/>
            </a:pPr>
            <a:r>
              <a:rPr lang="en-US" sz="2700" b="1" dirty="0">
                <a:solidFill>
                  <a:srgbClr val="0F6673"/>
                </a:solidFill>
                <a:latin typeface="Cambria" pitchFamily="34" charset="0"/>
                <a:ea typeface="Cambria" pitchFamily="34" charset="-122"/>
                <a:cs typeface="Cambria" pitchFamily="34" charset="-120"/>
              </a:rPr>
              <a:t>3,335</a:t>
            </a:r>
            <a:endParaRPr lang="en-US" sz="2700" dirty="0"/>
          </a:p>
        </p:txBody>
      </p:sp>
      <p:sp>
        <p:nvSpPr>
          <p:cNvPr id="15" name="Text 13"/>
          <p:cNvSpPr txBox="1"/>
          <p:nvPr/>
        </p:nvSpPr>
        <p:spPr>
          <a:xfrm>
            <a:off x="6263640" y="2816352"/>
            <a:ext cx="2121408" cy="274320"/>
          </a:xfrm>
          <a:prstGeom prst="rect">
            <a:avLst/>
          </a:prstGeom>
          <a:noFill/>
          <a:ln/>
        </p:spPr>
        <p:txBody>
          <a:bodyPr wrap="square" lIns="0" tIns="0" rIns="0" bIns="0" rtlCol="0" anchor="t"/>
          <a:lstStyle/>
          <a:p>
            <a:pPr indent="0" marL="0">
              <a:buNone/>
            </a:pPr>
            <a:r>
              <a:rPr lang="en-US" sz="1150" b="1" dirty="0">
                <a:solidFill>
                  <a:srgbClr val="15252E"/>
                </a:solidFill>
                <a:latin typeface="Calibri" pitchFamily="34" charset="0"/>
                <a:ea typeface="Calibri" pitchFamily="34" charset="-122"/>
                <a:cs typeface="Calibri" pitchFamily="34" charset="-120"/>
              </a:rPr>
              <a:t>calculations replayed</a:t>
            </a:r>
            <a:endParaRPr lang="en-US" sz="1150" dirty="0"/>
          </a:p>
        </p:txBody>
      </p:sp>
      <p:sp>
        <p:nvSpPr>
          <p:cNvPr id="16" name="Text 14"/>
          <p:cNvSpPr txBox="1"/>
          <p:nvPr/>
        </p:nvSpPr>
        <p:spPr>
          <a:xfrm>
            <a:off x="6263640" y="3127248"/>
            <a:ext cx="2121408" cy="685800"/>
          </a:xfrm>
          <a:prstGeom prst="rect">
            <a:avLst/>
          </a:prstGeom>
          <a:noFill/>
          <a:ln/>
        </p:spPr>
        <p:txBody>
          <a:bodyPr wrap="square" lIns="0" tIns="0" rIns="0" bIns="0" rtlCol="0" anchor="t"/>
          <a:lstStyle/>
          <a:p>
            <a:pPr indent="0" marL="0">
              <a:lnSpc>
                <a:spcPts val="1350"/>
              </a:lnSpc>
              <a:buNone/>
            </a:pPr>
            <a:r>
              <a:rPr lang="en-US" sz="1050" dirty="0">
                <a:solidFill>
                  <a:srgbClr val="52656E"/>
                </a:solidFill>
                <a:latin typeface="Calibri" pitchFamily="34" charset="0"/>
                <a:ea typeface="Calibri" pitchFamily="34" charset="-122"/>
                <a:cs typeface="Calibri" pitchFamily="34" charset="-120"/>
              </a:rPr>
              <a:t>re-derived from the record, zero divergence</a:t>
            </a:r>
            <a:endParaRPr lang="en-US" sz="1050" dirty="0"/>
          </a:p>
        </p:txBody>
      </p:sp>
      <p:sp>
        <p:nvSpPr>
          <p:cNvPr id="17" name="Shape 15"/>
          <p:cNvSpPr/>
          <p:nvPr/>
        </p:nvSpPr>
        <p:spPr>
          <a:xfrm>
            <a:off x="8778240" y="2103120"/>
            <a:ext cx="2487168" cy="1810512"/>
          </a:xfrm>
          <a:prstGeom prst="roundRect">
            <a:avLst>
              <a:gd name="adj" fmla="val 2525"/>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18" name="Text 16"/>
          <p:cNvSpPr txBox="1"/>
          <p:nvPr/>
        </p:nvSpPr>
        <p:spPr>
          <a:xfrm>
            <a:off x="8961120" y="2286000"/>
            <a:ext cx="2121408" cy="502920"/>
          </a:xfrm>
          <a:prstGeom prst="rect">
            <a:avLst/>
          </a:prstGeom>
          <a:noFill/>
          <a:ln/>
        </p:spPr>
        <p:txBody>
          <a:bodyPr wrap="square" lIns="0" tIns="0" rIns="0" bIns="0" rtlCol="0" anchor="t"/>
          <a:lstStyle/>
          <a:p>
            <a:pPr indent="0" marL="0">
              <a:buNone/>
            </a:pPr>
            <a:r>
              <a:rPr lang="en-US" sz="2700" b="1" dirty="0">
                <a:solidFill>
                  <a:srgbClr val="7A4B00"/>
                </a:solidFill>
                <a:latin typeface="Cambria" pitchFamily="34" charset="0"/>
                <a:ea typeface="Cambria" pitchFamily="34" charset="-122"/>
                <a:cs typeface="Cambria" pitchFamily="34" charset="-120"/>
              </a:rPr>
              <a:t>£7.19</a:t>
            </a:r>
            <a:endParaRPr lang="en-US" sz="2700" dirty="0"/>
          </a:p>
        </p:txBody>
      </p:sp>
      <p:sp>
        <p:nvSpPr>
          <p:cNvPr id="19" name="Text 17"/>
          <p:cNvSpPr txBox="1"/>
          <p:nvPr/>
        </p:nvSpPr>
        <p:spPr>
          <a:xfrm>
            <a:off x="8961120" y="2816352"/>
            <a:ext cx="2121408" cy="274320"/>
          </a:xfrm>
          <a:prstGeom prst="rect">
            <a:avLst/>
          </a:prstGeom>
          <a:noFill/>
          <a:ln/>
        </p:spPr>
        <p:txBody>
          <a:bodyPr wrap="square" lIns="0" tIns="0" rIns="0" bIns="0" rtlCol="0" anchor="t"/>
          <a:lstStyle/>
          <a:p>
            <a:pPr indent="0" marL="0">
              <a:buNone/>
            </a:pPr>
            <a:r>
              <a:rPr lang="en-US" sz="1150" b="1" dirty="0">
                <a:solidFill>
                  <a:srgbClr val="15252E"/>
                </a:solidFill>
                <a:latin typeface="Calibri" pitchFamily="34" charset="0"/>
                <a:ea typeface="Calibri" pitchFamily="34" charset="-122"/>
                <a:cs typeface="Calibri" pitchFamily="34" charset="-120"/>
              </a:rPr>
              <a:t>a full report</a:t>
            </a:r>
            <a:endParaRPr lang="en-US" sz="1150" dirty="0"/>
          </a:p>
        </p:txBody>
      </p:sp>
      <p:sp>
        <p:nvSpPr>
          <p:cNvPr id="20" name="Text 18"/>
          <p:cNvSpPr txBox="1"/>
          <p:nvPr/>
        </p:nvSpPr>
        <p:spPr>
          <a:xfrm>
            <a:off x="8961120" y="3127248"/>
            <a:ext cx="2121408" cy="685800"/>
          </a:xfrm>
          <a:prstGeom prst="rect">
            <a:avLst/>
          </a:prstGeom>
          <a:noFill/>
          <a:ln/>
        </p:spPr>
        <p:txBody>
          <a:bodyPr wrap="square" lIns="0" tIns="0" rIns="0" bIns="0" rtlCol="0" anchor="t"/>
          <a:lstStyle/>
          <a:p>
            <a:pPr indent="0" marL="0">
              <a:lnSpc>
                <a:spcPts val="1350"/>
              </a:lnSpc>
              <a:buNone/>
            </a:pPr>
            <a:r>
              <a:rPr lang="en-US" sz="1050" dirty="0">
                <a:solidFill>
                  <a:srgbClr val="52656E"/>
                </a:solidFill>
                <a:latin typeface="Calibri" pitchFamily="34" charset="0"/>
                <a:ea typeface="Calibri" pitchFamily="34" charset="-122"/>
                <a:cs typeface="Calibri" pitchFamily="34" charset="-120"/>
              </a:rPr>
              <a:t>eighteen sections, priced and metered in code</a:t>
            </a:r>
            <a:endParaRPr lang="en-US" sz="1050" dirty="0"/>
          </a:p>
        </p:txBody>
      </p:sp>
      <p:sp>
        <p:nvSpPr>
          <p:cNvPr id="21" name="Shape 19"/>
          <p:cNvSpPr/>
          <p:nvPr/>
        </p:nvSpPr>
        <p:spPr>
          <a:xfrm>
            <a:off x="685800" y="4224528"/>
            <a:ext cx="10817352" cy="1737360"/>
          </a:xfrm>
          <a:prstGeom prst="roundRect">
            <a:avLst>
              <a:gd name="adj" fmla="val 2632"/>
            </a:avLst>
          </a:prstGeom>
          <a:solidFill>
            <a:srgbClr val="F6EAF2"/>
          </a:solidFill>
          <a:ln w="9525">
            <a:solidFill>
              <a:srgbClr val="E3CFDD"/>
            </a:solidFill>
            <a:prstDash val="solid"/>
          </a:ln>
          <a:effectLst>
            <a:outerShdw sx="100000" sy="100000" kx="0" ky="0" algn="bl" rotWithShape="0" blurRad="152400" dist="38100" dir="5400000">
              <a:srgbClr val="07171D">
                <a:alpha val="12000"/>
              </a:srgbClr>
            </a:outerShdw>
          </a:effectLst>
        </p:spPr>
      </p:sp>
      <p:sp>
        <p:nvSpPr>
          <p:cNvPr id="22" name="Shape 20"/>
          <p:cNvSpPr/>
          <p:nvPr/>
        </p:nvSpPr>
        <p:spPr>
          <a:xfrm>
            <a:off x="685800" y="4224528"/>
            <a:ext cx="41148" cy="1737360"/>
          </a:xfrm>
          <a:prstGeom prst="rect">
            <a:avLst/>
          </a:prstGeom>
          <a:solidFill>
            <a:srgbClr val="6B3F60"/>
          </a:solidFill>
          <a:ln/>
        </p:spPr>
      </p:sp>
      <p:sp>
        <p:nvSpPr>
          <p:cNvPr id="23" name="Text 21"/>
          <p:cNvSpPr txBox="1"/>
          <p:nvPr/>
        </p:nvSpPr>
        <p:spPr>
          <a:xfrm>
            <a:off x="1005840" y="4434840"/>
            <a:ext cx="10058400" cy="292608"/>
          </a:xfrm>
          <a:prstGeom prst="rect">
            <a:avLst/>
          </a:prstGeom>
          <a:noFill/>
          <a:ln/>
        </p:spPr>
        <p:txBody>
          <a:bodyPr wrap="square" lIns="0" tIns="0" rIns="0" bIns="0" rtlCol="0" anchor="t"/>
          <a:lstStyle/>
          <a:p>
            <a:pPr indent="0" marL="0">
              <a:buNone/>
            </a:pPr>
            <a:r>
              <a:rPr lang="en-US" sz="1100" b="1" spc="160" kern="0" dirty="0">
                <a:solidFill>
                  <a:srgbClr val="6B3F60"/>
                </a:solidFill>
                <a:latin typeface="Calibri" pitchFamily="34" charset="0"/>
                <a:ea typeface="Calibri" pitchFamily="34" charset="-122"/>
                <a:cs typeface="Calibri" pitchFamily="34" charset="-120"/>
              </a:rPr>
              <a:t>And the honest half</a:t>
            </a:r>
            <a:endParaRPr lang="en-US" sz="1100" dirty="0"/>
          </a:p>
        </p:txBody>
      </p:sp>
      <p:sp>
        <p:nvSpPr>
          <p:cNvPr id="24" name="Text 22"/>
          <p:cNvSpPr txBox="1"/>
          <p:nvPr/>
        </p:nvSpPr>
        <p:spPr>
          <a:xfrm>
            <a:off x="1005840" y="4773168"/>
            <a:ext cx="9966960" cy="1005840"/>
          </a:xfrm>
          <a:prstGeom prst="rect">
            <a:avLst/>
          </a:prstGeom>
          <a:noFill/>
          <a:ln/>
        </p:spPr>
        <p:txBody>
          <a:bodyPr wrap="square" lIns="0" tIns="0" rIns="0" bIns="0" rtlCol="0" anchor="t"/>
          <a:lstStyle/>
          <a:p>
            <a:pPr indent="0" marL="0">
              <a:lnSpc>
                <a:spcPts val="1800"/>
              </a:lnSpc>
              <a:buNone/>
            </a:pPr>
            <a:r>
              <a:rPr lang="en-US" sz="1250" dirty="0">
                <a:solidFill>
                  <a:srgbClr val="15252E"/>
                </a:solidFill>
                <a:latin typeface="Calibri" pitchFamily="34" charset="0"/>
                <a:ea typeface="Calibri" pitchFamily="34" charset="-122"/>
                <a:cs typeface="Calibri" pitchFamily="34" charset="-120"/>
              </a:rPr>
              <a:t>It produces a document, and then it forgets you. Nine of nine blind comparisons preferred a Claude console note, and six of six judges said they would not act on what came out. Three of six runs reached an approved report at all; £14.41 was lost to two states the interface could not leave.</a:t>
            </a:r>
            <a:endParaRPr lang="en-US" sz="1250" dirty="0"/>
          </a:p>
        </p:txBody>
      </p:sp>
      <p:sp>
        <p:nvSpPr>
          <p:cNvPr id="25" name="Text 23"/>
          <p:cNvSpPr txBox="1"/>
          <p:nvPr/>
        </p:nvSpPr>
        <p:spPr>
          <a:xfrm>
            <a:off x="685800" y="6291072"/>
            <a:ext cx="10817352" cy="274320"/>
          </a:xfrm>
          <a:prstGeom prst="rect">
            <a:avLst/>
          </a:prstGeom>
          <a:noFill/>
          <a:ln/>
        </p:spPr>
        <p:txBody>
          <a:bodyPr wrap="square" lIns="0" tIns="0" rIns="0" bIns="0" rtlCol="0" anchor="t"/>
          <a:lstStyle/>
          <a:p>
            <a:pPr indent="0" marL="0">
              <a:buNone/>
            </a:pPr>
            <a:r>
              <a:rPr lang="en-US" sz="950" i="1" dirty="0">
                <a:solidFill>
                  <a:srgbClr val="5B6D75"/>
                </a:solidFill>
                <a:latin typeface="Calibri" pitchFamily="34" charset="0"/>
                <a:ea typeface="Calibri" pitchFamily="34" charset="-122"/>
                <a:cs typeface="Calibri" pitchFamily="34" charset="-120"/>
              </a:rPr>
              <a:t>Readiness audit, 2026-09-12 · six live runs, three console baselines, eighteen blind judge reads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71D"/>
        </a:solidFill>
      </p:bgPr>
    </p:bg>
    <p:spTree>
      <p:nvGrpSpPr>
        <p:cNvPr id="1" name=""/>
        <p:cNvGrpSpPr/>
        <p:nvPr/>
      </p:nvGrpSpPr>
      <p:grpSpPr>
        <a:xfrm>
          <a:off x="0" y="0"/>
          <a:ext cx="0" cy="0"/>
          <a:chOff x="0" y="0"/>
          <a:chExt cx="0" cy="0"/>
        </a:xfrm>
      </p:grpSpPr>
      <p:sp>
        <p:nvSpPr>
          <p:cNvPr id="2" name="Text 0"/>
          <p:cNvSpPr txBox="1"/>
          <p:nvPr/>
        </p:nvSpPr>
        <p:spPr>
          <a:xfrm>
            <a:off x="685800" y="402336"/>
            <a:ext cx="9601200" cy="274320"/>
          </a:xfrm>
          <a:prstGeom prst="rect">
            <a:avLst/>
          </a:prstGeom>
          <a:noFill/>
          <a:ln/>
        </p:spPr>
        <p:txBody>
          <a:bodyPr wrap="square" lIns="0" tIns="0" rIns="0" bIns="0" rtlCol="0" anchor="t"/>
          <a:lstStyle/>
          <a:p>
            <a:pPr indent="0" marL="0">
              <a:buNone/>
            </a:pPr>
            <a:r>
              <a:rPr lang="en-US" sz="1100" b="1" spc="220" kern="0" dirty="0">
                <a:solidFill>
                  <a:srgbClr val="B5ECF0"/>
                </a:solidFill>
                <a:latin typeface="Calibri" pitchFamily="34" charset="0"/>
                <a:ea typeface="Calibri" pitchFamily="34" charset="-122"/>
                <a:cs typeface="Calibri" pitchFamily="34" charset="-120"/>
              </a:rPr>
              <a:t>THE ONE CHANGE EVERYTHING ELSE FOLLOWS FROM</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A document you read, or a position you hold</a:t>
            </a:r>
            <a:endParaRPr lang="en-US" sz="3200" dirty="0"/>
          </a:p>
        </p:txBody>
      </p:sp>
      <p:sp>
        <p:nvSpPr>
          <p:cNvPr id="4" name="Text 2"/>
          <p:cNvSpPr txBox="1"/>
          <p:nvPr/>
        </p:nvSpPr>
        <p:spPr>
          <a:xfrm>
            <a:off x="685800" y="1444752"/>
            <a:ext cx="10058400" cy="365760"/>
          </a:xfrm>
          <a:prstGeom prst="rect">
            <a:avLst/>
          </a:prstGeom>
          <a:noFill/>
          <a:ln/>
        </p:spPr>
        <p:txBody>
          <a:bodyPr wrap="square" lIns="0" tIns="0" rIns="0" bIns="0" rtlCol="0" anchor="t"/>
          <a:lstStyle/>
          <a:p>
            <a:pPr indent="0" marL="0">
              <a:lnSpc>
                <a:spcPts val="1700"/>
              </a:lnSpc>
              <a:buNone/>
            </a:pPr>
            <a:r>
              <a:rPr lang="en-US" sz="1250" dirty="0">
                <a:solidFill>
                  <a:srgbClr val="B5ECF0"/>
                </a:solidFill>
                <a:latin typeface="Calibri" pitchFamily="34" charset="0"/>
                <a:ea typeface="Calibri" pitchFamily="34" charset="-122"/>
                <a:cs typeface="Calibri" pitchFamily="34" charset="-120"/>
              </a:rPr>
              <a:t>Every other change in V1.0 exists to make this one true.</a:t>
            </a:r>
            <a:endParaRPr lang="en-US" sz="1250" dirty="0"/>
          </a:p>
        </p:txBody>
      </p:sp>
      <p:sp>
        <p:nvSpPr>
          <p:cNvPr id="5" name="Shape 3"/>
          <p:cNvSpPr/>
          <p:nvPr/>
        </p:nvSpPr>
        <p:spPr>
          <a:xfrm>
            <a:off x="685800" y="2103120"/>
            <a:ext cx="4846320" cy="3566160"/>
          </a:xfrm>
          <a:prstGeom prst="roundRect">
            <a:avLst>
              <a:gd name="adj" fmla="val 1282"/>
            </a:avLst>
          </a:prstGeom>
          <a:solidFill>
            <a:srgbClr val="102B35"/>
          </a:solidFill>
          <a:ln w="12700">
            <a:solidFill>
              <a:srgbClr val="12343D"/>
            </a:solidFill>
            <a:prstDash val="solid"/>
          </a:ln>
          <a:effectLst>
            <a:outerShdw sx="100000" sy="100000" kx="0" ky="0" algn="bl" rotWithShape="0" blurRad="177800" dist="50800" dir="5400000">
              <a:srgbClr val="07171D">
                <a:alpha val="30000"/>
              </a:srgbClr>
            </a:outerShdw>
          </a:effectLst>
        </p:spPr>
      </p:sp>
      <p:sp>
        <p:nvSpPr>
          <p:cNvPr id="6" name="Text 4"/>
          <p:cNvSpPr txBox="1"/>
          <p:nvPr/>
        </p:nvSpPr>
        <p:spPr>
          <a:xfrm>
            <a:off x="1051560" y="2395728"/>
            <a:ext cx="4114800" cy="274320"/>
          </a:xfrm>
          <a:prstGeom prst="rect">
            <a:avLst/>
          </a:prstGeom>
          <a:noFill/>
          <a:ln/>
        </p:spPr>
        <p:txBody>
          <a:bodyPr wrap="square" lIns="0" tIns="0" rIns="0" bIns="0" rtlCol="0" anchor="t"/>
          <a:lstStyle/>
          <a:p>
            <a:pPr indent="0" marL="0">
              <a:buNone/>
            </a:pPr>
            <a:r>
              <a:rPr lang="en-US" sz="1100" b="1" spc="200" kern="0" dirty="0">
                <a:solidFill>
                  <a:srgbClr val="8FA8AE"/>
                </a:solidFill>
                <a:latin typeface="Calibri" pitchFamily="34" charset="0"/>
                <a:ea typeface="Calibri" pitchFamily="34" charset="-122"/>
                <a:cs typeface="Calibri" pitchFamily="34" charset="-120"/>
              </a:rPr>
              <a:t>TODAY</a:t>
            </a:r>
            <a:endParaRPr lang="en-US" sz="1100" dirty="0"/>
          </a:p>
        </p:txBody>
      </p:sp>
      <p:sp>
        <p:nvSpPr>
          <p:cNvPr id="7" name="Text 5"/>
          <p:cNvSpPr txBox="1"/>
          <p:nvPr/>
        </p:nvSpPr>
        <p:spPr>
          <a:xfrm>
            <a:off x="1051560" y="2743200"/>
            <a:ext cx="4114800" cy="45720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A report generator</a:t>
            </a:r>
            <a:endParaRPr lang="en-US" sz="2400" dirty="0"/>
          </a:p>
        </p:txBody>
      </p:sp>
      <p:sp>
        <p:nvSpPr>
          <p:cNvPr id="8" name="Text 6"/>
          <p:cNvSpPr txBox="1"/>
          <p:nvPr/>
        </p:nvSpPr>
        <p:spPr>
          <a:xfrm>
            <a:off x="1051560" y="3337560"/>
            <a:ext cx="4114800" cy="21031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00" dirty="0">
                <a:solidFill>
                  <a:srgbClr val="B9CBD0"/>
                </a:solidFill>
                <a:latin typeface="Calibri" pitchFamily="34" charset="0"/>
                <a:ea typeface="Calibri" pitchFamily="34" charset="-122"/>
                <a:cs typeface="Calibri" pitchFamily="34" charset="-120"/>
              </a:rPr>
              <a:t>You commission a company. You get eighteen sections.</a:t>
            </a:r>
            <a:endParaRPr lang="en-US" sz="1200" dirty="0"/>
          </a:p>
          <a:p>
            <a:pPr marL="342900" indent="-342900">
              <a:lnSpc>
                <a:spcPts val="1700"/>
              </a:lnSpc>
              <a:spcAft>
                <a:spcPts val="900"/>
              </a:spcAft>
              <a:buSzPct val="100000"/>
              <a:buChar char="•"/>
            </a:pPr>
            <a:r>
              <a:rPr lang="en-US" sz="1200" dirty="0">
                <a:solidFill>
                  <a:srgbClr val="B9CBD0"/>
                </a:solidFill>
                <a:latin typeface="Calibri" pitchFamily="34" charset="0"/>
                <a:ea typeface="Calibri" pitchFamily="34" charset="-122"/>
                <a:cs typeface="Calibri" pitchFamily="34" charset="-120"/>
              </a:rPr>
              <a:t>Every number is checkable, and nothing reads it back.</a:t>
            </a:r>
            <a:endParaRPr lang="en-US" sz="1200" dirty="0"/>
          </a:p>
          <a:p>
            <a:pPr marL="342900" indent="-342900">
              <a:lnSpc>
                <a:spcPts val="1700"/>
              </a:lnSpc>
              <a:spcAft>
                <a:spcPts val="900"/>
              </a:spcAft>
              <a:buSzPct val="100000"/>
              <a:buChar char="•"/>
            </a:pPr>
            <a:r>
              <a:rPr lang="en-US" sz="1200" dirty="0">
                <a:solidFill>
                  <a:srgbClr val="B9CBD0"/>
                </a:solidFill>
                <a:latin typeface="Calibri" pitchFamily="34" charset="0"/>
                <a:ea typeface="Calibri" pitchFamily="34" charset="-122"/>
                <a:cs typeface="Calibri" pitchFamily="34" charset="-120"/>
              </a:rPr>
              <a:t>Tomorrow it knows nothing about what you decided.</a:t>
            </a:r>
            <a:endParaRPr lang="en-US" sz="1200" dirty="0"/>
          </a:p>
          <a:p>
            <a:pPr marL="342900" indent="-342900">
              <a:lnSpc>
                <a:spcPts val="1700"/>
              </a:lnSpc>
              <a:spcAft>
                <a:spcPts val="900"/>
              </a:spcAft>
              <a:buSzPct val="100000"/>
              <a:buChar char="•"/>
            </a:pPr>
            <a:r>
              <a:rPr lang="en-US" sz="1200" dirty="0">
                <a:solidFill>
                  <a:srgbClr val="B9CBD0"/>
                </a:solidFill>
                <a:latin typeface="Calibri" pitchFamily="34" charset="0"/>
                <a:ea typeface="Calibri" pitchFamily="34" charset="-122"/>
                <a:cs typeface="Calibri" pitchFamily="34" charset="-120"/>
              </a:rPr>
              <a:t>The next report starts from nothing and pays full price.</a:t>
            </a:r>
            <a:endParaRPr lang="en-US" sz="1200" dirty="0"/>
          </a:p>
        </p:txBody>
      </p:sp>
      <p:sp>
        <p:nvSpPr>
          <p:cNvPr id="9" name="Shape 7"/>
          <p:cNvSpPr/>
          <p:nvPr/>
        </p:nvSpPr>
        <p:spPr>
          <a:xfrm>
            <a:off x="5833872" y="2103120"/>
            <a:ext cx="5669280" cy="3566160"/>
          </a:xfrm>
          <a:prstGeom prst="roundRect">
            <a:avLst>
              <a:gd name="adj" fmla="val 1282"/>
            </a:avLst>
          </a:prstGeom>
          <a:solidFill>
            <a:srgbClr val="12343D"/>
          </a:solidFill>
          <a:ln w="19050">
            <a:solidFill>
              <a:srgbClr val="0F6673"/>
            </a:solidFill>
            <a:prstDash val="solid"/>
          </a:ln>
          <a:effectLst>
            <a:outerShdw sx="100000" sy="100000" kx="0" ky="0" algn="bl" rotWithShape="0" blurRad="177800" dist="50800" dir="5400000">
              <a:srgbClr val="07171D">
                <a:alpha val="30000"/>
              </a:srgbClr>
            </a:outerShdw>
          </a:effectLst>
        </p:spPr>
      </p:sp>
      <p:sp>
        <p:nvSpPr>
          <p:cNvPr id="10" name="Text 8"/>
          <p:cNvSpPr txBox="1"/>
          <p:nvPr/>
        </p:nvSpPr>
        <p:spPr>
          <a:xfrm>
            <a:off x="6199632" y="2395728"/>
            <a:ext cx="4937760" cy="274320"/>
          </a:xfrm>
          <a:prstGeom prst="rect">
            <a:avLst/>
          </a:prstGeom>
          <a:noFill/>
          <a:ln/>
        </p:spPr>
        <p:txBody>
          <a:bodyPr wrap="square" lIns="0" tIns="0" rIns="0" bIns="0" rtlCol="0" anchor="t"/>
          <a:lstStyle/>
          <a:p>
            <a:pPr indent="0" marL="0">
              <a:buNone/>
            </a:pPr>
            <a:r>
              <a:rPr lang="en-US" sz="1100" b="1" spc="200" kern="0" dirty="0">
                <a:solidFill>
                  <a:srgbClr val="B5ECF0"/>
                </a:solidFill>
                <a:latin typeface="Calibri" pitchFamily="34" charset="0"/>
                <a:ea typeface="Calibri" pitchFamily="34" charset="-122"/>
                <a:cs typeface="Calibri" pitchFamily="34" charset="-120"/>
              </a:rPr>
              <a:t>V1.0 ALPHA</a:t>
            </a:r>
            <a:endParaRPr lang="en-US" sz="1100" dirty="0"/>
          </a:p>
        </p:txBody>
      </p:sp>
      <p:sp>
        <p:nvSpPr>
          <p:cNvPr id="11" name="Text 9"/>
          <p:cNvSpPr txBox="1"/>
          <p:nvPr/>
        </p:nvSpPr>
        <p:spPr>
          <a:xfrm>
            <a:off x="6199632" y="2743200"/>
            <a:ext cx="4937760" cy="45720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A loop that remembers</a:t>
            </a:r>
            <a:endParaRPr lang="en-US" sz="2400" dirty="0"/>
          </a:p>
        </p:txBody>
      </p:sp>
      <p:sp>
        <p:nvSpPr>
          <p:cNvPr id="12" name="Text 10"/>
          <p:cNvSpPr txBox="1"/>
          <p:nvPr/>
        </p:nvSpPr>
        <p:spPr>
          <a:xfrm>
            <a:off x="6199632" y="3337560"/>
            <a:ext cx="4937760" cy="219456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00" dirty="0">
                <a:solidFill>
                  <a:srgbClr val="D6E8EB"/>
                </a:solidFill>
                <a:latin typeface="Calibri" pitchFamily="34" charset="0"/>
                <a:ea typeface="Calibri" pitchFamily="34" charset="-122"/>
                <a:cs typeface="Calibri" pitchFamily="34" charset="-120"/>
              </a:rPr>
              <a:t>The report ends in a thesis: what you believe, and the test that would prove you wrong.</a:t>
            </a:r>
            <a:endParaRPr lang="en-US" sz="1200" dirty="0"/>
          </a:p>
          <a:p>
            <a:pPr marL="342900" indent="-342900">
              <a:lnSpc>
                <a:spcPts val="1700"/>
              </a:lnSpc>
              <a:spcAft>
                <a:spcPts val="900"/>
              </a:spcAft>
              <a:buSzPct val="100000"/>
              <a:buChar char="•"/>
            </a:pPr>
            <a:r>
              <a:rPr lang="en-US" sz="1200" dirty="0">
                <a:solidFill>
                  <a:srgbClr val="D6E8EB"/>
                </a:solidFill>
                <a:latin typeface="Calibri" pitchFamily="34" charset="0"/>
                <a:ea typeface="Calibri" pitchFamily="34" charset="-122"/>
                <a:cs typeface="Calibri" pitchFamily="34" charset="-120"/>
              </a:rPr>
              <a:t>The thesis becomes a decision, and the decision points back at the reasoning that authorised it.</a:t>
            </a:r>
            <a:endParaRPr lang="en-US" sz="1200" dirty="0"/>
          </a:p>
          <a:p>
            <a:pPr marL="342900" indent="-342900">
              <a:lnSpc>
                <a:spcPts val="1700"/>
              </a:lnSpc>
              <a:spcAft>
                <a:spcPts val="900"/>
              </a:spcAft>
              <a:buSzPct val="100000"/>
              <a:buChar char="•"/>
            </a:pPr>
            <a:r>
              <a:rPr lang="en-US" sz="1200" dirty="0">
                <a:solidFill>
                  <a:srgbClr val="D6E8EB"/>
                </a:solidFill>
                <a:latin typeface="Calibri" pitchFamily="34" charset="0"/>
                <a:ea typeface="Calibri" pitchFamily="34" charset="-122"/>
                <a:cs typeface="Calibri" pitchFamily="34" charset="-120"/>
              </a:rPr>
              <a:t>While you hold it, the platform watches the tests.</a:t>
            </a:r>
            <a:endParaRPr lang="en-US" sz="1200" dirty="0"/>
          </a:p>
          <a:p>
            <a:pPr marL="342900" indent="-342900">
              <a:lnSpc>
                <a:spcPts val="1700"/>
              </a:lnSpc>
              <a:spcAft>
                <a:spcPts val="900"/>
              </a:spcAft>
              <a:buSzPct val="100000"/>
              <a:buChar char="•"/>
            </a:pPr>
            <a:r>
              <a:rPr lang="en-US" sz="1200" dirty="0">
                <a:solidFill>
                  <a:srgbClr val="D6E8EB"/>
                </a:solidFill>
                <a:latin typeface="Calibri" pitchFamily="34" charset="0"/>
                <a:ea typeface="Calibri" pitchFamily="34" charset="-122"/>
                <a:cs typeface="Calibri" pitchFamily="34" charset="-120"/>
              </a:rPr>
              <a:t>When you close it, it asks whether you were right — and separately, whether you were right for the right reasons.</a:t>
            </a:r>
            <a:endParaRPr lang="en-US" sz="1200" dirty="0"/>
          </a:p>
        </p:txBody>
      </p:sp>
      <p:sp>
        <p:nvSpPr>
          <p:cNvPr id="13" name="Shape 11"/>
          <p:cNvSpPr/>
          <p:nvPr/>
        </p:nvSpPr>
        <p:spPr>
          <a:xfrm>
            <a:off x="10314432" y="2212848"/>
            <a:ext cx="960120" cy="237744"/>
          </a:xfrm>
          <a:prstGeom prst="roundRect">
            <a:avLst>
              <a:gd name="adj" fmla="val 38462"/>
            </a:avLst>
          </a:prstGeom>
          <a:solidFill>
            <a:srgbClr val="7A4B00"/>
          </a:solidFill>
          <a:ln/>
        </p:spPr>
      </p:sp>
      <p:sp>
        <p:nvSpPr>
          <p:cNvPr id="14" name="Text 12"/>
          <p:cNvSpPr txBox="1"/>
          <p:nvPr/>
        </p:nvSpPr>
        <p:spPr>
          <a:xfrm>
            <a:off x="10314432" y="2212848"/>
            <a:ext cx="960120" cy="237744"/>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alibri" pitchFamily="34" charset="0"/>
                <a:ea typeface="Calibri" pitchFamily="34" charset="-122"/>
                <a:cs typeface="Calibri" pitchFamily="34" charset="-120"/>
              </a:rPr>
              <a:t>PLANNED</a:t>
            </a:r>
            <a:endParaRPr lang="en-US" sz="850" dirty="0"/>
          </a:p>
        </p:txBody>
      </p:sp>
      <p:sp>
        <p:nvSpPr>
          <p:cNvPr id="15" name="Text 13"/>
          <p:cNvSpPr txBox="1"/>
          <p:nvPr/>
        </p:nvSpPr>
        <p:spPr>
          <a:xfrm>
            <a:off x="685800" y="6291072"/>
            <a:ext cx="10817352" cy="274320"/>
          </a:xfrm>
          <a:prstGeom prst="rect">
            <a:avLst/>
          </a:prstGeom>
          <a:noFill/>
          <a:ln/>
        </p:spPr>
        <p:txBody>
          <a:bodyPr wrap="square" lIns="0" tIns="0" rIns="0" bIns="0" rtlCol="0" anchor="t"/>
          <a:lstStyle/>
          <a:p>
            <a:pPr indent="0" marL="0">
              <a:buNone/>
            </a:pPr>
            <a:r>
              <a:rPr lang="en-US" sz="950" i="1" dirty="0">
                <a:solidFill>
                  <a:srgbClr val="6E8A92"/>
                </a:solidFill>
                <a:latin typeface="Calibri" pitchFamily="34" charset="0"/>
                <a:ea typeface="Calibri" pitchFamily="34" charset="-122"/>
                <a:cs typeface="Calibri" pitchFamily="34" charset="-120"/>
              </a:rPr>
              <a:t>This is the thing a chat session structurally cannot do: it has no record of what you decided, and no reason to look again tomorrow.</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685800" y="402336"/>
            <a:ext cx="9601200" cy="274320"/>
          </a:xfrm>
          <a:prstGeom prst="rect">
            <a:avLst/>
          </a:prstGeom>
          <a:noFill/>
          <a:ln/>
        </p:spPr>
        <p:txBody>
          <a:bodyPr wrap="square" lIns="0" tIns="0" rIns="0" bIns="0" rtlCol="0" anchor="t"/>
          <a:lstStyle/>
          <a:p>
            <a:pPr indent="0" marL="0">
              <a:buNone/>
            </a:pPr>
            <a:r>
              <a:rPr lang="en-US" sz="1100" b="1" spc="220" kern="0" dirty="0">
                <a:solidFill>
                  <a:srgbClr val="0F6673"/>
                </a:solidFill>
                <a:latin typeface="Calibri" pitchFamily="34" charset="0"/>
                <a:ea typeface="Calibri" pitchFamily="34" charset="-122"/>
                <a:cs typeface="Calibri" pitchFamily="34" charset="-120"/>
              </a:rPr>
              <a:t>THE LOOP, STAGE BY STAGE</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5252E"/>
                </a:solidFill>
                <a:latin typeface="Cambria" pitchFamily="34" charset="0"/>
                <a:ea typeface="Cambria" pitchFamily="34" charset="-122"/>
                <a:cs typeface="Cambria" pitchFamily="34" charset="-120"/>
              </a:rPr>
              <a:t>Each stage writes a record the next one reads</a:t>
            </a:r>
            <a:endParaRPr lang="en-US" sz="3200" dirty="0"/>
          </a:p>
        </p:txBody>
      </p:sp>
      <p:sp>
        <p:nvSpPr>
          <p:cNvPr id="4" name="Text 2"/>
          <p:cNvSpPr txBox="1"/>
          <p:nvPr/>
        </p:nvSpPr>
        <p:spPr>
          <a:xfrm>
            <a:off x="685800" y="1444752"/>
            <a:ext cx="10058400" cy="365760"/>
          </a:xfrm>
          <a:prstGeom prst="rect">
            <a:avLst/>
          </a:prstGeom>
          <a:noFill/>
          <a:ln/>
        </p:spPr>
        <p:txBody>
          <a:bodyPr wrap="square" lIns="0" tIns="0" rIns="0" bIns="0" rtlCol="0" anchor="t"/>
          <a:lstStyle/>
          <a:p>
            <a:pPr indent="0" marL="0">
              <a:lnSpc>
                <a:spcPts val="1700"/>
              </a:lnSpc>
              <a:buNone/>
            </a:pPr>
            <a:r>
              <a:rPr lang="en-US" sz="1250" dirty="0">
                <a:solidFill>
                  <a:srgbClr val="52656E"/>
                </a:solidFill>
                <a:latin typeface="Calibri" pitchFamily="34" charset="0"/>
                <a:ea typeface="Calibri" pitchFamily="34" charset="-122"/>
                <a:cs typeface="Calibri" pitchFamily="34" charset="-120"/>
              </a:rPr>
              <a:t>Nothing here is a new app. It is four things the platform already half-knows, joined up.</a:t>
            </a:r>
            <a:endParaRPr lang="en-US" sz="1250" dirty="0"/>
          </a:p>
        </p:txBody>
      </p:sp>
      <p:sp>
        <p:nvSpPr>
          <p:cNvPr id="5" name="Shape 3"/>
          <p:cNvSpPr/>
          <p:nvPr/>
        </p:nvSpPr>
        <p:spPr>
          <a:xfrm>
            <a:off x="685800" y="2084832"/>
            <a:ext cx="2487168" cy="3611880"/>
          </a:xfrm>
          <a:prstGeom prst="roundRect">
            <a:avLst>
              <a:gd name="adj" fmla="val 1838"/>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6" name="Shape 4"/>
          <p:cNvSpPr/>
          <p:nvPr/>
        </p:nvSpPr>
        <p:spPr>
          <a:xfrm>
            <a:off x="685800" y="2084832"/>
            <a:ext cx="2487168" cy="41148"/>
          </a:xfrm>
          <a:prstGeom prst="rect">
            <a:avLst/>
          </a:prstGeom>
          <a:solidFill>
            <a:srgbClr val="0F6673"/>
          </a:solidFill>
          <a:ln/>
        </p:spPr>
      </p:sp>
      <p:sp>
        <p:nvSpPr>
          <p:cNvPr id="7" name="Shape 5"/>
          <p:cNvSpPr/>
          <p:nvPr/>
        </p:nvSpPr>
        <p:spPr>
          <a:xfrm>
            <a:off x="868680" y="2304288"/>
            <a:ext cx="420624" cy="420624"/>
          </a:xfrm>
          <a:prstGeom prst="ellipse">
            <a:avLst/>
          </a:prstGeom>
          <a:solidFill>
            <a:srgbClr val="0F6673"/>
          </a:solidFill>
          <a:ln/>
        </p:spPr>
      </p:sp>
      <p:sp>
        <p:nvSpPr>
          <p:cNvPr id="8" name="Text 6"/>
          <p:cNvSpPr txBox="1"/>
          <p:nvPr/>
        </p:nvSpPr>
        <p:spPr>
          <a:xfrm>
            <a:off x="868680" y="23042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1380744" y="2377440"/>
            <a:ext cx="1645920" cy="274320"/>
          </a:xfrm>
          <a:prstGeom prst="rect">
            <a:avLst/>
          </a:prstGeom>
          <a:noFill/>
          <a:ln/>
        </p:spPr>
        <p:txBody>
          <a:bodyPr wrap="square" lIns="0" tIns="0" rIns="0" bIns="0" rtlCol="0" anchor="ctr"/>
          <a:lstStyle/>
          <a:p>
            <a:pPr indent="0" marL="0">
              <a:buNone/>
            </a:pPr>
            <a:r>
              <a:rPr lang="en-US" sz="1100" b="1" spc="160" kern="0" dirty="0">
                <a:solidFill>
                  <a:srgbClr val="0F6673"/>
                </a:solidFill>
                <a:latin typeface="Calibri" pitchFamily="34" charset="0"/>
                <a:ea typeface="Calibri" pitchFamily="34" charset="-122"/>
                <a:cs typeface="Calibri" pitchFamily="34" charset="-120"/>
              </a:rPr>
              <a:t>RESEARCH</a:t>
            </a:r>
            <a:endParaRPr lang="en-US" sz="1100" dirty="0"/>
          </a:p>
        </p:txBody>
      </p:sp>
      <p:sp>
        <p:nvSpPr>
          <p:cNvPr id="10" name="Text 8"/>
          <p:cNvSpPr txBox="1"/>
          <p:nvPr/>
        </p:nvSpPr>
        <p:spPr>
          <a:xfrm>
            <a:off x="868680" y="2889504"/>
            <a:ext cx="2121408" cy="822960"/>
          </a:xfrm>
          <a:prstGeom prst="rect">
            <a:avLst/>
          </a:prstGeom>
          <a:noFill/>
          <a:ln/>
        </p:spPr>
        <p:txBody>
          <a:bodyPr wrap="square" lIns="0" tIns="0" rIns="0" bIns="0" rtlCol="0" anchor="t"/>
          <a:lstStyle/>
          <a:p>
            <a:pPr indent="0" marL="0">
              <a:lnSpc>
                <a:spcPts val="1900"/>
              </a:lnSpc>
              <a:buNone/>
            </a:pPr>
            <a:r>
              <a:rPr lang="en-US" sz="1600" b="1" dirty="0">
                <a:solidFill>
                  <a:srgbClr val="15252E"/>
                </a:solidFill>
                <a:latin typeface="Cambria" pitchFamily="34" charset="0"/>
                <a:ea typeface="Cambria" pitchFamily="34" charset="-122"/>
                <a:cs typeface="Cambria" pitchFamily="34" charset="-120"/>
              </a:rPr>
              <a:t>The report, deeper</a:t>
            </a:r>
            <a:endParaRPr lang="en-US" sz="1600" dirty="0"/>
          </a:p>
        </p:txBody>
      </p:sp>
      <p:sp>
        <p:nvSpPr>
          <p:cNvPr id="11" name="Text 9"/>
          <p:cNvSpPr txBox="1"/>
          <p:nvPr/>
        </p:nvSpPr>
        <p:spPr>
          <a:xfrm>
            <a:off x="868680" y="3803904"/>
            <a:ext cx="2121408" cy="1783080"/>
          </a:xfrm>
          <a:prstGeom prst="rect">
            <a:avLst/>
          </a:prstGeom>
          <a:noFill/>
          <a:ln/>
        </p:spPr>
        <p:txBody>
          <a:bodyPr wrap="square" lIns="0" tIns="0" rIns="0" bIns="0" rtlCol="0" anchor="t"/>
          <a:lstStyle/>
          <a:p>
            <a:pPr marL="342900" indent="-342900">
              <a:lnSpc>
                <a:spcPts val="1400"/>
              </a:lnSpc>
              <a:spcAft>
                <a:spcPts val="700"/>
              </a:spcAft>
              <a:buSzPct val="100000"/>
              <a:buChar char="•"/>
            </a:pPr>
            <a:r>
              <a:rPr lang="en-US" sz="1050" dirty="0">
                <a:solidFill>
                  <a:srgbClr val="52656E"/>
                </a:solidFill>
                <a:latin typeface="Calibri" pitchFamily="34" charset="0"/>
                <a:ea typeface="Calibri" pitchFamily="34" charset="-122"/>
                <a:cs typeface="Calibri" pitchFamily="34" charset="-120"/>
              </a:rPr>
              <a:t>States a view instead of “no view reached”</a:t>
            </a:r>
            <a:endParaRPr lang="en-US" sz="1050" dirty="0"/>
          </a:p>
          <a:p>
            <a:pPr marL="342900" indent="-342900">
              <a:lnSpc>
                <a:spcPts val="1400"/>
              </a:lnSpc>
              <a:spcAft>
                <a:spcPts val="700"/>
              </a:spcAft>
              <a:buSzPct val="100000"/>
              <a:buChar char="•"/>
            </a:pPr>
            <a:r>
              <a:rPr lang="en-US" sz="1050" dirty="0">
                <a:solidFill>
                  <a:srgbClr val="52656E"/>
                </a:solidFill>
                <a:latin typeface="Calibri" pitchFamily="34" charset="0"/>
                <a:ea typeface="Calibri" pitchFamily="34" charset="-122"/>
                <a:cs typeface="Calibri" pitchFamily="34" charset="-120"/>
              </a:rPr>
              <a:t>An adversary that argues the other side</a:t>
            </a:r>
            <a:endParaRPr lang="en-US" sz="1050" dirty="0"/>
          </a:p>
          <a:p>
            <a:pPr marL="342900" indent="-342900">
              <a:lnSpc>
                <a:spcPts val="1400"/>
              </a:lnSpc>
              <a:spcAft>
                <a:spcPts val="700"/>
              </a:spcAft>
              <a:buSzPct val="100000"/>
              <a:buChar char="•"/>
            </a:pPr>
            <a:r>
              <a:rPr lang="en-US" sz="1050" dirty="0">
                <a:solidFill>
                  <a:srgbClr val="52656E"/>
                </a:solidFill>
                <a:latin typeface="Calibri" pitchFamily="34" charset="0"/>
                <a:ea typeface="Calibri" pitchFamily="34" charset="-122"/>
                <a:cs typeface="Calibri" pitchFamily="34" charset="-120"/>
              </a:rPr>
              <a:t>Prints the figures it already computes</a:t>
            </a:r>
            <a:endParaRPr lang="en-US" sz="1050" dirty="0"/>
          </a:p>
        </p:txBody>
      </p:sp>
      <p:sp>
        <p:nvSpPr>
          <p:cNvPr id="12" name="Shape 10"/>
          <p:cNvSpPr/>
          <p:nvPr/>
        </p:nvSpPr>
        <p:spPr>
          <a:xfrm>
            <a:off x="3383280" y="2084832"/>
            <a:ext cx="2487168" cy="3611880"/>
          </a:xfrm>
          <a:prstGeom prst="roundRect">
            <a:avLst>
              <a:gd name="adj" fmla="val 1838"/>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13" name="Shape 11"/>
          <p:cNvSpPr/>
          <p:nvPr/>
        </p:nvSpPr>
        <p:spPr>
          <a:xfrm>
            <a:off x="3383280" y="2084832"/>
            <a:ext cx="2487168" cy="41148"/>
          </a:xfrm>
          <a:prstGeom prst="rect">
            <a:avLst/>
          </a:prstGeom>
          <a:solidFill>
            <a:srgbClr val="7A4B00"/>
          </a:solidFill>
          <a:ln/>
        </p:spPr>
      </p:sp>
      <p:sp>
        <p:nvSpPr>
          <p:cNvPr id="14" name="Shape 12"/>
          <p:cNvSpPr/>
          <p:nvPr/>
        </p:nvSpPr>
        <p:spPr>
          <a:xfrm>
            <a:off x="3566160" y="2304288"/>
            <a:ext cx="420624" cy="420624"/>
          </a:xfrm>
          <a:prstGeom prst="ellipse">
            <a:avLst/>
          </a:prstGeom>
          <a:solidFill>
            <a:srgbClr val="7A4B00"/>
          </a:solidFill>
          <a:ln/>
        </p:spPr>
      </p:sp>
      <p:sp>
        <p:nvSpPr>
          <p:cNvPr id="15" name="Text 13"/>
          <p:cNvSpPr txBox="1"/>
          <p:nvPr/>
        </p:nvSpPr>
        <p:spPr>
          <a:xfrm>
            <a:off x="3566160" y="23042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4"/>
          <p:cNvSpPr txBox="1"/>
          <p:nvPr/>
        </p:nvSpPr>
        <p:spPr>
          <a:xfrm>
            <a:off x="4078224" y="2377440"/>
            <a:ext cx="1645920" cy="274320"/>
          </a:xfrm>
          <a:prstGeom prst="rect">
            <a:avLst/>
          </a:prstGeom>
          <a:noFill/>
          <a:ln/>
        </p:spPr>
        <p:txBody>
          <a:bodyPr wrap="square" lIns="0" tIns="0" rIns="0" bIns="0" rtlCol="0" anchor="ctr"/>
          <a:lstStyle/>
          <a:p>
            <a:pPr indent="0" marL="0">
              <a:buNone/>
            </a:pPr>
            <a:r>
              <a:rPr lang="en-US" sz="1100" b="1" spc="160" kern="0" dirty="0">
                <a:solidFill>
                  <a:srgbClr val="7A4B00"/>
                </a:solidFill>
                <a:latin typeface="Calibri" pitchFamily="34" charset="0"/>
                <a:ea typeface="Calibri" pitchFamily="34" charset="-122"/>
                <a:cs typeface="Calibri" pitchFamily="34" charset="-120"/>
              </a:rPr>
              <a:t>DECIDE</a:t>
            </a:r>
            <a:endParaRPr lang="en-US" sz="1100" dirty="0"/>
          </a:p>
        </p:txBody>
      </p:sp>
      <p:sp>
        <p:nvSpPr>
          <p:cNvPr id="17" name="Text 15"/>
          <p:cNvSpPr txBox="1"/>
          <p:nvPr/>
        </p:nvSpPr>
        <p:spPr>
          <a:xfrm>
            <a:off x="3566160" y="2889504"/>
            <a:ext cx="2121408" cy="822960"/>
          </a:xfrm>
          <a:prstGeom prst="rect">
            <a:avLst/>
          </a:prstGeom>
          <a:noFill/>
          <a:ln/>
        </p:spPr>
        <p:txBody>
          <a:bodyPr wrap="square" lIns="0" tIns="0" rIns="0" bIns="0" rtlCol="0" anchor="t"/>
          <a:lstStyle/>
          <a:p>
            <a:pPr indent="0" marL="0">
              <a:lnSpc>
                <a:spcPts val="1900"/>
              </a:lnSpc>
              <a:buNone/>
            </a:pPr>
            <a:r>
              <a:rPr lang="en-US" sz="1600" b="1" dirty="0">
                <a:solidFill>
                  <a:srgbClr val="15252E"/>
                </a:solidFill>
                <a:latin typeface="Cambria" pitchFamily="34" charset="0"/>
                <a:ea typeface="Cambria" pitchFamily="34" charset="-122"/>
                <a:cs typeface="Cambria" pitchFamily="34" charset="-120"/>
              </a:rPr>
              <a:t>Why, before the outcome</a:t>
            </a:r>
            <a:endParaRPr lang="en-US" sz="1600" dirty="0"/>
          </a:p>
        </p:txBody>
      </p:sp>
      <p:sp>
        <p:nvSpPr>
          <p:cNvPr id="18" name="Text 16"/>
          <p:cNvSpPr txBox="1"/>
          <p:nvPr/>
        </p:nvSpPr>
        <p:spPr>
          <a:xfrm>
            <a:off x="3566160" y="3803904"/>
            <a:ext cx="2121408" cy="1783080"/>
          </a:xfrm>
          <a:prstGeom prst="rect">
            <a:avLst/>
          </a:prstGeom>
          <a:noFill/>
          <a:ln/>
        </p:spPr>
        <p:txBody>
          <a:bodyPr wrap="square" lIns="0" tIns="0" rIns="0" bIns="0" rtlCol="0" anchor="t"/>
          <a:lstStyle/>
          <a:p>
            <a:pPr marL="342900" indent="-342900">
              <a:lnSpc>
                <a:spcPts val="1400"/>
              </a:lnSpc>
              <a:spcAft>
                <a:spcPts val="700"/>
              </a:spcAft>
              <a:buSzPct val="100000"/>
              <a:buChar char="•"/>
            </a:pPr>
            <a:r>
              <a:rPr lang="en-US" sz="1050" dirty="0">
                <a:solidFill>
                  <a:srgbClr val="52656E"/>
                </a:solidFill>
                <a:latin typeface="Calibri" pitchFamily="34" charset="0"/>
                <a:ea typeface="Calibri" pitchFamily="34" charset="-122"/>
                <a:cs typeface="Calibri" pitchFamily="34" charset="-120"/>
              </a:rPr>
              <a:t>A thesis as premises, each with its test</a:t>
            </a:r>
            <a:endParaRPr lang="en-US" sz="1050" dirty="0"/>
          </a:p>
          <a:p>
            <a:pPr marL="342900" indent="-342900">
              <a:lnSpc>
                <a:spcPts val="1400"/>
              </a:lnSpc>
              <a:spcAft>
                <a:spcPts val="700"/>
              </a:spcAft>
              <a:buSzPct val="100000"/>
              <a:buChar char="•"/>
            </a:pPr>
            <a:r>
              <a:rPr lang="en-US" sz="1050" dirty="0">
                <a:solidFill>
                  <a:srgbClr val="52656E"/>
                </a:solidFill>
                <a:latin typeface="Calibri" pitchFamily="34" charset="0"/>
                <a:ea typeface="Calibri" pitchFamily="34" charset="-122"/>
                <a:cs typeface="Calibri" pitchFamily="34" charset="-120"/>
              </a:rPr>
              <a:t>Buy, add, trim, exit — and pass</a:t>
            </a:r>
            <a:endParaRPr lang="en-US" sz="1050" dirty="0"/>
          </a:p>
          <a:p>
            <a:pPr marL="342900" indent="-342900">
              <a:lnSpc>
                <a:spcPts val="1400"/>
              </a:lnSpc>
              <a:spcAft>
                <a:spcPts val="700"/>
              </a:spcAft>
              <a:buSzPct val="100000"/>
              <a:buChar char="•"/>
            </a:pPr>
            <a:r>
              <a:rPr lang="en-US" sz="1050" dirty="0">
                <a:solidFill>
                  <a:srgbClr val="52656E"/>
                </a:solidFill>
                <a:latin typeface="Calibri" pitchFamily="34" charset="0"/>
                <a:ea typeface="Calibri" pitchFamily="34" charset="-122"/>
                <a:cs typeface="Calibri" pitchFamily="34" charset="-120"/>
              </a:rPr>
              <a:t>What it does to the book you already hold</a:t>
            </a:r>
            <a:endParaRPr lang="en-US" sz="1050" dirty="0"/>
          </a:p>
        </p:txBody>
      </p:sp>
      <p:sp>
        <p:nvSpPr>
          <p:cNvPr id="19" name="Shape 17"/>
          <p:cNvSpPr/>
          <p:nvPr/>
        </p:nvSpPr>
        <p:spPr>
          <a:xfrm>
            <a:off x="6080760" y="2084832"/>
            <a:ext cx="2487168" cy="3611880"/>
          </a:xfrm>
          <a:prstGeom prst="roundRect">
            <a:avLst>
              <a:gd name="adj" fmla="val 1838"/>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20" name="Shape 18"/>
          <p:cNvSpPr/>
          <p:nvPr/>
        </p:nvSpPr>
        <p:spPr>
          <a:xfrm>
            <a:off x="6080760" y="2084832"/>
            <a:ext cx="2487168" cy="41148"/>
          </a:xfrm>
          <a:prstGeom prst="rect">
            <a:avLst/>
          </a:prstGeom>
          <a:solidFill>
            <a:srgbClr val="14613F"/>
          </a:solidFill>
          <a:ln/>
        </p:spPr>
      </p:sp>
      <p:sp>
        <p:nvSpPr>
          <p:cNvPr id="21" name="Shape 19"/>
          <p:cNvSpPr/>
          <p:nvPr/>
        </p:nvSpPr>
        <p:spPr>
          <a:xfrm>
            <a:off x="6263640" y="2304288"/>
            <a:ext cx="420624" cy="420624"/>
          </a:xfrm>
          <a:prstGeom prst="ellipse">
            <a:avLst/>
          </a:prstGeom>
          <a:solidFill>
            <a:srgbClr val="14613F"/>
          </a:solidFill>
          <a:ln/>
        </p:spPr>
      </p:sp>
      <p:sp>
        <p:nvSpPr>
          <p:cNvPr id="22" name="Text 20"/>
          <p:cNvSpPr txBox="1"/>
          <p:nvPr/>
        </p:nvSpPr>
        <p:spPr>
          <a:xfrm>
            <a:off x="6263640" y="23042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3" name="Text 21"/>
          <p:cNvSpPr txBox="1"/>
          <p:nvPr/>
        </p:nvSpPr>
        <p:spPr>
          <a:xfrm>
            <a:off x="6775704" y="2377440"/>
            <a:ext cx="1645920" cy="274320"/>
          </a:xfrm>
          <a:prstGeom prst="rect">
            <a:avLst/>
          </a:prstGeom>
          <a:noFill/>
          <a:ln/>
        </p:spPr>
        <p:txBody>
          <a:bodyPr wrap="square" lIns="0" tIns="0" rIns="0" bIns="0" rtlCol="0" anchor="ctr"/>
          <a:lstStyle/>
          <a:p>
            <a:pPr indent="0" marL="0">
              <a:buNone/>
            </a:pPr>
            <a:r>
              <a:rPr lang="en-US" sz="1100" b="1" spc="160" kern="0" dirty="0">
                <a:solidFill>
                  <a:srgbClr val="14613F"/>
                </a:solidFill>
                <a:latin typeface="Calibri" pitchFamily="34" charset="0"/>
                <a:ea typeface="Calibri" pitchFamily="34" charset="-122"/>
                <a:cs typeface="Calibri" pitchFamily="34" charset="-120"/>
              </a:rPr>
              <a:t>HOLD</a:t>
            </a:r>
            <a:endParaRPr lang="en-US" sz="1100" dirty="0"/>
          </a:p>
        </p:txBody>
      </p:sp>
      <p:sp>
        <p:nvSpPr>
          <p:cNvPr id="24" name="Text 22"/>
          <p:cNvSpPr txBox="1"/>
          <p:nvPr/>
        </p:nvSpPr>
        <p:spPr>
          <a:xfrm>
            <a:off x="6263640" y="2889504"/>
            <a:ext cx="2121408" cy="822960"/>
          </a:xfrm>
          <a:prstGeom prst="rect">
            <a:avLst/>
          </a:prstGeom>
          <a:noFill/>
          <a:ln/>
        </p:spPr>
        <p:txBody>
          <a:bodyPr wrap="square" lIns="0" tIns="0" rIns="0" bIns="0" rtlCol="0" anchor="t"/>
          <a:lstStyle/>
          <a:p>
            <a:pPr indent="0" marL="0">
              <a:lnSpc>
                <a:spcPts val="1900"/>
              </a:lnSpc>
              <a:buNone/>
            </a:pPr>
            <a:r>
              <a:rPr lang="en-US" sz="1600" b="1" dirty="0">
                <a:solidFill>
                  <a:srgbClr val="15252E"/>
                </a:solidFill>
                <a:latin typeface="Cambria" pitchFamily="34" charset="0"/>
                <a:ea typeface="Cambria" pitchFamily="34" charset="-122"/>
                <a:cs typeface="Cambria" pitchFamily="34" charset="-120"/>
              </a:rPr>
              <a:t>Watched while you get on</a:t>
            </a:r>
            <a:endParaRPr lang="en-US" sz="1600" dirty="0"/>
          </a:p>
        </p:txBody>
      </p:sp>
      <p:sp>
        <p:nvSpPr>
          <p:cNvPr id="25" name="Text 23"/>
          <p:cNvSpPr txBox="1"/>
          <p:nvPr/>
        </p:nvSpPr>
        <p:spPr>
          <a:xfrm>
            <a:off x="6263640" y="3803904"/>
            <a:ext cx="2121408" cy="1783080"/>
          </a:xfrm>
          <a:prstGeom prst="rect">
            <a:avLst/>
          </a:prstGeom>
          <a:noFill/>
          <a:ln/>
        </p:spPr>
        <p:txBody>
          <a:bodyPr wrap="square" lIns="0" tIns="0" rIns="0" bIns="0" rtlCol="0" anchor="t"/>
          <a:lstStyle/>
          <a:p>
            <a:pPr marL="342900" indent="-342900">
              <a:lnSpc>
                <a:spcPts val="1400"/>
              </a:lnSpc>
              <a:spcAft>
                <a:spcPts val="700"/>
              </a:spcAft>
              <a:buSzPct val="100000"/>
              <a:buChar char="•"/>
            </a:pPr>
            <a:r>
              <a:rPr lang="en-US" sz="1050" dirty="0">
                <a:solidFill>
                  <a:srgbClr val="52656E"/>
                </a:solidFill>
                <a:latin typeface="Calibri" pitchFamily="34" charset="0"/>
                <a:ea typeface="Calibri" pitchFamily="34" charset="-122"/>
                <a:cs typeface="Calibri" pitchFamily="34" charset="-120"/>
              </a:rPr>
              <a:t>Premises checked against new filings</a:t>
            </a:r>
            <a:endParaRPr lang="en-US" sz="1050" dirty="0"/>
          </a:p>
          <a:p>
            <a:pPr marL="342900" indent="-342900">
              <a:lnSpc>
                <a:spcPts val="1400"/>
              </a:lnSpc>
              <a:spcAft>
                <a:spcPts val="700"/>
              </a:spcAft>
              <a:buSzPct val="100000"/>
              <a:buChar char="•"/>
            </a:pPr>
            <a:r>
              <a:rPr lang="en-US" sz="1050" dirty="0">
                <a:solidFill>
                  <a:srgbClr val="52656E"/>
                </a:solidFill>
                <a:latin typeface="Calibri" pitchFamily="34" charset="0"/>
                <a:ea typeface="Calibri" pitchFamily="34" charset="-122"/>
                <a:cs typeface="Calibri" pitchFamily="34" charset="-120"/>
              </a:rPr>
              <a:t>Price moves that cross a threshold</a:t>
            </a:r>
            <a:endParaRPr lang="en-US" sz="1050" dirty="0"/>
          </a:p>
          <a:p>
            <a:pPr marL="342900" indent="-342900">
              <a:lnSpc>
                <a:spcPts val="1400"/>
              </a:lnSpc>
              <a:spcAft>
                <a:spcPts val="700"/>
              </a:spcAft>
              <a:buSzPct val="100000"/>
              <a:buChar char="•"/>
            </a:pPr>
            <a:r>
              <a:rPr lang="en-US" sz="1050" dirty="0">
                <a:solidFill>
                  <a:srgbClr val="52656E"/>
                </a:solidFill>
                <a:latin typeface="Calibri" pitchFamily="34" charset="0"/>
                <a:ea typeface="Calibri" pitchFamily="34" charset="-122"/>
                <a:cs typeface="Calibri" pitchFamily="34" charset="-120"/>
              </a:rPr>
              <a:t>A refresh when enough has changed</a:t>
            </a:r>
            <a:endParaRPr lang="en-US" sz="1050" dirty="0"/>
          </a:p>
        </p:txBody>
      </p:sp>
      <p:sp>
        <p:nvSpPr>
          <p:cNvPr id="26" name="Shape 24"/>
          <p:cNvSpPr/>
          <p:nvPr/>
        </p:nvSpPr>
        <p:spPr>
          <a:xfrm>
            <a:off x="8778240" y="2084832"/>
            <a:ext cx="2487168" cy="3611880"/>
          </a:xfrm>
          <a:prstGeom prst="roundRect">
            <a:avLst>
              <a:gd name="adj" fmla="val 1838"/>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27" name="Shape 25"/>
          <p:cNvSpPr/>
          <p:nvPr/>
        </p:nvSpPr>
        <p:spPr>
          <a:xfrm>
            <a:off x="8778240" y="2084832"/>
            <a:ext cx="2487168" cy="41148"/>
          </a:xfrm>
          <a:prstGeom prst="rect">
            <a:avLst/>
          </a:prstGeom>
          <a:solidFill>
            <a:srgbClr val="6B3F60"/>
          </a:solidFill>
          <a:ln/>
        </p:spPr>
      </p:sp>
      <p:sp>
        <p:nvSpPr>
          <p:cNvPr id="28" name="Shape 26"/>
          <p:cNvSpPr/>
          <p:nvPr/>
        </p:nvSpPr>
        <p:spPr>
          <a:xfrm>
            <a:off x="8961120" y="2304288"/>
            <a:ext cx="420624" cy="420624"/>
          </a:xfrm>
          <a:prstGeom prst="ellipse">
            <a:avLst/>
          </a:prstGeom>
          <a:solidFill>
            <a:srgbClr val="6B3F60"/>
          </a:solidFill>
          <a:ln/>
        </p:spPr>
      </p:sp>
      <p:sp>
        <p:nvSpPr>
          <p:cNvPr id="29" name="Text 27"/>
          <p:cNvSpPr txBox="1"/>
          <p:nvPr/>
        </p:nvSpPr>
        <p:spPr>
          <a:xfrm>
            <a:off x="8961120" y="23042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30" name="Text 28"/>
          <p:cNvSpPr txBox="1"/>
          <p:nvPr/>
        </p:nvSpPr>
        <p:spPr>
          <a:xfrm>
            <a:off x="9473184" y="2377440"/>
            <a:ext cx="1645920" cy="274320"/>
          </a:xfrm>
          <a:prstGeom prst="rect">
            <a:avLst/>
          </a:prstGeom>
          <a:noFill/>
          <a:ln/>
        </p:spPr>
        <p:txBody>
          <a:bodyPr wrap="square" lIns="0" tIns="0" rIns="0" bIns="0" rtlCol="0" anchor="ctr"/>
          <a:lstStyle/>
          <a:p>
            <a:pPr indent="0" marL="0">
              <a:buNone/>
            </a:pPr>
            <a:r>
              <a:rPr lang="en-US" sz="1100" b="1" spc="160" kern="0" dirty="0">
                <a:solidFill>
                  <a:srgbClr val="6B3F60"/>
                </a:solidFill>
                <a:latin typeface="Calibri" pitchFamily="34" charset="0"/>
                <a:ea typeface="Calibri" pitchFamily="34" charset="-122"/>
                <a:cs typeface="Calibri" pitchFamily="34" charset="-120"/>
              </a:rPr>
              <a:t>REVIEW</a:t>
            </a:r>
            <a:endParaRPr lang="en-US" sz="1100" dirty="0"/>
          </a:p>
        </p:txBody>
      </p:sp>
      <p:sp>
        <p:nvSpPr>
          <p:cNvPr id="31" name="Text 29"/>
          <p:cNvSpPr txBox="1"/>
          <p:nvPr/>
        </p:nvSpPr>
        <p:spPr>
          <a:xfrm>
            <a:off x="8961120" y="2889504"/>
            <a:ext cx="2121408" cy="822960"/>
          </a:xfrm>
          <a:prstGeom prst="rect">
            <a:avLst/>
          </a:prstGeom>
          <a:noFill/>
          <a:ln/>
        </p:spPr>
        <p:txBody>
          <a:bodyPr wrap="square" lIns="0" tIns="0" rIns="0" bIns="0" rtlCol="0" anchor="t"/>
          <a:lstStyle/>
          <a:p>
            <a:pPr indent="0" marL="0">
              <a:lnSpc>
                <a:spcPts val="1900"/>
              </a:lnSpc>
              <a:buNone/>
            </a:pPr>
            <a:r>
              <a:rPr lang="en-US" sz="1600" b="1" dirty="0">
                <a:solidFill>
                  <a:srgbClr val="15252E"/>
                </a:solidFill>
                <a:latin typeface="Cambria" pitchFamily="34" charset="0"/>
                <a:ea typeface="Cambria" pitchFamily="34" charset="-122"/>
                <a:cs typeface="Cambria" pitchFamily="34" charset="-120"/>
              </a:rPr>
              <a:t>Two questions, never conflated</a:t>
            </a:r>
            <a:endParaRPr lang="en-US" sz="1600" dirty="0"/>
          </a:p>
        </p:txBody>
      </p:sp>
      <p:sp>
        <p:nvSpPr>
          <p:cNvPr id="32" name="Text 30"/>
          <p:cNvSpPr txBox="1"/>
          <p:nvPr/>
        </p:nvSpPr>
        <p:spPr>
          <a:xfrm>
            <a:off x="8961120" y="3803904"/>
            <a:ext cx="2121408" cy="1783080"/>
          </a:xfrm>
          <a:prstGeom prst="rect">
            <a:avLst/>
          </a:prstGeom>
          <a:noFill/>
          <a:ln/>
        </p:spPr>
        <p:txBody>
          <a:bodyPr wrap="square" lIns="0" tIns="0" rIns="0" bIns="0" rtlCol="0" anchor="t"/>
          <a:lstStyle/>
          <a:p>
            <a:pPr marL="342900" indent="-342900">
              <a:lnSpc>
                <a:spcPts val="1400"/>
              </a:lnSpc>
              <a:spcAft>
                <a:spcPts val="700"/>
              </a:spcAft>
              <a:buSzPct val="100000"/>
              <a:buChar char="•"/>
            </a:pPr>
            <a:r>
              <a:rPr lang="en-US" sz="1050" dirty="0">
                <a:solidFill>
                  <a:srgbClr val="52656E"/>
                </a:solidFill>
                <a:latin typeface="Calibri" pitchFamily="34" charset="0"/>
                <a:ea typeface="Calibri" pitchFamily="34" charset="-122"/>
                <a:cs typeface="Calibri" pitchFamily="34" charset="-120"/>
              </a:rPr>
              <a:t>Did it work out?</a:t>
            </a:r>
            <a:endParaRPr lang="en-US" sz="1050" dirty="0"/>
          </a:p>
          <a:p>
            <a:pPr marL="342900" indent="-342900">
              <a:lnSpc>
                <a:spcPts val="1400"/>
              </a:lnSpc>
              <a:spcAft>
                <a:spcPts val="700"/>
              </a:spcAft>
              <a:buSzPct val="100000"/>
              <a:buChar char="•"/>
            </a:pPr>
            <a:r>
              <a:rPr lang="en-US" sz="1050" dirty="0">
                <a:solidFill>
                  <a:srgbClr val="52656E"/>
                </a:solidFill>
                <a:latin typeface="Calibri" pitchFamily="34" charset="0"/>
                <a:ea typeface="Calibri" pitchFamily="34" charset="-122"/>
                <a:cs typeface="Calibri" pitchFamily="34" charset="-120"/>
              </a:rPr>
              <a:t>Was the reasoning sound?</a:t>
            </a:r>
            <a:endParaRPr lang="en-US" sz="1050" dirty="0"/>
          </a:p>
          <a:p>
            <a:pPr marL="342900" indent="-342900">
              <a:lnSpc>
                <a:spcPts val="1400"/>
              </a:lnSpc>
              <a:spcAft>
                <a:spcPts val="700"/>
              </a:spcAft>
              <a:buSzPct val="100000"/>
              <a:buChar char="•"/>
            </a:pPr>
            <a:r>
              <a:rPr lang="en-US" sz="1050" dirty="0">
                <a:solidFill>
                  <a:srgbClr val="52656E"/>
                </a:solidFill>
                <a:latin typeface="Calibri" pitchFamily="34" charset="0"/>
                <a:ea typeface="Calibri" pitchFamily="34" charset="-122"/>
                <a:cs typeface="Calibri" pitchFamily="34" charset="-120"/>
              </a:rPr>
              <a:t>Right for the right reasons · right anyway · wrong for good reasons · wrong for bad</a:t>
            </a:r>
            <a:endParaRPr lang="en-US" sz="1050" dirty="0"/>
          </a:p>
        </p:txBody>
      </p:sp>
      <p:sp>
        <p:nvSpPr>
          <p:cNvPr id="33" name="Shape 31"/>
          <p:cNvSpPr/>
          <p:nvPr/>
        </p:nvSpPr>
        <p:spPr>
          <a:xfrm>
            <a:off x="10588752" y="420624"/>
            <a:ext cx="914400" cy="237744"/>
          </a:xfrm>
          <a:prstGeom prst="roundRect">
            <a:avLst>
              <a:gd name="adj" fmla="val 38462"/>
            </a:avLst>
          </a:prstGeom>
          <a:solidFill>
            <a:srgbClr val="7A4B00"/>
          </a:solidFill>
          <a:ln/>
        </p:spPr>
      </p:sp>
      <p:sp>
        <p:nvSpPr>
          <p:cNvPr id="34" name="Text 32"/>
          <p:cNvSpPr txBox="1"/>
          <p:nvPr/>
        </p:nvSpPr>
        <p:spPr>
          <a:xfrm>
            <a:off x="10588752" y="420624"/>
            <a:ext cx="914400" cy="237744"/>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alibri" pitchFamily="34" charset="0"/>
                <a:ea typeface="Calibri" pitchFamily="34" charset="-122"/>
                <a:cs typeface="Calibri" pitchFamily="34" charset="-120"/>
              </a:rPr>
              <a:t>PLANNED</a:t>
            </a:r>
            <a:endParaRPr lang="en-US" sz="850" dirty="0"/>
          </a:p>
        </p:txBody>
      </p:sp>
      <p:sp>
        <p:nvSpPr>
          <p:cNvPr id="35" name="Text 33"/>
          <p:cNvSpPr txBox="1"/>
          <p:nvPr/>
        </p:nvSpPr>
        <p:spPr>
          <a:xfrm>
            <a:off x="685800" y="6291072"/>
            <a:ext cx="10817352" cy="274320"/>
          </a:xfrm>
          <a:prstGeom prst="rect">
            <a:avLst/>
          </a:prstGeom>
          <a:noFill/>
          <a:ln/>
        </p:spPr>
        <p:txBody>
          <a:bodyPr wrap="square" lIns="0" tIns="0" rIns="0" bIns="0" rtlCol="0" anchor="t"/>
          <a:lstStyle/>
          <a:p>
            <a:pPr indent="0" marL="0">
              <a:buNone/>
            </a:pPr>
            <a:r>
              <a:rPr lang="en-US" sz="950" i="1" dirty="0">
                <a:solidFill>
                  <a:srgbClr val="5B6D75"/>
                </a:solidFill>
                <a:latin typeface="Calibri" pitchFamily="34" charset="0"/>
                <a:ea typeface="Calibri" pitchFamily="34" charset="-122"/>
                <a:cs typeface="Calibri" pitchFamily="34" charset="-120"/>
              </a:rPr>
              <a:t>Eighteen features, specified in docs/V1.0_Alpha/ — and the judgement layer they connect to is already built and has never been reached from a report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685800" y="402336"/>
            <a:ext cx="9601200" cy="274320"/>
          </a:xfrm>
          <a:prstGeom prst="rect">
            <a:avLst/>
          </a:prstGeom>
          <a:noFill/>
          <a:ln/>
        </p:spPr>
        <p:txBody>
          <a:bodyPr wrap="square" lIns="0" tIns="0" rIns="0" bIns="0" rtlCol="0" anchor="t"/>
          <a:lstStyle/>
          <a:p>
            <a:pPr indent="0" marL="0">
              <a:buNone/>
            </a:pPr>
            <a:r>
              <a:rPr lang="en-US" sz="1100" b="1" spc="220" kern="0" dirty="0">
                <a:solidFill>
                  <a:srgbClr val="0F6673"/>
                </a:solidFill>
                <a:latin typeface="Calibri" pitchFamily="34" charset="0"/>
                <a:ea typeface="Calibri" pitchFamily="34" charset="-122"/>
                <a:cs typeface="Calibri" pitchFamily="34" charset="-120"/>
              </a:rPr>
              <a:t>WHERE YOU WILL ACTUALLY LIVE</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5252E"/>
                </a:solidFill>
                <a:latin typeface="Cambria" pitchFamily="34" charset="0"/>
                <a:ea typeface="Cambria" pitchFamily="34" charset="-122"/>
                <a:cs typeface="Cambria" pitchFamily="34" charset="-120"/>
              </a:rPr>
              <a:t>Your home stops being a filing cabinet</a:t>
            </a:r>
            <a:endParaRPr lang="en-US" sz="3200" dirty="0"/>
          </a:p>
        </p:txBody>
      </p:sp>
      <p:sp>
        <p:nvSpPr>
          <p:cNvPr id="4" name="Shape 2"/>
          <p:cNvSpPr/>
          <p:nvPr/>
        </p:nvSpPr>
        <p:spPr>
          <a:xfrm>
            <a:off x="685800" y="1572768"/>
            <a:ext cx="10817352" cy="1024128"/>
          </a:xfrm>
          <a:prstGeom prst="roundRect">
            <a:avLst>
              <a:gd name="adj" fmla="val 4464"/>
            </a:avLst>
          </a:prstGeom>
          <a:solidFill>
            <a:srgbClr val="E2F3F4"/>
          </a:solidFill>
          <a:ln w="9525">
            <a:solidFill>
              <a:srgbClr val="BBD9DD"/>
            </a:solidFill>
            <a:prstDash val="solid"/>
          </a:ln>
          <a:effectLst>
            <a:outerShdw sx="100000" sy="100000" kx="0" ky="0" algn="bl" rotWithShape="0" blurRad="152400" dist="38100" dir="5400000">
              <a:srgbClr val="07171D">
                <a:alpha val="12000"/>
              </a:srgbClr>
            </a:outerShdw>
          </a:effectLst>
        </p:spPr>
      </p:sp>
      <p:sp>
        <p:nvSpPr>
          <p:cNvPr id="5" name="Text 3"/>
          <p:cNvSpPr txBox="1"/>
          <p:nvPr/>
        </p:nvSpPr>
        <p:spPr>
          <a:xfrm>
            <a:off x="1051560" y="1783080"/>
            <a:ext cx="10058400" cy="603504"/>
          </a:xfrm>
          <a:prstGeom prst="rect">
            <a:avLst/>
          </a:prstGeom>
          <a:noFill/>
          <a:ln/>
        </p:spPr>
        <p:txBody>
          <a:bodyPr wrap="square" lIns="0" tIns="0" rIns="0" bIns="0" rtlCol="0" anchor="t"/>
          <a:lstStyle/>
          <a:p>
            <a:pPr indent="0" marL="0">
              <a:buNone/>
            </a:pPr>
            <a:r>
              <a:rPr lang="en-US" sz="2500" b="1" i="1" dirty="0">
                <a:solidFill>
                  <a:srgbClr val="0F6673"/>
                </a:solidFill>
                <a:latin typeface="Cambria" pitchFamily="34" charset="0"/>
                <a:ea typeface="Cambria" pitchFamily="34" charset="-122"/>
                <a:cs typeface="Cambria" pitchFamily="34" charset="-120"/>
              </a:rPr>
              <a:t>“Are the reasons I bought still standing?”</a:t>
            </a:r>
            <a:endParaRPr lang="en-US" sz="2500" dirty="0"/>
          </a:p>
        </p:txBody>
      </p:sp>
      <p:sp>
        <p:nvSpPr>
          <p:cNvPr id="6" name="Text 4"/>
          <p:cNvSpPr txBox="1"/>
          <p:nvPr/>
        </p:nvSpPr>
        <p:spPr>
          <a:xfrm>
            <a:off x="685800" y="2788920"/>
            <a:ext cx="6492240" cy="1371600"/>
          </a:xfrm>
          <a:prstGeom prst="rect">
            <a:avLst/>
          </a:prstGeom>
          <a:noFill/>
          <a:ln/>
        </p:spPr>
        <p:txBody>
          <a:bodyPr wrap="square" lIns="0" tIns="0" rIns="0" bIns="0" rtlCol="0" anchor="t"/>
          <a:lstStyle/>
          <a:p>
            <a:pPr indent="0" marL="0">
              <a:lnSpc>
                <a:spcPts val="1900"/>
              </a:lnSpc>
              <a:buNone/>
            </a:pPr>
            <a:r>
              <a:rPr lang="en-US" sz="1300" dirty="0">
                <a:solidFill>
                  <a:srgbClr val="52656E"/>
                </a:solidFill>
                <a:latin typeface="Calibri" pitchFamily="34" charset="0"/>
                <a:ea typeface="Calibri" pitchFamily="34" charset="-122"/>
                <a:cs typeface="Calibri" pitchFamily="34" charset="-120"/>
              </a:rPr>
              <a:t>The portfolio becomes a validity dashboard rather than a list of holdings. Every position is shown against the thesis that justified it, and the question the page answers is whether that thesis still holds — not what the position is worth, which your broker already tells you.</a:t>
            </a:r>
            <a:endParaRPr lang="en-US" sz="1300" dirty="0"/>
          </a:p>
        </p:txBody>
      </p:sp>
      <p:sp>
        <p:nvSpPr>
          <p:cNvPr id="7" name="Shape 5"/>
          <p:cNvSpPr/>
          <p:nvPr/>
        </p:nvSpPr>
        <p:spPr>
          <a:xfrm>
            <a:off x="7406640" y="2788920"/>
            <a:ext cx="4096512" cy="658368"/>
          </a:xfrm>
          <a:prstGeom prst="roundRect">
            <a:avLst>
              <a:gd name="adj" fmla="val 6944"/>
            </a:avLst>
          </a:prstGeom>
          <a:solidFill>
            <a:srgbClr val="E3F4EA"/>
          </a:solidFill>
          <a:ln w="9525">
            <a:solidFill>
              <a:srgbClr val="FFFFFF"/>
            </a:solidFill>
            <a:prstDash val="solid"/>
          </a:ln>
          <a:effectLst>
            <a:outerShdw sx="100000" sy="100000" kx="0" ky="0" algn="bl" rotWithShape="0" blurRad="152400" dist="38100" dir="5400000">
              <a:srgbClr val="07171D">
                <a:alpha val="12000"/>
              </a:srgbClr>
            </a:outerShdw>
          </a:effectLst>
        </p:spPr>
      </p:sp>
      <p:sp>
        <p:nvSpPr>
          <p:cNvPr id="8" name="Shape 6"/>
          <p:cNvSpPr/>
          <p:nvPr/>
        </p:nvSpPr>
        <p:spPr>
          <a:xfrm>
            <a:off x="7406640" y="2788920"/>
            <a:ext cx="36576" cy="658368"/>
          </a:xfrm>
          <a:prstGeom prst="rect">
            <a:avLst/>
          </a:prstGeom>
          <a:solidFill>
            <a:srgbClr val="14613F"/>
          </a:solidFill>
          <a:ln/>
        </p:spPr>
      </p:sp>
      <p:sp>
        <p:nvSpPr>
          <p:cNvPr id="9" name="Text 7"/>
          <p:cNvSpPr txBox="1"/>
          <p:nvPr/>
        </p:nvSpPr>
        <p:spPr>
          <a:xfrm>
            <a:off x="7607808" y="2871216"/>
            <a:ext cx="3749040" cy="237744"/>
          </a:xfrm>
          <a:prstGeom prst="rect">
            <a:avLst/>
          </a:prstGeom>
          <a:noFill/>
          <a:ln/>
        </p:spPr>
        <p:txBody>
          <a:bodyPr wrap="square" lIns="0" tIns="0" rIns="0" bIns="0" rtlCol="0" anchor="t"/>
          <a:lstStyle/>
          <a:p>
            <a:pPr indent="0" marL="0">
              <a:buNone/>
            </a:pPr>
            <a:r>
              <a:rPr lang="en-US" sz="1150" b="1" dirty="0">
                <a:solidFill>
                  <a:srgbClr val="14613F"/>
                </a:solidFill>
                <a:latin typeface="Calibri" pitchFamily="34" charset="0"/>
                <a:ea typeface="Calibri" pitchFamily="34" charset="-122"/>
                <a:cs typeface="Calibri" pitchFamily="34" charset="-120"/>
              </a:rPr>
              <a:t>Holding up</a:t>
            </a:r>
            <a:endParaRPr lang="en-US" sz="1150" dirty="0"/>
          </a:p>
        </p:txBody>
      </p:sp>
      <p:sp>
        <p:nvSpPr>
          <p:cNvPr id="10" name="Text 8"/>
          <p:cNvSpPr txBox="1"/>
          <p:nvPr/>
        </p:nvSpPr>
        <p:spPr>
          <a:xfrm>
            <a:off x="7607808" y="3118104"/>
            <a:ext cx="3749040" cy="274320"/>
          </a:xfrm>
          <a:prstGeom prst="rect">
            <a:avLst/>
          </a:prstGeom>
          <a:noFill/>
          <a:ln/>
        </p:spPr>
        <p:txBody>
          <a:bodyPr wrap="square" lIns="0" tIns="0" rIns="0" bIns="0" rtlCol="0" anchor="t"/>
          <a:lstStyle/>
          <a:p>
            <a:pPr indent="0" marL="0">
              <a:buNone/>
            </a:pPr>
            <a:r>
              <a:rPr lang="en-US" sz="1050" dirty="0">
                <a:solidFill>
                  <a:srgbClr val="15252E"/>
                </a:solidFill>
                <a:latin typeface="Calibri" pitchFamily="34" charset="0"/>
                <a:ea typeface="Calibri" pitchFamily="34" charset="-122"/>
                <a:cs typeface="Calibri" pitchFamily="34" charset="-120"/>
              </a:rPr>
              <a:t>every premise still inside its threshold</a:t>
            </a:r>
            <a:endParaRPr lang="en-US" sz="1050" dirty="0"/>
          </a:p>
        </p:txBody>
      </p:sp>
      <p:sp>
        <p:nvSpPr>
          <p:cNvPr id="11" name="Shape 9"/>
          <p:cNvSpPr/>
          <p:nvPr/>
        </p:nvSpPr>
        <p:spPr>
          <a:xfrm>
            <a:off x="7406640" y="3584448"/>
            <a:ext cx="4096512" cy="658368"/>
          </a:xfrm>
          <a:prstGeom prst="roundRect">
            <a:avLst>
              <a:gd name="adj" fmla="val 6944"/>
            </a:avLst>
          </a:prstGeom>
          <a:solidFill>
            <a:srgbClr val="FFF3D6"/>
          </a:solidFill>
          <a:ln w="9525">
            <a:solidFill>
              <a:srgbClr val="FFFFFF"/>
            </a:solidFill>
            <a:prstDash val="solid"/>
          </a:ln>
          <a:effectLst>
            <a:outerShdw sx="100000" sy="100000" kx="0" ky="0" algn="bl" rotWithShape="0" blurRad="152400" dist="38100" dir="5400000">
              <a:srgbClr val="07171D">
                <a:alpha val="12000"/>
              </a:srgbClr>
            </a:outerShdw>
          </a:effectLst>
        </p:spPr>
      </p:sp>
      <p:sp>
        <p:nvSpPr>
          <p:cNvPr id="12" name="Shape 10"/>
          <p:cNvSpPr/>
          <p:nvPr/>
        </p:nvSpPr>
        <p:spPr>
          <a:xfrm>
            <a:off x="7406640" y="3584448"/>
            <a:ext cx="36576" cy="658368"/>
          </a:xfrm>
          <a:prstGeom prst="rect">
            <a:avLst/>
          </a:prstGeom>
          <a:solidFill>
            <a:srgbClr val="7A4B00"/>
          </a:solidFill>
          <a:ln/>
        </p:spPr>
      </p:sp>
      <p:sp>
        <p:nvSpPr>
          <p:cNvPr id="13" name="Text 11"/>
          <p:cNvSpPr txBox="1"/>
          <p:nvPr/>
        </p:nvSpPr>
        <p:spPr>
          <a:xfrm>
            <a:off x="7607808" y="3666744"/>
            <a:ext cx="3749040" cy="237744"/>
          </a:xfrm>
          <a:prstGeom prst="rect">
            <a:avLst/>
          </a:prstGeom>
          <a:noFill/>
          <a:ln/>
        </p:spPr>
        <p:txBody>
          <a:bodyPr wrap="square" lIns="0" tIns="0" rIns="0" bIns="0" rtlCol="0" anchor="t"/>
          <a:lstStyle/>
          <a:p>
            <a:pPr indent="0" marL="0">
              <a:buNone/>
            </a:pPr>
            <a:r>
              <a:rPr lang="en-US" sz="1150" b="1" dirty="0">
                <a:solidFill>
                  <a:srgbClr val="7A4B00"/>
                </a:solidFill>
                <a:latin typeface="Calibri" pitchFamily="34" charset="0"/>
                <a:ea typeface="Calibri" pitchFamily="34" charset="-122"/>
                <a:cs typeface="Calibri" pitchFamily="34" charset="-120"/>
              </a:rPr>
              <a:t>Needs a look</a:t>
            </a:r>
            <a:endParaRPr lang="en-US" sz="1150" dirty="0"/>
          </a:p>
        </p:txBody>
      </p:sp>
      <p:sp>
        <p:nvSpPr>
          <p:cNvPr id="14" name="Text 12"/>
          <p:cNvSpPr txBox="1"/>
          <p:nvPr/>
        </p:nvSpPr>
        <p:spPr>
          <a:xfrm>
            <a:off x="7607808" y="3913632"/>
            <a:ext cx="3749040" cy="274320"/>
          </a:xfrm>
          <a:prstGeom prst="rect">
            <a:avLst/>
          </a:prstGeom>
          <a:noFill/>
          <a:ln/>
        </p:spPr>
        <p:txBody>
          <a:bodyPr wrap="square" lIns="0" tIns="0" rIns="0" bIns="0" rtlCol="0" anchor="t"/>
          <a:lstStyle/>
          <a:p>
            <a:pPr indent="0" marL="0">
              <a:buNone/>
            </a:pPr>
            <a:r>
              <a:rPr lang="en-US" sz="1050" dirty="0">
                <a:solidFill>
                  <a:srgbClr val="15252E"/>
                </a:solidFill>
                <a:latin typeface="Calibri" pitchFamily="34" charset="0"/>
                <a:ea typeface="Calibri" pitchFamily="34" charset="-122"/>
                <a:cs typeface="Calibri" pitchFamily="34" charset="-120"/>
              </a:rPr>
              <a:t>a premise has crossed, or a price has moved far</a:t>
            </a:r>
            <a:endParaRPr lang="en-US" sz="1050" dirty="0"/>
          </a:p>
        </p:txBody>
      </p:sp>
      <p:sp>
        <p:nvSpPr>
          <p:cNvPr id="15" name="Shape 13"/>
          <p:cNvSpPr/>
          <p:nvPr/>
        </p:nvSpPr>
        <p:spPr>
          <a:xfrm>
            <a:off x="7406640" y="4379976"/>
            <a:ext cx="4096512" cy="658368"/>
          </a:xfrm>
          <a:prstGeom prst="roundRect">
            <a:avLst>
              <a:gd name="adj" fmla="val 6944"/>
            </a:avLst>
          </a:prstGeom>
          <a:solidFill>
            <a:srgbClr val="FBEAED"/>
          </a:solidFill>
          <a:ln w="9525">
            <a:solidFill>
              <a:srgbClr val="FFFFFF"/>
            </a:solidFill>
            <a:prstDash val="solid"/>
          </a:ln>
          <a:effectLst>
            <a:outerShdw sx="100000" sy="100000" kx="0" ky="0" algn="bl" rotWithShape="0" blurRad="152400" dist="38100" dir="5400000">
              <a:srgbClr val="07171D">
                <a:alpha val="12000"/>
              </a:srgbClr>
            </a:outerShdw>
          </a:effectLst>
        </p:spPr>
      </p:sp>
      <p:sp>
        <p:nvSpPr>
          <p:cNvPr id="16" name="Shape 14"/>
          <p:cNvSpPr/>
          <p:nvPr/>
        </p:nvSpPr>
        <p:spPr>
          <a:xfrm>
            <a:off x="7406640" y="4379976"/>
            <a:ext cx="36576" cy="658368"/>
          </a:xfrm>
          <a:prstGeom prst="rect">
            <a:avLst/>
          </a:prstGeom>
          <a:solidFill>
            <a:srgbClr val="9B293F"/>
          </a:solidFill>
          <a:ln/>
        </p:spPr>
      </p:sp>
      <p:sp>
        <p:nvSpPr>
          <p:cNvPr id="17" name="Text 15"/>
          <p:cNvSpPr txBox="1"/>
          <p:nvPr/>
        </p:nvSpPr>
        <p:spPr>
          <a:xfrm>
            <a:off x="7607808" y="4462272"/>
            <a:ext cx="3749040" cy="237744"/>
          </a:xfrm>
          <a:prstGeom prst="rect">
            <a:avLst/>
          </a:prstGeom>
          <a:noFill/>
          <a:ln/>
        </p:spPr>
        <p:txBody>
          <a:bodyPr wrap="square" lIns="0" tIns="0" rIns="0" bIns="0" rtlCol="0" anchor="t"/>
          <a:lstStyle/>
          <a:p>
            <a:pPr indent="0" marL="0">
              <a:buNone/>
            </a:pPr>
            <a:r>
              <a:rPr lang="en-US" sz="1150" b="1" dirty="0">
                <a:solidFill>
                  <a:srgbClr val="9B293F"/>
                </a:solidFill>
                <a:latin typeface="Calibri" pitchFamily="34" charset="0"/>
                <a:ea typeface="Calibri" pitchFamily="34" charset="-122"/>
                <a:cs typeface="Calibri" pitchFamily="34" charset="-120"/>
              </a:rPr>
              <a:t>Broken</a:t>
            </a:r>
            <a:endParaRPr lang="en-US" sz="1150" dirty="0"/>
          </a:p>
        </p:txBody>
      </p:sp>
      <p:sp>
        <p:nvSpPr>
          <p:cNvPr id="18" name="Text 16"/>
          <p:cNvSpPr txBox="1"/>
          <p:nvPr/>
        </p:nvSpPr>
        <p:spPr>
          <a:xfrm>
            <a:off x="7607808" y="4709160"/>
            <a:ext cx="3749040" cy="274320"/>
          </a:xfrm>
          <a:prstGeom prst="rect">
            <a:avLst/>
          </a:prstGeom>
          <a:noFill/>
          <a:ln/>
        </p:spPr>
        <p:txBody>
          <a:bodyPr wrap="square" lIns="0" tIns="0" rIns="0" bIns="0" rtlCol="0" anchor="t"/>
          <a:lstStyle/>
          <a:p>
            <a:pPr indent="0" marL="0">
              <a:buNone/>
            </a:pPr>
            <a:r>
              <a:rPr lang="en-US" sz="1050" dirty="0">
                <a:solidFill>
                  <a:srgbClr val="15252E"/>
                </a:solidFill>
                <a:latin typeface="Calibri" pitchFamily="34" charset="0"/>
                <a:ea typeface="Calibri" pitchFamily="34" charset="-122"/>
                <a:cs typeface="Calibri" pitchFamily="34" charset="-120"/>
              </a:rPr>
              <a:t>a premise has failed its own test</a:t>
            </a:r>
            <a:endParaRPr lang="en-US" sz="1050" dirty="0"/>
          </a:p>
        </p:txBody>
      </p:sp>
      <p:sp>
        <p:nvSpPr>
          <p:cNvPr id="19" name="Shape 17"/>
          <p:cNvSpPr/>
          <p:nvPr/>
        </p:nvSpPr>
        <p:spPr>
          <a:xfrm>
            <a:off x="7406640" y="5175504"/>
            <a:ext cx="4096512" cy="658368"/>
          </a:xfrm>
          <a:prstGeom prst="roundRect">
            <a:avLst>
              <a:gd name="adj" fmla="val 6944"/>
            </a:avLst>
          </a:prstGeom>
          <a:solidFill>
            <a:srgbClr val="F6EAF2"/>
          </a:solidFill>
          <a:ln w="9525">
            <a:solidFill>
              <a:srgbClr val="FFFFFF"/>
            </a:solidFill>
            <a:prstDash val="solid"/>
          </a:ln>
          <a:effectLst>
            <a:outerShdw sx="100000" sy="100000" kx="0" ky="0" algn="bl" rotWithShape="0" blurRad="152400" dist="38100" dir="5400000">
              <a:srgbClr val="07171D">
                <a:alpha val="12000"/>
              </a:srgbClr>
            </a:outerShdw>
          </a:effectLst>
        </p:spPr>
      </p:sp>
      <p:sp>
        <p:nvSpPr>
          <p:cNvPr id="20" name="Shape 18"/>
          <p:cNvSpPr/>
          <p:nvPr/>
        </p:nvSpPr>
        <p:spPr>
          <a:xfrm>
            <a:off x="7406640" y="5175504"/>
            <a:ext cx="36576" cy="658368"/>
          </a:xfrm>
          <a:prstGeom prst="rect">
            <a:avLst/>
          </a:prstGeom>
          <a:solidFill>
            <a:srgbClr val="6B3F60"/>
          </a:solidFill>
          <a:ln/>
        </p:spPr>
      </p:sp>
      <p:sp>
        <p:nvSpPr>
          <p:cNvPr id="21" name="Text 19"/>
          <p:cNvSpPr txBox="1"/>
          <p:nvPr/>
        </p:nvSpPr>
        <p:spPr>
          <a:xfrm>
            <a:off x="7607808" y="5257800"/>
            <a:ext cx="3749040" cy="237744"/>
          </a:xfrm>
          <a:prstGeom prst="rect">
            <a:avLst/>
          </a:prstGeom>
          <a:noFill/>
          <a:ln/>
        </p:spPr>
        <p:txBody>
          <a:bodyPr wrap="square" lIns="0" tIns="0" rIns="0" bIns="0" rtlCol="0" anchor="t"/>
          <a:lstStyle/>
          <a:p>
            <a:pPr indent="0" marL="0">
              <a:buNone/>
            </a:pPr>
            <a:r>
              <a:rPr lang="en-US" sz="1150" b="1" dirty="0">
                <a:solidFill>
                  <a:srgbClr val="6B3F60"/>
                </a:solidFill>
                <a:latin typeface="Calibri" pitchFamily="34" charset="0"/>
                <a:ea typeface="Calibri" pitchFamily="34" charset="-122"/>
                <a:cs typeface="Calibri" pitchFamily="34" charset="-120"/>
              </a:rPr>
              <a:t>Unwatched</a:t>
            </a:r>
            <a:endParaRPr lang="en-US" sz="1150" dirty="0"/>
          </a:p>
        </p:txBody>
      </p:sp>
      <p:sp>
        <p:nvSpPr>
          <p:cNvPr id="22" name="Text 20"/>
          <p:cNvSpPr txBox="1"/>
          <p:nvPr/>
        </p:nvSpPr>
        <p:spPr>
          <a:xfrm>
            <a:off x="7607808" y="5504688"/>
            <a:ext cx="3749040" cy="274320"/>
          </a:xfrm>
          <a:prstGeom prst="rect">
            <a:avLst/>
          </a:prstGeom>
          <a:noFill/>
          <a:ln/>
        </p:spPr>
        <p:txBody>
          <a:bodyPr wrap="square" lIns="0" tIns="0" rIns="0" bIns="0" rtlCol="0" anchor="t"/>
          <a:lstStyle/>
          <a:p>
            <a:pPr indent="0" marL="0">
              <a:buNone/>
            </a:pPr>
            <a:r>
              <a:rPr lang="en-US" sz="1050" dirty="0">
                <a:solidFill>
                  <a:srgbClr val="15252E"/>
                </a:solidFill>
                <a:latin typeface="Calibri" pitchFamily="34" charset="0"/>
                <a:ea typeface="Calibri" pitchFamily="34" charset="-122"/>
                <a:cs typeface="Calibri" pitchFamily="34" charset="-120"/>
              </a:rPr>
              <a:t>held with no thesis written — named, not hidden</a:t>
            </a:r>
            <a:endParaRPr lang="en-US" sz="1050" dirty="0"/>
          </a:p>
        </p:txBody>
      </p:sp>
      <p:sp>
        <p:nvSpPr>
          <p:cNvPr id="23" name="Text 21"/>
          <p:cNvSpPr txBox="1"/>
          <p:nvPr/>
        </p:nvSpPr>
        <p:spPr>
          <a:xfrm>
            <a:off x="685800" y="4343400"/>
            <a:ext cx="6492240" cy="1005840"/>
          </a:xfrm>
          <a:prstGeom prst="rect">
            <a:avLst/>
          </a:prstGeom>
          <a:noFill/>
          <a:ln/>
        </p:spPr>
        <p:txBody>
          <a:bodyPr wrap="square" lIns="0" tIns="0" rIns="0" bIns="0" rtlCol="0" anchor="t"/>
          <a:lstStyle/>
          <a:p>
            <a:pPr indent="0" marL="0">
              <a:lnSpc>
                <a:spcPts val="1900"/>
              </a:lnSpc>
              <a:buNone/>
            </a:pPr>
            <a:r>
              <a:rPr lang="en-US" sz="1300" dirty="0">
                <a:solidFill>
                  <a:srgbClr val="52656E"/>
                </a:solidFill>
                <a:latin typeface="Calibri" pitchFamily="34" charset="0"/>
                <a:ea typeface="Calibri" pitchFamily="34" charset="-122"/>
                <a:cs typeface="Calibri" pitchFamily="34" charset="-120"/>
              </a:rPr>
              <a:t>And a landing page that opens with what state your book is in — not a list of notifications you have to triage before you know whether anything matters.</a:t>
            </a:r>
            <a:endParaRPr lang="en-US" sz="1300" dirty="0"/>
          </a:p>
        </p:txBody>
      </p:sp>
      <p:sp>
        <p:nvSpPr>
          <p:cNvPr id="24" name="Shape 22"/>
          <p:cNvSpPr/>
          <p:nvPr/>
        </p:nvSpPr>
        <p:spPr>
          <a:xfrm>
            <a:off x="10588752" y="420624"/>
            <a:ext cx="914400" cy="237744"/>
          </a:xfrm>
          <a:prstGeom prst="roundRect">
            <a:avLst>
              <a:gd name="adj" fmla="val 38462"/>
            </a:avLst>
          </a:prstGeom>
          <a:solidFill>
            <a:srgbClr val="7A4B00"/>
          </a:solidFill>
          <a:ln/>
        </p:spPr>
      </p:sp>
      <p:sp>
        <p:nvSpPr>
          <p:cNvPr id="25" name="Text 23"/>
          <p:cNvSpPr txBox="1"/>
          <p:nvPr/>
        </p:nvSpPr>
        <p:spPr>
          <a:xfrm>
            <a:off x="10588752" y="420624"/>
            <a:ext cx="914400" cy="237744"/>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alibri" pitchFamily="34" charset="0"/>
                <a:ea typeface="Calibri" pitchFamily="34" charset="-122"/>
                <a:cs typeface="Calibri" pitchFamily="34" charset="-120"/>
              </a:rPr>
              <a:t>PLANNED</a:t>
            </a:r>
            <a:endParaRPr lang="en-US" sz="850" dirty="0"/>
          </a:p>
        </p:txBody>
      </p:sp>
      <p:sp>
        <p:nvSpPr>
          <p:cNvPr id="26" name="Text 24"/>
          <p:cNvSpPr txBox="1"/>
          <p:nvPr/>
        </p:nvSpPr>
        <p:spPr>
          <a:xfrm>
            <a:off x="685800" y="6291072"/>
            <a:ext cx="10817352" cy="274320"/>
          </a:xfrm>
          <a:prstGeom prst="rect">
            <a:avLst/>
          </a:prstGeom>
          <a:noFill/>
          <a:ln/>
        </p:spPr>
        <p:txBody>
          <a:bodyPr wrap="square" lIns="0" tIns="0" rIns="0" bIns="0" rtlCol="0" anchor="t"/>
          <a:lstStyle/>
          <a:p>
            <a:pPr indent="0" marL="0">
              <a:buNone/>
            </a:pPr>
            <a:r>
              <a:rPr lang="en-US" sz="950" i="1" dirty="0">
                <a:solidFill>
                  <a:srgbClr val="5B6D75"/>
                </a:solidFill>
                <a:latin typeface="Calibri" pitchFamily="34" charset="0"/>
                <a:ea typeface="Calibri" pitchFamily="34" charset="-122"/>
                <a:cs typeface="Calibri" pitchFamily="34" charset="-120"/>
              </a:rPr>
              <a:t>Nineteen surfaces drawn and documented in docs/V1.0_Alpha/design/ — every screen, with the decision it embodies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685800" y="402336"/>
            <a:ext cx="9601200" cy="274320"/>
          </a:xfrm>
          <a:prstGeom prst="rect">
            <a:avLst/>
          </a:prstGeom>
          <a:noFill/>
          <a:ln/>
        </p:spPr>
        <p:txBody>
          <a:bodyPr wrap="square" lIns="0" tIns="0" rIns="0" bIns="0" rtlCol="0" anchor="t"/>
          <a:lstStyle/>
          <a:p>
            <a:pPr indent="0" marL="0">
              <a:buNone/>
            </a:pPr>
            <a:r>
              <a:rPr lang="en-US" sz="1100" b="1" spc="220" kern="0" dirty="0">
                <a:solidFill>
                  <a:srgbClr val="7A4B00"/>
                </a:solidFill>
                <a:latin typeface="Calibri" pitchFamily="34" charset="0"/>
                <a:ea typeface="Calibri" pitchFamily="34" charset="-122"/>
                <a:cs typeface="Calibri" pitchFamily="34" charset="-120"/>
              </a:rPr>
              <a:t>THE LOAD-BEARING IDEA</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5252E"/>
                </a:solidFill>
                <a:latin typeface="Cambria" pitchFamily="34" charset="0"/>
                <a:ea typeface="Cambria" pitchFamily="34" charset="-122"/>
                <a:cs typeface="Cambria" pitchFamily="34" charset="-120"/>
              </a:rPr>
              <a:t>Write down why, and what would break it</a:t>
            </a:r>
            <a:endParaRPr lang="en-US" sz="3200" dirty="0"/>
          </a:p>
        </p:txBody>
      </p:sp>
      <p:sp>
        <p:nvSpPr>
          <p:cNvPr id="4" name="Text 2"/>
          <p:cNvSpPr txBox="1"/>
          <p:nvPr/>
        </p:nvSpPr>
        <p:spPr>
          <a:xfrm>
            <a:off x="685800" y="1444752"/>
            <a:ext cx="10058400" cy="457200"/>
          </a:xfrm>
          <a:prstGeom prst="rect">
            <a:avLst/>
          </a:prstGeom>
          <a:noFill/>
          <a:ln/>
        </p:spPr>
        <p:txBody>
          <a:bodyPr wrap="square" lIns="0" tIns="0" rIns="0" bIns="0" rtlCol="0" anchor="t"/>
          <a:lstStyle/>
          <a:p>
            <a:pPr indent="0" marL="0">
              <a:lnSpc>
                <a:spcPts val="1700"/>
              </a:lnSpc>
              <a:buNone/>
            </a:pPr>
            <a:r>
              <a:rPr lang="en-US" sz="1250" dirty="0">
                <a:solidFill>
                  <a:srgbClr val="52656E"/>
                </a:solidFill>
                <a:latin typeface="Calibri" pitchFamily="34" charset="0"/>
                <a:ea typeface="Calibri" pitchFamily="34" charset="-122"/>
                <a:cs typeface="Calibri" pitchFamily="34" charset="-120"/>
              </a:rPr>
              <a:t>A thesis is a set of sentences, and each one carries the test that defeats it. That is the whole trick, and everything downstream depends on it.</a:t>
            </a:r>
            <a:endParaRPr lang="en-US" sz="1250" dirty="0"/>
          </a:p>
        </p:txBody>
      </p:sp>
      <p:sp>
        <p:nvSpPr>
          <p:cNvPr id="5" name="Shape 3"/>
          <p:cNvSpPr/>
          <p:nvPr/>
        </p:nvSpPr>
        <p:spPr>
          <a:xfrm>
            <a:off x="685800" y="2103120"/>
            <a:ext cx="6720840" cy="2743200"/>
          </a:xfrm>
          <a:prstGeom prst="roundRect">
            <a:avLst>
              <a:gd name="adj" fmla="val 1667"/>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6" name="Text 4"/>
          <p:cNvSpPr txBox="1"/>
          <p:nvPr/>
        </p:nvSpPr>
        <p:spPr>
          <a:xfrm>
            <a:off x="1005840" y="2331720"/>
            <a:ext cx="6035040" cy="274320"/>
          </a:xfrm>
          <a:prstGeom prst="rect">
            <a:avLst/>
          </a:prstGeom>
          <a:noFill/>
          <a:ln/>
        </p:spPr>
        <p:txBody>
          <a:bodyPr wrap="square" lIns="0" tIns="0" rIns="0" bIns="0" rtlCol="0" anchor="t"/>
          <a:lstStyle/>
          <a:p>
            <a:pPr indent="0" marL="0">
              <a:buNone/>
            </a:pPr>
            <a:r>
              <a:rPr lang="en-US" sz="1100" b="1" spc="140" kern="0" dirty="0">
                <a:solidFill>
                  <a:srgbClr val="52656E"/>
                </a:solidFill>
                <a:latin typeface="Calibri" pitchFamily="34" charset="0"/>
                <a:ea typeface="Calibri" pitchFamily="34" charset="-122"/>
                <a:cs typeface="Calibri" pitchFamily="34" charset="-120"/>
              </a:rPr>
              <a:t>A premise, as the platform stores it</a:t>
            </a:r>
            <a:endParaRPr lang="en-US" sz="1100" dirty="0"/>
          </a:p>
        </p:txBody>
      </p:sp>
      <p:sp>
        <p:nvSpPr>
          <p:cNvPr id="7" name="Text 5"/>
          <p:cNvSpPr txBox="1"/>
          <p:nvPr/>
        </p:nvSpPr>
        <p:spPr>
          <a:xfrm>
            <a:off x="1005840" y="2697480"/>
            <a:ext cx="6035040" cy="411480"/>
          </a:xfrm>
          <a:prstGeom prst="rect">
            <a:avLst/>
          </a:prstGeom>
          <a:noFill/>
          <a:ln/>
        </p:spPr>
        <p:txBody>
          <a:bodyPr wrap="square" lIns="0" tIns="0" rIns="0" bIns="0" rtlCol="0" anchor="t"/>
          <a:lstStyle/>
          <a:p>
            <a:pPr indent="0" marL="0">
              <a:buNone/>
            </a:pPr>
            <a:r>
              <a:rPr lang="en-US" sz="2000" b="1" dirty="0">
                <a:solidFill>
                  <a:srgbClr val="15252E"/>
                </a:solidFill>
                <a:latin typeface="Cambria" pitchFamily="34" charset="0"/>
                <a:ea typeface="Cambria" pitchFamily="34" charset="-122"/>
                <a:cs typeface="Cambria" pitchFamily="34" charset="-120"/>
              </a:rPr>
              <a:t>“Cloud gross margin stays above 68%.”</a:t>
            </a:r>
            <a:endParaRPr lang="en-US" sz="2000" dirty="0"/>
          </a:p>
        </p:txBody>
      </p:sp>
      <p:sp>
        <p:nvSpPr>
          <p:cNvPr id="8" name="Shape 6"/>
          <p:cNvSpPr/>
          <p:nvPr/>
        </p:nvSpPr>
        <p:spPr>
          <a:xfrm>
            <a:off x="1005840" y="3291840"/>
            <a:ext cx="2880360" cy="548640"/>
          </a:xfrm>
          <a:prstGeom prst="roundRect">
            <a:avLst>
              <a:gd name="adj" fmla="val 10000"/>
            </a:avLst>
          </a:prstGeom>
          <a:solidFill>
            <a:srgbClr val="EAF0F1"/>
          </a:solidFill>
          <a:ln/>
        </p:spPr>
      </p:sp>
      <p:sp>
        <p:nvSpPr>
          <p:cNvPr id="9" name="Text 7"/>
          <p:cNvSpPr txBox="1"/>
          <p:nvPr/>
        </p:nvSpPr>
        <p:spPr>
          <a:xfrm>
            <a:off x="1152144" y="3346704"/>
            <a:ext cx="2651760" cy="201168"/>
          </a:xfrm>
          <a:prstGeom prst="rect">
            <a:avLst/>
          </a:prstGeom>
          <a:noFill/>
          <a:ln/>
        </p:spPr>
        <p:txBody>
          <a:bodyPr wrap="square" lIns="0" tIns="0" rIns="0" bIns="0" rtlCol="0" anchor="t"/>
          <a:lstStyle/>
          <a:p>
            <a:pPr indent="0" marL="0">
              <a:buNone/>
            </a:pPr>
            <a:r>
              <a:rPr lang="en-US" sz="850" b="1" spc="120" kern="0" dirty="0">
                <a:solidFill>
                  <a:srgbClr val="5B6D75"/>
                </a:solidFill>
                <a:latin typeface="Calibri" pitchFamily="34" charset="0"/>
                <a:ea typeface="Calibri" pitchFamily="34" charset="-122"/>
                <a:cs typeface="Calibri" pitchFamily="34" charset="-120"/>
              </a:rPr>
              <a:t>METRIC</a:t>
            </a:r>
            <a:endParaRPr lang="en-US" sz="850" dirty="0"/>
          </a:p>
        </p:txBody>
      </p:sp>
      <p:sp>
        <p:nvSpPr>
          <p:cNvPr id="10" name="Text 8"/>
          <p:cNvSpPr txBox="1"/>
          <p:nvPr/>
        </p:nvSpPr>
        <p:spPr>
          <a:xfrm>
            <a:off x="1152144" y="3547872"/>
            <a:ext cx="2651760" cy="256032"/>
          </a:xfrm>
          <a:prstGeom prst="rect">
            <a:avLst/>
          </a:prstGeom>
          <a:noFill/>
          <a:ln/>
        </p:spPr>
        <p:txBody>
          <a:bodyPr wrap="square" lIns="0" tIns="0" rIns="0" bIns="0" rtlCol="0" anchor="t"/>
          <a:lstStyle/>
          <a:p>
            <a:pPr indent="0" marL="0">
              <a:buNone/>
            </a:pPr>
            <a:r>
              <a:rPr lang="en-US" sz="1200" b="1" dirty="0">
                <a:solidFill>
                  <a:srgbClr val="0F6673"/>
                </a:solidFill>
                <a:latin typeface="Calibri" pitchFamily="34" charset="0"/>
                <a:ea typeface="Calibri" pitchFamily="34" charset="-122"/>
                <a:cs typeface="Calibri" pitchFamily="34" charset="-120"/>
              </a:rPr>
              <a:t>cloud gross margin</a:t>
            </a:r>
            <a:endParaRPr lang="en-US" sz="1200" dirty="0"/>
          </a:p>
        </p:txBody>
      </p:sp>
      <p:sp>
        <p:nvSpPr>
          <p:cNvPr id="11" name="Shape 9"/>
          <p:cNvSpPr/>
          <p:nvPr/>
        </p:nvSpPr>
        <p:spPr>
          <a:xfrm>
            <a:off x="4069080" y="3291840"/>
            <a:ext cx="2880360" cy="548640"/>
          </a:xfrm>
          <a:prstGeom prst="roundRect">
            <a:avLst>
              <a:gd name="adj" fmla="val 10000"/>
            </a:avLst>
          </a:prstGeom>
          <a:solidFill>
            <a:srgbClr val="EAF0F1"/>
          </a:solidFill>
          <a:ln/>
        </p:spPr>
      </p:sp>
      <p:sp>
        <p:nvSpPr>
          <p:cNvPr id="12" name="Text 10"/>
          <p:cNvSpPr txBox="1"/>
          <p:nvPr/>
        </p:nvSpPr>
        <p:spPr>
          <a:xfrm>
            <a:off x="4215384" y="3346704"/>
            <a:ext cx="2651760" cy="201168"/>
          </a:xfrm>
          <a:prstGeom prst="rect">
            <a:avLst/>
          </a:prstGeom>
          <a:noFill/>
          <a:ln/>
        </p:spPr>
        <p:txBody>
          <a:bodyPr wrap="square" lIns="0" tIns="0" rIns="0" bIns="0" rtlCol="0" anchor="t"/>
          <a:lstStyle/>
          <a:p>
            <a:pPr indent="0" marL="0">
              <a:buNone/>
            </a:pPr>
            <a:r>
              <a:rPr lang="en-US" sz="850" b="1" spc="120" kern="0" dirty="0">
                <a:solidFill>
                  <a:srgbClr val="5B6D75"/>
                </a:solidFill>
                <a:latin typeface="Calibri" pitchFamily="34" charset="0"/>
                <a:ea typeface="Calibri" pitchFamily="34" charset="-122"/>
                <a:cs typeface="Calibri" pitchFamily="34" charset="-120"/>
              </a:rPr>
              <a:t>COMPARATOR</a:t>
            </a:r>
            <a:endParaRPr lang="en-US" sz="850" dirty="0"/>
          </a:p>
        </p:txBody>
      </p:sp>
      <p:sp>
        <p:nvSpPr>
          <p:cNvPr id="13" name="Text 11"/>
          <p:cNvSpPr txBox="1"/>
          <p:nvPr/>
        </p:nvSpPr>
        <p:spPr>
          <a:xfrm>
            <a:off x="4215384" y="3547872"/>
            <a:ext cx="2651760" cy="256032"/>
          </a:xfrm>
          <a:prstGeom prst="rect">
            <a:avLst/>
          </a:prstGeom>
          <a:noFill/>
          <a:ln/>
        </p:spPr>
        <p:txBody>
          <a:bodyPr wrap="square" lIns="0" tIns="0" rIns="0" bIns="0" rtlCol="0" anchor="t"/>
          <a:lstStyle/>
          <a:p>
            <a:pPr indent="0" marL="0">
              <a:buNone/>
            </a:pPr>
            <a:r>
              <a:rPr lang="en-US" sz="1200" b="1" dirty="0">
                <a:solidFill>
                  <a:srgbClr val="0F6673"/>
                </a:solidFill>
                <a:latin typeface="Calibri" pitchFamily="34" charset="0"/>
                <a:ea typeface="Calibri" pitchFamily="34" charset="-122"/>
                <a:cs typeface="Calibri" pitchFamily="34" charset="-120"/>
              </a:rPr>
              <a:t>greater than</a:t>
            </a:r>
            <a:endParaRPr lang="en-US" sz="1200" dirty="0"/>
          </a:p>
        </p:txBody>
      </p:sp>
      <p:sp>
        <p:nvSpPr>
          <p:cNvPr id="14" name="Shape 12"/>
          <p:cNvSpPr/>
          <p:nvPr/>
        </p:nvSpPr>
        <p:spPr>
          <a:xfrm>
            <a:off x="1005840" y="3950208"/>
            <a:ext cx="2880360" cy="548640"/>
          </a:xfrm>
          <a:prstGeom prst="roundRect">
            <a:avLst>
              <a:gd name="adj" fmla="val 10000"/>
            </a:avLst>
          </a:prstGeom>
          <a:solidFill>
            <a:srgbClr val="EAF0F1"/>
          </a:solidFill>
          <a:ln/>
        </p:spPr>
      </p:sp>
      <p:sp>
        <p:nvSpPr>
          <p:cNvPr id="15" name="Text 13"/>
          <p:cNvSpPr txBox="1"/>
          <p:nvPr/>
        </p:nvSpPr>
        <p:spPr>
          <a:xfrm>
            <a:off x="1152144" y="4005072"/>
            <a:ext cx="2651760" cy="201168"/>
          </a:xfrm>
          <a:prstGeom prst="rect">
            <a:avLst/>
          </a:prstGeom>
          <a:noFill/>
          <a:ln/>
        </p:spPr>
        <p:txBody>
          <a:bodyPr wrap="square" lIns="0" tIns="0" rIns="0" bIns="0" rtlCol="0" anchor="t"/>
          <a:lstStyle/>
          <a:p>
            <a:pPr indent="0" marL="0">
              <a:buNone/>
            </a:pPr>
            <a:r>
              <a:rPr lang="en-US" sz="850" b="1" spc="120" kern="0" dirty="0">
                <a:solidFill>
                  <a:srgbClr val="5B6D75"/>
                </a:solidFill>
                <a:latin typeface="Calibri" pitchFamily="34" charset="0"/>
                <a:ea typeface="Calibri" pitchFamily="34" charset="-122"/>
                <a:cs typeface="Calibri" pitchFamily="34" charset="-120"/>
              </a:rPr>
              <a:t>THRESHOLD</a:t>
            </a:r>
            <a:endParaRPr lang="en-US" sz="850" dirty="0"/>
          </a:p>
        </p:txBody>
      </p:sp>
      <p:sp>
        <p:nvSpPr>
          <p:cNvPr id="16" name="Text 14"/>
          <p:cNvSpPr txBox="1"/>
          <p:nvPr/>
        </p:nvSpPr>
        <p:spPr>
          <a:xfrm>
            <a:off x="1152144" y="4206240"/>
            <a:ext cx="2651760" cy="256032"/>
          </a:xfrm>
          <a:prstGeom prst="rect">
            <a:avLst/>
          </a:prstGeom>
          <a:noFill/>
          <a:ln/>
        </p:spPr>
        <p:txBody>
          <a:bodyPr wrap="square" lIns="0" tIns="0" rIns="0" bIns="0" rtlCol="0" anchor="t"/>
          <a:lstStyle/>
          <a:p>
            <a:pPr indent="0" marL="0">
              <a:buNone/>
            </a:pPr>
            <a:r>
              <a:rPr lang="en-US" sz="1200" b="1" dirty="0">
                <a:solidFill>
                  <a:srgbClr val="0F6673"/>
                </a:solidFill>
                <a:latin typeface="Calibri" pitchFamily="34" charset="0"/>
                <a:ea typeface="Calibri" pitchFamily="34" charset="-122"/>
                <a:cs typeface="Calibri" pitchFamily="34" charset="-120"/>
              </a:rPr>
              <a:t>68%</a:t>
            </a:r>
            <a:endParaRPr lang="en-US" sz="1200" dirty="0"/>
          </a:p>
        </p:txBody>
      </p:sp>
      <p:sp>
        <p:nvSpPr>
          <p:cNvPr id="17" name="Shape 15"/>
          <p:cNvSpPr/>
          <p:nvPr/>
        </p:nvSpPr>
        <p:spPr>
          <a:xfrm>
            <a:off x="4069080" y="3950208"/>
            <a:ext cx="2880360" cy="548640"/>
          </a:xfrm>
          <a:prstGeom prst="roundRect">
            <a:avLst>
              <a:gd name="adj" fmla="val 10000"/>
            </a:avLst>
          </a:prstGeom>
          <a:solidFill>
            <a:srgbClr val="EAF0F1"/>
          </a:solidFill>
          <a:ln/>
        </p:spPr>
      </p:sp>
      <p:sp>
        <p:nvSpPr>
          <p:cNvPr id="18" name="Text 16"/>
          <p:cNvSpPr txBox="1"/>
          <p:nvPr/>
        </p:nvSpPr>
        <p:spPr>
          <a:xfrm>
            <a:off x="4215384" y="4005072"/>
            <a:ext cx="2651760" cy="201168"/>
          </a:xfrm>
          <a:prstGeom prst="rect">
            <a:avLst/>
          </a:prstGeom>
          <a:noFill/>
          <a:ln/>
        </p:spPr>
        <p:txBody>
          <a:bodyPr wrap="square" lIns="0" tIns="0" rIns="0" bIns="0" rtlCol="0" anchor="t"/>
          <a:lstStyle/>
          <a:p>
            <a:pPr indent="0" marL="0">
              <a:buNone/>
            </a:pPr>
            <a:r>
              <a:rPr lang="en-US" sz="850" b="1" spc="120" kern="0" dirty="0">
                <a:solidFill>
                  <a:srgbClr val="5B6D75"/>
                </a:solidFill>
                <a:latin typeface="Calibri" pitchFamily="34" charset="0"/>
                <a:ea typeface="Calibri" pitchFamily="34" charset="-122"/>
                <a:cs typeface="Calibri" pitchFamily="34" charset="-120"/>
              </a:rPr>
              <a:t>REVIEW BY</a:t>
            </a:r>
            <a:endParaRPr lang="en-US" sz="850" dirty="0"/>
          </a:p>
        </p:txBody>
      </p:sp>
      <p:sp>
        <p:nvSpPr>
          <p:cNvPr id="19" name="Text 17"/>
          <p:cNvSpPr txBox="1"/>
          <p:nvPr/>
        </p:nvSpPr>
        <p:spPr>
          <a:xfrm>
            <a:off x="4215384" y="4206240"/>
            <a:ext cx="2651760" cy="256032"/>
          </a:xfrm>
          <a:prstGeom prst="rect">
            <a:avLst/>
          </a:prstGeom>
          <a:noFill/>
          <a:ln/>
        </p:spPr>
        <p:txBody>
          <a:bodyPr wrap="square" lIns="0" tIns="0" rIns="0" bIns="0" rtlCol="0" anchor="t"/>
          <a:lstStyle/>
          <a:p>
            <a:pPr indent="0" marL="0">
              <a:buNone/>
            </a:pPr>
            <a:r>
              <a:rPr lang="en-US" sz="1200" b="1" dirty="0">
                <a:solidFill>
                  <a:srgbClr val="0F6673"/>
                </a:solidFill>
                <a:latin typeface="Calibri" pitchFamily="34" charset="0"/>
                <a:ea typeface="Calibri" pitchFamily="34" charset="-122"/>
                <a:cs typeface="Calibri" pitchFamily="34" charset="-120"/>
              </a:rPr>
              <a:t>next annual filing</a:t>
            </a:r>
            <a:endParaRPr lang="en-US" sz="1200" dirty="0"/>
          </a:p>
        </p:txBody>
      </p:sp>
      <p:sp>
        <p:nvSpPr>
          <p:cNvPr id="20" name="Text 18"/>
          <p:cNvSpPr txBox="1"/>
          <p:nvPr/>
        </p:nvSpPr>
        <p:spPr>
          <a:xfrm>
            <a:off x="1005840" y="4572000"/>
            <a:ext cx="6035040" cy="237744"/>
          </a:xfrm>
          <a:prstGeom prst="rect">
            <a:avLst/>
          </a:prstGeom>
          <a:noFill/>
          <a:ln/>
        </p:spPr>
        <p:txBody>
          <a:bodyPr wrap="square" lIns="0" tIns="0" rIns="0" bIns="0" rtlCol="0" anchor="t"/>
          <a:lstStyle/>
          <a:p>
            <a:pPr indent="0" marL="0">
              <a:buNone/>
            </a:pPr>
            <a:r>
              <a:rPr lang="en-US" sz="1100" i="1" dirty="0">
                <a:solidFill>
                  <a:srgbClr val="5B6D75"/>
                </a:solidFill>
                <a:latin typeface="Calibri" pitchFamily="34" charset="0"/>
                <a:ea typeface="Calibri" pitchFamily="34" charset="-122"/>
                <a:cs typeface="Calibri" pitchFamily="34" charset="-120"/>
              </a:rPr>
              <a:t>Four fields, so a machine can check it. Not a paragraph of hope.</a:t>
            </a:r>
            <a:endParaRPr lang="en-US" sz="1100" dirty="0"/>
          </a:p>
        </p:txBody>
      </p:sp>
      <p:sp>
        <p:nvSpPr>
          <p:cNvPr id="21" name="Shape 19"/>
          <p:cNvSpPr/>
          <p:nvPr/>
        </p:nvSpPr>
        <p:spPr>
          <a:xfrm>
            <a:off x="7772400" y="2103120"/>
            <a:ext cx="3730752" cy="2743200"/>
          </a:xfrm>
          <a:prstGeom prst="roundRect">
            <a:avLst>
              <a:gd name="adj" fmla="val 1667"/>
            </a:avLst>
          </a:prstGeom>
          <a:solidFill>
            <a:srgbClr val="FFF3D6"/>
          </a:solidFill>
          <a:ln w="9525">
            <a:solidFill>
              <a:srgbClr val="E8D5A8"/>
            </a:solidFill>
            <a:prstDash val="solid"/>
          </a:ln>
          <a:effectLst>
            <a:outerShdw sx="100000" sy="100000" kx="0" ky="0" algn="bl" rotWithShape="0" blurRad="152400" dist="38100" dir="5400000">
              <a:srgbClr val="07171D">
                <a:alpha val="12000"/>
              </a:srgbClr>
            </a:outerShdw>
          </a:effectLst>
        </p:spPr>
      </p:sp>
      <p:sp>
        <p:nvSpPr>
          <p:cNvPr id="22" name="Text 20"/>
          <p:cNvSpPr txBox="1"/>
          <p:nvPr/>
        </p:nvSpPr>
        <p:spPr>
          <a:xfrm>
            <a:off x="8092440" y="2331720"/>
            <a:ext cx="3108960" cy="274320"/>
          </a:xfrm>
          <a:prstGeom prst="rect">
            <a:avLst/>
          </a:prstGeom>
          <a:noFill/>
          <a:ln/>
        </p:spPr>
        <p:txBody>
          <a:bodyPr wrap="square" lIns="0" tIns="0" rIns="0" bIns="0" rtlCol="0" anchor="t"/>
          <a:lstStyle/>
          <a:p>
            <a:pPr indent="0" marL="0">
              <a:buNone/>
            </a:pPr>
            <a:r>
              <a:rPr lang="en-US" sz="1100" b="1" spc="140" kern="0" dirty="0">
                <a:solidFill>
                  <a:srgbClr val="7A4B00"/>
                </a:solidFill>
                <a:latin typeface="Calibri" pitchFamily="34" charset="0"/>
                <a:ea typeface="Calibri" pitchFamily="34" charset="-122"/>
                <a:cs typeface="Calibri" pitchFamily="34" charset="-120"/>
              </a:rPr>
              <a:t>Why it matters</a:t>
            </a:r>
            <a:endParaRPr lang="en-US" sz="1100" dirty="0"/>
          </a:p>
        </p:txBody>
      </p:sp>
      <p:sp>
        <p:nvSpPr>
          <p:cNvPr id="23" name="Text 21"/>
          <p:cNvSpPr txBox="1"/>
          <p:nvPr/>
        </p:nvSpPr>
        <p:spPr>
          <a:xfrm>
            <a:off x="8092440" y="2697480"/>
            <a:ext cx="3108960" cy="201168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50" dirty="0">
                <a:solidFill>
                  <a:srgbClr val="15252E"/>
                </a:solidFill>
                <a:latin typeface="Calibri" pitchFamily="34" charset="0"/>
                <a:ea typeface="Calibri" pitchFamily="34" charset="-122"/>
                <a:cs typeface="Calibri" pitchFamily="34" charset="-120"/>
              </a:rPr>
              <a:t>The monitor has something to watch.</a:t>
            </a:r>
            <a:endParaRPr lang="en-US" sz="1150" dirty="0"/>
          </a:p>
          <a:p>
            <a:pPr marL="342900" indent="-342900">
              <a:lnSpc>
                <a:spcPts val="1500"/>
              </a:lnSpc>
              <a:spcAft>
                <a:spcPts val="800"/>
              </a:spcAft>
              <a:buSzPct val="100000"/>
              <a:buChar char="•"/>
            </a:pPr>
            <a:r>
              <a:rPr lang="en-US" sz="1150" dirty="0">
                <a:solidFill>
                  <a:srgbClr val="15252E"/>
                </a:solidFill>
                <a:latin typeface="Calibri" pitchFamily="34" charset="0"/>
                <a:ea typeface="Calibri" pitchFamily="34" charset="-122"/>
                <a:cs typeface="Calibri" pitchFamily="34" charset="-120"/>
              </a:rPr>
              <a:t>The portfolio has something to validate.</a:t>
            </a:r>
            <a:endParaRPr lang="en-US" sz="1150" dirty="0"/>
          </a:p>
          <a:p>
            <a:pPr marL="342900" indent="-342900">
              <a:lnSpc>
                <a:spcPts val="1500"/>
              </a:lnSpc>
              <a:spcAft>
                <a:spcPts val="800"/>
              </a:spcAft>
              <a:buSzPct val="100000"/>
              <a:buChar char="•"/>
            </a:pPr>
            <a:r>
              <a:rPr lang="en-US" sz="1150" dirty="0">
                <a:solidFill>
                  <a:srgbClr val="15252E"/>
                </a:solidFill>
                <a:latin typeface="Calibri" pitchFamily="34" charset="0"/>
                <a:ea typeface="Calibri" pitchFamily="34" charset="-122"/>
                <a:cs typeface="Calibri" pitchFamily="34" charset="-120"/>
              </a:rPr>
              <a:t>The adversary has something to attack.</a:t>
            </a:r>
            <a:endParaRPr lang="en-US" sz="1150" dirty="0"/>
          </a:p>
          <a:p>
            <a:pPr marL="342900" indent="-342900">
              <a:lnSpc>
                <a:spcPts val="1500"/>
              </a:lnSpc>
              <a:spcAft>
                <a:spcPts val="800"/>
              </a:spcAft>
              <a:buSzPct val="100000"/>
              <a:buChar char="•"/>
            </a:pPr>
            <a:r>
              <a:rPr lang="en-US" sz="1150" dirty="0">
                <a:solidFill>
                  <a:srgbClr val="15252E"/>
                </a:solidFill>
                <a:latin typeface="Calibri" pitchFamily="34" charset="0"/>
                <a:ea typeface="Calibri" pitchFamily="34" charset="-122"/>
                <a:cs typeface="Calibri" pitchFamily="34" charset="-120"/>
              </a:rPr>
              <a:t>The review has something to judge.</a:t>
            </a:r>
            <a:endParaRPr lang="en-US" sz="1150" dirty="0"/>
          </a:p>
          <a:p>
            <a:pPr marL="342900" indent="-342900">
              <a:lnSpc>
                <a:spcPts val="1500"/>
              </a:lnSpc>
              <a:spcAft>
                <a:spcPts val="800"/>
              </a:spcAft>
              <a:buSzPct val="100000"/>
              <a:buChar char="•"/>
            </a:pPr>
            <a:r>
              <a:rPr lang="en-US" sz="1150" dirty="0">
                <a:solidFill>
                  <a:srgbClr val="15252E"/>
                </a:solidFill>
                <a:latin typeface="Calibri" pitchFamily="34" charset="0"/>
                <a:ea typeface="Calibri" pitchFamily="34" charset="-122"/>
                <a:cs typeface="Calibri" pitchFamily="34" charset="-120"/>
              </a:rPr>
              <a:t>And you have a record of what you actually thought, written before you knew the answer.</a:t>
            </a:r>
            <a:endParaRPr lang="en-US" sz="1150" dirty="0"/>
          </a:p>
        </p:txBody>
      </p:sp>
      <p:sp>
        <p:nvSpPr>
          <p:cNvPr id="24" name="Shape 22"/>
          <p:cNvSpPr/>
          <p:nvPr/>
        </p:nvSpPr>
        <p:spPr>
          <a:xfrm>
            <a:off x="685800" y="5047488"/>
            <a:ext cx="10817352" cy="932688"/>
          </a:xfrm>
          <a:prstGeom prst="roundRect">
            <a:avLst>
              <a:gd name="adj" fmla="val 4902"/>
            </a:avLst>
          </a:prstGeom>
          <a:solidFill>
            <a:srgbClr val="EAF0F1"/>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25" name="Text 23"/>
          <p:cNvSpPr txBox="1"/>
          <p:nvPr/>
        </p:nvSpPr>
        <p:spPr>
          <a:xfrm>
            <a:off x="1005840" y="5230368"/>
            <a:ext cx="3291840" cy="274320"/>
          </a:xfrm>
          <a:prstGeom prst="rect">
            <a:avLst/>
          </a:prstGeom>
          <a:noFill/>
          <a:ln/>
        </p:spPr>
        <p:txBody>
          <a:bodyPr wrap="square" lIns="0" tIns="0" rIns="0" bIns="0" rtlCol="0" anchor="t"/>
          <a:lstStyle/>
          <a:p>
            <a:pPr indent="0" marL="0">
              <a:buNone/>
            </a:pPr>
            <a:r>
              <a:rPr lang="en-US" sz="1250" b="1" dirty="0">
                <a:solidFill>
                  <a:srgbClr val="0F6673"/>
                </a:solidFill>
                <a:latin typeface="Calibri" pitchFamily="34" charset="0"/>
                <a:ea typeface="Calibri" pitchFamily="34" charset="-122"/>
                <a:cs typeface="Calibri" pitchFamily="34" charset="-120"/>
              </a:rPr>
              <a:t>It is yours</a:t>
            </a:r>
            <a:endParaRPr lang="en-US" sz="1250" dirty="0"/>
          </a:p>
        </p:txBody>
      </p:sp>
      <p:sp>
        <p:nvSpPr>
          <p:cNvPr id="26" name="Text 24"/>
          <p:cNvSpPr txBox="1"/>
          <p:nvPr/>
        </p:nvSpPr>
        <p:spPr>
          <a:xfrm>
            <a:off x="1005840" y="5504688"/>
            <a:ext cx="3291840" cy="274320"/>
          </a:xfrm>
          <a:prstGeom prst="rect">
            <a:avLst/>
          </a:prstGeom>
          <a:noFill/>
          <a:ln/>
        </p:spPr>
        <p:txBody>
          <a:bodyPr wrap="square" lIns="0" tIns="0" rIns="0" bIns="0" rtlCol="0" anchor="t"/>
          <a:lstStyle/>
          <a:p>
            <a:pPr indent="0" marL="0">
              <a:buNone/>
            </a:pPr>
            <a:r>
              <a:rPr lang="en-US" sz="1150" dirty="0">
                <a:solidFill>
                  <a:srgbClr val="52656E"/>
                </a:solidFill>
                <a:latin typeface="Calibri" pitchFamily="34" charset="0"/>
                <a:ea typeface="Calibri" pitchFamily="34" charset="-122"/>
                <a:cs typeface="Calibri" pitchFamily="34" charset="-120"/>
              </a:rPr>
              <a:t>never the model’s</a:t>
            </a:r>
            <a:endParaRPr lang="en-US" sz="1150" dirty="0"/>
          </a:p>
        </p:txBody>
      </p:sp>
      <p:sp>
        <p:nvSpPr>
          <p:cNvPr id="27" name="Text 25"/>
          <p:cNvSpPr txBox="1"/>
          <p:nvPr/>
        </p:nvSpPr>
        <p:spPr>
          <a:xfrm>
            <a:off x="4526280" y="5230368"/>
            <a:ext cx="3291840" cy="274320"/>
          </a:xfrm>
          <a:prstGeom prst="rect">
            <a:avLst/>
          </a:prstGeom>
          <a:noFill/>
          <a:ln/>
        </p:spPr>
        <p:txBody>
          <a:bodyPr wrap="square" lIns="0" tIns="0" rIns="0" bIns="0" rtlCol="0" anchor="t"/>
          <a:lstStyle/>
          <a:p>
            <a:pPr indent="0" marL="0">
              <a:buNone/>
            </a:pPr>
            <a:r>
              <a:rPr lang="en-US" sz="1250" b="1" dirty="0">
                <a:solidFill>
                  <a:srgbClr val="0F6673"/>
                </a:solidFill>
                <a:latin typeface="Calibri" pitchFamily="34" charset="0"/>
                <a:ea typeface="Calibri" pitchFamily="34" charset="-122"/>
                <a:cs typeface="Calibri" pitchFamily="34" charset="-120"/>
              </a:rPr>
              <a:t>It is revised</a:t>
            </a:r>
            <a:endParaRPr lang="en-US" sz="1250" dirty="0"/>
          </a:p>
        </p:txBody>
      </p:sp>
      <p:sp>
        <p:nvSpPr>
          <p:cNvPr id="28" name="Text 26"/>
          <p:cNvSpPr txBox="1"/>
          <p:nvPr/>
        </p:nvSpPr>
        <p:spPr>
          <a:xfrm>
            <a:off x="4526280" y="5504688"/>
            <a:ext cx="3291840" cy="274320"/>
          </a:xfrm>
          <a:prstGeom prst="rect">
            <a:avLst/>
          </a:prstGeom>
          <a:noFill/>
          <a:ln/>
        </p:spPr>
        <p:txBody>
          <a:bodyPr wrap="square" lIns="0" tIns="0" rIns="0" bIns="0" rtlCol="0" anchor="t"/>
          <a:lstStyle/>
          <a:p>
            <a:pPr indent="0" marL="0">
              <a:buNone/>
            </a:pPr>
            <a:r>
              <a:rPr lang="en-US" sz="1150" dirty="0">
                <a:solidFill>
                  <a:srgbClr val="52656E"/>
                </a:solidFill>
                <a:latin typeface="Calibri" pitchFamily="34" charset="0"/>
                <a:ea typeface="Calibri" pitchFamily="34" charset="-122"/>
                <a:cs typeface="Calibri" pitchFamily="34" charset="-120"/>
              </a:rPr>
              <a:t>never quietly replaced</a:t>
            </a:r>
            <a:endParaRPr lang="en-US" sz="1150" dirty="0"/>
          </a:p>
        </p:txBody>
      </p:sp>
      <p:sp>
        <p:nvSpPr>
          <p:cNvPr id="29" name="Text 27"/>
          <p:cNvSpPr txBox="1"/>
          <p:nvPr/>
        </p:nvSpPr>
        <p:spPr>
          <a:xfrm>
            <a:off x="8046720" y="5230368"/>
            <a:ext cx="3291840" cy="274320"/>
          </a:xfrm>
          <a:prstGeom prst="rect">
            <a:avLst/>
          </a:prstGeom>
          <a:noFill/>
          <a:ln/>
        </p:spPr>
        <p:txBody>
          <a:bodyPr wrap="square" lIns="0" tIns="0" rIns="0" bIns="0" rtlCol="0" anchor="t"/>
          <a:lstStyle/>
          <a:p>
            <a:pPr indent="0" marL="0">
              <a:buNone/>
            </a:pPr>
            <a:r>
              <a:rPr lang="en-US" sz="1250" b="1" dirty="0">
                <a:solidFill>
                  <a:srgbClr val="0F6673"/>
                </a:solidFill>
                <a:latin typeface="Calibri" pitchFamily="34" charset="0"/>
                <a:ea typeface="Calibri" pitchFamily="34" charset="-122"/>
                <a:cs typeface="Calibri" pitchFamily="34" charset="-120"/>
              </a:rPr>
              <a:t>It is the instrument</a:t>
            </a:r>
            <a:endParaRPr lang="en-US" sz="1250" dirty="0"/>
          </a:p>
        </p:txBody>
      </p:sp>
      <p:sp>
        <p:nvSpPr>
          <p:cNvPr id="30" name="Text 28"/>
          <p:cNvSpPr txBox="1"/>
          <p:nvPr/>
        </p:nvSpPr>
        <p:spPr>
          <a:xfrm>
            <a:off x="8046720" y="5504688"/>
            <a:ext cx="3291840" cy="274320"/>
          </a:xfrm>
          <a:prstGeom prst="rect">
            <a:avLst/>
          </a:prstGeom>
          <a:noFill/>
          <a:ln/>
        </p:spPr>
        <p:txBody>
          <a:bodyPr wrap="square" lIns="0" tIns="0" rIns="0" bIns="0" rtlCol="0" anchor="t"/>
          <a:lstStyle/>
          <a:p>
            <a:pPr indent="0" marL="0">
              <a:buNone/>
            </a:pPr>
            <a:r>
              <a:rPr lang="en-US" sz="1150" dirty="0">
                <a:solidFill>
                  <a:srgbClr val="52656E"/>
                </a:solidFill>
                <a:latin typeface="Calibri" pitchFamily="34" charset="0"/>
                <a:ea typeface="Calibri" pitchFamily="34" charset="-122"/>
                <a:cs typeface="Calibri" pitchFamily="34" charset="-120"/>
              </a:rPr>
              <a:t>everything downstream reads</a:t>
            </a:r>
            <a:endParaRPr lang="en-US" sz="1150" dirty="0"/>
          </a:p>
        </p:txBody>
      </p:sp>
      <p:sp>
        <p:nvSpPr>
          <p:cNvPr id="31" name="Shape 29"/>
          <p:cNvSpPr/>
          <p:nvPr/>
        </p:nvSpPr>
        <p:spPr>
          <a:xfrm>
            <a:off x="10588752" y="420624"/>
            <a:ext cx="914400" cy="237744"/>
          </a:xfrm>
          <a:prstGeom prst="roundRect">
            <a:avLst>
              <a:gd name="adj" fmla="val 38462"/>
            </a:avLst>
          </a:prstGeom>
          <a:solidFill>
            <a:srgbClr val="7A4B00"/>
          </a:solidFill>
          <a:ln/>
        </p:spPr>
      </p:sp>
      <p:sp>
        <p:nvSpPr>
          <p:cNvPr id="32" name="Text 30"/>
          <p:cNvSpPr txBox="1"/>
          <p:nvPr/>
        </p:nvSpPr>
        <p:spPr>
          <a:xfrm>
            <a:off x="10588752" y="420624"/>
            <a:ext cx="914400" cy="237744"/>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alibri" pitchFamily="34" charset="0"/>
                <a:ea typeface="Calibri" pitchFamily="34" charset="-122"/>
                <a:cs typeface="Calibri" pitchFamily="34" charset="-120"/>
              </a:rPr>
              <a:t>PLANNED</a:t>
            </a:r>
            <a:endParaRPr lang="en-US" sz="850" dirty="0"/>
          </a:p>
        </p:txBody>
      </p:sp>
      <p:sp>
        <p:nvSpPr>
          <p:cNvPr id="33" name="Text 31"/>
          <p:cNvSpPr txBox="1"/>
          <p:nvPr/>
        </p:nvSpPr>
        <p:spPr>
          <a:xfrm>
            <a:off x="685800" y="6291072"/>
            <a:ext cx="10817352" cy="274320"/>
          </a:xfrm>
          <a:prstGeom prst="rect">
            <a:avLst/>
          </a:prstGeom>
          <a:noFill/>
          <a:ln/>
        </p:spPr>
        <p:txBody>
          <a:bodyPr wrap="square" lIns="0" tIns="0" rIns="0" bIns="0" rtlCol="0" anchor="t"/>
          <a:lstStyle/>
          <a:p>
            <a:pPr indent="0" marL="0">
              <a:buNone/>
            </a:pPr>
            <a:r>
              <a:rPr lang="en-US" sz="950" i="1" dirty="0">
                <a:solidFill>
                  <a:srgbClr val="5B6D75"/>
                </a:solidFill>
                <a:latin typeface="Calibri" pitchFamily="34" charset="0"/>
                <a:ea typeface="Calibri" pitchFamily="34" charset="-122"/>
                <a:cs typeface="Calibri" pitchFamily="34" charset="-120"/>
              </a:rPr>
              <a:t>The tables for this already exist and have never been written to — premises already carry metric, comparator, threshold, unit and review date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71D"/>
        </a:solidFill>
      </p:bgPr>
    </p:bg>
    <p:spTree>
      <p:nvGrpSpPr>
        <p:cNvPr id="1" name=""/>
        <p:cNvGrpSpPr/>
        <p:nvPr/>
      </p:nvGrpSpPr>
      <p:grpSpPr>
        <a:xfrm>
          <a:off x="0" y="0"/>
          <a:ext cx="0" cy="0"/>
          <a:chOff x="0" y="0"/>
          <a:chExt cx="0" cy="0"/>
        </a:xfrm>
      </p:grpSpPr>
      <p:sp>
        <p:nvSpPr>
          <p:cNvPr id="2" name="Text 0"/>
          <p:cNvSpPr txBox="1"/>
          <p:nvPr/>
        </p:nvSpPr>
        <p:spPr>
          <a:xfrm>
            <a:off x="685800" y="402336"/>
            <a:ext cx="9601200" cy="274320"/>
          </a:xfrm>
          <a:prstGeom prst="rect">
            <a:avLst/>
          </a:prstGeom>
          <a:noFill/>
          <a:ln/>
        </p:spPr>
        <p:txBody>
          <a:bodyPr wrap="square" lIns="0" tIns="0" rIns="0" bIns="0" rtlCol="0" anchor="t"/>
          <a:lstStyle/>
          <a:p>
            <a:pPr indent="0" marL="0">
              <a:buNone/>
            </a:pPr>
            <a:r>
              <a:rPr lang="en-US" sz="1100" b="1" spc="220" kern="0" dirty="0">
                <a:solidFill>
                  <a:srgbClr val="B5ECF0"/>
                </a:solidFill>
                <a:latin typeface="Calibri" pitchFamily="34" charset="0"/>
                <a:ea typeface="Calibri" pitchFamily="34" charset="-122"/>
                <a:cs typeface="Calibri" pitchFamily="34" charset="-120"/>
              </a:rPr>
              <a:t>WHILE YOU GET ON WITH SOMETHING ELSE</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It watches the tests, not the headlines</a:t>
            </a:r>
            <a:endParaRPr lang="en-US" sz="3200" dirty="0"/>
          </a:p>
        </p:txBody>
      </p:sp>
      <p:sp>
        <p:nvSpPr>
          <p:cNvPr id="4" name="Text 2"/>
          <p:cNvSpPr txBox="1"/>
          <p:nvPr/>
        </p:nvSpPr>
        <p:spPr>
          <a:xfrm>
            <a:off x="685800" y="1444752"/>
            <a:ext cx="10058400" cy="365760"/>
          </a:xfrm>
          <a:prstGeom prst="rect">
            <a:avLst/>
          </a:prstGeom>
          <a:noFill/>
          <a:ln/>
        </p:spPr>
        <p:txBody>
          <a:bodyPr wrap="square" lIns="0" tIns="0" rIns="0" bIns="0" rtlCol="0" anchor="t"/>
          <a:lstStyle/>
          <a:p>
            <a:pPr indent="0" marL="0">
              <a:lnSpc>
                <a:spcPts val="1700"/>
              </a:lnSpc>
              <a:buNone/>
            </a:pPr>
            <a:r>
              <a:rPr lang="en-US" sz="1250" dirty="0">
                <a:solidFill>
                  <a:srgbClr val="B5ECF0"/>
                </a:solidFill>
                <a:latin typeface="Calibri" pitchFamily="34" charset="0"/>
                <a:ea typeface="Calibri" pitchFamily="34" charset="-122"/>
                <a:cs typeface="Calibri" pitchFamily="34" charset="-120"/>
              </a:rPr>
              <a:t>No alert feed. No sentiment score. It checks the specific things you said would change your mind.</a:t>
            </a:r>
            <a:endParaRPr lang="en-US" sz="1250" dirty="0"/>
          </a:p>
        </p:txBody>
      </p:sp>
      <p:sp>
        <p:nvSpPr>
          <p:cNvPr id="5" name="Shape 3"/>
          <p:cNvSpPr/>
          <p:nvPr/>
        </p:nvSpPr>
        <p:spPr>
          <a:xfrm>
            <a:off x="685800" y="2103120"/>
            <a:ext cx="10817352" cy="868680"/>
          </a:xfrm>
          <a:prstGeom prst="roundRect">
            <a:avLst>
              <a:gd name="adj" fmla="val 5263"/>
            </a:avLst>
          </a:prstGeom>
          <a:solidFill>
            <a:srgbClr val="102B35"/>
          </a:solidFill>
          <a:ln/>
        </p:spPr>
      </p:sp>
      <p:sp>
        <p:nvSpPr>
          <p:cNvPr id="6" name="Shape 4"/>
          <p:cNvSpPr/>
          <p:nvPr/>
        </p:nvSpPr>
        <p:spPr>
          <a:xfrm>
            <a:off x="685800" y="2103120"/>
            <a:ext cx="41148" cy="868680"/>
          </a:xfrm>
          <a:prstGeom prst="rect">
            <a:avLst/>
          </a:prstGeom>
          <a:solidFill>
            <a:srgbClr val="B5ECF0"/>
          </a:solidFill>
          <a:ln/>
        </p:spPr>
      </p:sp>
      <p:sp>
        <p:nvSpPr>
          <p:cNvPr id="7" name="Text 5"/>
          <p:cNvSpPr txBox="1"/>
          <p:nvPr/>
        </p:nvSpPr>
        <p:spPr>
          <a:xfrm>
            <a:off x="1005840" y="2276856"/>
            <a:ext cx="1920240" cy="292608"/>
          </a:xfrm>
          <a:prstGeom prst="rect">
            <a:avLst/>
          </a:prstGeom>
          <a:noFill/>
          <a:ln/>
        </p:spPr>
        <p:txBody>
          <a:bodyPr wrap="square" lIns="0" tIns="0" rIns="0" bIns="0" rtlCol="0" anchor="t"/>
          <a:lstStyle/>
          <a:p>
            <a:pPr indent="0" marL="0">
              <a:buNone/>
            </a:pPr>
            <a:r>
              <a:rPr lang="en-US" sz="1700" b="1" dirty="0">
                <a:solidFill>
                  <a:srgbClr val="B5ECF0"/>
                </a:solidFill>
                <a:latin typeface="Cambria" pitchFamily="34" charset="0"/>
                <a:ea typeface="Cambria" pitchFamily="34" charset="-122"/>
                <a:cs typeface="Cambria" pitchFamily="34" charset="-120"/>
              </a:rPr>
              <a:t>Filings</a:t>
            </a:r>
            <a:endParaRPr lang="en-US" sz="1700" dirty="0"/>
          </a:p>
        </p:txBody>
      </p:sp>
      <p:sp>
        <p:nvSpPr>
          <p:cNvPr id="8" name="Text 6"/>
          <p:cNvSpPr txBox="1"/>
          <p:nvPr/>
        </p:nvSpPr>
        <p:spPr>
          <a:xfrm>
            <a:off x="3017520" y="2258568"/>
            <a:ext cx="8229600" cy="585216"/>
          </a:xfrm>
          <a:prstGeom prst="rect">
            <a:avLst/>
          </a:prstGeom>
          <a:noFill/>
          <a:ln/>
        </p:spPr>
        <p:txBody>
          <a:bodyPr wrap="square" lIns="0" tIns="0" rIns="0" bIns="0" rtlCol="0" anchor="t"/>
          <a:lstStyle/>
          <a:p>
            <a:pPr indent="0" marL="0">
              <a:lnSpc>
                <a:spcPts val="1700"/>
              </a:lnSpc>
              <a:buNone/>
            </a:pPr>
            <a:r>
              <a:rPr lang="en-US" sz="1250" dirty="0">
                <a:solidFill>
                  <a:srgbClr val="C7DADE"/>
                </a:solidFill>
                <a:latin typeface="Calibri" pitchFamily="34" charset="0"/>
                <a:ea typeface="Calibri" pitchFamily="34" charset="-122"/>
                <a:cs typeface="Calibri" pitchFamily="34" charset="-120"/>
              </a:rPr>
              <a:t>When a new one lands, every premise is re-measured against it — by code, from the filed figure, not by a model reading a summary.</a:t>
            </a:r>
            <a:endParaRPr lang="en-US" sz="1250" dirty="0"/>
          </a:p>
        </p:txBody>
      </p:sp>
      <p:sp>
        <p:nvSpPr>
          <p:cNvPr id="9" name="Shape 7"/>
          <p:cNvSpPr/>
          <p:nvPr/>
        </p:nvSpPr>
        <p:spPr>
          <a:xfrm>
            <a:off x="685800" y="3090672"/>
            <a:ext cx="10817352" cy="868680"/>
          </a:xfrm>
          <a:prstGeom prst="roundRect">
            <a:avLst>
              <a:gd name="adj" fmla="val 5263"/>
            </a:avLst>
          </a:prstGeom>
          <a:solidFill>
            <a:srgbClr val="102B35"/>
          </a:solidFill>
          <a:ln/>
        </p:spPr>
      </p:sp>
      <p:sp>
        <p:nvSpPr>
          <p:cNvPr id="10" name="Shape 8"/>
          <p:cNvSpPr/>
          <p:nvPr/>
        </p:nvSpPr>
        <p:spPr>
          <a:xfrm>
            <a:off x="685800" y="3090672"/>
            <a:ext cx="41148" cy="868680"/>
          </a:xfrm>
          <a:prstGeom prst="rect">
            <a:avLst/>
          </a:prstGeom>
          <a:solidFill>
            <a:srgbClr val="B5ECF0"/>
          </a:solidFill>
          <a:ln/>
        </p:spPr>
      </p:sp>
      <p:sp>
        <p:nvSpPr>
          <p:cNvPr id="11" name="Text 9"/>
          <p:cNvSpPr txBox="1"/>
          <p:nvPr/>
        </p:nvSpPr>
        <p:spPr>
          <a:xfrm>
            <a:off x="1005840" y="3264408"/>
            <a:ext cx="1920240" cy="292608"/>
          </a:xfrm>
          <a:prstGeom prst="rect">
            <a:avLst/>
          </a:prstGeom>
          <a:noFill/>
          <a:ln/>
        </p:spPr>
        <p:txBody>
          <a:bodyPr wrap="square" lIns="0" tIns="0" rIns="0" bIns="0" rtlCol="0" anchor="t"/>
          <a:lstStyle/>
          <a:p>
            <a:pPr indent="0" marL="0">
              <a:buNone/>
            </a:pPr>
            <a:r>
              <a:rPr lang="en-US" sz="1700" b="1" dirty="0">
                <a:solidFill>
                  <a:srgbClr val="B5ECF0"/>
                </a:solidFill>
                <a:latin typeface="Cambria" pitchFamily="34" charset="0"/>
                <a:ea typeface="Cambria" pitchFamily="34" charset="-122"/>
                <a:cs typeface="Cambria" pitchFamily="34" charset="-120"/>
              </a:rPr>
              <a:t>Prices</a:t>
            </a:r>
            <a:endParaRPr lang="en-US" sz="1700" dirty="0"/>
          </a:p>
        </p:txBody>
      </p:sp>
      <p:sp>
        <p:nvSpPr>
          <p:cNvPr id="12" name="Text 10"/>
          <p:cNvSpPr txBox="1"/>
          <p:nvPr/>
        </p:nvSpPr>
        <p:spPr>
          <a:xfrm>
            <a:off x="3017520" y="3246120"/>
            <a:ext cx="8229600" cy="585216"/>
          </a:xfrm>
          <a:prstGeom prst="rect">
            <a:avLst/>
          </a:prstGeom>
          <a:noFill/>
          <a:ln/>
        </p:spPr>
        <p:txBody>
          <a:bodyPr wrap="square" lIns="0" tIns="0" rIns="0" bIns="0" rtlCol="0" anchor="t"/>
          <a:lstStyle/>
          <a:p>
            <a:pPr indent="0" marL="0">
              <a:lnSpc>
                <a:spcPts val="1700"/>
              </a:lnSpc>
              <a:buNone/>
            </a:pPr>
            <a:r>
              <a:rPr lang="en-US" sz="1250" dirty="0">
                <a:solidFill>
                  <a:srgbClr val="C7DADE"/>
                </a:solidFill>
                <a:latin typeface="Calibri" pitchFamily="34" charset="0"/>
                <a:ea typeface="Calibri" pitchFamily="34" charset="-122"/>
                <a:cs typeface="Calibri" pitchFamily="34" charset="-120"/>
              </a:rPr>
              <a:t>End of day, every day. A move large enough to cross one of your own thresholds raises a finding; ordinary noise does not.</a:t>
            </a:r>
            <a:endParaRPr lang="en-US" sz="1250" dirty="0"/>
          </a:p>
        </p:txBody>
      </p:sp>
      <p:sp>
        <p:nvSpPr>
          <p:cNvPr id="13" name="Shape 11"/>
          <p:cNvSpPr/>
          <p:nvPr/>
        </p:nvSpPr>
        <p:spPr>
          <a:xfrm>
            <a:off x="685800" y="4078224"/>
            <a:ext cx="10817352" cy="868680"/>
          </a:xfrm>
          <a:prstGeom prst="roundRect">
            <a:avLst>
              <a:gd name="adj" fmla="val 5263"/>
            </a:avLst>
          </a:prstGeom>
          <a:solidFill>
            <a:srgbClr val="102B35"/>
          </a:solidFill>
          <a:ln/>
        </p:spPr>
      </p:sp>
      <p:sp>
        <p:nvSpPr>
          <p:cNvPr id="14" name="Shape 12"/>
          <p:cNvSpPr/>
          <p:nvPr/>
        </p:nvSpPr>
        <p:spPr>
          <a:xfrm>
            <a:off x="685800" y="4078224"/>
            <a:ext cx="41148" cy="868680"/>
          </a:xfrm>
          <a:prstGeom prst="rect">
            <a:avLst/>
          </a:prstGeom>
          <a:solidFill>
            <a:srgbClr val="B5ECF0"/>
          </a:solidFill>
          <a:ln/>
        </p:spPr>
      </p:sp>
      <p:sp>
        <p:nvSpPr>
          <p:cNvPr id="15" name="Text 13"/>
          <p:cNvSpPr txBox="1"/>
          <p:nvPr/>
        </p:nvSpPr>
        <p:spPr>
          <a:xfrm>
            <a:off x="1005840" y="4251960"/>
            <a:ext cx="1920240" cy="292608"/>
          </a:xfrm>
          <a:prstGeom prst="rect">
            <a:avLst/>
          </a:prstGeom>
          <a:noFill/>
          <a:ln/>
        </p:spPr>
        <p:txBody>
          <a:bodyPr wrap="square" lIns="0" tIns="0" rIns="0" bIns="0" rtlCol="0" anchor="t"/>
          <a:lstStyle/>
          <a:p>
            <a:pPr indent="0" marL="0">
              <a:buNone/>
            </a:pPr>
            <a:r>
              <a:rPr lang="en-US" sz="1700" b="1" dirty="0">
                <a:solidFill>
                  <a:srgbClr val="B5ECF0"/>
                </a:solidFill>
                <a:latin typeface="Cambria" pitchFamily="34" charset="0"/>
                <a:ea typeface="Cambria" pitchFamily="34" charset="-122"/>
                <a:cs typeface="Cambria" pitchFamily="34" charset="-120"/>
              </a:rPr>
              <a:t>Cadence</a:t>
            </a:r>
            <a:endParaRPr lang="en-US" sz="1700" dirty="0"/>
          </a:p>
        </p:txBody>
      </p:sp>
      <p:sp>
        <p:nvSpPr>
          <p:cNvPr id="16" name="Text 14"/>
          <p:cNvSpPr txBox="1"/>
          <p:nvPr/>
        </p:nvSpPr>
        <p:spPr>
          <a:xfrm>
            <a:off x="3017520" y="4233672"/>
            <a:ext cx="8229600" cy="585216"/>
          </a:xfrm>
          <a:prstGeom prst="rect">
            <a:avLst/>
          </a:prstGeom>
          <a:noFill/>
          <a:ln/>
        </p:spPr>
        <p:txBody>
          <a:bodyPr wrap="square" lIns="0" tIns="0" rIns="0" bIns="0" rtlCol="0" anchor="t"/>
          <a:lstStyle/>
          <a:p>
            <a:pPr indent="0" marL="0">
              <a:lnSpc>
                <a:spcPts val="1700"/>
              </a:lnSpc>
              <a:buNone/>
            </a:pPr>
            <a:r>
              <a:rPr lang="en-US" sz="1250" dirty="0">
                <a:solidFill>
                  <a:srgbClr val="C7DADE"/>
                </a:solidFill>
                <a:latin typeface="Calibri" pitchFamily="34" charset="0"/>
                <a:ea typeface="Calibri" pitchFamily="34" charset="-122"/>
                <a:cs typeface="Calibri" pitchFamily="34" charset="-120"/>
              </a:rPr>
              <a:t>Monthly by default, quarterly where that is truer. You set it per company, and change it whenever it is wrong.</a:t>
            </a:r>
            <a:endParaRPr lang="en-US" sz="1250" dirty="0"/>
          </a:p>
        </p:txBody>
      </p:sp>
      <p:sp>
        <p:nvSpPr>
          <p:cNvPr id="17" name="Shape 15"/>
          <p:cNvSpPr/>
          <p:nvPr/>
        </p:nvSpPr>
        <p:spPr>
          <a:xfrm>
            <a:off x="685800" y="5065776"/>
            <a:ext cx="10817352" cy="868680"/>
          </a:xfrm>
          <a:prstGeom prst="roundRect">
            <a:avLst>
              <a:gd name="adj" fmla="val 5263"/>
            </a:avLst>
          </a:prstGeom>
          <a:solidFill>
            <a:srgbClr val="102B35"/>
          </a:solidFill>
          <a:ln/>
        </p:spPr>
      </p:sp>
      <p:sp>
        <p:nvSpPr>
          <p:cNvPr id="18" name="Shape 16"/>
          <p:cNvSpPr/>
          <p:nvPr/>
        </p:nvSpPr>
        <p:spPr>
          <a:xfrm>
            <a:off x="685800" y="5065776"/>
            <a:ext cx="41148" cy="868680"/>
          </a:xfrm>
          <a:prstGeom prst="rect">
            <a:avLst/>
          </a:prstGeom>
          <a:solidFill>
            <a:srgbClr val="B5ECF0"/>
          </a:solidFill>
          <a:ln/>
        </p:spPr>
      </p:sp>
      <p:sp>
        <p:nvSpPr>
          <p:cNvPr id="19" name="Text 17"/>
          <p:cNvSpPr txBox="1"/>
          <p:nvPr/>
        </p:nvSpPr>
        <p:spPr>
          <a:xfrm>
            <a:off x="1005840" y="5239512"/>
            <a:ext cx="1920240" cy="292608"/>
          </a:xfrm>
          <a:prstGeom prst="rect">
            <a:avLst/>
          </a:prstGeom>
          <a:noFill/>
          <a:ln/>
        </p:spPr>
        <p:txBody>
          <a:bodyPr wrap="square" lIns="0" tIns="0" rIns="0" bIns="0" rtlCol="0" anchor="t"/>
          <a:lstStyle/>
          <a:p>
            <a:pPr indent="0" marL="0">
              <a:buNone/>
            </a:pPr>
            <a:r>
              <a:rPr lang="en-US" sz="1700" b="1" dirty="0">
                <a:solidFill>
                  <a:srgbClr val="B5ECF0"/>
                </a:solidFill>
                <a:latin typeface="Cambria" pitchFamily="34" charset="0"/>
                <a:ea typeface="Cambria" pitchFamily="34" charset="-122"/>
                <a:cs typeface="Cambria" pitchFamily="34" charset="-120"/>
              </a:rPr>
              <a:t>Refresh</a:t>
            </a:r>
            <a:endParaRPr lang="en-US" sz="1700" dirty="0"/>
          </a:p>
        </p:txBody>
      </p:sp>
      <p:sp>
        <p:nvSpPr>
          <p:cNvPr id="20" name="Text 18"/>
          <p:cNvSpPr txBox="1"/>
          <p:nvPr/>
        </p:nvSpPr>
        <p:spPr>
          <a:xfrm>
            <a:off x="3017520" y="5221224"/>
            <a:ext cx="8229600" cy="585216"/>
          </a:xfrm>
          <a:prstGeom prst="rect">
            <a:avLst/>
          </a:prstGeom>
          <a:noFill/>
          <a:ln/>
        </p:spPr>
        <p:txBody>
          <a:bodyPr wrap="square" lIns="0" tIns="0" rIns="0" bIns="0" rtlCol="0" anchor="t"/>
          <a:lstStyle/>
          <a:p>
            <a:pPr indent="0" marL="0">
              <a:lnSpc>
                <a:spcPts val="1700"/>
              </a:lnSpc>
              <a:buNone/>
            </a:pPr>
            <a:r>
              <a:rPr lang="en-US" sz="1250" dirty="0">
                <a:solidFill>
                  <a:srgbClr val="C7DADE"/>
                </a:solidFill>
                <a:latin typeface="Calibri" pitchFamily="34" charset="0"/>
                <a:ea typeface="Calibri" pitchFamily="34" charset="-122"/>
                <a:cs typeface="Calibri" pitchFamily="34" charset="-120"/>
              </a:rPr>
              <a:t>When enough has moved, it offers to update the report rather than making you commission a new one.</a:t>
            </a:r>
            <a:endParaRPr lang="en-US" sz="1250" dirty="0"/>
          </a:p>
        </p:txBody>
      </p:sp>
      <p:sp>
        <p:nvSpPr>
          <p:cNvPr id="21" name="Shape 19"/>
          <p:cNvSpPr/>
          <p:nvPr/>
        </p:nvSpPr>
        <p:spPr>
          <a:xfrm>
            <a:off x="10588752" y="420624"/>
            <a:ext cx="914400" cy="237744"/>
          </a:xfrm>
          <a:prstGeom prst="roundRect">
            <a:avLst>
              <a:gd name="adj" fmla="val 38462"/>
            </a:avLst>
          </a:prstGeom>
          <a:solidFill>
            <a:srgbClr val="7A4B00"/>
          </a:solidFill>
          <a:ln/>
        </p:spPr>
      </p:sp>
      <p:sp>
        <p:nvSpPr>
          <p:cNvPr id="22" name="Text 20"/>
          <p:cNvSpPr txBox="1"/>
          <p:nvPr/>
        </p:nvSpPr>
        <p:spPr>
          <a:xfrm>
            <a:off x="10588752" y="420624"/>
            <a:ext cx="914400" cy="237744"/>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alibri" pitchFamily="34" charset="0"/>
                <a:ea typeface="Calibri" pitchFamily="34" charset="-122"/>
                <a:cs typeface="Calibri" pitchFamily="34" charset="-120"/>
              </a:rPr>
              <a:t>PLANNED</a:t>
            </a:r>
            <a:endParaRPr lang="en-US" sz="850" dirty="0"/>
          </a:p>
        </p:txBody>
      </p:sp>
      <p:sp>
        <p:nvSpPr>
          <p:cNvPr id="23" name="Text 21"/>
          <p:cNvSpPr txBox="1"/>
          <p:nvPr/>
        </p:nvSpPr>
        <p:spPr>
          <a:xfrm>
            <a:off x="685800" y="6291072"/>
            <a:ext cx="10817352" cy="274320"/>
          </a:xfrm>
          <a:prstGeom prst="rect">
            <a:avLst/>
          </a:prstGeom>
          <a:noFill/>
          <a:ln/>
        </p:spPr>
        <p:txBody>
          <a:bodyPr wrap="square" lIns="0" tIns="0" rIns="0" bIns="0" rtlCol="0" anchor="t"/>
          <a:lstStyle/>
          <a:p>
            <a:pPr indent="0" marL="0">
              <a:buNone/>
            </a:pPr>
            <a:r>
              <a:rPr lang="en-US" sz="950" i="1" dirty="0">
                <a:solidFill>
                  <a:srgbClr val="6E8A92"/>
                </a:solidFill>
                <a:latin typeface="Calibri" pitchFamily="34" charset="0"/>
                <a:ea typeface="Calibri" pitchFamily="34" charset="-122"/>
                <a:cs typeface="Calibri" pitchFamily="34" charset="-120"/>
              </a:rPr>
              <a:t>Deterministic Python owns every number here. The model reads what the movement means; it never decides whether the threshold was crossed.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685800" y="402336"/>
            <a:ext cx="9601200" cy="274320"/>
          </a:xfrm>
          <a:prstGeom prst="rect">
            <a:avLst/>
          </a:prstGeom>
          <a:noFill/>
          <a:ln/>
        </p:spPr>
        <p:txBody>
          <a:bodyPr wrap="square" lIns="0" tIns="0" rIns="0" bIns="0" rtlCol="0" anchor="t"/>
          <a:lstStyle/>
          <a:p>
            <a:pPr indent="0" marL="0">
              <a:buNone/>
            </a:pPr>
            <a:r>
              <a:rPr lang="en-US" sz="1100" b="1" spc="220" kern="0" dirty="0">
                <a:solidFill>
                  <a:srgbClr val="14613F"/>
                </a:solidFill>
                <a:latin typeface="Calibri" pitchFamily="34" charset="0"/>
                <a:ea typeface="Calibri" pitchFamily="34" charset="-122"/>
                <a:cs typeface="Calibri" pitchFamily="34" charset="-120"/>
              </a:rPr>
              <a:t>THE ECONOMICS CHANGE</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5252E"/>
                </a:solidFill>
                <a:latin typeface="Cambria" pitchFamily="34" charset="0"/>
                <a:ea typeface="Cambria" pitchFamily="34" charset="-122"/>
                <a:cs typeface="Cambria" pitchFamily="34" charset="-120"/>
              </a:rPr>
              <a:t>A report stops being a purchase</a:t>
            </a:r>
            <a:endParaRPr lang="en-US" sz="3200" dirty="0"/>
          </a:p>
        </p:txBody>
      </p:sp>
      <p:sp>
        <p:nvSpPr>
          <p:cNvPr id="4" name="Text 2"/>
          <p:cNvSpPr txBox="1"/>
          <p:nvPr/>
        </p:nvSpPr>
        <p:spPr>
          <a:xfrm>
            <a:off x="685800" y="1444752"/>
            <a:ext cx="10058400" cy="457200"/>
          </a:xfrm>
          <a:prstGeom prst="rect">
            <a:avLst/>
          </a:prstGeom>
          <a:noFill/>
          <a:ln/>
        </p:spPr>
        <p:txBody>
          <a:bodyPr wrap="square" lIns="0" tIns="0" rIns="0" bIns="0" rtlCol="0" anchor="t"/>
          <a:lstStyle/>
          <a:p>
            <a:pPr indent="0" marL="0">
              <a:lnSpc>
                <a:spcPts val="1700"/>
              </a:lnSpc>
              <a:buNone/>
            </a:pPr>
            <a:r>
              <a:rPr lang="en-US" sz="1250" dirty="0">
                <a:solidFill>
                  <a:srgbClr val="52656E"/>
                </a:solidFill>
                <a:latin typeface="Calibri" pitchFamily="34" charset="0"/>
                <a:ea typeface="Calibri" pitchFamily="34" charset="-122"/>
                <a:cs typeface="Calibri" pitchFamily="34" charset="-120"/>
              </a:rPr>
              <a:t>Today a second look at a company you already own costs the same as the first. That is the wrong shape for something you hold for three years.</a:t>
            </a:r>
            <a:endParaRPr lang="en-US" sz="1250" dirty="0"/>
          </a:p>
        </p:txBody>
      </p:sp>
      <p:sp>
        <p:nvSpPr>
          <p:cNvPr id="5" name="Shape 3"/>
          <p:cNvSpPr/>
          <p:nvPr/>
        </p:nvSpPr>
        <p:spPr>
          <a:xfrm>
            <a:off x="685800" y="2121408"/>
            <a:ext cx="3291840" cy="2286000"/>
          </a:xfrm>
          <a:prstGeom prst="roundRect">
            <a:avLst>
              <a:gd name="adj" fmla="val 2000"/>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6" name="Text 4"/>
          <p:cNvSpPr txBox="1"/>
          <p:nvPr/>
        </p:nvSpPr>
        <p:spPr>
          <a:xfrm>
            <a:off x="960120" y="2359152"/>
            <a:ext cx="2743200" cy="274320"/>
          </a:xfrm>
          <a:prstGeom prst="rect">
            <a:avLst/>
          </a:prstGeom>
          <a:noFill/>
          <a:ln/>
        </p:spPr>
        <p:txBody>
          <a:bodyPr wrap="square" lIns="0" tIns="0" rIns="0" bIns="0" rtlCol="0" anchor="t"/>
          <a:lstStyle/>
          <a:p>
            <a:pPr indent="0" marL="0">
              <a:buNone/>
            </a:pPr>
            <a:r>
              <a:rPr lang="en-US" sz="1100" b="1" spc="140" kern="0" dirty="0">
                <a:solidFill>
                  <a:srgbClr val="52656E"/>
                </a:solidFill>
                <a:latin typeface="Calibri" pitchFamily="34" charset="0"/>
                <a:ea typeface="Calibri" pitchFamily="34" charset="-122"/>
                <a:cs typeface="Calibri" pitchFamily="34" charset="-120"/>
              </a:rPr>
              <a:t>A full run</a:t>
            </a:r>
            <a:endParaRPr lang="en-US" sz="1100" dirty="0"/>
          </a:p>
        </p:txBody>
      </p:sp>
      <p:sp>
        <p:nvSpPr>
          <p:cNvPr id="7" name="Text 5"/>
          <p:cNvSpPr txBox="1"/>
          <p:nvPr/>
        </p:nvSpPr>
        <p:spPr>
          <a:xfrm>
            <a:off x="960120" y="2697480"/>
            <a:ext cx="2743200" cy="640080"/>
          </a:xfrm>
          <a:prstGeom prst="rect">
            <a:avLst/>
          </a:prstGeom>
          <a:noFill/>
          <a:ln/>
        </p:spPr>
        <p:txBody>
          <a:bodyPr wrap="square" lIns="0" tIns="0" rIns="0" bIns="0" rtlCol="0" anchor="t"/>
          <a:lstStyle/>
          <a:p>
            <a:pPr indent="0" marL="0">
              <a:buNone/>
            </a:pPr>
            <a:r>
              <a:rPr lang="en-US" sz="4000" b="1" dirty="0">
                <a:solidFill>
                  <a:srgbClr val="15252E"/>
                </a:solidFill>
                <a:latin typeface="Cambria" pitchFamily="34" charset="0"/>
                <a:ea typeface="Cambria" pitchFamily="34" charset="-122"/>
                <a:cs typeface="Cambria" pitchFamily="34" charset="-120"/>
              </a:rPr>
              <a:t>£7.19</a:t>
            </a:r>
            <a:endParaRPr lang="en-US" sz="4000" dirty="0"/>
          </a:p>
        </p:txBody>
      </p:sp>
      <p:sp>
        <p:nvSpPr>
          <p:cNvPr id="8" name="Text 6"/>
          <p:cNvSpPr txBox="1"/>
          <p:nvPr/>
        </p:nvSpPr>
        <p:spPr>
          <a:xfrm>
            <a:off x="960120" y="3401568"/>
            <a:ext cx="2743200" cy="731520"/>
          </a:xfrm>
          <a:prstGeom prst="rect">
            <a:avLst/>
          </a:prstGeom>
          <a:noFill/>
          <a:ln/>
        </p:spPr>
        <p:txBody>
          <a:bodyPr wrap="square" lIns="0" tIns="0" rIns="0" bIns="0" rtlCol="0" anchor="t"/>
          <a:lstStyle/>
          <a:p>
            <a:pPr indent="0" marL="0">
              <a:lnSpc>
                <a:spcPts val="1500"/>
              </a:lnSpc>
              <a:buNone/>
            </a:pPr>
            <a:r>
              <a:rPr lang="en-US" sz="1150" dirty="0">
                <a:solidFill>
                  <a:srgbClr val="52656E"/>
                </a:solidFill>
                <a:latin typeface="Calibri" pitchFamily="34" charset="0"/>
                <a:ea typeface="Calibri" pitchFamily="34" charset="-122"/>
                <a:cs typeface="Calibri" pitchFamily="34" charset="-120"/>
              </a:rPr>
              <a:t>Eighteen sections, from nothing. Measured, today.</a:t>
            </a:r>
            <a:endParaRPr lang="en-US" sz="1150" dirty="0"/>
          </a:p>
        </p:txBody>
      </p:sp>
      <p:sp>
        <p:nvSpPr>
          <p:cNvPr id="9" name="Shape 7"/>
          <p:cNvSpPr/>
          <p:nvPr/>
        </p:nvSpPr>
        <p:spPr>
          <a:xfrm>
            <a:off x="4160520" y="3035808"/>
            <a:ext cx="777240" cy="384048"/>
          </a:xfrm>
          <a:prstGeom prst="rightArrow">
            <a:avLst/>
          </a:prstGeom>
          <a:solidFill>
            <a:srgbClr val="D3DFE2"/>
          </a:solidFill>
          <a:ln/>
        </p:spPr>
      </p:sp>
      <p:sp>
        <p:nvSpPr>
          <p:cNvPr id="10" name="Shape 8"/>
          <p:cNvSpPr/>
          <p:nvPr/>
        </p:nvSpPr>
        <p:spPr>
          <a:xfrm>
            <a:off x="5102352" y="2121408"/>
            <a:ext cx="3291840" cy="2286000"/>
          </a:xfrm>
          <a:prstGeom prst="roundRect">
            <a:avLst>
              <a:gd name="adj" fmla="val 2000"/>
            </a:avLst>
          </a:prstGeom>
          <a:solidFill>
            <a:srgbClr val="E3F4EA"/>
          </a:solidFill>
          <a:ln w="9525">
            <a:solidFill>
              <a:srgbClr val="BCDFCB"/>
            </a:solidFill>
            <a:prstDash val="solid"/>
          </a:ln>
          <a:effectLst>
            <a:outerShdw sx="100000" sy="100000" kx="0" ky="0" algn="bl" rotWithShape="0" blurRad="152400" dist="38100" dir="5400000">
              <a:srgbClr val="07171D">
                <a:alpha val="12000"/>
              </a:srgbClr>
            </a:outerShdw>
          </a:effectLst>
        </p:spPr>
      </p:sp>
      <p:sp>
        <p:nvSpPr>
          <p:cNvPr id="11" name="Text 9"/>
          <p:cNvSpPr txBox="1"/>
          <p:nvPr/>
        </p:nvSpPr>
        <p:spPr>
          <a:xfrm>
            <a:off x="5376672" y="2359152"/>
            <a:ext cx="2743200" cy="274320"/>
          </a:xfrm>
          <a:prstGeom prst="rect">
            <a:avLst/>
          </a:prstGeom>
          <a:noFill/>
          <a:ln/>
        </p:spPr>
        <p:txBody>
          <a:bodyPr wrap="square" lIns="0" tIns="0" rIns="0" bIns="0" rtlCol="0" anchor="t"/>
          <a:lstStyle/>
          <a:p>
            <a:pPr indent="0" marL="0">
              <a:buNone/>
            </a:pPr>
            <a:r>
              <a:rPr lang="en-US" sz="1100" b="1" spc="140" kern="0" dirty="0">
                <a:solidFill>
                  <a:srgbClr val="14613F"/>
                </a:solidFill>
                <a:latin typeface="Calibri" pitchFamily="34" charset="0"/>
                <a:ea typeface="Calibri" pitchFamily="34" charset="-122"/>
                <a:cs typeface="Calibri" pitchFamily="34" charset="-120"/>
              </a:rPr>
              <a:t>A refresh</a:t>
            </a:r>
            <a:endParaRPr lang="en-US" sz="1100" dirty="0"/>
          </a:p>
        </p:txBody>
      </p:sp>
      <p:sp>
        <p:nvSpPr>
          <p:cNvPr id="12" name="Text 10"/>
          <p:cNvSpPr txBox="1"/>
          <p:nvPr/>
        </p:nvSpPr>
        <p:spPr>
          <a:xfrm>
            <a:off x="5376672" y="2697480"/>
            <a:ext cx="2743200" cy="640080"/>
          </a:xfrm>
          <a:prstGeom prst="rect">
            <a:avLst/>
          </a:prstGeom>
          <a:noFill/>
          <a:ln/>
        </p:spPr>
        <p:txBody>
          <a:bodyPr wrap="square" lIns="0" tIns="0" rIns="0" bIns="0" rtlCol="0" anchor="t"/>
          <a:lstStyle/>
          <a:p>
            <a:pPr indent="0" marL="0">
              <a:buNone/>
            </a:pPr>
            <a:r>
              <a:rPr lang="en-US" sz="3400" b="1" dirty="0">
                <a:solidFill>
                  <a:srgbClr val="14613F"/>
                </a:solidFill>
                <a:latin typeface="Cambria" pitchFamily="34" charset="0"/>
                <a:ea typeface="Cambria" pitchFamily="34" charset="-122"/>
                <a:cs typeface="Cambria" pitchFamily="34" charset="-120"/>
              </a:rPr>
              <a:t>under £2</a:t>
            </a:r>
            <a:endParaRPr lang="en-US" sz="3400" dirty="0"/>
          </a:p>
        </p:txBody>
      </p:sp>
      <p:sp>
        <p:nvSpPr>
          <p:cNvPr id="13" name="Text 11"/>
          <p:cNvSpPr txBox="1"/>
          <p:nvPr/>
        </p:nvSpPr>
        <p:spPr>
          <a:xfrm>
            <a:off x="5376672" y="3401568"/>
            <a:ext cx="2743200" cy="731520"/>
          </a:xfrm>
          <a:prstGeom prst="rect">
            <a:avLst/>
          </a:prstGeom>
          <a:noFill/>
          <a:ln/>
        </p:spPr>
        <p:txBody>
          <a:bodyPr wrap="square" lIns="0" tIns="0" rIns="0" bIns="0" rtlCol="0" anchor="t"/>
          <a:lstStyle/>
          <a:p>
            <a:pPr indent="0" marL="0">
              <a:lnSpc>
                <a:spcPts val="1500"/>
              </a:lnSpc>
              <a:buNone/>
            </a:pPr>
            <a:r>
              <a:rPr lang="en-US" sz="1150" dirty="0">
                <a:solidFill>
                  <a:srgbClr val="15252E"/>
                </a:solidFill>
                <a:latin typeface="Calibri" pitchFamily="34" charset="0"/>
                <a:ea typeface="Calibri" pitchFamily="34" charset="-122"/>
                <a:cs typeface="Calibri" pitchFamily="34" charset="-120"/>
              </a:rPr>
              <a:t>The target, not a measurement. Under ten minutes.</a:t>
            </a:r>
            <a:endParaRPr lang="en-US" sz="1150" dirty="0"/>
          </a:p>
        </p:txBody>
      </p:sp>
      <p:sp>
        <p:nvSpPr>
          <p:cNvPr id="14" name="Shape 12"/>
          <p:cNvSpPr/>
          <p:nvPr/>
        </p:nvSpPr>
        <p:spPr>
          <a:xfrm>
            <a:off x="8595360" y="2121408"/>
            <a:ext cx="2907792" cy="2286000"/>
          </a:xfrm>
          <a:prstGeom prst="roundRect">
            <a:avLst>
              <a:gd name="adj" fmla="val 2000"/>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15" name="Text 13"/>
          <p:cNvSpPr txBox="1"/>
          <p:nvPr/>
        </p:nvSpPr>
        <p:spPr>
          <a:xfrm>
            <a:off x="8869680" y="2359152"/>
            <a:ext cx="2377440" cy="274320"/>
          </a:xfrm>
          <a:prstGeom prst="rect">
            <a:avLst/>
          </a:prstGeom>
          <a:noFill/>
          <a:ln/>
        </p:spPr>
        <p:txBody>
          <a:bodyPr wrap="square" lIns="0" tIns="0" rIns="0" bIns="0" rtlCol="0" anchor="t"/>
          <a:lstStyle/>
          <a:p>
            <a:pPr indent="0" marL="0">
              <a:buNone/>
            </a:pPr>
            <a:r>
              <a:rPr lang="en-US" sz="1100" b="1" spc="140" kern="0" dirty="0">
                <a:solidFill>
                  <a:srgbClr val="52656E"/>
                </a:solidFill>
                <a:latin typeface="Calibri" pitchFamily="34" charset="0"/>
                <a:ea typeface="Calibri" pitchFamily="34" charset="-122"/>
                <a:cs typeface="Calibri" pitchFamily="34" charset="-120"/>
              </a:rPr>
              <a:t>How</a:t>
            </a:r>
            <a:endParaRPr lang="en-US" sz="1100" dirty="0"/>
          </a:p>
        </p:txBody>
      </p:sp>
      <p:sp>
        <p:nvSpPr>
          <p:cNvPr id="16" name="Text 14"/>
          <p:cNvSpPr txBox="1"/>
          <p:nvPr/>
        </p:nvSpPr>
        <p:spPr>
          <a:xfrm>
            <a:off x="8869680" y="2697480"/>
            <a:ext cx="2377440" cy="1645920"/>
          </a:xfrm>
          <a:prstGeom prst="rect">
            <a:avLst/>
          </a:prstGeom>
          <a:noFill/>
          <a:ln/>
        </p:spPr>
        <p:txBody>
          <a:bodyPr wrap="square" lIns="0" tIns="0" rIns="0" bIns="0" rtlCol="0" anchor="t"/>
          <a:lstStyle/>
          <a:p>
            <a:pPr marL="342900" indent="-342900">
              <a:lnSpc>
                <a:spcPts val="1350"/>
              </a:lnSpc>
              <a:spcAft>
                <a:spcPts val="600"/>
              </a:spcAft>
              <a:buSzPct val="100000"/>
              <a:buChar char="•"/>
            </a:pPr>
            <a:r>
              <a:rPr lang="en-US" sz="1050" dirty="0">
                <a:solidFill>
                  <a:srgbClr val="52656E"/>
                </a:solidFill>
                <a:latin typeface="Calibri" pitchFamily="34" charset="0"/>
                <a:ea typeface="Calibri" pitchFamily="34" charset="-122"/>
                <a:cs typeface="Calibri" pitchFamily="34" charset="-120"/>
              </a:rPr>
              <a:t>Fetch only what is new.</a:t>
            </a:r>
            <a:endParaRPr lang="en-US" sz="1050" dirty="0"/>
          </a:p>
          <a:p>
            <a:pPr marL="342900" indent="-342900">
              <a:lnSpc>
                <a:spcPts val="1350"/>
              </a:lnSpc>
              <a:spcAft>
                <a:spcPts val="600"/>
              </a:spcAft>
              <a:buSzPct val="100000"/>
              <a:buChar char="•"/>
            </a:pPr>
            <a:r>
              <a:rPr lang="en-US" sz="1050" dirty="0">
                <a:solidFill>
                  <a:srgbClr val="52656E"/>
                </a:solidFill>
                <a:latin typeface="Calibri" pitchFamily="34" charset="0"/>
                <a:ea typeface="Calibri" pitchFamily="34" charset="-122"/>
                <a:cs typeface="Calibri" pitchFamily="34" charset="-120"/>
              </a:rPr>
              <a:t>Recompute every number — all of them, because that is nearly free and it is what stops the document contradicting itself.</a:t>
            </a:r>
            <a:endParaRPr lang="en-US" sz="1050" dirty="0"/>
          </a:p>
          <a:p>
            <a:pPr marL="342900" indent="-342900">
              <a:lnSpc>
                <a:spcPts val="1350"/>
              </a:lnSpc>
              <a:spcAft>
                <a:spcPts val="600"/>
              </a:spcAft>
              <a:buSzPct val="100000"/>
              <a:buChar char="•"/>
            </a:pPr>
            <a:r>
              <a:rPr lang="en-US" sz="1050" dirty="0">
                <a:solidFill>
                  <a:srgbClr val="52656E"/>
                </a:solidFill>
                <a:latin typeface="Calibri" pitchFamily="34" charset="0"/>
                <a:ea typeface="Calibri" pitchFamily="34" charset="-122"/>
                <a:cs typeface="Calibri" pitchFamily="34" charset="-120"/>
              </a:rPr>
              <a:t>Re-write only the sections that moved.</a:t>
            </a:r>
            <a:endParaRPr lang="en-US" sz="1050" dirty="0"/>
          </a:p>
        </p:txBody>
      </p:sp>
      <p:sp>
        <p:nvSpPr>
          <p:cNvPr id="17" name="Shape 15"/>
          <p:cNvSpPr/>
          <p:nvPr/>
        </p:nvSpPr>
        <p:spPr>
          <a:xfrm>
            <a:off x="685800" y="4590288"/>
            <a:ext cx="10817352" cy="1371600"/>
          </a:xfrm>
          <a:prstGeom prst="roundRect">
            <a:avLst>
              <a:gd name="adj" fmla="val 3333"/>
            </a:avLst>
          </a:prstGeom>
          <a:solidFill>
            <a:srgbClr val="E2F3F4"/>
          </a:solidFill>
          <a:ln w="9525">
            <a:solidFill>
              <a:srgbClr val="BBD9DD"/>
            </a:solidFill>
            <a:prstDash val="solid"/>
          </a:ln>
          <a:effectLst>
            <a:outerShdw sx="100000" sy="100000" kx="0" ky="0" algn="bl" rotWithShape="0" blurRad="152400" dist="38100" dir="5400000">
              <a:srgbClr val="07171D">
                <a:alpha val="12000"/>
              </a:srgbClr>
            </a:outerShdw>
          </a:effectLst>
        </p:spPr>
      </p:sp>
      <p:sp>
        <p:nvSpPr>
          <p:cNvPr id="18" name="Text 16"/>
          <p:cNvSpPr txBox="1"/>
          <p:nvPr/>
        </p:nvSpPr>
        <p:spPr>
          <a:xfrm>
            <a:off x="1005840" y="4791456"/>
            <a:ext cx="10058400" cy="310896"/>
          </a:xfrm>
          <a:prstGeom prst="rect">
            <a:avLst/>
          </a:prstGeom>
          <a:noFill/>
          <a:ln/>
        </p:spPr>
        <p:txBody>
          <a:bodyPr wrap="square" lIns="0" tIns="0" rIns="0" bIns="0" rtlCol="0" anchor="t"/>
          <a:lstStyle/>
          <a:p>
            <a:pPr indent="0" marL="0">
              <a:buNone/>
            </a:pPr>
            <a:r>
              <a:rPr lang="en-US" sz="1100" b="1" spc="160" kern="0" dirty="0">
                <a:solidFill>
                  <a:srgbClr val="0F6673"/>
                </a:solidFill>
                <a:latin typeface="Calibri" pitchFamily="34" charset="0"/>
                <a:ea typeface="Calibri" pitchFamily="34" charset="-122"/>
                <a:cs typeface="Calibri" pitchFamily="34" charset="-120"/>
              </a:rPr>
              <a:t>And the headline is what changed</a:t>
            </a:r>
            <a:endParaRPr lang="en-US" sz="1100" dirty="0"/>
          </a:p>
        </p:txBody>
      </p:sp>
      <p:sp>
        <p:nvSpPr>
          <p:cNvPr id="19" name="Text 17"/>
          <p:cNvSpPr txBox="1"/>
          <p:nvPr/>
        </p:nvSpPr>
        <p:spPr>
          <a:xfrm>
            <a:off x="1005840" y="5138928"/>
            <a:ext cx="10058400" cy="731520"/>
          </a:xfrm>
          <a:prstGeom prst="rect">
            <a:avLst/>
          </a:prstGeom>
          <a:noFill/>
          <a:ln/>
        </p:spPr>
        <p:txBody>
          <a:bodyPr wrap="square" lIns="0" tIns="0" rIns="0" bIns="0" rtlCol="0" anchor="t"/>
          <a:lstStyle/>
          <a:p>
            <a:pPr indent="0" marL="0">
              <a:lnSpc>
                <a:spcPts val="1800"/>
              </a:lnSpc>
              <a:buNone/>
            </a:pPr>
            <a:r>
              <a:rPr lang="en-US" sz="1250" dirty="0">
                <a:solidFill>
                  <a:srgbClr val="15252E"/>
                </a:solidFill>
                <a:latin typeface="Calibri" pitchFamily="34" charset="0"/>
                <a:ea typeface="Calibri" pitchFamily="34" charset="-122"/>
                <a:cs typeface="Calibri" pitchFamily="34" charset="-120"/>
              </a:rPr>
              <a:t>Not the report — the delta. Which figures moved and by how much, which of your premises are affected, and what the valuation did. The previous report is archived, immutable and readable at its own address for good: superseded, never overwritten.</a:t>
            </a:r>
            <a:endParaRPr lang="en-US" sz="1250" dirty="0"/>
          </a:p>
        </p:txBody>
      </p:sp>
      <p:sp>
        <p:nvSpPr>
          <p:cNvPr id="20" name="Shape 18"/>
          <p:cNvSpPr/>
          <p:nvPr/>
        </p:nvSpPr>
        <p:spPr>
          <a:xfrm>
            <a:off x="10588752" y="420624"/>
            <a:ext cx="914400" cy="237744"/>
          </a:xfrm>
          <a:prstGeom prst="roundRect">
            <a:avLst>
              <a:gd name="adj" fmla="val 38462"/>
            </a:avLst>
          </a:prstGeom>
          <a:solidFill>
            <a:srgbClr val="7A4B00"/>
          </a:solidFill>
          <a:ln/>
        </p:spPr>
      </p:sp>
      <p:sp>
        <p:nvSpPr>
          <p:cNvPr id="21" name="Text 19"/>
          <p:cNvSpPr txBox="1"/>
          <p:nvPr/>
        </p:nvSpPr>
        <p:spPr>
          <a:xfrm>
            <a:off x="10588752" y="420624"/>
            <a:ext cx="914400" cy="237744"/>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alibri" pitchFamily="34" charset="0"/>
                <a:ea typeface="Calibri" pitchFamily="34" charset="-122"/>
                <a:cs typeface="Calibri" pitchFamily="34" charset="-120"/>
              </a:rPr>
              <a:t>PLANNED</a:t>
            </a:r>
            <a:endParaRPr lang="en-US" sz="850" dirty="0"/>
          </a:p>
        </p:txBody>
      </p:sp>
      <p:sp>
        <p:nvSpPr>
          <p:cNvPr id="22" name="Text 20"/>
          <p:cNvSpPr txBox="1"/>
          <p:nvPr/>
        </p:nvSpPr>
        <p:spPr>
          <a:xfrm>
            <a:off x="685800" y="6291072"/>
            <a:ext cx="10817352" cy="274320"/>
          </a:xfrm>
          <a:prstGeom prst="rect">
            <a:avLst/>
          </a:prstGeom>
          <a:noFill/>
          <a:ln/>
        </p:spPr>
        <p:txBody>
          <a:bodyPr wrap="square" lIns="0" tIns="0" rIns="0" bIns="0" rtlCol="0" anchor="t"/>
          <a:lstStyle/>
          <a:p>
            <a:pPr indent="0" marL="0">
              <a:buNone/>
            </a:pPr>
            <a:r>
              <a:rPr lang="en-US" sz="950" i="1" dirty="0">
                <a:solidFill>
                  <a:srgbClr val="5B6D75"/>
                </a:solidFill>
                <a:latin typeface="Calibri" pitchFamily="34" charset="0"/>
                <a:ea typeface="Calibri" pitchFamily="34" charset="-122"/>
                <a:cs typeface="Calibri" pitchFamily="34" charset="-120"/>
              </a:rPr>
              <a:t>£7.19 is measured across the audit's runs. The refresh figure is a target the delivery plan is held to, not a result.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685800" y="402336"/>
            <a:ext cx="9601200" cy="274320"/>
          </a:xfrm>
          <a:prstGeom prst="rect">
            <a:avLst/>
          </a:prstGeom>
          <a:noFill/>
          <a:ln/>
        </p:spPr>
        <p:txBody>
          <a:bodyPr wrap="square" lIns="0" tIns="0" rIns="0" bIns="0" rtlCol="0" anchor="t"/>
          <a:lstStyle/>
          <a:p>
            <a:pPr indent="0" marL="0">
              <a:buNone/>
            </a:pPr>
            <a:r>
              <a:rPr lang="en-US" sz="1100" b="1" spc="220" kern="0" dirty="0">
                <a:solidFill>
                  <a:srgbClr val="0F6673"/>
                </a:solidFill>
                <a:latin typeface="Calibri" pitchFamily="34" charset="0"/>
                <a:ea typeface="Calibri" pitchFamily="34" charset="-122"/>
                <a:cs typeface="Calibri" pitchFamily="34" charset="-120"/>
              </a:rPr>
              <a:t>AND THE REPORT ITSELF</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5252E"/>
                </a:solidFill>
                <a:latin typeface="Cambria" pitchFamily="34" charset="0"/>
                <a:ea typeface="Cambria" pitchFamily="34" charset="-122"/>
                <a:cs typeface="Cambria" pitchFamily="34" charset="-120"/>
              </a:rPr>
              <a:t>Four things it stops refusing to do</a:t>
            </a:r>
            <a:endParaRPr lang="en-US" sz="3200" dirty="0"/>
          </a:p>
        </p:txBody>
      </p:sp>
      <p:sp>
        <p:nvSpPr>
          <p:cNvPr id="4" name="Shape 2"/>
          <p:cNvSpPr/>
          <p:nvPr/>
        </p:nvSpPr>
        <p:spPr>
          <a:xfrm>
            <a:off x="685800" y="1572768"/>
            <a:ext cx="5294376" cy="2029968"/>
          </a:xfrm>
          <a:prstGeom prst="roundRect">
            <a:avLst>
              <a:gd name="adj" fmla="val 2252"/>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5" name="Shape 3"/>
          <p:cNvSpPr/>
          <p:nvPr/>
        </p:nvSpPr>
        <p:spPr>
          <a:xfrm>
            <a:off x="685800" y="1572768"/>
            <a:ext cx="5294376" cy="41148"/>
          </a:xfrm>
          <a:prstGeom prst="rect">
            <a:avLst/>
          </a:prstGeom>
          <a:solidFill>
            <a:srgbClr val="0F6673"/>
          </a:solidFill>
          <a:ln/>
        </p:spPr>
      </p:sp>
      <p:sp>
        <p:nvSpPr>
          <p:cNvPr id="6" name="Shape 4"/>
          <p:cNvSpPr/>
          <p:nvPr/>
        </p:nvSpPr>
        <p:spPr>
          <a:xfrm>
            <a:off x="960120" y="1883664"/>
            <a:ext cx="420624" cy="420624"/>
          </a:xfrm>
          <a:prstGeom prst="ellipse">
            <a:avLst/>
          </a:prstGeom>
          <a:solidFill>
            <a:srgbClr val="0F6673"/>
          </a:solidFill>
          <a:ln/>
        </p:spPr>
      </p:sp>
      <p:sp>
        <p:nvSpPr>
          <p:cNvPr id="7" name="Text 5"/>
          <p:cNvSpPr txBox="1"/>
          <p:nvPr/>
        </p:nvSpPr>
        <p:spPr>
          <a:xfrm>
            <a:off x="960120" y="188366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527048" y="1920240"/>
            <a:ext cx="4206240" cy="365760"/>
          </a:xfrm>
          <a:prstGeom prst="rect">
            <a:avLst/>
          </a:prstGeom>
          <a:noFill/>
          <a:ln/>
        </p:spPr>
        <p:txBody>
          <a:bodyPr wrap="square" lIns="0" tIns="0" rIns="0" bIns="0" rtlCol="0" anchor="ctr"/>
          <a:lstStyle/>
          <a:p>
            <a:pPr indent="0" marL="0">
              <a:buNone/>
            </a:pPr>
            <a:r>
              <a:rPr lang="en-US" sz="1800" b="1" dirty="0">
                <a:solidFill>
                  <a:srgbClr val="15252E"/>
                </a:solidFill>
                <a:latin typeface="Cambria" pitchFamily="34" charset="0"/>
                <a:ea typeface="Cambria" pitchFamily="34" charset="-122"/>
                <a:cs typeface="Cambria" pitchFamily="34" charset="-120"/>
              </a:rPr>
              <a:t>It states a view</a:t>
            </a:r>
            <a:endParaRPr lang="en-US" sz="1800" dirty="0"/>
          </a:p>
        </p:txBody>
      </p:sp>
      <p:sp>
        <p:nvSpPr>
          <p:cNvPr id="9" name="Text 7"/>
          <p:cNvSpPr txBox="1"/>
          <p:nvPr/>
        </p:nvSpPr>
        <p:spPr>
          <a:xfrm>
            <a:off x="960120" y="2441448"/>
            <a:ext cx="4754880" cy="1051560"/>
          </a:xfrm>
          <a:prstGeom prst="rect">
            <a:avLst/>
          </a:prstGeom>
          <a:noFill/>
          <a:ln/>
        </p:spPr>
        <p:txBody>
          <a:bodyPr wrap="square" lIns="0" tIns="0" rIns="0" bIns="0" rtlCol="0" anchor="t"/>
          <a:lstStyle/>
          <a:p>
            <a:pPr indent="0" marL="0">
              <a:lnSpc>
                <a:spcPts val="1550"/>
              </a:lnSpc>
              <a:buNone/>
            </a:pPr>
            <a:r>
              <a:rPr lang="en-US" sz="1150" dirty="0">
                <a:solidFill>
                  <a:srgbClr val="52656E"/>
                </a:solidFill>
                <a:latin typeface="Calibri" pitchFamily="34" charset="0"/>
                <a:ea typeface="Calibri" pitchFamily="34" charset="-122"/>
                <a:cs typeface="Calibri" pitchFamily="34" charset="-120"/>
              </a:rPr>
              <a:t>Today every report prints “no view reached” — because the field was never wired, not because no view was reached. V1.0 composes the half that is arithmetic (the range, the method, the distance from the price) and lets you author the half that is judgement. The model writes neither.</a:t>
            </a:r>
            <a:endParaRPr lang="en-US" sz="1150" dirty="0"/>
          </a:p>
        </p:txBody>
      </p:sp>
      <p:sp>
        <p:nvSpPr>
          <p:cNvPr id="10" name="Shape 8"/>
          <p:cNvSpPr/>
          <p:nvPr/>
        </p:nvSpPr>
        <p:spPr>
          <a:xfrm>
            <a:off x="6208776" y="1572768"/>
            <a:ext cx="5294376" cy="2029968"/>
          </a:xfrm>
          <a:prstGeom prst="roundRect">
            <a:avLst>
              <a:gd name="adj" fmla="val 2252"/>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11" name="Shape 9"/>
          <p:cNvSpPr/>
          <p:nvPr/>
        </p:nvSpPr>
        <p:spPr>
          <a:xfrm>
            <a:off x="6208776" y="1572768"/>
            <a:ext cx="5294376" cy="41148"/>
          </a:xfrm>
          <a:prstGeom prst="rect">
            <a:avLst/>
          </a:prstGeom>
          <a:solidFill>
            <a:srgbClr val="6B3F60"/>
          </a:solidFill>
          <a:ln/>
        </p:spPr>
      </p:sp>
      <p:sp>
        <p:nvSpPr>
          <p:cNvPr id="12" name="Shape 10"/>
          <p:cNvSpPr/>
          <p:nvPr/>
        </p:nvSpPr>
        <p:spPr>
          <a:xfrm>
            <a:off x="6483096" y="1883664"/>
            <a:ext cx="420624" cy="420624"/>
          </a:xfrm>
          <a:prstGeom prst="ellipse">
            <a:avLst/>
          </a:prstGeom>
          <a:solidFill>
            <a:srgbClr val="6B3F60"/>
          </a:solidFill>
          <a:ln/>
        </p:spPr>
      </p:sp>
      <p:sp>
        <p:nvSpPr>
          <p:cNvPr id="13" name="Text 11"/>
          <p:cNvSpPr txBox="1"/>
          <p:nvPr/>
        </p:nvSpPr>
        <p:spPr>
          <a:xfrm>
            <a:off x="6483096" y="188366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2"/>
          <p:cNvSpPr txBox="1"/>
          <p:nvPr/>
        </p:nvSpPr>
        <p:spPr>
          <a:xfrm>
            <a:off x="7050024" y="1920240"/>
            <a:ext cx="4206240" cy="365760"/>
          </a:xfrm>
          <a:prstGeom prst="rect">
            <a:avLst/>
          </a:prstGeom>
          <a:noFill/>
          <a:ln/>
        </p:spPr>
        <p:txBody>
          <a:bodyPr wrap="square" lIns="0" tIns="0" rIns="0" bIns="0" rtlCol="0" anchor="ctr"/>
          <a:lstStyle/>
          <a:p>
            <a:pPr indent="0" marL="0">
              <a:buNone/>
            </a:pPr>
            <a:r>
              <a:rPr lang="en-US" sz="1800" b="1" dirty="0">
                <a:solidFill>
                  <a:srgbClr val="15252E"/>
                </a:solidFill>
                <a:latin typeface="Cambria" pitchFamily="34" charset="0"/>
                <a:ea typeface="Cambria" pitchFamily="34" charset="-122"/>
                <a:cs typeface="Cambria" pitchFamily="34" charset="-120"/>
              </a:rPr>
              <a:t>The adversary argues the other side</a:t>
            </a:r>
            <a:endParaRPr lang="en-US" sz="1800" dirty="0"/>
          </a:p>
        </p:txBody>
      </p:sp>
      <p:sp>
        <p:nvSpPr>
          <p:cNvPr id="15" name="Text 13"/>
          <p:cNvSpPr txBox="1"/>
          <p:nvPr/>
        </p:nvSpPr>
        <p:spPr>
          <a:xfrm>
            <a:off x="6483096" y="2441448"/>
            <a:ext cx="4754880" cy="1051560"/>
          </a:xfrm>
          <a:prstGeom prst="rect">
            <a:avLst/>
          </a:prstGeom>
          <a:noFill/>
          <a:ln/>
        </p:spPr>
        <p:txBody>
          <a:bodyPr wrap="square" lIns="0" tIns="0" rIns="0" bIns="0" rtlCol="0" anchor="t"/>
          <a:lstStyle/>
          <a:p>
            <a:pPr indent="0" marL="0">
              <a:lnSpc>
                <a:spcPts val="1550"/>
              </a:lnSpc>
              <a:buNone/>
            </a:pPr>
            <a:r>
              <a:rPr lang="en-US" sz="1150" dirty="0">
                <a:solidFill>
                  <a:srgbClr val="52656E"/>
                </a:solidFill>
                <a:latin typeface="Calibri" pitchFamily="34" charset="0"/>
                <a:ea typeface="Calibri" pitchFamily="34" charset="-122"/>
                <a:cs typeface="Calibri" pitchFamily="34" charset="-120"/>
              </a:rPr>
              <a:t>It stops re-checking arithmetic that code already checks better, and builds the strongest case against your conclusion. Long thesis, argue the short. And nothing ships unresolved.</a:t>
            </a:r>
            <a:endParaRPr lang="en-US" sz="1150" dirty="0"/>
          </a:p>
        </p:txBody>
      </p:sp>
      <p:sp>
        <p:nvSpPr>
          <p:cNvPr id="16" name="Shape 14"/>
          <p:cNvSpPr/>
          <p:nvPr/>
        </p:nvSpPr>
        <p:spPr>
          <a:xfrm>
            <a:off x="685800" y="3785616"/>
            <a:ext cx="5294376" cy="2029968"/>
          </a:xfrm>
          <a:prstGeom prst="roundRect">
            <a:avLst>
              <a:gd name="adj" fmla="val 2252"/>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17" name="Shape 15"/>
          <p:cNvSpPr/>
          <p:nvPr/>
        </p:nvSpPr>
        <p:spPr>
          <a:xfrm>
            <a:off x="685800" y="3785616"/>
            <a:ext cx="5294376" cy="41148"/>
          </a:xfrm>
          <a:prstGeom prst="rect">
            <a:avLst/>
          </a:prstGeom>
          <a:solidFill>
            <a:srgbClr val="14613F"/>
          </a:solidFill>
          <a:ln/>
        </p:spPr>
      </p:sp>
      <p:sp>
        <p:nvSpPr>
          <p:cNvPr id="18" name="Shape 16"/>
          <p:cNvSpPr/>
          <p:nvPr/>
        </p:nvSpPr>
        <p:spPr>
          <a:xfrm>
            <a:off x="960120" y="4096512"/>
            <a:ext cx="420624" cy="420624"/>
          </a:xfrm>
          <a:prstGeom prst="ellipse">
            <a:avLst/>
          </a:prstGeom>
          <a:solidFill>
            <a:srgbClr val="14613F"/>
          </a:solidFill>
          <a:ln/>
        </p:spPr>
      </p:sp>
      <p:sp>
        <p:nvSpPr>
          <p:cNvPr id="19" name="Text 17"/>
          <p:cNvSpPr txBox="1"/>
          <p:nvPr/>
        </p:nvSpPr>
        <p:spPr>
          <a:xfrm>
            <a:off x="960120" y="409651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0" name="Text 18"/>
          <p:cNvSpPr txBox="1"/>
          <p:nvPr/>
        </p:nvSpPr>
        <p:spPr>
          <a:xfrm>
            <a:off x="1527048" y="4133088"/>
            <a:ext cx="4206240" cy="365760"/>
          </a:xfrm>
          <a:prstGeom prst="rect">
            <a:avLst/>
          </a:prstGeom>
          <a:noFill/>
          <a:ln/>
        </p:spPr>
        <p:txBody>
          <a:bodyPr wrap="square" lIns="0" tIns="0" rIns="0" bIns="0" rtlCol="0" anchor="ctr"/>
          <a:lstStyle/>
          <a:p>
            <a:pPr indent="0" marL="0">
              <a:buNone/>
            </a:pPr>
            <a:r>
              <a:rPr lang="en-US" sz="1800" b="1" dirty="0">
                <a:solidFill>
                  <a:srgbClr val="15252E"/>
                </a:solidFill>
                <a:latin typeface="Cambria" pitchFamily="34" charset="0"/>
                <a:ea typeface="Cambria" pitchFamily="34" charset="-122"/>
                <a:cs typeface="Cambria" pitchFamily="34" charset="-120"/>
              </a:rPr>
              <a:t>It prints what it already computed</a:t>
            </a:r>
            <a:endParaRPr lang="en-US" sz="1800" dirty="0"/>
          </a:p>
        </p:txBody>
      </p:sp>
      <p:sp>
        <p:nvSpPr>
          <p:cNvPr id="21" name="Text 19"/>
          <p:cNvSpPr txBox="1"/>
          <p:nvPr/>
        </p:nvSpPr>
        <p:spPr>
          <a:xfrm>
            <a:off x="960120" y="4654296"/>
            <a:ext cx="4754880" cy="1051560"/>
          </a:xfrm>
          <a:prstGeom prst="rect">
            <a:avLst/>
          </a:prstGeom>
          <a:noFill/>
          <a:ln/>
        </p:spPr>
        <p:txBody>
          <a:bodyPr wrap="square" lIns="0" tIns="0" rIns="0" bIns="0" rtlCol="0" anchor="t"/>
          <a:lstStyle/>
          <a:p>
            <a:pPr indent="0" marL="0">
              <a:lnSpc>
                <a:spcPts val="1550"/>
              </a:lnSpc>
              <a:buNone/>
            </a:pPr>
            <a:r>
              <a:rPr lang="en-US" sz="1150" dirty="0">
                <a:solidFill>
                  <a:srgbClr val="52656E"/>
                </a:solidFill>
                <a:latin typeface="Calibri" pitchFamily="34" charset="0"/>
                <a:ea typeface="Calibri" pitchFamily="34" charset="-122"/>
                <a:cs typeface="Calibri" pitchFamily="34" charset="-120"/>
              </a:rPr>
              <a:t>Multiples, segment revenue, the implied range, the verified excerpts. All of it computed, stored and hashed today — and thrown away before anyone reads it.</a:t>
            </a:r>
            <a:endParaRPr lang="en-US" sz="1150" dirty="0"/>
          </a:p>
        </p:txBody>
      </p:sp>
      <p:sp>
        <p:nvSpPr>
          <p:cNvPr id="22" name="Shape 20"/>
          <p:cNvSpPr/>
          <p:nvPr/>
        </p:nvSpPr>
        <p:spPr>
          <a:xfrm>
            <a:off x="6208776" y="3785616"/>
            <a:ext cx="5294376" cy="2029968"/>
          </a:xfrm>
          <a:prstGeom prst="roundRect">
            <a:avLst>
              <a:gd name="adj" fmla="val 2252"/>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23" name="Shape 21"/>
          <p:cNvSpPr/>
          <p:nvPr/>
        </p:nvSpPr>
        <p:spPr>
          <a:xfrm>
            <a:off x="6208776" y="3785616"/>
            <a:ext cx="5294376" cy="41148"/>
          </a:xfrm>
          <a:prstGeom prst="rect">
            <a:avLst/>
          </a:prstGeom>
          <a:solidFill>
            <a:srgbClr val="7A4B00"/>
          </a:solidFill>
          <a:ln/>
        </p:spPr>
      </p:sp>
      <p:sp>
        <p:nvSpPr>
          <p:cNvPr id="24" name="Shape 22"/>
          <p:cNvSpPr/>
          <p:nvPr/>
        </p:nvSpPr>
        <p:spPr>
          <a:xfrm>
            <a:off x="6483096" y="4096512"/>
            <a:ext cx="420624" cy="420624"/>
          </a:xfrm>
          <a:prstGeom prst="ellipse">
            <a:avLst/>
          </a:prstGeom>
          <a:solidFill>
            <a:srgbClr val="7A4B00"/>
          </a:solidFill>
          <a:ln/>
        </p:spPr>
      </p:sp>
      <p:sp>
        <p:nvSpPr>
          <p:cNvPr id="25" name="Text 23"/>
          <p:cNvSpPr txBox="1"/>
          <p:nvPr/>
        </p:nvSpPr>
        <p:spPr>
          <a:xfrm>
            <a:off x="6483096" y="409651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6" name="Text 24"/>
          <p:cNvSpPr txBox="1"/>
          <p:nvPr/>
        </p:nvSpPr>
        <p:spPr>
          <a:xfrm>
            <a:off x="7050024" y="4133088"/>
            <a:ext cx="4206240" cy="365760"/>
          </a:xfrm>
          <a:prstGeom prst="rect">
            <a:avLst/>
          </a:prstGeom>
          <a:noFill/>
          <a:ln/>
        </p:spPr>
        <p:txBody>
          <a:bodyPr wrap="square" lIns="0" tIns="0" rIns="0" bIns="0" rtlCol="0" anchor="ctr"/>
          <a:lstStyle/>
          <a:p>
            <a:pPr indent="0" marL="0">
              <a:buNone/>
            </a:pPr>
            <a:r>
              <a:rPr lang="en-US" sz="1800" b="1" dirty="0">
                <a:solidFill>
                  <a:srgbClr val="15252E"/>
                </a:solidFill>
                <a:latin typeface="Cambria" pitchFamily="34" charset="0"/>
                <a:ea typeface="Cambria" pitchFamily="34" charset="-122"/>
                <a:cs typeface="Cambria" pitchFamily="34" charset="-120"/>
              </a:rPr>
              <a:t>It reads your own book</a:t>
            </a:r>
            <a:endParaRPr lang="en-US" sz="1800" dirty="0"/>
          </a:p>
        </p:txBody>
      </p:sp>
      <p:sp>
        <p:nvSpPr>
          <p:cNvPr id="27" name="Text 25"/>
          <p:cNvSpPr txBox="1"/>
          <p:nvPr/>
        </p:nvSpPr>
        <p:spPr>
          <a:xfrm>
            <a:off x="6483096" y="4654296"/>
            <a:ext cx="4754880" cy="1051560"/>
          </a:xfrm>
          <a:prstGeom prst="rect">
            <a:avLst/>
          </a:prstGeom>
          <a:noFill/>
          <a:ln/>
        </p:spPr>
        <p:txBody>
          <a:bodyPr wrap="square" lIns="0" tIns="0" rIns="0" bIns="0" rtlCol="0" anchor="t"/>
          <a:lstStyle/>
          <a:p>
            <a:pPr indent="0" marL="0">
              <a:lnSpc>
                <a:spcPts val="1550"/>
              </a:lnSpc>
              <a:buNone/>
            </a:pPr>
            <a:r>
              <a:rPr lang="en-US" sz="1150" dirty="0">
                <a:solidFill>
                  <a:srgbClr val="52656E"/>
                </a:solidFill>
                <a:latin typeface="Calibri" pitchFamily="34" charset="0"/>
                <a:ea typeface="Calibri" pitchFamily="34" charset="-122"/>
                <a:cs typeface="Calibri" pitchFamily="34" charset="-120"/>
              </a:rPr>
              <a:t>What this position does to the concentration you already have, and to the sector exposure you already carry. Consequences, computed from your holdings. Never instructions.</a:t>
            </a:r>
            <a:endParaRPr lang="en-US" sz="1150" dirty="0"/>
          </a:p>
        </p:txBody>
      </p:sp>
      <p:sp>
        <p:nvSpPr>
          <p:cNvPr id="28" name="Shape 26"/>
          <p:cNvSpPr/>
          <p:nvPr/>
        </p:nvSpPr>
        <p:spPr>
          <a:xfrm>
            <a:off x="10588752" y="420624"/>
            <a:ext cx="914400" cy="237744"/>
          </a:xfrm>
          <a:prstGeom prst="roundRect">
            <a:avLst>
              <a:gd name="adj" fmla="val 38462"/>
            </a:avLst>
          </a:prstGeom>
          <a:solidFill>
            <a:srgbClr val="7A4B00"/>
          </a:solidFill>
          <a:ln/>
        </p:spPr>
      </p:sp>
      <p:sp>
        <p:nvSpPr>
          <p:cNvPr id="29" name="Text 27"/>
          <p:cNvSpPr txBox="1"/>
          <p:nvPr/>
        </p:nvSpPr>
        <p:spPr>
          <a:xfrm>
            <a:off x="10588752" y="420624"/>
            <a:ext cx="914400" cy="237744"/>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alibri" pitchFamily="34" charset="0"/>
                <a:ea typeface="Calibri" pitchFamily="34" charset="-122"/>
                <a:cs typeface="Calibri" pitchFamily="34" charset="-120"/>
              </a:rPr>
              <a:t>PLANNED</a:t>
            </a:r>
            <a:endParaRPr lang="en-US" sz="850" dirty="0"/>
          </a:p>
        </p:txBody>
      </p:sp>
      <p:sp>
        <p:nvSpPr>
          <p:cNvPr id="30" name="Text 28"/>
          <p:cNvSpPr txBox="1"/>
          <p:nvPr/>
        </p:nvSpPr>
        <p:spPr>
          <a:xfrm>
            <a:off x="685800" y="6291072"/>
            <a:ext cx="10817352" cy="274320"/>
          </a:xfrm>
          <a:prstGeom prst="rect">
            <a:avLst/>
          </a:prstGeom>
          <a:noFill/>
          <a:ln/>
        </p:spPr>
        <p:txBody>
          <a:bodyPr wrap="square" lIns="0" tIns="0" rIns="0" bIns="0" rtlCol="0" anchor="t"/>
          <a:lstStyle/>
          <a:p>
            <a:pPr indent="0" marL="0">
              <a:buNone/>
            </a:pPr>
            <a:r>
              <a:rPr lang="en-US" sz="950" i="1" dirty="0">
                <a:solidFill>
                  <a:srgbClr val="5B6D75"/>
                </a:solidFill>
                <a:latin typeface="Calibri" pitchFamily="34" charset="0"/>
                <a:ea typeface="Calibri" pitchFamily="34" charset="-122"/>
                <a:cs typeface="Calibri" pitchFamily="34" charset="-120"/>
              </a:rPr>
              <a:t>Three of these are unlocking work the platform already does. Only the first is genuinely new.</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685800" y="402336"/>
            <a:ext cx="9601200" cy="274320"/>
          </a:xfrm>
          <a:prstGeom prst="rect">
            <a:avLst/>
          </a:prstGeom>
          <a:noFill/>
          <a:ln/>
        </p:spPr>
        <p:txBody>
          <a:bodyPr wrap="square" lIns="0" tIns="0" rIns="0" bIns="0" rtlCol="0" anchor="t"/>
          <a:lstStyle/>
          <a:p>
            <a:pPr indent="0" marL="0">
              <a:buNone/>
            </a:pPr>
            <a:r>
              <a:rPr lang="en-US" sz="1100" b="1" spc="220" kern="0" dirty="0">
                <a:solidFill>
                  <a:srgbClr val="0F6673"/>
                </a:solidFill>
                <a:latin typeface="Calibri" pitchFamily="34" charset="0"/>
                <a:ea typeface="Calibri" pitchFamily="34" charset="-122"/>
                <a:cs typeface="Calibri" pitchFamily="34" charset="-120"/>
              </a:rPr>
              <a:t>NEW IN THE BOX</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5252E"/>
                </a:solidFill>
                <a:latin typeface="Cambria" pitchFamily="34" charset="0"/>
                <a:ea typeface="Cambria" pitchFamily="34" charset="-122"/>
                <a:cs typeface="Cambria" pitchFamily="34" charset="-120"/>
              </a:rPr>
              <a:t>Three things you have not had before</a:t>
            </a:r>
            <a:endParaRPr lang="en-US" sz="3200" dirty="0"/>
          </a:p>
        </p:txBody>
      </p:sp>
      <p:sp>
        <p:nvSpPr>
          <p:cNvPr id="4" name="Text 2"/>
          <p:cNvSpPr txBox="1"/>
          <p:nvPr/>
        </p:nvSpPr>
        <p:spPr>
          <a:xfrm>
            <a:off x="685800" y="1444752"/>
            <a:ext cx="10058400" cy="365760"/>
          </a:xfrm>
          <a:prstGeom prst="rect">
            <a:avLst/>
          </a:prstGeom>
          <a:noFill/>
          <a:ln/>
        </p:spPr>
        <p:txBody>
          <a:bodyPr wrap="square" lIns="0" tIns="0" rIns="0" bIns="0" rtlCol="0" anchor="t"/>
          <a:lstStyle/>
          <a:p>
            <a:pPr indent="0" marL="0">
              <a:lnSpc>
                <a:spcPts val="1700"/>
              </a:lnSpc>
              <a:buNone/>
            </a:pPr>
            <a:r>
              <a:rPr lang="en-US" sz="1250" dirty="0">
                <a:solidFill>
                  <a:srgbClr val="52656E"/>
                </a:solidFill>
                <a:latin typeface="Calibri" pitchFamily="34" charset="0"/>
                <a:ea typeface="Calibri" pitchFamily="34" charset="-122"/>
                <a:cs typeface="Calibri" pitchFamily="34" charset="-120"/>
              </a:rPr>
              <a:t>None of these needs the loop. They ship because the record is already there to build them on.</a:t>
            </a:r>
            <a:endParaRPr lang="en-US" sz="1250" dirty="0"/>
          </a:p>
        </p:txBody>
      </p:sp>
      <p:sp>
        <p:nvSpPr>
          <p:cNvPr id="5" name="Shape 3"/>
          <p:cNvSpPr/>
          <p:nvPr/>
        </p:nvSpPr>
        <p:spPr>
          <a:xfrm>
            <a:off x="685800" y="2057400"/>
            <a:ext cx="3447288" cy="3611880"/>
          </a:xfrm>
          <a:prstGeom prst="roundRect">
            <a:avLst>
              <a:gd name="adj" fmla="val 1326"/>
            </a:avLst>
          </a:prstGeom>
          <a:solidFill>
            <a:srgbClr val="E2F3F4"/>
          </a:solidFill>
          <a:ln w="9525">
            <a:solidFill>
              <a:srgbClr val="FFFFFF"/>
            </a:solidFill>
            <a:prstDash val="solid"/>
          </a:ln>
          <a:effectLst>
            <a:outerShdw sx="100000" sy="100000" kx="0" ky="0" algn="bl" rotWithShape="0" blurRad="152400" dist="38100" dir="5400000">
              <a:srgbClr val="07171D">
                <a:alpha val="12000"/>
              </a:srgbClr>
            </a:outerShdw>
          </a:effectLst>
        </p:spPr>
      </p:sp>
      <p:sp>
        <p:nvSpPr>
          <p:cNvPr id="6" name="Shape 4"/>
          <p:cNvSpPr/>
          <p:nvPr/>
        </p:nvSpPr>
        <p:spPr>
          <a:xfrm>
            <a:off x="685800" y="2057400"/>
            <a:ext cx="3447288" cy="45720"/>
          </a:xfrm>
          <a:prstGeom prst="rect">
            <a:avLst/>
          </a:prstGeom>
          <a:solidFill>
            <a:srgbClr val="0F6673"/>
          </a:solidFill>
          <a:ln/>
        </p:spPr>
      </p:sp>
      <p:sp>
        <p:nvSpPr>
          <p:cNvPr id="7" name="Text 5"/>
          <p:cNvSpPr txBox="1"/>
          <p:nvPr/>
        </p:nvSpPr>
        <p:spPr>
          <a:xfrm>
            <a:off x="978408" y="2359152"/>
            <a:ext cx="2880360" cy="777240"/>
          </a:xfrm>
          <a:prstGeom prst="rect">
            <a:avLst/>
          </a:prstGeom>
          <a:noFill/>
          <a:ln/>
        </p:spPr>
        <p:txBody>
          <a:bodyPr wrap="square" lIns="0" tIns="0" rIns="0" bIns="0" rtlCol="0" anchor="t"/>
          <a:lstStyle/>
          <a:p>
            <a:pPr indent="0" marL="0">
              <a:lnSpc>
                <a:spcPts val="2500"/>
              </a:lnSpc>
              <a:buNone/>
            </a:pPr>
            <a:r>
              <a:rPr lang="en-US" sz="2100" b="1" dirty="0">
                <a:solidFill>
                  <a:srgbClr val="0F6673"/>
                </a:solidFill>
                <a:latin typeface="Cambria" pitchFamily="34" charset="0"/>
                <a:ea typeface="Cambria" pitchFamily="34" charset="-122"/>
                <a:cs typeface="Cambria" pitchFamily="34" charset="-120"/>
              </a:rPr>
              <a:t>The model, in Excel</a:t>
            </a:r>
            <a:endParaRPr lang="en-US" sz="2100" dirty="0"/>
          </a:p>
        </p:txBody>
      </p:sp>
      <p:sp>
        <p:nvSpPr>
          <p:cNvPr id="8" name="Text 6"/>
          <p:cNvSpPr txBox="1"/>
          <p:nvPr/>
        </p:nvSpPr>
        <p:spPr>
          <a:xfrm>
            <a:off x="978408" y="3236976"/>
            <a:ext cx="2880360" cy="2286000"/>
          </a:xfrm>
          <a:prstGeom prst="rect">
            <a:avLst/>
          </a:prstGeom>
          <a:noFill/>
          <a:ln/>
        </p:spPr>
        <p:txBody>
          <a:bodyPr wrap="square" lIns="0" tIns="0" rIns="0" bIns="0" rtlCol="0" anchor="t"/>
          <a:lstStyle/>
          <a:p>
            <a:pPr indent="0" marL="0">
              <a:lnSpc>
                <a:spcPts val="1700"/>
              </a:lnSpc>
              <a:buNone/>
            </a:pPr>
            <a:r>
              <a:rPr lang="en-US" sz="1200" dirty="0">
                <a:solidFill>
                  <a:srgbClr val="15252E"/>
                </a:solidFill>
                <a:latin typeface="Calibri" pitchFamily="34" charset="0"/>
                <a:ea typeface="Calibri" pitchFamily="34" charset="-122"/>
                <a:cs typeface="Calibri" pitchFamily="34" charset="-120"/>
              </a:rPr>
              <a:t>Every report ships with a workbook carrying the valuation as live formulas — not pasted numbers. Change an input cell and the model recomputes in the sheet. Inputs blue, computed black, and a provenance tab listing every input with its source and the hash of the report it came from.</a:t>
            </a:r>
            <a:endParaRPr lang="en-US" sz="1200" dirty="0"/>
          </a:p>
        </p:txBody>
      </p:sp>
      <p:sp>
        <p:nvSpPr>
          <p:cNvPr id="9" name="Shape 7"/>
          <p:cNvSpPr/>
          <p:nvPr/>
        </p:nvSpPr>
        <p:spPr>
          <a:xfrm>
            <a:off x="4370832" y="2057400"/>
            <a:ext cx="3447288" cy="3611880"/>
          </a:xfrm>
          <a:prstGeom prst="roundRect">
            <a:avLst>
              <a:gd name="adj" fmla="val 1326"/>
            </a:avLst>
          </a:prstGeom>
          <a:solidFill>
            <a:srgbClr val="FFF3D6"/>
          </a:solidFill>
          <a:ln w="9525">
            <a:solidFill>
              <a:srgbClr val="FFFFFF"/>
            </a:solidFill>
            <a:prstDash val="solid"/>
          </a:ln>
          <a:effectLst>
            <a:outerShdw sx="100000" sy="100000" kx="0" ky="0" algn="bl" rotWithShape="0" blurRad="152400" dist="38100" dir="5400000">
              <a:srgbClr val="07171D">
                <a:alpha val="12000"/>
              </a:srgbClr>
            </a:outerShdw>
          </a:effectLst>
        </p:spPr>
      </p:sp>
      <p:sp>
        <p:nvSpPr>
          <p:cNvPr id="10" name="Shape 8"/>
          <p:cNvSpPr/>
          <p:nvPr/>
        </p:nvSpPr>
        <p:spPr>
          <a:xfrm>
            <a:off x="4370832" y="2057400"/>
            <a:ext cx="3447288" cy="45720"/>
          </a:xfrm>
          <a:prstGeom prst="rect">
            <a:avLst/>
          </a:prstGeom>
          <a:solidFill>
            <a:srgbClr val="7A4B00"/>
          </a:solidFill>
          <a:ln/>
        </p:spPr>
      </p:sp>
      <p:sp>
        <p:nvSpPr>
          <p:cNvPr id="11" name="Text 9"/>
          <p:cNvSpPr txBox="1"/>
          <p:nvPr/>
        </p:nvSpPr>
        <p:spPr>
          <a:xfrm>
            <a:off x="4663440" y="2359152"/>
            <a:ext cx="2880360" cy="777240"/>
          </a:xfrm>
          <a:prstGeom prst="rect">
            <a:avLst/>
          </a:prstGeom>
          <a:noFill/>
          <a:ln/>
        </p:spPr>
        <p:txBody>
          <a:bodyPr wrap="square" lIns="0" tIns="0" rIns="0" bIns="0" rtlCol="0" anchor="t"/>
          <a:lstStyle/>
          <a:p>
            <a:pPr indent="0" marL="0">
              <a:lnSpc>
                <a:spcPts val="2500"/>
              </a:lnSpc>
              <a:buNone/>
            </a:pPr>
            <a:r>
              <a:rPr lang="en-US" sz="2100" b="1" dirty="0">
                <a:solidFill>
                  <a:srgbClr val="7A4B00"/>
                </a:solidFill>
                <a:latin typeface="Cambria" pitchFamily="34" charset="0"/>
                <a:ea typeface="Cambria" pitchFamily="34" charset="-122"/>
                <a:cs typeface="Cambria" pitchFamily="34" charset="-120"/>
              </a:rPr>
              <a:t>Ask, in three tiers</a:t>
            </a:r>
            <a:endParaRPr lang="en-US" sz="2100" dirty="0"/>
          </a:p>
        </p:txBody>
      </p:sp>
      <p:sp>
        <p:nvSpPr>
          <p:cNvPr id="12" name="Text 10"/>
          <p:cNvSpPr txBox="1"/>
          <p:nvPr/>
        </p:nvSpPr>
        <p:spPr>
          <a:xfrm>
            <a:off x="4663440" y="3236976"/>
            <a:ext cx="2880360" cy="2286000"/>
          </a:xfrm>
          <a:prstGeom prst="rect">
            <a:avLst/>
          </a:prstGeom>
          <a:noFill/>
          <a:ln/>
        </p:spPr>
        <p:txBody>
          <a:bodyPr wrap="square" lIns="0" tIns="0" rIns="0" bIns="0" rtlCol="0" anchor="t"/>
          <a:lstStyle/>
          <a:p>
            <a:pPr indent="0" marL="0">
              <a:lnSpc>
                <a:spcPts val="1700"/>
              </a:lnSpc>
              <a:buNone/>
            </a:pPr>
            <a:r>
              <a:rPr lang="en-US" sz="1200" dirty="0">
                <a:solidFill>
                  <a:srgbClr val="15252E"/>
                </a:solidFill>
                <a:latin typeface="Calibri" pitchFamily="34" charset="0"/>
                <a:ea typeface="Calibri" pitchFamily="34" charset="-122"/>
                <a:cs typeface="Calibri" pitchFamily="34" charset="-120"/>
              </a:rPr>
              <a:t>A question box that answers from the record for nothing, from your stored evidence for pennies, and from fresh research only after telling you the price and waiting for a yes. A question it cannot answer is refused with what it would cost — never guessed.</a:t>
            </a:r>
            <a:endParaRPr lang="en-US" sz="1200" dirty="0"/>
          </a:p>
        </p:txBody>
      </p:sp>
      <p:sp>
        <p:nvSpPr>
          <p:cNvPr id="13" name="Shape 11"/>
          <p:cNvSpPr/>
          <p:nvPr/>
        </p:nvSpPr>
        <p:spPr>
          <a:xfrm>
            <a:off x="8055864" y="2057400"/>
            <a:ext cx="3447288" cy="3611880"/>
          </a:xfrm>
          <a:prstGeom prst="roundRect">
            <a:avLst>
              <a:gd name="adj" fmla="val 1326"/>
            </a:avLst>
          </a:prstGeom>
          <a:solidFill>
            <a:srgbClr val="E3F4EA"/>
          </a:solidFill>
          <a:ln w="9525">
            <a:solidFill>
              <a:srgbClr val="FFFFFF"/>
            </a:solidFill>
            <a:prstDash val="solid"/>
          </a:ln>
          <a:effectLst>
            <a:outerShdw sx="100000" sy="100000" kx="0" ky="0" algn="bl" rotWithShape="0" blurRad="152400" dist="38100" dir="5400000">
              <a:srgbClr val="07171D">
                <a:alpha val="12000"/>
              </a:srgbClr>
            </a:outerShdw>
          </a:effectLst>
        </p:spPr>
      </p:sp>
      <p:sp>
        <p:nvSpPr>
          <p:cNvPr id="14" name="Shape 12"/>
          <p:cNvSpPr/>
          <p:nvPr/>
        </p:nvSpPr>
        <p:spPr>
          <a:xfrm>
            <a:off x="8055864" y="2057400"/>
            <a:ext cx="3447288" cy="45720"/>
          </a:xfrm>
          <a:prstGeom prst="rect">
            <a:avLst/>
          </a:prstGeom>
          <a:solidFill>
            <a:srgbClr val="14613F"/>
          </a:solidFill>
          <a:ln/>
        </p:spPr>
      </p:sp>
      <p:sp>
        <p:nvSpPr>
          <p:cNvPr id="15" name="Text 13"/>
          <p:cNvSpPr txBox="1"/>
          <p:nvPr/>
        </p:nvSpPr>
        <p:spPr>
          <a:xfrm>
            <a:off x="8348472" y="2359152"/>
            <a:ext cx="2880360" cy="777240"/>
          </a:xfrm>
          <a:prstGeom prst="rect">
            <a:avLst/>
          </a:prstGeom>
          <a:noFill/>
          <a:ln/>
        </p:spPr>
        <p:txBody>
          <a:bodyPr wrap="square" lIns="0" tIns="0" rIns="0" bIns="0" rtlCol="0" anchor="t"/>
          <a:lstStyle/>
          <a:p>
            <a:pPr indent="0" marL="0">
              <a:lnSpc>
                <a:spcPts val="2500"/>
              </a:lnSpc>
              <a:buNone/>
            </a:pPr>
            <a:r>
              <a:rPr lang="en-US" sz="2100" b="1" dirty="0">
                <a:solidFill>
                  <a:srgbClr val="14613F"/>
                </a:solidFill>
                <a:latin typeface="Cambria" pitchFamily="34" charset="0"/>
                <a:ea typeface="Cambria" pitchFamily="34" charset="-122"/>
                <a:cs typeface="Cambria" pitchFamily="34" charset="-120"/>
              </a:rPr>
              <a:t>Portability</a:t>
            </a:r>
            <a:endParaRPr lang="en-US" sz="2100" dirty="0"/>
          </a:p>
        </p:txBody>
      </p:sp>
      <p:sp>
        <p:nvSpPr>
          <p:cNvPr id="16" name="Text 14"/>
          <p:cNvSpPr txBox="1"/>
          <p:nvPr/>
        </p:nvSpPr>
        <p:spPr>
          <a:xfrm>
            <a:off x="8348472" y="3236976"/>
            <a:ext cx="2880360" cy="2286000"/>
          </a:xfrm>
          <a:prstGeom prst="rect">
            <a:avLst/>
          </a:prstGeom>
          <a:noFill/>
          <a:ln/>
        </p:spPr>
        <p:txBody>
          <a:bodyPr wrap="square" lIns="0" tIns="0" rIns="0" bIns="0" rtlCol="0" anchor="t"/>
          <a:lstStyle/>
          <a:p>
            <a:pPr indent="0" marL="0">
              <a:lnSpc>
                <a:spcPts val="1700"/>
              </a:lnSpc>
              <a:buNone/>
            </a:pPr>
            <a:r>
              <a:rPr lang="en-US" sz="1200" dirty="0">
                <a:solidFill>
                  <a:srgbClr val="15252E"/>
                </a:solidFill>
                <a:latin typeface="Calibri" pitchFamily="34" charset="0"/>
                <a:ea typeface="Calibri" pitchFamily="34" charset="-122"/>
                <a:cs typeface="Calibri" pitchFamily="34" charset="-120"/>
              </a:rPr>
              <a:t>Because the arithmetic lives in Python and not in a prompt, the language model is a configured choice. A second provider is a settings change, not a rewrite — which is a hedge against anyone else's pricing, policy or availability.</a:t>
            </a:r>
            <a:endParaRPr lang="en-US" sz="1200" dirty="0"/>
          </a:p>
        </p:txBody>
      </p:sp>
      <p:sp>
        <p:nvSpPr>
          <p:cNvPr id="17" name="Shape 15"/>
          <p:cNvSpPr/>
          <p:nvPr/>
        </p:nvSpPr>
        <p:spPr>
          <a:xfrm>
            <a:off x="10588752" y="420624"/>
            <a:ext cx="914400" cy="237744"/>
          </a:xfrm>
          <a:prstGeom prst="roundRect">
            <a:avLst>
              <a:gd name="adj" fmla="val 38462"/>
            </a:avLst>
          </a:prstGeom>
          <a:solidFill>
            <a:srgbClr val="7A4B00"/>
          </a:solidFill>
          <a:ln/>
        </p:spPr>
      </p:sp>
      <p:sp>
        <p:nvSpPr>
          <p:cNvPr id="18" name="Text 16"/>
          <p:cNvSpPr txBox="1"/>
          <p:nvPr/>
        </p:nvSpPr>
        <p:spPr>
          <a:xfrm>
            <a:off x="10588752" y="420624"/>
            <a:ext cx="914400" cy="237744"/>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alibri" pitchFamily="34" charset="0"/>
                <a:ea typeface="Calibri" pitchFamily="34" charset="-122"/>
                <a:cs typeface="Calibri" pitchFamily="34" charset="-120"/>
              </a:rPr>
              <a:t>PLANNED</a:t>
            </a:r>
            <a:endParaRPr lang="en-US" sz="850" dirty="0"/>
          </a:p>
        </p:txBody>
      </p:sp>
      <p:sp>
        <p:nvSpPr>
          <p:cNvPr id="19" name="Text 17"/>
          <p:cNvSpPr txBox="1"/>
          <p:nvPr/>
        </p:nvSpPr>
        <p:spPr>
          <a:xfrm>
            <a:off x="685800" y="6291072"/>
            <a:ext cx="10817352" cy="274320"/>
          </a:xfrm>
          <a:prstGeom prst="rect">
            <a:avLst/>
          </a:prstGeom>
          <a:noFill/>
          <a:ln/>
        </p:spPr>
        <p:txBody>
          <a:bodyPr wrap="square" lIns="0" tIns="0" rIns="0" bIns="0" rtlCol="0" anchor="t"/>
          <a:lstStyle/>
          <a:p>
            <a:pPr indent="0" marL="0">
              <a:buNone/>
            </a:pPr>
            <a:r>
              <a:rPr lang="en-US" sz="950" i="1" dirty="0">
                <a:solidFill>
                  <a:srgbClr val="5B6D75"/>
                </a:solidFill>
                <a:latin typeface="Calibri" pitchFamily="34" charset="0"/>
                <a:ea typeface="Calibri" pitchFamily="34" charset="-122"/>
                <a:cs typeface="Calibri" pitchFamily="34" charset="-120"/>
              </a:rPr>
              <a:t>The workbook's one honest limit, printed on its own provenance tab: change a figure in Excel and the chain is broken — it is your model then, not the platform's record.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71D"/>
        </a:solidFill>
      </p:bgPr>
    </p:bg>
    <p:spTree>
      <p:nvGrpSpPr>
        <p:cNvPr id="1" name=""/>
        <p:cNvGrpSpPr/>
        <p:nvPr/>
      </p:nvGrpSpPr>
      <p:grpSpPr>
        <a:xfrm>
          <a:off x="0" y="0"/>
          <a:ext cx="0" cy="0"/>
          <a:chOff x="0" y="0"/>
          <a:chExt cx="0" cy="0"/>
        </a:xfrm>
      </p:grpSpPr>
      <p:sp>
        <p:nvSpPr>
          <p:cNvPr id="2" name="Text 0"/>
          <p:cNvSpPr txBox="1"/>
          <p:nvPr/>
        </p:nvSpPr>
        <p:spPr>
          <a:xfrm>
            <a:off x="685800" y="402336"/>
            <a:ext cx="9601200" cy="274320"/>
          </a:xfrm>
          <a:prstGeom prst="rect">
            <a:avLst/>
          </a:prstGeom>
          <a:noFill/>
          <a:ln/>
        </p:spPr>
        <p:txBody>
          <a:bodyPr wrap="square" lIns="0" tIns="0" rIns="0" bIns="0" rtlCol="0" anchor="t"/>
          <a:lstStyle/>
          <a:p>
            <a:pPr indent="0" marL="0">
              <a:buNone/>
            </a:pPr>
            <a:r>
              <a:rPr lang="en-US" sz="1100" b="1" spc="220" kern="0" dirty="0">
                <a:solidFill>
                  <a:srgbClr val="FFD27A"/>
                </a:solidFill>
                <a:latin typeface="Calibri" pitchFamily="34" charset="0"/>
                <a:ea typeface="Calibri" pitchFamily="34" charset="-122"/>
                <a:cs typeface="Calibri" pitchFamily="34" charset="-120"/>
              </a:rPr>
              <a:t>AND WHAT WE ARE DELIBERATELY NOT DOING</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 things we are happy to lose</a:t>
            </a:r>
            <a:endParaRPr lang="en-US" sz="3200" dirty="0"/>
          </a:p>
        </p:txBody>
      </p:sp>
      <p:sp>
        <p:nvSpPr>
          <p:cNvPr id="4" name="Text 2"/>
          <p:cNvSpPr txBox="1"/>
          <p:nvPr/>
        </p:nvSpPr>
        <p:spPr>
          <a:xfrm>
            <a:off x="685800" y="1444752"/>
            <a:ext cx="10058400" cy="365760"/>
          </a:xfrm>
          <a:prstGeom prst="rect">
            <a:avLst/>
          </a:prstGeom>
          <a:noFill/>
          <a:ln/>
        </p:spPr>
        <p:txBody>
          <a:bodyPr wrap="square" lIns="0" tIns="0" rIns="0" bIns="0" rtlCol="0" anchor="t"/>
          <a:lstStyle/>
          <a:p>
            <a:pPr indent="0" marL="0">
              <a:lnSpc>
                <a:spcPts val="1700"/>
              </a:lnSpc>
              <a:buNone/>
            </a:pPr>
            <a:r>
              <a:rPr lang="en-US" sz="1250" dirty="0">
                <a:solidFill>
                  <a:srgbClr val="B5ECF0"/>
                </a:solidFill>
                <a:latin typeface="Calibri" pitchFamily="34" charset="0"/>
                <a:ea typeface="Calibri" pitchFamily="34" charset="-122"/>
                <a:cs typeface="Calibri" pitchFamily="34" charset="-120"/>
              </a:rPr>
              <a:t>Every one of these is a decision written down with its reason, not an omission we have not got to yet.</a:t>
            </a:r>
            <a:endParaRPr lang="en-US" sz="1250" dirty="0"/>
          </a:p>
        </p:txBody>
      </p:sp>
      <p:sp>
        <p:nvSpPr>
          <p:cNvPr id="5" name="Shape 3"/>
          <p:cNvSpPr/>
          <p:nvPr/>
        </p:nvSpPr>
        <p:spPr>
          <a:xfrm>
            <a:off x="685800" y="2103120"/>
            <a:ext cx="10817352" cy="694944"/>
          </a:xfrm>
          <a:prstGeom prst="roundRect">
            <a:avLst>
              <a:gd name="adj" fmla="val 6579"/>
            </a:avLst>
          </a:prstGeom>
          <a:solidFill>
            <a:srgbClr val="102B35"/>
          </a:solidFill>
          <a:ln/>
        </p:spPr>
      </p:sp>
      <p:sp>
        <p:nvSpPr>
          <p:cNvPr id="6" name="Text 4"/>
          <p:cNvSpPr txBox="1"/>
          <p:nvPr/>
        </p:nvSpPr>
        <p:spPr>
          <a:xfrm>
            <a:off x="1005840" y="2231136"/>
            <a:ext cx="2377440" cy="365760"/>
          </a:xfrm>
          <a:prstGeom prst="rect">
            <a:avLst/>
          </a:prstGeom>
          <a:noFill/>
          <a:ln/>
        </p:spPr>
        <p:txBody>
          <a:bodyPr wrap="square" lIns="0" tIns="0" rIns="0" bIns="0" rtlCol="0" anchor="ctr"/>
          <a:lstStyle/>
          <a:p>
            <a:pPr indent="0" marL="0">
              <a:buNone/>
            </a:pPr>
            <a:r>
              <a:rPr lang="en-US" sz="1600" b="1" dirty="0">
                <a:solidFill>
                  <a:srgbClr val="FFD27A"/>
                </a:solidFill>
                <a:latin typeface="Cambria" pitchFamily="34" charset="0"/>
                <a:ea typeface="Cambria" pitchFamily="34" charset="-122"/>
                <a:cs typeface="Cambria" pitchFamily="34" charset="-120"/>
              </a:rPr>
              <a:t>Speed</a:t>
            </a:r>
            <a:endParaRPr lang="en-US" sz="1600" dirty="0"/>
          </a:p>
        </p:txBody>
      </p:sp>
      <p:sp>
        <p:nvSpPr>
          <p:cNvPr id="7" name="Text 5"/>
          <p:cNvSpPr txBox="1"/>
          <p:nvPr/>
        </p:nvSpPr>
        <p:spPr>
          <a:xfrm>
            <a:off x="3474720" y="2194560"/>
            <a:ext cx="7772400" cy="548640"/>
          </a:xfrm>
          <a:prstGeom prst="rect">
            <a:avLst/>
          </a:prstGeom>
          <a:noFill/>
          <a:ln/>
        </p:spPr>
        <p:txBody>
          <a:bodyPr wrap="square" lIns="0" tIns="0" rIns="0" bIns="0" rtlCol="0" anchor="ctr"/>
          <a:lstStyle/>
          <a:p>
            <a:pPr indent="0" marL="0">
              <a:lnSpc>
                <a:spcPts val="1600"/>
              </a:lnSpc>
              <a:buNone/>
            </a:pPr>
            <a:r>
              <a:rPr lang="en-US" sz="1200" dirty="0">
                <a:solidFill>
                  <a:srgbClr val="C7DADE"/>
                </a:solidFill>
                <a:latin typeface="Calibri" pitchFamily="34" charset="0"/>
                <a:ea typeface="Calibri" pitchFamily="34" charset="-122"/>
                <a:cs typeface="Calibri" pitchFamily="34" charset="-120"/>
              </a:rPr>
              <a:t>A chat answers in ninety seconds. We take an afternoon. Conceded on purpose — if you need a view before the open, use the chat.</a:t>
            </a:r>
            <a:endParaRPr lang="en-US" sz="1200" dirty="0"/>
          </a:p>
        </p:txBody>
      </p:sp>
      <p:sp>
        <p:nvSpPr>
          <p:cNvPr id="8" name="Shape 6"/>
          <p:cNvSpPr/>
          <p:nvPr/>
        </p:nvSpPr>
        <p:spPr>
          <a:xfrm>
            <a:off x="685800" y="2907792"/>
            <a:ext cx="10817352" cy="694944"/>
          </a:xfrm>
          <a:prstGeom prst="roundRect">
            <a:avLst>
              <a:gd name="adj" fmla="val 6579"/>
            </a:avLst>
          </a:prstGeom>
          <a:solidFill>
            <a:srgbClr val="102B35"/>
          </a:solidFill>
          <a:ln/>
        </p:spPr>
      </p:sp>
      <p:sp>
        <p:nvSpPr>
          <p:cNvPr id="9" name="Text 7"/>
          <p:cNvSpPr txBox="1"/>
          <p:nvPr/>
        </p:nvSpPr>
        <p:spPr>
          <a:xfrm>
            <a:off x="1005840" y="3035808"/>
            <a:ext cx="2377440" cy="365760"/>
          </a:xfrm>
          <a:prstGeom prst="rect">
            <a:avLst/>
          </a:prstGeom>
          <a:noFill/>
          <a:ln/>
        </p:spPr>
        <p:txBody>
          <a:bodyPr wrap="square" lIns="0" tIns="0" rIns="0" bIns="0" rtlCol="0" anchor="ctr"/>
          <a:lstStyle/>
          <a:p>
            <a:pPr indent="0" marL="0">
              <a:buNone/>
            </a:pPr>
            <a:r>
              <a:rPr lang="en-US" sz="1600" b="1" dirty="0">
                <a:solidFill>
                  <a:srgbClr val="FFD27A"/>
                </a:solidFill>
                <a:latin typeface="Cambria" pitchFamily="34" charset="0"/>
                <a:ea typeface="Cambria" pitchFamily="34" charset="-122"/>
                <a:cs typeface="Cambria" pitchFamily="34" charset="-120"/>
              </a:rPr>
              <a:t>Open-ended conversation</a:t>
            </a:r>
            <a:endParaRPr lang="en-US" sz="1600" dirty="0"/>
          </a:p>
        </p:txBody>
      </p:sp>
      <p:sp>
        <p:nvSpPr>
          <p:cNvPr id="10" name="Text 8"/>
          <p:cNvSpPr txBox="1"/>
          <p:nvPr/>
        </p:nvSpPr>
        <p:spPr>
          <a:xfrm>
            <a:off x="3474720" y="2999232"/>
            <a:ext cx="7772400" cy="548640"/>
          </a:xfrm>
          <a:prstGeom prst="rect">
            <a:avLst/>
          </a:prstGeom>
          <a:noFill/>
          <a:ln/>
        </p:spPr>
        <p:txBody>
          <a:bodyPr wrap="square" lIns="0" tIns="0" rIns="0" bIns="0" rtlCol="0" anchor="ctr"/>
          <a:lstStyle/>
          <a:p>
            <a:pPr indent="0" marL="0">
              <a:lnSpc>
                <a:spcPts val="1600"/>
              </a:lnSpc>
              <a:buNone/>
            </a:pPr>
            <a:r>
              <a:rPr lang="en-US" sz="1200" dirty="0">
                <a:solidFill>
                  <a:srgbClr val="C7DADE"/>
                </a:solidFill>
                <a:latin typeface="Calibri" pitchFamily="34" charset="0"/>
                <a:ea typeface="Calibri" pitchFamily="34" charset="-122"/>
                <a:cs typeface="Calibri" pitchFamily="34" charset="-120"/>
              </a:rPr>
              <a:t>You cannot ask this anything. You can ask it about the record it holds, and it will tell you when the answer is not in there.</a:t>
            </a:r>
            <a:endParaRPr lang="en-US" sz="1200" dirty="0"/>
          </a:p>
        </p:txBody>
      </p:sp>
      <p:sp>
        <p:nvSpPr>
          <p:cNvPr id="11" name="Shape 9"/>
          <p:cNvSpPr/>
          <p:nvPr/>
        </p:nvSpPr>
        <p:spPr>
          <a:xfrm>
            <a:off x="685800" y="3712464"/>
            <a:ext cx="10817352" cy="694944"/>
          </a:xfrm>
          <a:prstGeom prst="roundRect">
            <a:avLst>
              <a:gd name="adj" fmla="val 6579"/>
            </a:avLst>
          </a:prstGeom>
          <a:solidFill>
            <a:srgbClr val="102B35"/>
          </a:solidFill>
          <a:ln/>
        </p:spPr>
      </p:sp>
      <p:sp>
        <p:nvSpPr>
          <p:cNvPr id="12" name="Text 10"/>
          <p:cNvSpPr txBox="1"/>
          <p:nvPr/>
        </p:nvSpPr>
        <p:spPr>
          <a:xfrm>
            <a:off x="1005840" y="3840480"/>
            <a:ext cx="2377440" cy="365760"/>
          </a:xfrm>
          <a:prstGeom prst="rect">
            <a:avLst/>
          </a:prstGeom>
          <a:noFill/>
          <a:ln/>
        </p:spPr>
        <p:txBody>
          <a:bodyPr wrap="square" lIns="0" tIns="0" rIns="0" bIns="0" rtlCol="0" anchor="ctr"/>
          <a:lstStyle/>
          <a:p>
            <a:pPr indent="0" marL="0">
              <a:buNone/>
            </a:pPr>
            <a:r>
              <a:rPr lang="en-US" sz="1600" b="1" dirty="0">
                <a:solidFill>
                  <a:srgbClr val="FFD27A"/>
                </a:solidFill>
                <a:latin typeface="Cambria" pitchFamily="34" charset="0"/>
                <a:ea typeface="Cambria" pitchFamily="34" charset="-122"/>
                <a:cs typeface="Cambria" pitchFamily="34" charset="-120"/>
              </a:rPr>
              <a:t>A screener</a:t>
            </a:r>
            <a:endParaRPr lang="en-US" sz="1600" dirty="0"/>
          </a:p>
        </p:txBody>
      </p:sp>
      <p:sp>
        <p:nvSpPr>
          <p:cNvPr id="13" name="Text 11"/>
          <p:cNvSpPr txBox="1"/>
          <p:nvPr/>
        </p:nvSpPr>
        <p:spPr>
          <a:xfrm>
            <a:off x="3474720" y="3803904"/>
            <a:ext cx="7772400" cy="548640"/>
          </a:xfrm>
          <a:prstGeom prst="rect">
            <a:avLst/>
          </a:prstGeom>
          <a:noFill/>
          <a:ln/>
        </p:spPr>
        <p:txBody>
          <a:bodyPr wrap="square" lIns="0" tIns="0" rIns="0" bIns="0" rtlCol="0" anchor="ctr"/>
          <a:lstStyle/>
          <a:p>
            <a:pPr indent="0" marL="0">
              <a:lnSpc>
                <a:spcPts val="1600"/>
              </a:lnSpc>
              <a:buNone/>
            </a:pPr>
            <a:r>
              <a:rPr lang="en-US" sz="1200" dirty="0">
                <a:solidFill>
                  <a:srgbClr val="C7DADE"/>
                </a:solidFill>
                <a:latin typeface="Calibri" pitchFamily="34" charset="0"/>
                <a:ea typeface="Calibri" pitchFamily="34" charset="-122"/>
                <a:cs typeface="Calibri" pitchFamily="34" charset="-120"/>
              </a:rPr>
              <a:t>It will not find you ideas. It goes deep on one company at a time, which is the opposite discipline.</a:t>
            </a:r>
            <a:endParaRPr lang="en-US" sz="1200" dirty="0"/>
          </a:p>
        </p:txBody>
      </p:sp>
      <p:sp>
        <p:nvSpPr>
          <p:cNvPr id="14" name="Shape 12"/>
          <p:cNvSpPr/>
          <p:nvPr/>
        </p:nvSpPr>
        <p:spPr>
          <a:xfrm>
            <a:off x="685800" y="4517136"/>
            <a:ext cx="10817352" cy="694944"/>
          </a:xfrm>
          <a:prstGeom prst="roundRect">
            <a:avLst>
              <a:gd name="adj" fmla="val 6579"/>
            </a:avLst>
          </a:prstGeom>
          <a:solidFill>
            <a:srgbClr val="102B35"/>
          </a:solidFill>
          <a:ln/>
        </p:spPr>
      </p:sp>
      <p:sp>
        <p:nvSpPr>
          <p:cNvPr id="15" name="Text 13"/>
          <p:cNvSpPr txBox="1"/>
          <p:nvPr/>
        </p:nvSpPr>
        <p:spPr>
          <a:xfrm>
            <a:off x="1005840" y="4645152"/>
            <a:ext cx="2377440" cy="365760"/>
          </a:xfrm>
          <a:prstGeom prst="rect">
            <a:avLst/>
          </a:prstGeom>
          <a:noFill/>
          <a:ln/>
        </p:spPr>
        <p:txBody>
          <a:bodyPr wrap="square" lIns="0" tIns="0" rIns="0" bIns="0" rtlCol="0" anchor="ctr"/>
          <a:lstStyle/>
          <a:p>
            <a:pPr indent="0" marL="0">
              <a:buNone/>
            </a:pPr>
            <a:r>
              <a:rPr lang="en-US" sz="1600" b="1" dirty="0">
                <a:solidFill>
                  <a:srgbClr val="FFD27A"/>
                </a:solidFill>
                <a:latin typeface="Cambria" pitchFamily="34" charset="0"/>
                <a:ea typeface="Cambria" pitchFamily="34" charset="-122"/>
                <a:cs typeface="Cambria" pitchFamily="34" charset="-120"/>
              </a:rPr>
              <a:t>Importing your broker</a:t>
            </a:r>
            <a:endParaRPr lang="en-US" sz="1600" dirty="0"/>
          </a:p>
        </p:txBody>
      </p:sp>
      <p:sp>
        <p:nvSpPr>
          <p:cNvPr id="16" name="Text 14"/>
          <p:cNvSpPr txBox="1"/>
          <p:nvPr/>
        </p:nvSpPr>
        <p:spPr>
          <a:xfrm>
            <a:off x="3474720" y="4608576"/>
            <a:ext cx="7772400" cy="548640"/>
          </a:xfrm>
          <a:prstGeom prst="rect">
            <a:avLst/>
          </a:prstGeom>
          <a:noFill/>
          <a:ln/>
        </p:spPr>
        <p:txBody>
          <a:bodyPr wrap="square" lIns="0" tIns="0" rIns="0" bIns="0" rtlCol="0" anchor="ctr"/>
          <a:lstStyle/>
          <a:p>
            <a:pPr indent="0" marL="0">
              <a:lnSpc>
                <a:spcPts val="1600"/>
              </a:lnSpc>
              <a:buNone/>
            </a:pPr>
            <a:r>
              <a:rPr lang="en-US" sz="1200" dirty="0">
                <a:solidFill>
                  <a:srgbClr val="C7DADE"/>
                </a:solidFill>
                <a:latin typeface="Calibri" pitchFamily="34" charset="0"/>
                <a:ea typeface="Calibri" pitchFamily="34" charset="-122"/>
                <a:cs typeface="Calibri" pitchFamily="34" charset="-120"/>
              </a:rPr>
              <a:t>Manual entry only. A holdings feed is a plumbing project, and it is not where the value is.</a:t>
            </a:r>
            <a:endParaRPr lang="en-US" sz="1200" dirty="0"/>
          </a:p>
        </p:txBody>
      </p:sp>
      <p:sp>
        <p:nvSpPr>
          <p:cNvPr id="17" name="Shape 15"/>
          <p:cNvSpPr/>
          <p:nvPr/>
        </p:nvSpPr>
        <p:spPr>
          <a:xfrm>
            <a:off x="685800" y="5321808"/>
            <a:ext cx="10817352" cy="694944"/>
          </a:xfrm>
          <a:prstGeom prst="roundRect">
            <a:avLst>
              <a:gd name="adj" fmla="val 6579"/>
            </a:avLst>
          </a:prstGeom>
          <a:solidFill>
            <a:srgbClr val="102B35"/>
          </a:solidFill>
          <a:ln/>
        </p:spPr>
      </p:sp>
      <p:sp>
        <p:nvSpPr>
          <p:cNvPr id="18" name="Text 16"/>
          <p:cNvSpPr txBox="1"/>
          <p:nvPr/>
        </p:nvSpPr>
        <p:spPr>
          <a:xfrm>
            <a:off x="1005840" y="5449824"/>
            <a:ext cx="2377440" cy="365760"/>
          </a:xfrm>
          <a:prstGeom prst="rect">
            <a:avLst/>
          </a:prstGeom>
          <a:noFill/>
          <a:ln/>
        </p:spPr>
        <p:txBody>
          <a:bodyPr wrap="square" lIns="0" tIns="0" rIns="0" bIns="0" rtlCol="0" anchor="ctr"/>
          <a:lstStyle/>
          <a:p>
            <a:pPr indent="0" marL="0">
              <a:buNone/>
            </a:pPr>
            <a:r>
              <a:rPr lang="en-US" sz="1600" b="1" dirty="0">
                <a:solidFill>
                  <a:srgbClr val="FFD27A"/>
                </a:solidFill>
                <a:latin typeface="Cambria" pitchFamily="34" charset="0"/>
                <a:ea typeface="Cambria" pitchFamily="34" charset="-122"/>
                <a:cs typeface="Cambria" pitchFamily="34" charset="-120"/>
              </a:rPr>
              <a:t>A second user</a:t>
            </a:r>
            <a:endParaRPr lang="en-US" sz="1600" dirty="0"/>
          </a:p>
        </p:txBody>
      </p:sp>
      <p:sp>
        <p:nvSpPr>
          <p:cNvPr id="19" name="Text 17"/>
          <p:cNvSpPr txBox="1"/>
          <p:nvPr/>
        </p:nvSpPr>
        <p:spPr>
          <a:xfrm>
            <a:off x="3474720" y="5413248"/>
            <a:ext cx="7772400" cy="548640"/>
          </a:xfrm>
          <a:prstGeom prst="rect">
            <a:avLst/>
          </a:prstGeom>
          <a:noFill/>
          <a:ln/>
        </p:spPr>
        <p:txBody>
          <a:bodyPr wrap="square" lIns="0" tIns="0" rIns="0" bIns="0" rtlCol="0" anchor="ctr"/>
          <a:lstStyle/>
          <a:p>
            <a:pPr indent="0" marL="0">
              <a:lnSpc>
                <a:spcPts val="1600"/>
              </a:lnSpc>
              <a:buNone/>
            </a:pPr>
            <a:r>
              <a:rPr lang="en-US" sz="1200" dirty="0">
                <a:solidFill>
                  <a:srgbClr val="C7DADE"/>
                </a:solidFill>
                <a:latin typeface="Calibri" pitchFamily="34" charset="0"/>
                <a:ea typeface="Calibri" pitchFamily="34" charset="-122"/>
                <a:cs typeface="Calibri" pitchFamily="34" charset="-120"/>
              </a:rPr>
              <a:t>Deferred, deliberately. Accounts and sharing are designed and argued — and waiting on a legal read before anything is built.</a:t>
            </a:r>
            <a:endParaRPr lang="en-US" sz="1200" dirty="0"/>
          </a:p>
        </p:txBody>
      </p:sp>
      <p:sp>
        <p:nvSpPr>
          <p:cNvPr id="20" name="Text 18"/>
          <p:cNvSpPr txBox="1"/>
          <p:nvPr/>
        </p:nvSpPr>
        <p:spPr>
          <a:xfrm>
            <a:off x="685800" y="6291072"/>
            <a:ext cx="10817352" cy="274320"/>
          </a:xfrm>
          <a:prstGeom prst="rect">
            <a:avLst/>
          </a:prstGeom>
          <a:noFill/>
          <a:ln/>
        </p:spPr>
        <p:txBody>
          <a:bodyPr wrap="square" lIns="0" tIns="0" rIns="0" bIns="0" rtlCol="0" anchor="t"/>
          <a:lstStyle/>
          <a:p>
            <a:pPr indent="0" marL="0">
              <a:buNone/>
            </a:pPr>
            <a:r>
              <a:rPr lang="en-US" sz="950" i="1" dirty="0">
                <a:solidFill>
                  <a:srgbClr val="6E8A92"/>
                </a:solidFill>
                <a:latin typeface="Calibri" pitchFamily="34" charset="0"/>
                <a:ea typeface="Calibri" pitchFamily="34" charset="-122"/>
                <a:cs typeface="Calibri" pitchFamily="34" charset="-120"/>
              </a:rPr>
              <a:t>A tool that is honest about what it is bad at is easier to trust about what it is good at.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685800" y="402336"/>
            <a:ext cx="9601200" cy="274320"/>
          </a:xfrm>
          <a:prstGeom prst="rect">
            <a:avLst/>
          </a:prstGeom>
          <a:noFill/>
          <a:ln/>
        </p:spPr>
        <p:txBody>
          <a:bodyPr wrap="square" lIns="0" tIns="0" rIns="0" bIns="0" rtlCol="0" anchor="t"/>
          <a:lstStyle/>
          <a:p>
            <a:pPr indent="0" marL="0">
              <a:buNone/>
            </a:pPr>
            <a:r>
              <a:rPr lang="en-US" sz="1100" b="1" spc="220" kern="0" dirty="0">
                <a:solidFill>
                  <a:srgbClr val="6B3F60"/>
                </a:solidFill>
                <a:latin typeface="Calibri" pitchFamily="34" charset="0"/>
                <a:ea typeface="Calibri" pitchFamily="34" charset="-122"/>
                <a:cs typeface="Calibri" pitchFamily="34" charset="-120"/>
              </a:rPr>
              <a:t>HOW WE WILL KNOW IT WORKED</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5252E"/>
                </a:solidFill>
                <a:latin typeface="Cambria" pitchFamily="34" charset="0"/>
                <a:ea typeface="Cambria" pitchFamily="34" charset="-122"/>
                <a:cs typeface="Cambria" pitchFamily="34" charset="-120"/>
              </a:rPr>
              <a:t>We wrote down what would make us stop</a:t>
            </a:r>
            <a:endParaRPr lang="en-US" sz="3200" dirty="0"/>
          </a:p>
        </p:txBody>
      </p:sp>
      <p:sp>
        <p:nvSpPr>
          <p:cNvPr id="4" name="Text 2"/>
          <p:cNvSpPr txBox="1"/>
          <p:nvPr/>
        </p:nvSpPr>
        <p:spPr>
          <a:xfrm>
            <a:off x="685800" y="1444752"/>
            <a:ext cx="10424160" cy="685800"/>
          </a:xfrm>
          <a:prstGeom prst="rect">
            <a:avLst/>
          </a:prstGeom>
          <a:noFill/>
          <a:ln/>
        </p:spPr>
        <p:txBody>
          <a:bodyPr wrap="square" lIns="0" tIns="0" rIns="0" bIns="0" rtlCol="0" anchor="t"/>
          <a:lstStyle/>
          <a:p>
            <a:pPr indent="0" marL="0">
              <a:lnSpc>
                <a:spcPts val="1700"/>
              </a:lnSpc>
              <a:buNone/>
            </a:pPr>
            <a:r>
              <a:rPr lang="en-US" sz="1250" dirty="0">
                <a:solidFill>
                  <a:srgbClr val="52656E"/>
                </a:solidFill>
                <a:latin typeface="Calibri" pitchFamily="34" charset="0"/>
                <a:ea typeface="Calibri" pitchFamily="34" charset="-122"/>
                <a:cs typeface="Calibri" pitchFamily="34" charset="-120"/>
              </a:rPr>
              <a:t>The audit judged the platform against a Claude console note, blind, with a fixed rubric. It lost nine of nine. The same instrument will be run again — and the result that would end this work is written down before the work starts.</a:t>
            </a:r>
            <a:endParaRPr lang="en-US" sz="1250" dirty="0"/>
          </a:p>
        </p:txBody>
      </p:sp>
      <p:sp>
        <p:nvSpPr>
          <p:cNvPr id="5" name="Shape 3"/>
          <p:cNvSpPr/>
          <p:nvPr/>
        </p:nvSpPr>
        <p:spPr>
          <a:xfrm>
            <a:off x="685800" y="2331720"/>
            <a:ext cx="10817352" cy="1115568"/>
          </a:xfrm>
          <a:prstGeom prst="roundRect">
            <a:avLst>
              <a:gd name="adj" fmla="val 4098"/>
            </a:avLst>
          </a:prstGeom>
          <a:solidFill>
            <a:srgbClr val="E2F3F4"/>
          </a:solidFill>
          <a:ln w="9525">
            <a:solidFill>
              <a:srgbClr val="FFFFFF"/>
            </a:solidFill>
            <a:prstDash val="solid"/>
          </a:ln>
          <a:effectLst>
            <a:outerShdw sx="100000" sy="100000" kx="0" ky="0" algn="bl" rotWithShape="0" blurRad="152400" dist="38100" dir="5400000">
              <a:srgbClr val="07171D">
                <a:alpha val="12000"/>
              </a:srgbClr>
            </a:outerShdw>
          </a:effectLst>
        </p:spPr>
      </p:sp>
      <p:sp>
        <p:nvSpPr>
          <p:cNvPr id="6" name="Shape 4"/>
          <p:cNvSpPr/>
          <p:nvPr/>
        </p:nvSpPr>
        <p:spPr>
          <a:xfrm>
            <a:off x="685800" y="2331720"/>
            <a:ext cx="41148" cy="1115568"/>
          </a:xfrm>
          <a:prstGeom prst="rect">
            <a:avLst/>
          </a:prstGeom>
          <a:solidFill>
            <a:srgbClr val="0F6673"/>
          </a:solidFill>
          <a:ln/>
        </p:spPr>
      </p:sp>
      <p:sp>
        <p:nvSpPr>
          <p:cNvPr id="7" name="Text 5"/>
          <p:cNvSpPr txBox="1"/>
          <p:nvPr/>
        </p:nvSpPr>
        <p:spPr>
          <a:xfrm>
            <a:off x="1005840" y="2514600"/>
            <a:ext cx="2194560" cy="310896"/>
          </a:xfrm>
          <a:prstGeom prst="rect">
            <a:avLst/>
          </a:prstGeom>
          <a:noFill/>
          <a:ln/>
        </p:spPr>
        <p:txBody>
          <a:bodyPr wrap="square" lIns="0" tIns="0" rIns="0" bIns="0" rtlCol="0" anchor="t"/>
          <a:lstStyle/>
          <a:p>
            <a:pPr indent="0" marL="0">
              <a:buNone/>
            </a:pPr>
            <a:r>
              <a:rPr lang="en-US" sz="1100" b="1" spc="160" kern="0" dirty="0">
                <a:solidFill>
                  <a:srgbClr val="0F6673"/>
                </a:solidFill>
                <a:latin typeface="Calibri" pitchFamily="34" charset="0"/>
                <a:ea typeface="Calibri" pitchFamily="34" charset="-122"/>
                <a:cs typeface="Calibri" pitchFamily="34" charset="-120"/>
              </a:rPr>
              <a:t>The bar</a:t>
            </a:r>
            <a:endParaRPr lang="en-US" sz="1100" dirty="0"/>
          </a:p>
        </p:txBody>
      </p:sp>
      <p:sp>
        <p:nvSpPr>
          <p:cNvPr id="8" name="Text 6"/>
          <p:cNvSpPr txBox="1"/>
          <p:nvPr/>
        </p:nvSpPr>
        <p:spPr>
          <a:xfrm>
            <a:off x="1005840" y="2843784"/>
            <a:ext cx="10058400" cy="548640"/>
          </a:xfrm>
          <a:prstGeom prst="rect">
            <a:avLst/>
          </a:prstGeom>
          <a:noFill/>
          <a:ln/>
        </p:spPr>
        <p:txBody>
          <a:bodyPr wrap="square" lIns="0" tIns="0" rIns="0" bIns="0" rtlCol="0" anchor="t"/>
          <a:lstStyle/>
          <a:p>
            <a:pPr indent="0" marL="0">
              <a:lnSpc>
                <a:spcPts val="1700"/>
              </a:lnSpc>
              <a:buNone/>
            </a:pPr>
            <a:r>
              <a:rPr lang="en-US" sz="1250" dirty="0">
                <a:solidFill>
                  <a:srgbClr val="15252E"/>
                </a:solidFill>
                <a:latin typeface="Calibri" pitchFamily="34" charset="0"/>
                <a:ea typeface="Calibri" pitchFamily="34" charset="-122"/>
                <a:cs typeface="Calibri" pitchFamily="34" charset="-120"/>
              </a:rPr>
              <a:t>At least three of six comparisons no longer choose the console, and at least two choose the platform — with a fresh console baseline in the set, because the comparator improves for free while we build.</a:t>
            </a:r>
            <a:endParaRPr lang="en-US" sz="1250" dirty="0"/>
          </a:p>
        </p:txBody>
      </p:sp>
      <p:sp>
        <p:nvSpPr>
          <p:cNvPr id="9" name="Shape 7"/>
          <p:cNvSpPr/>
          <p:nvPr/>
        </p:nvSpPr>
        <p:spPr>
          <a:xfrm>
            <a:off x="685800" y="3593592"/>
            <a:ext cx="10817352" cy="1115568"/>
          </a:xfrm>
          <a:prstGeom prst="roundRect">
            <a:avLst>
              <a:gd name="adj" fmla="val 4098"/>
            </a:avLst>
          </a:prstGeom>
          <a:solidFill>
            <a:srgbClr val="E3F4EA"/>
          </a:solidFill>
          <a:ln w="9525">
            <a:solidFill>
              <a:srgbClr val="FFFFFF"/>
            </a:solidFill>
            <a:prstDash val="solid"/>
          </a:ln>
          <a:effectLst>
            <a:outerShdw sx="100000" sy="100000" kx="0" ky="0" algn="bl" rotWithShape="0" blurRad="152400" dist="38100" dir="5400000">
              <a:srgbClr val="07171D">
                <a:alpha val="12000"/>
              </a:srgbClr>
            </a:outerShdw>
          </a:effectLst>
        </p:spPr>
      </p:sp>
      <p:sp>
        <p:nvSpPr>
          <p:cNvPr id="10" name="Shape 8"/>
          <p:cNvSpPr/>
          <p:nvPr/>
        </p:nvSpPr>
        <p:spPr>
          <a:xfrm>
            <a:off x="685800" y="3593592"/>
            <a:ext cx="41148" cy="1115568"/>
          </a:xfrm>
          <a:prstGeom prst="rect">
            <a:avLst/>
          </a:prstGeom>
          <a:solidFill>
            <a:srgbClr val="14613F"/>
          </a:solidFill>
          <a:ln/>
        </p:spPr>
      </p:sp>
      <p:sp>
        <p:nvSpPr>
          <p:cNvPr id="11" name="Text 9"/>
          <p:cNvSpPr txBox="1"/>
          <p:nvPr/>
        </p:nvSpPr>
        <p:spPr>
          <a:xfrm>
            <a:off x="1005840" y="3776472"/>
            <a:ext cx="2194560" cy="310896"/>
          </a:xfrm>
          <a:prstGeom prst="rect">
            <a:avLst/>
          </a:prstGeom>
          <a:noFill/>
          <a:ln/>
        </p:spPr>
        <p:txBody>
          <a:bodyPr wrap="square" lIns="0" tIns="0" rIns="0" bIns="0" rtlCol="0" anchor="t"/>
          <a:lstStyle/>
          <a:p>
            <a:pPr indent="0" marL="0">
              <a:buNone/>
            </a:pPr>
            <a:r>
              <a:rPr lang="en-US" sz="1100" b="1" spc="160" kern="0" dirty="0">
                <a:solidFill>
                  <a:srgbClr val="14613F"/>
                </a:solidFill>
                <a:latin typeface="Calibri" pitchFamily="34" charset="0"/>
                <a:ea typeface="Calibri" pitchFamily="34" charset="-122"/>
                <a:cs typeface="Calibri" pitchFamily="34" charset="-120"/>
              </a:rPr>
              <a:t>The other bar</a:t>
            </a:r>
            <a:endParaRPr lang="en-US" sz="1100" dirty="0"/>
          </a:p>
        </p:txBody>
      </p:sp>
      <p:sp>
        <p:nvSpPr>
          <p:cNvPr id="12" name="Text 10"/>
          <p:cNvSpPr txBox="1"/>
          <p:nvPr/>
        </p:nvSpPr>
        <p:spPr>
          <a:xfrm>
            <a:off x="1005840" y="4105656"/>
            <a:ext cx="10058400" cy="548640"/>
          </a:xfrm>
          <a:prstGeom prst="rect">
            <a:avLst/>
          </a:prstGeom>
          <a:noFill/>
          <a:ln/>
        </p:spPr>
        <p:txBody>
          <a:bodyPr wrap="square" lIns="0" tIns="0" rIns="0" bIns="0" rtlCol="0" anchor="t"/>
          <a:lstStyle/>
          <a:p>
            <a:pPr indent="0" marL="0">
              <a:lnSpc>
                <a:spcPts val="1700"/>
              </a:lnSpc>
              <a:buNone/>
            </a:pPr>
            <a:r>
              <a:rPr lang="en-US" sz="1250" dirty="0">
                <a:solidFill>
                  <a:srgbClr val="15252E"/>
                </a:solidFill>
                <a:latin typeface="Calibri" pitchFamily="34" charset="0"/>
                <a:ea typeface="Calibri" pitchFamily="34" charset="-122"/>
                <a:cs typeface="Calibri" pitchFamily="34" charset="-120"/>
              </a:rPr>
              <a:t>Zero stopped states without a labelled way forward. Zero identifiers and zero shell commands in anything you read. Three of three runs reaching an approved report with no terminal and no rescue.</a:t>
            </a:r>
            <a:endParaRPr lang="en-US" sz="1250" dirty="0"/>
          </a:p>
        </p:txBody>
      </p:sp>
      <p:sp>
        <p:nvSpPr>
          <p:cNvPr id="13" name="Shape 11"/>
          <p:cNvSpPr/>
          <p:nvPr/>
        </p:nvSpPr>
        <p:spPr>
          <a:xfrm>
            <a:off x="685800" y="4855464"/>
            <a:ext cx="10817352" cy="1115568"/>
          </a:xfrm>
          <a:prstGeom prst="roundRect">
            <a:avLst>
              <a:gd name="adj" fmla="val 4098"/>
            </a:avLst>
          </a:prstGeom>
          <a:solidFill>
            <a:srgbClr val="F6EAF2"/>
          </a:solidFill>
          <a:ln w="9525">
            <a:solidFill>
              <a:srgbClr val="FFFFFF"/>
            </a:solidFill>
            <a:prstDash val="solid"/>
          </a:ln>
          <a:effectLst>
            <a:outerShdw sx="100000" sy="100000" kx="0" ky="0" algn="bl" rotWithShape="0" blurRad="152400" dist="38100" dir="5400000">
              <a:srgbClr val="07171D">
                <a:alpha val="12000"/>
              </a:srgbClr>
            </a:outerShdw>
          </a:effectLst>
        </p:spPr>
      </p:sp>
      <p:sp>
        <p:nvSpPr>
          <p:cNvPr id="14" name="Shape 12"/>
          <p:cNvSpPr/>
          <p:nvPr/>
        </p:nvSpPr>
        <p:spPr>
          <a:xfrm>
            <a:off x="685800" y="4855464"/>
            <a:ext cx="41148" cy="1115568"/>
          </a:xfrm>
          <a:prstGeom prst="rect">
            <a:avLst/>
          </a:prstGeom>
          <a:solidFill>
            <a:srgbClr val="6B3F60"/>
          </a:solidFill>
          <a:ln/>
        </p:spPr>
      </p:sp>
      <p:sp>
        <p:nvSpPr>
          <p:cNvPr id="15" name="Text 13"/>
          <p:cNvSpPr txBox="1"/>
          <p:nvPr/>
        </p:nvSpPr>
        <p:spPr>
          <a:xfrm>
            <a:off x="1005840" y="5038344"/>
            <a:ext cx="2194560" cy="310896"/>
          </a:xfrm>
          <a:prstGeom prst="rect">
            <a:avLst/>
          </a:prstGeom>
          <a:noFill/>
          <a:ln/>
        </p:spPr>
        <p:txBody>
          <a:bodyPr wrap="square" lIns="0" tIns="0" rIns="0" bIns="0" rtlCol="0" anchor="t"/>
          <a:lstStyle/>
          <a:p>
            <a:pPr indent="0" marL="0">
              <a:buNone/>
            </a:pPr>
            <a:r>
              <a:rPr lang="en-US" sz="1100" b="1" spc="160" kern="0" dirty="0">
                <a:solidFill>
                  <a:srgbClr val="6B3F60"/>
                </a:solidFill>
                <a:latin typeface="Calibri" pitchFamily="34" charset="0"/>
                <a:ea typeface="Calibri" pitchFamily="34" charset="-122"/>
                <a:cs typeface="Calibri" pitchFamily="34" charset="-120"/>
              </a:rPr>
              <a:t>The stop</a:t>
            </a:r>
            <a:endParaRPr lang="en-US" sz="1100" dirty="0"/>
          </a:p>
        </p:txBody>
      </p:sp>
      <p:sp>
        <p:nvSpPr>
          <p:cNvPr id="16" name="Text 14"/>
          <p:cNvSpPr txBox="1"/>
          <p:nvPr/>
        </p:nvSpPr>
        <p:spPr>
          <a:xfrm>
            <a:off x="1005840" y="5367528"/>
            <a:ext cx="10058400" cy="548640"/>
          </a:xfrm>
          <a:prstGeom prst="rect">
            <a:avLst/>
          </a:prstGeom>
          <a:noFill/>
          <a:ln/>
        </p:spPr>
        <p:txBody>
          <a:bodyPr wrap="square" lIns="0" tIns="0" rIns="0" bIns="0" rtlCol="0" anchor="t"/>
          <a:lstStyle/>
          <a:p>
            <a:pPr indent="0" marL="0">
              <a:lnSpc>
                <a:spcPts val="1700"/>
              </a:lnSpc>
              <a:buNone/>
            </a:pPr>
            <a:r>
              <a:rPr lang="en-US" sz="1250" dirty="0">
                <a:solidFill>
                  <a:srgbClr val="15252E"/>
                </a:solidFill>
                <a:latin typeface="Calibri" pitchFamily="34" charset="0"/>
                <a:ea typeface="Calibri" pitchFamily="34" charset="-122"/>
                <a:cs typeface="Calibri" pitchFamily="34" charset="-120"/>
              </a:rPr>
              <a:t>If nothing moves and no judge's stated reason changes category, the work stops and the claim narrows to what is already true: an evidence base and a checking instrument. A gate that cannot fail is not a gate.</a:t>
            </a:r>
            <a:endParaRPr lang="en-US" sz="1250" dirty="0"/>
          </a:p>
        </p:txBody>
      </p:sp>
      <p:sp>
        <p:nvSpPr>
          <p:cNvPr id="17" name="Text 15"/>
          <p:cNvSpPr txBox="1"/>
          <p:nvPr/>
        </p:nvSpPr>
        <p:spPr>
          <a:xfrm>
            <a:off x="685800" y="6291072"/>
            <a:ext cx="10817352" cy="274320"/>
          </a:xfrm>
          <a:prstGeom prst="rect">
            <a:avLst/>
          </a:prstGeom>
          <a:noFill/>
          <a:ln/>
        </p:spPr>
        <p:txBody>
          <a:bodyPr wrap="square" lIns="0" tIns="0" rIns="0" bIns="0" rtlCol="0" anchor="t"/>
          <a:lstStyle/>
          <a:p>
            <a:pPr indent="0" marL="0">
              <a:buNone/>
            </a:pPr>
            <a:r>
              <a:rPr lang="en-US" sz="950" i="1" dirty="0">
                <a:solidFill>
                  <a:srgbClr val="5B6D75"/>
                </a:solidFill>
                <a:latin typeface="Calibri" pitchFamily="34" charset="0"/>
                <a:ea typeface="Calibri" pitchFamily="34" charset="-122"/>
                <a:cs typeface="Calibri" pitchFamily="34" charset="-120"/>
              </a:rPr>
              <a:t>The judging panel becomes code before it is used again — the same rubric, blinded, seeded, with the judges' identity-guess rate recorded so we know the blinding held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685800" y="402336"/>
            <a:ext cx="9601200" cy="274320"/>
          </a:xfrm>
          <a:prstGeom prst="rect">
            <a:avLst/>
          </a:prstGeom>
          <a:noFill/>
          <a:ln/>
        </p:spPr>
        <p:txBody>
          <a:bodyPr wrap="square" lIns="0" tIns="0" rIns="0" bIns="0" rtlCol="0" anchor="t"/>
          <a:lstStyle/>
          <a:p>
            <a:pPr indent="0" marL="0">
              <a:buNone/>
            </a:pPr>
            <a:r>
              <a:rPr lang="en-US" sz="1100" b="1" spc="220" kern="0" dirty="0">
                <a:solidFill>
                  <a:srgbClr val="0F6673"/>
                </a:solidFill>
                <a:latin typeface="Calibri" pitchFamily="34" charset="0"/>
                <a:ea typeface="Calibri" pitchFamily="34" charset="-122"/>
                <a:cs typeface="Calibri" pitchFamily="34" charset="-120"/>
              </a:rPr>
              <a:t>THE SHAPE OF THE WORK</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5252E"/>
                </a:solidFill>
                <a:latin typeface="Cambria" pitchFamily="34" charset="0"/>
                <a:ea typeface="Cambria" pitchFamily="34" charset="-122"/>
                <a:cs typeface="Cambria" pitchFamily="34" charset="-120"/>
              </a:rPr>
              <a:t>Priced, sequenced and gated</a:t>
            </a:r>
            <a:endParaRPr lang="en-US" sz="3200" dirty="0"/>
          </a:p>
        </p:txBody>
      </p:sp>
      <p:sp>
        <p:nvSpPr>
          <p:cNvPr id="4" name="Shape 2"/>
          <p:cNvSpPr/>
          <p:nvPr/>
        </p:nvSpPr>
        <p:spPr>
          <a:xfrm>
            <a:off x="685800" y="1645920"/>
            <a:ext cx="2487168" cy="1828800"/>
          </a:xfrm>
          <a:prstGeom prst="roundRect">
            <a:avLst>
              <a:gd name="adj" fmla="val 2500"/>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5" name="Text 3"/>
          <p:cNvSpPr txBox="1"/>
          <p:nvPr/>
        </p:nvSpPr>
        <p:spPr>
          <a:xfrm>
            <a:off x="886968" y="1828800"/>
            <a:ext cx="2084832" cy="640080"/>
          </a:xfrm>
          <a:prstGeom prst="rect">
            <a:avLst/>
          </a:prstGeom>
          <a:noFill/>
          <a:ln/>
        </p:spPr>
        <p:txBody>
          <a:bodyPr wrap="square" lIns="0" tIns="0" rIns="0" bIns="0" rtlCol="0" anchor="t"/>
          <a:lstStyle/>
          <a:p>
            <a:pPr indent="0" marL="0">
              <a:buNone/>
            </a:pPr>
            <a:r>
              <a:rPr lang="en-US" sz="3800" b="1" dirty="0">
                <a:solidFill>
                  <a:srgbClr val="0F6673"/>
                </a:solidFill>
                <a:latin typeface="Cambria" pitchFamily="34" charset="0"/>
                <a:ea typeface="Cambria" pitchFamily="34" charset="-122"/>
                <a:cs typeface="Cambria" pitchFamily="34" charset="-120"/>
              </a:rPr>
              <a:t>18</a:t>
            </a:r>
            <a:endParaRPr lang="en-US" sz="3800" dirty="0"/>
          </a:p>
        </p:txBody>
      </p:sp>
      <p:sp>
        <p:nvSpPr>
          <p:cNvPr id="6" name="Text 4"/>
          <p:cNvSpPr txBox="1"/>
          <p:nvPr/>
        </p:nvSpPr>
        <p:spPr>
          <a:xfrm>
            <a:off x="886968" y="2487168"/>
            <a:ext cx="2084832" cy="274320"/>
          </a:xfrm>
          <a:prstGeom prst="rect">
            <a:avLst/>
          </a:prstGeom>
          <a:noFill/>
          <a:ln/>
        </p:spPr>
        <p:txBody>
          <a:bodyPr wrap="square" lIns="0" tIns="0" rIns="0" bIns="0" rtlCol="0" anchor="t"/>
          <a:lstStyle/>
          <a:p>
            <a:pPr indent="0" marL="0">
              <a:buNone/>
            </a:pPr>
            <a:r>
              <a:rPr lang="en-US" sz="1150" b="1" dirty="0">
                <a:solidFill>
                  <a:srgbClr val="15252E"/>
                </a:solidFill>
                <a:latin typeface="Calibri" pitchFamily="34" charset="0"/>
                <a:ea typeface="Calibri" pitchFamily="34" charset="-122"/>
                <a:cs typeface="Calibri" pitchFamily="34" charset="-120"/>
              </a:rPr>
              <a:t>features</a:t>
            </a:r>
            <a:endParaRPr lang="en-US" sz="1150" dirty="0"/>
          </a:p>
        </p:txBody>
      </p:sp>
      <p:sp>
        <p:nvSpPr>
          <p:cNvPr id="7" name="Text 5"/>
          <p:cNvSpPr txBox="1"/>
          <p:nvPr/>
        </p:nvSpPr>
        <p:spPr>
          <a:xfrm>
            <a:off x="886968" y="2779776"/>
            <a:ext cx="2084832" cy="658368"/>
          </a:xfrm>
          <a:prstGeom prst="rect">
            <a:avLst/>
          </a:prstGeom>
          <a:noFill/>
          <a:ln/>
        </p:spPr>
        <p:txBody>
          <a:bodyPr wrap="square" lIns="0" tIns="0" rIns="0" bIns="0" rtlCol="0" anchor="t"/>
          <a:lstStyle/>
          <a:p>
            <a:pPr indent="0" marL="0">
              <a:lnSpc>
                <a:spcPts val="1350"/>
              </a:lnSpc>
              <a:buNone/>
            </a:pPr>
            <a:r>
              <a:rPr lang="en-US" sz="1050" dirty="0">
                <a:solidFill>
                  <a:srgbClr val="52656E"/>
                </a:solidFill>
                <a:latin typeface="Calibri" pitchFamily="34" charset="0"/>
                <a:ea typeface="Calibri" pitchFamily="34" charset="-122"/>
                <a:cs typeface="Calibri" pitchFamily="34" charset="-120"/>
              </a:rPr>
              <a:t>each with what it touches and how we know it is done</a:t>
            </a:r>
            <a:endParaRPr lang="en-US" sz="1050" dirty="0"/>
          </a:p>
        </p:txBody>
      </p:sp>
      <p:sp>
        <p:nvSpPr>
          <p:cNvPr id="8" name="Shape 6"/>
          <p:cNvSpPr/>
          <p:nvPr/>
        </p:nvSpPr>
        <p:spPr>
          <a:xfrm>
            <a:off x="3383280" y="1645920"/>
            <a:ext cx="2487168" cy="1828800"/>
          </a:xfrm>
          <a:prstGeom prst="roundRect">
            <a:avLst>
              <a:gd name="adj" fmla="val 2500"/>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9" name="Text 7"/>
          <p:cNvSpPr txBox="1"/>
          <p:nvPr/>
        </p:nvSpPr>
        <p:spPr>
          <a:xfrm>
            <a:off x="3584448" y="1828800"/>
            <a:ext cx="2084832" cy="640080"/>
          </a:xfrm>
          <a:prstGeom prst="rect">
            <a:avLst/>
          </a:prstGeom>
          <a:noFill/>
          <a:ln/>
        </p:spPr>
        <p:txBody>
          <a:bodyPr wrap="square" lIns="0" tIns="0" rIns="0" bIns="0" rtlCol="0" anchor="t"/>
          <a:lstStyle/>
          <a:p>
            <a:pPr indent="0" marL="0">
              <a:buNone/>
            </a:pPr>
            <a:r>
              <a:rPr lang="en-US" sz="3800" b="1" dirty="0">
                <a:solidFill>
                  <a:srgbClr val="0F6673"/>
                </a:solidFill>
                <a:latin typeface="Cambria" pitchFamily="34" charset="0"/>
                <a:ea typeface="Cambria" pitchFamily="34" charset="-122"/>
                <a:cs typeface="Cambria" pitchFamily="34" charset="-120"/>
              </a:rPr>
              <a:t>7</a:t>
            </a:r>
            <a:endParaRPr lang="en-US" sz="3800" dirty="0"/>
          </a:p>
        </p:txBody>
      </p:sp>
      <p:sp>
        <p:nvSpPr>
          <p:cNvPr id="10" name="Text 8"/>
          <p:cNvSpPr txBox="1"/>
          <p:nvPr/>
        </p:nvSpPr>
        <p:spPr>
          <a:xfrm>
            <a:off x="3584448" y="2487168"/>
            <a:ext cx="2084832" cy="274320"/>
          </a:xfrm>
          <a:prstGeom prst="rect">
            <a:avLst/>
          </a:prstGeom>
          <a:noFill/>
          <a:ln/>
        </p:spPr>
        <p:txBody>
          <a:bodyPr wrap="square" lIns="0" tIns="0" rIns="0" bIns="0" rtlCol="0" anchor="t"/>
          <a:lstStyle/>
          <a:p>
            <a:pPr indent="0" marL="0">
              <a:buNone/>
            </a:pPr>
            <a:r>
              <a:rPr lang="en-US" sz="1150" b="1" dirty="0">
                <a:solidFill>
                  <a:srgbClr val="15252E"/>
                </a:solidFill>
                <a:latin typeface="Calibri" pitchFamily="34" charset="0"/>
                <a:ea typeface="Calibri" pitchFamily="34" charset="-122"/>
                <a:cs typeface="Calibri" pitchFamily="34" charset="-120"/>
              </a:rPr>
              <a:t>phases</a:t>
            </a:r>
            <a:endParaRPr lang="en-US" sz="1150" dirty="0"/>
          </a:p>
        </p:txBody>
      </p:sp>
      <p:sp>
        <p:nvSpPr>
          <p:cNvPr id="11" name="Text 9"/>
          <p:cNvSpPr txBox="1"/>
          <p:nvPr/>
        </p:nvSpPr>
        <p:spPr>
          <a:xfrm>
            <a:off x="3584448" y="2779776"/>
            <a:ext cx="2084832" cy="658368"/>
          </a:xfrm>
          <a:prstGeom prst="rect">
            <a:avLst/>
          </a:prstGeom>
          <a:noFill/>
          <a:ln/>
        </p:spPr>
        <p:txBody>
          <a:bodyPr wrap="square" lIns="0" tIns="0" rIns="0" bIns="0" rtlCol="0" anchor="t"/>
          <a:lstStyle/>
          <a:p>
            <a:pPr indent="0" marL="0">
              <a:lnSpc>
                <a:spcPts val="1350"/>
              </a:lnSpc>
              <a:buNone/>
            </a:pPr>
            <a:r>
              <a:rPr lang="en-US" sz="1050" dirty="0">
                <a:solidFill>
                  <a:srgbClr val="52656E"/>
                </a:solidFill>
                <a:latin typeface="Calibri" pitchFamily="34" charset="0"/>
                <a:ea typeface="Calibri" pitchFamily="34" charset="-122"/>
                <a:cs typeface="Calibri" pitchFamily="34" charset="-120"/>
              </a:rPr>
              <a:t>in dependency order, with a kill gate at phase five</a:t>
            </a:r>
            <a:endParaRPr lang="en-US" sz="1050" dirty="0"/>
          </a:p>
        </p:txBody>
      </p:sp>
      <p:sp>
        <p:nvSpPr>
          <p:cNvPr id="12" name="Shape 10"/>
          <p:cNvSpPr/>
          <p:nvPr/>
        </p:nvSpPr>
        <p:spPr>
          <a:xfrm>
            <a:off x="6080760" y="1645920"/>
            <a:ext cx="2487168" cy="1828800"/>
          </a:xfrm>
          <a:prstGeom prst="roundRect">
            <a:avLst>
              <a:gd name="adj" fmla="val 2500"/>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13" name="Text 11"/>
          <p:cNvSpPr txBox="1"/>
          <p:nvPr/>
        </p:nvSpPr>
        <p:spPr>
          <a:xfrm>
            <a:off x="6281928" y="1828800"/>
            <a:ext cx="2084832" cy="640080"/>
          </a:xfrm>
          <a:prstGeom prst="rect">
            <a:avLst/>
          </a:prstGeom>
          <a:noFill/>
          <a:ln/>
        </p:spPr>
        <p:txBody>
          <a:bodyPr wrap="square" lIns="0" tIns="0" rIns="0" bIns="0" rtlCol="0" anchor="t"/>
          <a:lstStyle/>
          <a:p>
            <a:pPr indent="0" marL="0">
              <a:buNone/>
            </a:pPr>
            <a:r>
              <a:rPr lang="en-US" sz="3800" b="1" dirty="0">
                <a:solidFill>
                  <a:srgbClr val="0F6673"/>
                </a:solidFill>
                <a:latin typeface="Cambria" pitchFamily="34" charset="0"/>
                <a:ea typeface="Cambria" pitchFamily="34" charset="-122"/>
                <a:cs typeface="Cambria" pitchFamily="34" charset="-120"/>
              </a:rPr>
              <a:t>8</a:t>
            </a:r>
            <a:endParaRPr lang="en-US" sz="3800" dirty="0"/>
          </a:p>
        </p:txBody>
      </p:sp>
      <p:sp>
        <p:nvSpPr>
          <p:cNvPr id="14" name="Text 12"/>
          <p:cNvSpPr txBox="1"/>
          <p:nvPr/>
        </p:nvSpPr>
        <p:spPr>
          <a:xfrm>
            <a:off x="6281928" y="2487168"/>
            <a:ext cx="2084832" cy="274320"/>
          </a:xfrm>
          <a:prstGeom prst="rect">
            <a:avLst/>
          </a:prstGeom>
          <a:noFill/>
          <a:ln/>
        </p:spPr>
        <p:txBody>
          <a:bodyPr wrap="square" lIns="0" tIns="0" rIns="0" bIns="0" rtlCol="0" anchor="t"/>
          <a:lstStyle/>
          <a:p>
            <a:pPr indent="0" marL="0">
              <a:buNone/>
            </a:pPr>
            <a:r>
              <a:rPr lang="en-US" sz="1150" b="1" dirty="0">
                <a:solidFill>
                  <a:srgbClr val="15252E"/>
                </a:solidFill>
                <a:latin typeface="Calibri" pitchFamily="34" charset="0"/>
                <a:ea typeface="Calibri" pitchFamily="34" charset="-122"/>
                <a:cs typeface="Calibri" pitchFamily="34" charset="-120"/>
              </a:rPr>
              <a:t>decision records</a:t>
            </a:r>
            <a:endParaRPr lang="en-US" sz="1150" dirty="0"/>
          </a:p>
        </p:txBody>
      </p:sp>
      <p:sp>
        <p:nvSpPr>
          <p:cNvPr id="15" name="Text 13"/>
          <p:cNvSpPr txBox="1"/>
          <p:nvPr/>
        </p:nvSpPr>
        <p:spPr>
          <a:xfrm>
            <a:off x="6281928" y="2779776"/>
            <a:ext cx="2084832" cy="658368"/>
          </a:xfrm>
          <a:prstGeom prst="rect">
            <a:avLst/>
          </a:prstGeom>
          <a:noFill/>
          <a:ln/>
        </p:spPr>
        <p:txBody>
          <a:bodyPr wrap="square" lIns="0" tIns="0" rIns="0" bIns="0" rtlCol="0" anchor="t"/>
          <a:lstStyle/>
          <a:p>
            <a:pPr indent="0" marL="0">
              <a:lnSpc>
                <a:spcPts val="1350"/>
              </a:lnSpc>
              <a:buNone/>
            </a:pPr>
            <a:r>
              <a:rPr lang="en-US" sz="1050" dirty="0">
                <a:solidFill>
                  <a:srgbClr val="52656E"/>
                </a:solidFill>
                <a:latin typeface="Calibri" pitchFamily="34" charset="0"/>
                <a:ea typeface="Calibri" pitchFamily="34" charset="-122"/>
                <a:cs typeface="Calibri" pitchFamily="34" charset="-120"/>
              </a:rPr>
              <a:t>written before the code, not after it</a:t>
            </a:r>
            <a:endParaRPr lang="en-US" sz="1050" dirty="0"/>
          </a:p>
        </p:txBody>
      </p:sp>
      <p:sp>
        <p:nvSpPr>
          <p:cNvPr id="16" name="Shape 14"/>
          <p:cNvSpPr/>
          <p:nvPr/>
        </p:nvSpPr>
        <p:spPr>
          <a:xfrm>
            <a:off x="8778240" y="1645920"/>
            <a:ext cx="2487168" cy="1828800"/>
          </a:xfrm>
          <a:prstGeom prst="roundRect">
            <a:avLst>
              <a:gd name="adj" fmla="val 2500"/>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17" name="Text 15"/>
          <p:cNvSpPr txBox="1"/>
          <p:nvPr/>
        </p:nvSpPr>
        <p:spPr>
          <a:xfrm>
            <a:off x="8979408" y="1828800"/>
            <a:ext cx="2084832" cy="640080"/>
          </a:xfrm>
          <a:prstGeom prst="rect">
            <a:avLst/>
          </a:prstGeom>
          <a:noFill/>
          <a:ln/>
        </p:spPr>
        <p:txBody>
          <a:bodyPr wrap="square" lIns="0" tIns="0" rIns="0" bIns="0" rtlCol="0" anchor="t"/>
          <a:lstStyle/>
          <a:p>
            <a:pPr indent="0" marL="0">
              <a:buNone/>
            </a:pPr>
            <a:r>
              <a:rPr lang="en-US" sz="3800" b="1" dirty="0">
                <a:solidFill>
                  <a:srgbClr val="0F6673"/>
                </a:solidFill>
                <a:latin typeface="Cambria" pitchFamily="34" charset="0"/>
                <a:ea typeface="Cambria" pitchFamily="34" charset="-122"/>
                <a:cs typeface="Cambria" pitchFamily="34" charset="-120"/>
              </a:rPr>
              <a:t>£64</a:t>
            </a:r>
            <a:endParaRPr lang="en-US" sz="3800" dirty="0"/>
          </a:p>
        </p:txBody>
      </p:sp>
      <p:sp>
        <p:nvSpPr>
          <p:cNvPr id="18" name="Text 16"/>
          <p:cNvSpPr txBox="1"/>
          <p:nvPr/>
        </p:nvSpPr>
        <p:spPr>
          <a:xfrm>
            <a:off x="8979408" y="2487168"/>
            <a:ext cx="2084832" cy="274320"/>
          </a:xfrm>
          <a:prstGeom prst="rect">
            <a:avLst/>
          </a:prstGeom>
          <a:noFill/>
          <a:ln/>
        </p:spPr>
        <p:txBody>
          <a:bodyPr wrap="square" lIns="0" tIns="0" rIns="0" bIns="0" rtlCol="0" anchor="t"/>
          <a:lstStyle/>
          <a:p>
            <a:pPr indent="0" marL="0">
              <a:buNone/>
            </a:pPr>
            <a:r>
              <a:rPr lang="en-US" sz="1150" b="1" dirty="0">
                <a:solidFill>
                  <a:srgbClr val="15252E"/>
                </a:solidFill>
                <a:latin typeface="Calibri" pitchFamily="34" charset="0"/>
                <a:ea typeface="Calibri" pitchFamily="34" charset="-122"/>
                <a:cs typeface="Calibri" pitchFamily="34" charset="-120"/>
              </a:rPr>
              <a:t>of live spend</a:t>
            </a:r>
            <a:endParaRPr lang="en-US" sz="1150" dirty="0"/>
          </a:p>
        </p:txBody>
      </p:sp>
      <p:sp>
        <p:nvSpPr>
          <p:cNvPr id="19" name="Text 17"/>
          <p:cNvSpPr txBox="1"/>
          <p:nvPr/>
        </p:nvSpPr>
        <p:spPr>
          <a:xfrm>
            <a:off x="8979408" y="2779776"/>
            <a:ext cx="2084832" cy="658368"/>
          </a:xfrm>
          <a:prstGeom prst="rect">
            <a:avLst/>
          </a:prstGeom>
          <a:noFill/>
          <a:ln/>
        </p:spPr>
        <p:txBody>
          <a:bodyPr wrap="square" lIns="0" tIns="0" rIns="0" bIns="0" rtlCol="0" anchor="t"/>
          <a:lstStyle/>
          <a:p>
            <a:pPr indent="0" marL="0">
              <a:lnSpc>
                <a:spcPts val="1350"/>
              </a:lnSpc>
              <a:buNone/>
            </a:pPr>
            <a:r>
              <a:rPr lang="en-US" sz="1050" dirty="0">
                <a:solidFill>
                  <a:srgbClr val="52656E"/>
                </a:solidFill>
                <a:latin typeface="Calibri" pitchFamily="34" charset="0"/>
                <a:ea typeface="Calibri" pitchFamily="34" charset="-122"/>
                <a:cs typeface="Calibri" pitchFamily="34" charset="-120"/>
              </a:rPr>
              <a:t>the whole plan, end to end, measured against a £100 ceiling</a:t>
            </a:r>
            <a:endParaRPr lang="en-US" sz="1050" dirty="0"/>
          </a:p>
        </p:txBody>
      </p:sp>
      <p:sp>
        <p:nvSpPr>
          <p:cNvPr id="20" name="Shape 18"/>
          <p:cNvSpPr/>
          <p:nvPr/>
        </p:nvSpPr>
        <p:spPr>
          <a:xfrm>
            <a:off x="685800" y="3749040"/>
            <a:ext cx="10817352" cy="2194560"/>
          </a:xfrm>
          <a:prstGeom prst="roundRect">
            <a:avLst>
              <a:gd name="adj" fmla="val 2083"/>
            </a:avLst>
          </a:prstGeom>
          <a:solidFill>
            <a:srgbClr val="FFFFFF"/>
          </a:solidFill>
          <a:ln w="9525">
            <a:solidFill>
              <a:srgbClr val="D3DFE2"/>
            </a:solidFill>
            <a:prstDash val="solid"/>
          </a:ln>
          <a:effectLst>
            <a:outerShdw sx="100000" sy="100000" kx="0" ky="0" algn="bl" rotWithShape="0" blurRad="152400" dist="38100" dir="5400000">
              <a:srgbClr val="07171D">
                <a:alpha val="12000"/>
              </a:srgbClr>
            </a:outerShdw>
          </a:effectLst>
        </p:spPr>
      </p:sp>
      <p:sp>
        <p:nvSpPr>
          <p:cNvPr id="21" name="Text 19"/>
          <p:cNvSpPr txBox="1"/>
          <p:nvPr/>
        </p:nvSpPr>
        <p:spPr>
          <a:xfrm>
            <a:off x="1005840" y="3950208"/>
            <a:ext cx="10058400" cy="310896"/>
          </a:xfrm>
          <a:prstGeom prst="rect">
            <a:avLst/>
          </a:prstGeom>
          <a:noFill/>
          <a:ln/>
        </p:spPr>
        <p:txBody>
          <a:bodyPr wrap="square" lIns="0" tIns="0" rIns="0" bIns="0" rtlCol="0" anchor="t"/>
          <a:lstStyle/>
          <a:p>
            <a:pPr indent="0" marL="0">
              <a:buNone/>
            </a:pPr>
            <a:r>
              <a:rPr lang="en-US" sz="1100" b="1" spc="160" kern="0" dirty="0">
                <a:solidFill>
                  <a:srgbClr val="52656E"/>
                </a:solidFill>
                <a:latin typeface="Calibri" pitchFamily="34" charset="0"/>
                <a:ea typeface="Calibri" pitchFamily="34" charset="-122"/>
                <a:cs typeface="Calibri" pitchFamily="34" charset="-120"/>
              </a:rPr>
              <a:t>The order, and why it is not negotiable</a:t>
            </a:r>
            <a:endParaRPr lang="en-US" sz="1100" dirty="0"/>
          </a:p>
        </p:txBody>
      </p:sp>
      <p:sp>
        <p:nvSpPr>
          <p:cNvPr id="22" name="Shape 20"/>
          <p:cNvSpPr/>
          <p:nvPr/>
        </p:nvSpPr>
        <p:spPr>
          <a:xfrm>
            <a:off x="1005840" y="4407408"/>
            <a:ext cx="310896" cy="310896"/>
          </a:xfrm>
          <a:prstGeom prst="ellipse">
            <a:avLst/>
          </a:prstGeom>
          <a:solidFill>
            <a:srgbClr val="0F6673"/>
          </a:solidFill>
          <a:ln/>
        </p:spPr>
      </p:sp>
      <p:sp>
        <p:nvSpPr>
          <p:cNvPr id="23" name="Text 21"/>
          <p:cNvSpPr txBox="1"/>
          <p:nvPr/>
        </p:nvSpPr>
        <p:spPr>
          <a:xfrm>
            <a:off x="1005840" y="44074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Shape 22"/>
          <p:cNvSpPr/>
          <p:nvPr/>
        </p:nvSpPr>
        <p:spPr>
          <a:xfrm>
            <a:off x="1353312" y="4553712"/>
            <a:ext cx="1060704" cy="18288"/>
          </a:xfrm>
          <a:prstGeom prst="rect">
            <a:avLst/>
          </a:prstGeom>
          <a:solidFill>
            <a:srgbClr val="D3DFE2"/>
          </a:solidFill>
          <a:ln/>
        </p:spPr>
      </p:sp>
      <p:sp>
        <p:nvSpPr>
          <p:cNvPr id="25" name="Text 23"/>
          <p:cNvSpPr txBox="1"/>
          <p:nvPr/>
        </p:nvSpPr>
        <p:spPr>
          <a:xfrm>
            <a:off x="859536" y="4846320"/>
            <a:ext cx="1417320" cy="731520"/>
          </a:xfrm>
          <a:prstGeom prst="rect">
            <a:avLst/>
          </a:prstGeom>
          <a:noFill/>
          <a:ln/>
        </p:spPr>
        <p:txBody>
          <a:bodyPr wrap="square" lIns="0" tIns="0" rIns="0" bIns="0" rtlCol="0" anchor="t"/>
          <a:lstStyle/>
          <a:p>
            <a:pPr indent="0" marL="0">
              <a:lnSpc>
                <a:spcPts val="1300"/>
              </a:lnSpc>
              <a:buNone/>
            </a:pPr>
            <a:r>
              <a:rPr lang="en-US" sz="1000" dirty="0">
                <a:solidFill>
                  <a:srgbClr val="52656E"/>
                </a:solidFill>
                <a:latin typeface="Calibri" pitchFamily="34" charset="0"/>
                <a:ea typeface="Calibri" pitchFamily="34" charset="-122"/>
                <a:cs typeface="Calibri" pitchFamily="34" charset="-120"/>
              </a:rPr>
              <a:t>Delete what never fired</a:t>
            </a:r>
            <a:endParaRPr lang="en-US" sz="1000" dirty="0"/>
          </a:p>
        </p:txBody>
      </p:sp>
      <p:sp>
        <p:nvSpPr>
          <p:cNvPr id="26" name="Shape 24"/>
          <p:cNvSpPr/>
          <p:nvPr/>
        </p:nvSpPr>
        <p:spPr>
          <a:xfrm>
            <a:off x="2455164" y="4407408"/>
            <a:ext cx="310896" cy="310896"/>
          </a:xfrm>
          <a:prstGeom prst="ellipse">
            <a:avLst/>
          </a:prstGeom>
          <a:solidFill>
            <a:srgbClr val="0F6673"/>
          </a:solidFill>
          <a:ln/>
        </p:spPr>
      </p:sp>
      <p:sp>
        <p:nvSpPr>
          <p:cNvPr id="27" name="Text 25"/>
          <p:cNvSpPr txBox="1"/>
          <p:nvPr/>
        </p:nvSpPr>
        <p:spPr>
          <a:xfrm>
            <a:off x="2455164" y="44074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Shape 26"/>
          <p:cNvSpPr/>
          <p:nvPr/>
        </p:nvSpPr>
        <p:spPr>
          <a:xfrm>
            <a:off x="2802636" y="4553712"/>
            <a:ext cx="1060704" cy="18288"/>
          </a:xfrm>
          <a:prstGeom prst="rect">
            <a:avLst/>
          </a:prstGeom>
          <a:solidFill>
            <a:srgbClr val="D3DFE2"/>
          </a:solidFill>
          <a:ln/>
        </p:spPr>
      </p:sp>
      <p:sp>
        <p:nvSpPr>
          <p:cNvPr id="29" name="Text 27"/>
          <p:cNvSpPr txBox="1"/>
          <p:nvPr/>
        </p:nvSpPr>
        <p:spPr>
          <a:xfrm>
            <a:off x="2308860" y="4846320"/>
            <a:ext cx="1417320" cy="731520"/>
          </a:xfrm>
          <a:prstGeom prst="rect">
            <a:avLst/>
          </a:prstGeom>
          <a:noFill/>
          <a:ln/>
        </p:spPr>
        <p:txBody>
          <a:bodyPr wrap="square" lIns="0" tIns="0" rIns="0" bIns="0" rtlCol="0" anchor="t"/>
          <a:lstStyle/>
          <a:p>
            <a:pPr indent="0" marL="0">
              <a:lnSpc>
                <a:spcPts val="1300"/>
              </a:lnSpc>
              <a:buNone/>
            </a:pPr>
            <a:r>
              <a:rPr lang="en-US" sz="1000" dirty="0">
                <a:solidFill>
                  <a:srgbClr val="52656E"/>
                </a:solidFill>
                <a:latin typeface="Calibri" pitchFamily="34" charset="0"/>
                <a:ea typeface="Calibri" pitchFamily="34" charset="-122"/>
                <a:cs typeface="Calibri" pitchFamily="34" charset="-120"/>
              </a:rPr>
              <a:t>Make it usable</a:t>
            </a:r>
            <a:endParaRPr lang="en-US" sz="1000" dirty="0"/>
          </a:p>
        </p:txBody>
      </p:sp>
      <p:sp>
        <p:nvSpPr>
          <p:cNvPr id="30" name="Shape 28"/>
          <p:cNvSpPr/>
          <p:nvPr/>
        </p:nvSpPr>
        <p:spPr>
          <a:xfrm>
            <a:off x="3904488" y="4407408"/>
            <a:ext cx="310896" cy="310896"/>
          </a:xfrm>
          <a:prstGeom prst="ellipse">
            <a:avLst/>
          </a:prstGeom>
          <a:solidFill>
            <a:srgbClr val="0F6673"/>
          </a:solidFill>
          <a:ln/>
        </p:spPr>
      </p:sp>
      <p:sp>
        <p:nvSpPr>
          <p:cNvPr id="31" name="Text 29"/>
          <p:cNvSpPr txBox="1"/>
          <p:nvPr/>
        </p:nvSpPr>
        <p:spPr>
          <a:xfrm>
            <a:off x="3904488" y="44074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2" name="Shape 30"/>
          <p:cNvSpPr/>
          <p:nvPr/>
        </p:nvSpPr>
        <p:spPr>
          <a:xfrm>
            <a:off x="4251960" y="4553712"/>
            <a:ext cx="1060704" cy="18288"/>
          </a:xfrm>
          <a:prstGeom prst="rect">
            <a:avLst/>
          </a:prstGeom>
          <a:solidFill>
            <a:srgbClr val="D3DFE2"/>
          </a:solidFill>
          <a:ln/>
        </p:spPr>
      </p:sp>
      <p:sp>
        <p:nvSpPr>
          <p:cNvPr id="33" name="Text 31"/>
          <p:cNvSpPr txBox="1"/>
          <p:nvPr/>
        </p:nvSpPr>
        <p:spPr>
          <a:xfrm>
            <a:off x="3758184" y="4846320"/>
            <a:ext cx="1417320" cy="731520"/>
          </a:xfrm>
          <a:prstGeom prst="rect">
            <a:avLst/>
          </a:prstGeom>
          <a:noFill/>
          <a:ln/>
        </p:spPr>
        <p:txBody>
          <a:bodyPr wrap="square" lIns="0" tIns="0" rIns="0" bIns="0" rtlCol="0" anchor="t"/>
          <a:lstStyle/>
          <a:p>
            <a:pPr indent="0" marL="0">
              <a:lnSpc>
                <a:spcPts val="1300"/>
              </a:lnSpc>
              <a:buNone/>
            </a:pPr>
            <a:r>
              <a:rPr lang="en-US" sz="1000" dirty="0">
                <a:solidFill>
                  <a:srgbClr val="52656E"/>
                </a:solidFill>
                <a:latin typeface="Calibri" pitchFamily="34" charset="0"/>
                <a:ea typeface="Calibri" pitchFamily="34" charset="-122"/>
                <a:cs typeface="Calibri" pitchFamily="34" charset="-120"/>
              </a:rPr>
              <a:t>A bank can be researched</a:t>
            </a:r>
            <a:endParaRPr lang="en-US" sz="1000" dirty="0"/>
          </a:p>
        </p:txBody>
      </p:sp>
      <p:sp>
        <p:nvSpPr>
          <p:cNvPr id="34" name="Shape 32"/>
          <p:cNvSpPr/>
          <p:nvPr/>
        </p:nvSpPr>
        <p:spPr>
          <a:xfrm>
            <a:off x="5353812" y="4407408"/>
            <a:ext cx="310896" cy="310896"/>
          </a:xfrm>
          <a:prstGeom prst="ellipse">
            <a:avLst/>
          </a:prstGeom>
          <a:solidFill>
            <a:srgbClr val="0F6673"/>
          </a:solidFill>
          <a:ln/>
        </p:spPr>
      </p:sp>
      <p:sp>
        <p:nvSpPr>
          <p:cNvPr id="35" name="Text 33"/>
          <p:cNvSpPr txBox="1"/>
          <p:nvPr/>
        </p:nvSpPr>
        <p:spPr>
          <a:xfrm>
            <a:off x="5353812" y="44074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6" name="Shape 34"/>
          <p:cNvSpPr/>
          <p:nvPr/>
        </p:nvSpPr>
        <p:spPr>
          <a:xfrm>
            <a:off x="5701284" y="4553712"/>
            <a:ext cx="1060704" cy="18288"/>
          </a:xfrm>
          <a:prstGeom prst="rect">
            <a:avLst/>
          </a:prstGeom>
          <a:solidFill>
            <a:srgbClr val="D3DFE2"/>
          </a:solidFill>
          <a:ln/>
        </p:spPr>
      </p:sp>
      <p:sp>
        <p:nvSpPr>
          <p:cNvPr id="37" name="Text 35"/>
          <p:cNvSpPr txBox="1"/>
          <p:nvPr/>
        </p:nvSpPr>
        <p:spPr>
          <a:xfrm>
            <a:off x="5207508" y="4846320"/>
            <a:ext cx="1417320" cy="731520"/>
          </a:xfrm>
          <a:prstGeom prst="rect">
            <a:avLst/>
          </a:prstGeom>
          <a:noFill/>
          <a:ln/>
        </p:spPr>
        <p:txBody>
          <a:bodyPr wrap="square" lIns="0" tIns="0" rIns="0" bIns="0" rtlCol="0" anchor="t"/>
          <a:lstStyle/>
          <a:p>
            <a:pPr indent="0" marL="0">
              <a:lnSpc>
                <a:spcPts val="1300"/>
              </a:lnSpc>
              <a:buNone/>
            </a:pPr>
            <a:r>
              <a:rPr lang="en-US" sz="1000" dirty="0">
                <a:solidFill>
                  <a:srgbClr val="52656E"/>
                </a:solidFill>
                <a:latin typeface="Calibri" pitchFamily="34" charset="0"/>
                <a:ea typeface="Calibri" pitchFamily="34" charset="-122"/>
                <a:cs typeface="Calibri" pitchFamily="34" charset="-120"/>
              </a:rPr>
              <a:t>Print what exists</a:t>
            </a:r>
            <a:endParaRPr lang="en-US" sz="1000" dirty="0"/>
          </a:p>
        </p:txBody>
      </p:sp>
      <p:sp>
        <p:nvSpPr>
          <p:cNvPr id="38" name="Shape 36"/>
          <p:cNvSpPr/>
          <p:nvPr/>
        </p:nvSpPr>
        <p:spPr>
          <a:xfrm>
            <a:off x="6803136" y="4407408"/>
            <a:ext cx="310896" cy="310896"/>
          </a:xfrm>
          <a:prstGeom prst="ellipse">
            <a:avLst/>
          </a:prstGeom>
          <a:solidFill>
            <a:srgbClr val="6B3F60"/>
          </a:solidFill>
          <a:ln/>
        </p:spPr>
      </p:sp>
      <p:sp>
        <p:nvSpPr>
          <p:cNvPr id="39" name="Text 37"/>
          <p:cNvSpPr txBox="1"/>
          <p:nvPr/>
        </p:nvSpPr>
        <p:spPr>
          <a:xfrm>
            <a:off x="6803136" y="44074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0" name="Shape 38"/>
          <p:cNvSpPr/>
          <p:nvPr/>
        </p:nvSpPr>
        <p:spPr>
          <a:xfrm>
            <a:off x="7150608" y="4553712"/>
            <a:ext cx="1060704" cy="18288"/>
          </a:xfrm>
          <a:prstGeom prst="rect">
            <a:avLst/>
          </a:prstGeom>
          <a:solidFill>
            <a:srgbClr val="D3DFE2"/>
          </a:solidFill>
          <a:ln/>
        </p:spPr>
      </p:sp>
      <p:sp>
        <p:nvSpPr>
          <p:cNvPr id="41" name="Text 39"/>
          <p:cNvSpPr txBox="1"/>
          <p:nvPr/>
        </p:nvSpPr>
        <p:spPr>
          <a:xfrm>
            <a:off x="6656832" y="4846320"/>
            <a:ext cx="1417320" cy="731520"/>
          </a:xfrm>
          <a:prstGeom prst="rect">
            <a:avLst/>
          </a:prstGeom>
          <a:noFill/>
          <a:ln/>
        </p:spPr>
        <p:txBody>
          <a:bodyPr wrap="square" lIns="0" tIns="0" rIns="0" bIns="0" rtlCol="0" anchor="t"/>
          <a:lstStyle/>
          <a:p>
            <a:pPr indent="0" marL="0">
              <a:lnSpc>
                <a:spcPts val="1300"/>
              </a:lnSpc>
              <a:buNone/>
            </a:pPr>
            <a:r>
              <a:rPr lang="en-US" sz="1000" dirty="0">
                <a:solidFill>
                  <a:srgbClr val="52656E"/>
                </a:solidFill>
                <a:latin typeface="Calibri" pitchFamily="34" charset="0"/>
                <a:ea typeface="Calibri" pitchFamily="34" charset="-122"/>
                <a:cs typeface="Calibri" pitchFamily="34" charset="-120"/>
              </a:rPr>
              <a:t>Measure — and be willing to stop</a:t>
            </a:r>
            <a:endParaRPr lang="en-US" sz="1000" dirty="0"/>
          </a:p>
        </p:txBody>
      </p:sp>
      <p:sp>
        <p:nvSpPr>
          <p:cNvPr id="42" name="Shape 40"/>
          <p:cNvSpPr/>
          <p:nvPr/>
        </p:nvSpPr>
        <p:spPr>
          <a:xfrm>
            <a:off x="8252460" y="4407408"/>
            <a:ext cx="310896" cy="310896"/>
          </a:xfrm>
          <a:prstGeom prst="ellipse">
            <a:avLst/>
          </a:prstGeom>
          <a:solidFill>
            <a:srgbClr val="0F6673"/>
          </a:solidFill>
          <a:ln/>
        </p:spPr>
      </p:sp>
      <p:sp>
        <p:nvSpPr>
          <p:cNvPr id="43" name="Text 41"/>
          <p:cNvSpPr txBox="1"/>
          <p:nvPr/>
        </p:nvSpPr>
        <p:spPr>
          <a:xfrm>
            <a:off x="8252460" y="44074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4" name="Shape 42"/>
          <p:cNvSpPr/>
          <p:nvPr/>
        </p:nvSpPr>
        <p:spPr>
          <a:xfrm>
            <a:off x="8599932" y="4553712"/>
            <a:ext cx="1060704" cy="18288"/>
          </a:xfrm>
          <a:prstGeom prst="rect">
            <a:avLst/>
          </a:prstGeom>
          <a:solidFill>
            <a:srgbClr val="D3DFE2"/>
          </a:solidFill>
          <a:ln/>
        </p:spPr>
      </p:sp>
      <p:sp>
        <p:nvSpPr>
          <p:cNvPr id="45" name="Text 43"/>
          <p:cNvSpPr txBox="1"/>
          <p:nvPr/>
        </p:nvSpPr>
        <p:spPr>
          <a:xfrm>
            <a:off x="8106156" y="4846320"/>
            <a:ext cx="1417320" cy="731520"/>
          </a:xfrm>
          <a:prstGeom prst="rect">
            <a:avLst/>
          </a:prstGeom>
          <a:noFill/>
          <a:ln/>
        </p:spPr>
        <p:txBody>
          <a:bodyPr wrap="square" lIns="0" tIns="0" rIns="0" bIns="0" rtlCol="0" anchor="t"/>
          <a:lstStyle/>
          <a:p>
            <a:pPr indent="0" marL="0">
              <a:lnSpc>
                <a:spcPts val="1300"/>
              </a:lnSpc>
              <a:buNone/>
            </a:pPr>
            <a:r>
              <a:rPr lang="en-US" sz="1000" dirty="0">
                <a:solidFill>
                  <a:srgbClr val="52656E"/>
                </a:solidFill>
                <a:latin typeface="Calibri" pitchFamily="34" charset="0"/>
                <a:ea typeface="Calibri" pitchFamily="34" charset="-122"/>
                <a:cs typeface="Calibri" pitchFamily="34" charset="-120"/>
              </a:rPr>
              <a:t>The view, the argument, the export</a:t>
            </a:r>
            <a:endParaRPr lang="en-US" sz="1000" dirty="0"/>
          </a:p>
        </p:txBody>
      </p:sp>
      <p:sp>
        <p:nvSpPr>
          <p:cNvPr id="46" name="Shape 44"/>
          <p:cNvSpPr/>
          <p:nvPr/>
        </p:nvSpPr>
        <p:spPr>
          <a:xfrm>
            <a:off x="9701784" y="4407408"/>
            <a:ext cx="310896" cy="310896"/>
          </a:xfrm>
          <a:prstGeom prst="ellipse">
            <a:avLst/>
          </a:prstGeom>
          <a:solidFill>
            <a:srgbClr val="14613F"/>
          </a:solidFill>
          <a:ln/>
        </p:spPr>
      </p:sp>
      <p:sp>
        <p:nvSpPr>
          <p:cNvPr id="47" name="Text 45"/>
          <p:cNvSpPr txBox="1"/>
          <p:nvPr/>
        </p:nvSpPr>
        <p:spPr>
          <a:xfrm>
            <a:off x="9701784" y="44074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8" name="Text 46"/>
          <p:cNvSpPr txBox="1"/>
          <p:nvPr/>
        </p:nvSpPr>
        <p:spPr>
          <a:xfrm>
            <a:off x="9555480" y="4846320"/>
            <a:ext cx="1417320" cy="731520"/>
          </a:xfrm>
          <a:prstGeom prst="rect">
            <a:avLst/>
          </a:prstGeom>
          <a:noFill/>
          <a:ln/>
        </p:spPr>
        <p:txBody>
          <a:bodyPr wrap="square" lIns="0" tIns="0" rIns="0" bIns="0" rtlCol="0" anchor="t"/>
          <a:lstStyle/>
          <a:p>
            <a:pPr indent="0" marL="0">
              <a:lnSpc>
                <a:spcPts val="1300"/>
              </a:lnSpc>
              <a:buNone/>
            </a:pPr>
            <a:r>
              <a:rPr lang="en-US" sz="1000" dirty="0">
                <a:solidFill>
                  <a:srgbClr val="52656E"/>
                </a:solidFill>
                <a:latin typeface="Calibri" pitchFamily="34" charset="0"/>
                <a:ea typeface="Calibri" pitchFamily="34" charset="-122"/>
                <a:cs typeface="Calibri" pitchFamily="34" charset="-120"/>
              </a:rPr>
              <a:t>The verdict round</a:t>
            </a:r>
            <a:endParaRPr lang="en-US" sz="1000" dirty="0"/>
          </a:p>
        </p:txBody>
      </p:sp>
      <p:sp>
        <p:nvSpPr>
          <p:cNvPr id="49" name="Text 47"/>
          <p:cNvSpPr txBox="1"/>
          <p:nvPr/>
        </p:nvSpPr>
        <p:spPr>
          <a:xfrm>
            <a:off x="1005840" y="5596128"/>
            <a:ext cx="10058400" cy="256032"/>
          </a:xfrm>
          <a:prstGeom prst="rect">
            <a:avLst/>
          </a:prstGeom>
          <a:noFill/>
          <a:ln/>
        </p:spPr>
        <p:txBody>
          <a:bodyPr wrap="square" lIns="0" tIns="0" rIns="0" bIns="0" rtlCol="0" anchor="t"/>
          <a:lstStyle/>
          <a:p>
            <a:pPr indent="0" marL="0">
              <a:buNone/>
            </a:pPr>
            <a:r>
              <a:rPr lang="en-US" sz="1100" i="1" dirty="0">
                <a:solidFill>
                  <a:srgbClr val="6B3F60"/>
                </a:solidFill>
                <a:latin typeface="Calibri" pitchFamily="34" charset="0"/>
                <a:ea typeface="Calibri" pitchFamily="34" charset="-122"/>
                <a:cs typeface="Calibri" pitchFamily="34" charset="-120"/>
              </a:rPr>
              <a:t>Phase five is the kill gate. Nothing after it is built until the measurement says the thesis holds.</a:t>
            </a:r>
            <a:endParaRPr lang="en-US" sz="1100" dirty="0"/>
          </a:p>
        </p:txBody>
      </p:sp>
      <p:sp>
        <p:nvSpPr>
          <p:cNvPr id="50" name="Text 48"/>
          <p:cNvSpPr txBox="1"/>
          <p:nvPr/>
        </p:nvSpPr>
        <p:spPr>
          <a:xfrm>
            <a:off x="685800" y="6291072"/>
            <a:ext cx="10817352" cy="274320"/>
          </a:xfrm>
          <a:prstGeom prst="rect">
            <a:avLst/>
          </a:prstGeom>
          <a:noFill/>
          <a:ln/>
        </p:spPr>
        <p:txBody>
          <a:bodyPr wrap="square" lIns="0" tIns="0" rIns="0" bIns="0" rtlCol="0" anchor="t"/>
          <a:lstStyle/>
          <a:p>
            <a:pPr indent="0" marL="0">
              <a:buNone/>
            </a:pPr>
            <a:r>
              <a:rPr lang="en-US" sz="950" i="1" dirty="0">
                <a:solidFill>
                  <a:srgbClr val="5B6D75"/>
                </a:solidFill>
                <a:latin typeface="Calibri" pitchFamily="34" charset="0"/>
                <a:ea typeface="Calibri" pitchFamily="34" charset="-122"/>
                <a:cs typeface="Calibri" pitchFamily="34" charset="-120"/>
              </a:rPr>
              <a:t>Full plan: docs/V1.0_Alpha/05-delivery-plan.md · decisions: docs/adr/0113–0120</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171D"/>
        </a:solidFill>
      </p:bgPr>
    </p:bg>
    <p:spTree>
      <p:nvGrpSpPr>
        <p:cNvPr id="1" name=""/>
        <p:cNvGrpSpPr/>
        <p:nvPr/>
      </p:nvGrpSpPr>
      <p:grpSpPr>
        <a:xfrm>
          <a:off x="0" y="0"/>
          <a:ext cx="0" cy="0"/>
          <a:chOff x="0" y="0"/>
          <a:chExt cx="0" cy="0"/>
        </a:xfrm>
      </p:grpSpPr>
      <p:sp>
        <p:nvSpPr>
          <p:cNvPr id="2" name="Shape 0"/>
          <p:cNvSpPr/>
          <p:nvPr/>
        </p:nvSpPr>
        <p:spPr>
          <a:xfrm>
            <a:off x="-2011680" y="2926080"/>
            <a:ext cx="6766560" cy="6766560"/>
          </a:xfrm>
          <a:prstGeom prst="ellipse">
            <a:avLst/>
          </a:prstGeom>
          <a:solidFill>
            <a:srgbClr val="102B35"/>
          </a:solidFill>
          <a:ln/>
        </p:spPr>
      </p:sp>
      <p:sp>
        <p:nvSpPr>
          <p:cNvPr id="3" name="Text 1"/>
          <p:cNvSpPr txBox="1"/>
          <p:nvPr/>
        </p:nvSpPr>
        <p:spPr>
          <a:xfrm>
            <a:off x="4206240" y="1600200"/>
            <a:ext cx="7315200" cy="310896"/>
          </a:xfrm>
          <a:prstGeom prst="rect">
            <a:avLst/>
          </a:prstGeom>
          <a:noFill/>
          <a:ln/>
        </p:spPr>
        <p:txBody>
          <a:bodyPr wrap="square" lIns="0" tIns="0" rIns="0" bIns="0" rtlCol="0" anchor="t"/>
          <a:lstStyle/>
          <a:p>
            <a:pPr indent="0" marL="0">
              <a:buNone/>
            </a:pPr>
            <a:r>
              <a:rPr lang="en-US" sz="1200" b="1" spc="300" kern="0" dirty="0">
                <a:solidFill>
                  <a:srgbClr val="B5ECF0"/>
                </a:solidFill>
                <a:latin typeface="Calibri" pitchFamily="34" charset="0"/>
                <a:ea typeface="Calibri" pitchFamily="34" charset="-122"/>
                <a:cs typeface="Calibri" pitchFamily="34" charset="-120"/>
              </a:rPr>
              <a:t>WHAT V1.0 IS FOR</a:t>
            </a:r>
            <a:endParaRPr lang="en-US" sz="1200" dirty="0"/>
          </a:p>
        </p:txBody>
      </p:sp>
      <p:sp>
        <p:nvSpPr>
          <p:cNvPr id="4" name="Text 2"/>
          <p:cNvSpPr txBox="1"/>
          <p:nvPr/>
        </p:nvSpPr>
        <p:spPr>
          <a:xfrm>
            <a:off x="4206240" y="2103120"/>
            <a:ext cx="7315200" cy="2011680"/>
          </a:xfrm>
          <a:prstGeom prst="rect">
            <a:avLst/>
          </a:prstGeom>
          <a:noFill/>
          <a:ln/>
        </p:spPr>
        <p:txBody>
          <a:bodyPr wrap="square" lIns="0" tIns="0" rIns="0" bIns="0" rtlCol="0" anchor="t"/>
          <a:lstStyle/>
          <a:p>
            <a:pPr indent="0" marL="0">
              <a:lnSpc>
                <a:spcPts val="4200"/>
              </a:lnSpc>
              <a:buNone/>
            </a:pPr>
            <a:r>
              <a:rPr lang="en-US" sz="3000" b="1" dirty="0">
                <a:solidFill>
                  <a:srgbClr val="FFFFFF"/>
                </a:solidFill>
                <a:latin typeface="Cambria" pitchFamily="34" charset="0"/>
                <a:ea typeface="Cambria" pitchFamily="34" charset="-122"/>
                <a:cs typeface="Cambria" pitchFamily="34" charset="-120"/>
              </a:rPr>
              <a:t>A research note is read once.</a:t>
            </a:r>
            <a:endParaRPr lang="en-US" sz="3000" dirty="0"/>
          </a:p>
          <a:p>
            <a:pPr indent="0" marL="0">
              <a:lnSpc>
                <a:spcPts val="4200"/>
              </a:lnSpc>
              <a:buNone/>
            </a:pPr>
            <a:r>
              <a:rPr lang="en-US" sz="3000" b="1" dirty="0">
                <a:solidFill>
                  <a:srgbClr val="FFFFFF"/>
                </a:solidFill>
                <a:latin typeface="Cambria" pitchFamily="34" charset="0"/>
                <a:ea typeface="Cambria" pitchFamily="34" charset="-122"/>
                <a:cs typeface="Cambria" pitchFamily="34" charset="-120"/>
              </a:rPr>
              <a:t>A research record is read again</a:t>
            </a:r>
            <a:endParaRPr lang="en-US" sz="3000" dirty="0"/>
          </a:p>
          <a:p>
            <a:pPr indent="0" marL="0">
              <a:lnSpc>
                <a:spcPts val="4200"/>
              </a:lnSpc>
              <a:buNone/>
            </a:pPr>
            <a:r>
              <a:rPr lang="en-US" sz="3000" b="1" dirty="0">
                <a:solidFill>
                  <a:srgbClr val="FFFFFF"/>
                </a:solidFill>
                <a:latin typeface="Cambria" pitchFamily="34" charset="0"/>
                <a:ea typeface="Cambria" pitchFamily="34" charset="-122"/>
                <a:cs typeface="Cambria" pitchFamily="34" charset="-120"/>
              </a:rPr>
              <a:t>every time you doubt yourself.</a:t>
            </a:r>
            <a:endParaRPr lang="en-US" sz="3000" dirty="0"/>
          </a:p>
        </p:txBody>
      </p:sp>
      <p:sp>
        <p:nvSpPr>
          <p:cNvPr id="5" name="Text 3"/>
          <p:cNvSpPr txBox="1"/>
          <p:nvPr/>
        </p:nvSpPr>
        <p:spPr>
          <a:xfrm>
            <a:off x="4206240" y="4572000"/>
            <a:ext cx="7315200" cy="731520"/>
          </a:xfrm>
          <a:prstGeom prst="rect">
            <a:avLst/>
          </a:prstGeom>
          <a:noFill/>
          <a:ln/>
        </p:spPr>
        <p:txBody>
          <a:bodyPr wrap="square" lIns="0" tIns="0" rIns="0" bIns="0" rtlCol="0" anchor="t"/>
          <a:lstStyle/>
          <a:p>
            <a:pPr indent="0" marL="0">
              <a:lnSpc>
                <a:spcPts val="2200"/>
              </a:lnSpc>
              <a:buNone/>
            </a:pPr>
            <a:r>
              <a:rPr lang="en-US" sz="1500" dirty="0">
                <a:solidFill>
                  <a:srgbClr val="B5ECF0"/>
                </a:solidFill>
                <a:latin typeface="Calibri" pitchFamily="34" charset="0"/>
                <a:ea typeface="Calibri" pitchFamily="34" charset="-122"/>
                <a:cs typeface="Calibri" pitchFamily="34" charset="-120"/>
              </a:rPr>
              <a:t>V1.0 is the version where the record starts reading you back.</a:t>
            </a:r>
            <a:endParaRPr lang="en-US" sz="1500" dirty="0"/>
          </a:p>
        </p:txBody>
      </p:sp>
      <p:sp>
        <p:nvSpPr>
          <p:cNvPr id="6" name="Text 4"/>
          <p:cNvSpPr txBox="1"/>
          <p:nvPr/>
        </p:nvSpPr>
        <p:spPr>
          <a:xfrm>
            <a:off x="685800" y="6291072"/>
            <a:ext cx="10817352" cy="274320"/>
          </a:xfrm>
          <a:prstGeom prst="rect">
            <a:avLst/>
          </a:prstGeom>
          <a:noFill/>
          <a:ln/>
        </p:spPr>
        <p:txBody>
          <a:bodyPr wrap="square" lIns="0" tIns="0" rIns="0" bIns="0" rtlCol="0" anchor="t"/>
          <a:lstStyle/>
          <a:p>
            <a:pPr indent="0" marL="0">
              <a:buNone/>
            </a:pPr>
            <a:r>
              <a:rPr lang="en-US" sz="950" i="1" dirty="0">
                <a:solidFill>
                  <a:srgbClr val="6E8A92"/>
                </a:solidFill>
                <a:latin typeface="Calibri" pitchFamily="34" charset="0"/>
                <a:ea typeface="Calibri" pitchFamily="34" charset="-122"/>
                <a:cs typeface="Calibri" pitchFamily="34" charset="-120"/>
              </a:rPr>
              <a:t>Not investment advice. A personal research tool, and every surface says so.</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Ageantic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Ageantic V1.0 Alpha — what changes</dc:title>
  <dc:subject>The report becomes a loop</dc:subject>
  <dc:creator>Ageantic</dc:creator>
  <cp:lastModifiedBy>Ageantic</cp:lastModifiedBy>
  <cp:revision>1</cp:revision>
  <dcterms:created xsi:type="dcterms:W3CDTF">2026-09-14T14:20:30Z</dcterms:created>
  <dcterms:modified xsi:type="dcterms:W3CDTF">2026-09-14T14:20:30Z</dcterms:modified>
</cp:coreProperties>
</file>