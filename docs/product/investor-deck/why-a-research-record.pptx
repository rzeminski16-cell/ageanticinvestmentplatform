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Calculation rows re-derived</c:v>
                </c:pt>
              </c:strCache>
            </c:strRef>
          </c:tx>
          <c:spPr>
            <a:solidFill>
              <a:srgbClr val="1E2761"/>
            </a:solidFill>
            <a:effectLst/>
          </c:spPr>
          <c:invertIfNegative val="0"/>
          <c:dLbls>
            <c:numFmt formatCode="#,##0" sourceLinked="0"/>
            <c:txPr>
              <a:bodyPr/>
              <a:lstStyle/>
              <a:p>
                <a:pPr>
                  <a:defRPr b="0" i="0" strike="noStrike" sz="1100" u="none">
                    <a:solidFill>
                      <a:srgbClr val="1B2140"/>
                    </a:solidFill>
                    <a:latin typeface="Calibri"/>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1E2761"/>
              </a:solidFill>
              <a:effectLst/>
            </c:spPr>
          </c:dPt>
          <c:dPt>
            <c:idx val="2"/>
            <c:invertIfNegative val="0"/>
            <c:bubble3D val="0"/>
            <c:spPr>
              <a:solidFill>
                <a:srgbClr val="7B83A6"/>
              </a:solidFill>
              <a:effectLst/>
            </c:spPr>
          </c:dPt>
          <c:dPt>
            <c:idx val="3"/>
            <c:invertIfNegative val="0"/>
            <c:bubble3D val="0"/>
            <c:spPr>
              <a:solidFill>
                <a:srgbClr val="1E2761"/>
              </a:solidFill>
              <a:effectLst/>
            </c:spPr>
          </c:dPt>
          <c:dPt>
            <c:idx val="4"/>
            <c:invertIfNegative val="0"/>
            <c:bubble3D val="0"/>
            <c:spPr>
              <a:solidFill>
                <a:srgbClr val="1E2761"/>
              </a:solidFill>
              <a:effectLst/>
            </c:spPr>
          </c:dPt>
          <c:cat>
            <c:multiLvlStrRef>
              <c:f>Sheet1!$A$2:$A$6</c:f>
              <c:multiLvlStrCache>
                <c:ptCount val="5"/>
                <c:lvl>
                  <c:pt idx="0">
                    <c:v>Microsoft #1</c:v>
                  </c:pt>
                  <c:pt idx="1">
                    <c:v>Microsoft #2</c:v>
                  </c:pt>
                  <c:pt idx="2">
                    <c:v>AstraZeneca #1</c:v>
                  </c:pt>
                  <c:pt idx="3">
                    <c:v>AstraZeneca #2</c:v>
                  </c:pt>
                  <c:pt idx="4">
                    <c:v>M&amp;T Bank</c:v>
                  </c:pt>
                </c:lvl>
              </c:multiLvlStrCache>
            </c:multiLvlStrRef>
          </c:cat>
          <c:val>
            <c:numRef>
              <c:f>Sheet1!$B$2:$B$6</c:f>
              <c:numCache>
                <c:formatCode>General</c:formatCode>
                <c:ptCount val="5"/>
                <c:pt idx="0">
                  <c:v>852</c:v>
                </c:pt>
                <c:pt idx="1">
                  <c:v>857</c:v>
                </c:pt>
                <c:pt idx="2">
                  <c:v>152</c:v>
                </c:pt>
                <c:pt idx="3">
                  <c:v>831</c:v>
                </c:pt>
                <c:pt idx="4">
                  <c:v>643</c:v>
                </c:pt>
              </c:numCache>
            </c:numRef>
          </c:val>
        </c:ser>
        <c:dLbls>
          <c:numFmt formatCode="#,##0" sourceLinked="0"/>
          <c:txPr>
            <a:bodyPr/>
            <a:lstStyle/>
            <a:p>
              <a:pPr>
                <a:defRPr b="0" i="0" strike="noStrike" sz="1100" u="none">
                  <a:solidFill>
                    <a:srgbClr val="1B2140"/>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3E466B"/>
                </a:solidFill>
                <a:latin typeface="Calibri"/>
              </a:defRPr>
            </a:pPr>
            <a:endParaRPr lang="en-US"/>
          </a:p>
        </c:txPr>
        <c:crossAx val="2094734552"/>
        <c:crosses val="autoZero"/>
        <c:auto val="1"/>
        <c:lblAlgn val="ctr"/>
        <c:noMultiLvlLbl val="1"/>
      </c:catAx>
      <c:valAx>
        <c:axId val="2094734552"/>
        <c:scaling>
          <c:orientation val="minMax"/>
          <c:max val="1000"/>
          <c:min val="0"/>
        </c:scaling>
        <c:delete val="0"/>
        <c:axPos val="l"/>
        <c:majorGridlines>
          <c:spPr>
            <a:ln w="12700" cap="flat">
              <a:solidFill>
                <a:srgbClr val="D8E0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B83A6"/>
                </a:solidFill>
                <a:latin typeface="Calibri"/>
              </a:defRPr>
            </a:pPr>
            <a:endParaRPr lang="en-US"/>
          </a:p>
        </c:txPr>
        <c:crossAx val="2094734554"/>
        <c:crosses val="autoZero"/>
        <c:crossBetween val="between"/>
        <c:majorUnit val="25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Cost per report (£)</c:v>
                </c:pt>
              </c:strCache>
            </c:strRef>
          </c:tx>
          <c:spPr>
            <a:solidFill>
              <a:srgbClr val="1E2761"/>
            </a:solidFill>
            <a:effectLst/>
          </c:spPr>
          <c:invertIfNegative val="0"/>
          <c:dLbls>
            <c:numFmt formatCode="&quot;£&quot;0.00" sourceLinked="0"/>
            <c:txPr>
              <a:bodyPr/>
              <a:lstStyle/>
              <a:p>
                <a:pPr>
                  <a:defRPr b="0" i="0" strike="noStrike" sz="1050" u="none">
                    <a:solidFill>
                      <a:srgbClr val="1B2140"/>
                    </a:solidFill>
                    <a:latin typeface="Calibri"/>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1E2761"/>
              </a:solidFill>
              <a:effectLst/>
            </c:spPr>
          </c:dPt>
          <c:dPt>
            <c:idx val="2"/>
            <c:invertIfNegative val="0"/>
            <c:bubble3D val="0"/>
            <c:spPr>
              <a:solidFill>
                <a:srgbClr val="1E2761"/>
              </a:solidFill>
              <a:effectLst/>
            </c:spPr>
          </c:dPt>
          <c:dPt>
            <c:idx val="3"/>
            <c:invertIfNegative val="0"/>
            <c:bubble3D val="0"/>
            <c:spPr>
              <a:solidFill>
                <a:srgbClr val="1E2761"/>
              </a:solidFill>
              <a:effectLst/>
            </c:spPr>
          </c:dPt>
          <c:dPt>
            <c:idx val="4"/>
            <c:invertIfNegative val="0"/>
            <c:bubble3D val="0"/>
            <c:spPr>
              <a:solidFill>
                <a:srgbClr val="1E2761"/>
              </a:solidFill>
              <a:effectLst/>
            </c:spPr>
          </c:dPt>
          <c:dPt>
            <c:idx val="5"/>
            <c:invertIfNegative val="0"/>
            <c:bubble3D val="0"/>
            <c:spPr>
              <a:solidFill>
                <a:srgbClr val="B8862F"/>
              </a:solidFill>
              <a:effectLst/>
            </c:spPr>
          </c:dPt>
          <c:dPt>
            <c:idx val="6"/>
            <c:invertIfNegative val="0"/>
            <c:bubble3D val="0"/>
            <c:spPr>
              <a:solidFill>
                <a:srgbClr val="B8862F"/>
              </a:solidFill>
              <a:effectLst/>
            </c:spPr>
          </c:dPt>
          <c:dPt>
            <c:idx val="7"/>
            <c:invertIfNegative val="0"/>
            <c:bubble3D val="0"/>
            <c:spPr>
              <a:solidFill>
                <a:srgbClr val="B8862F"/>
              </a:solidFill>
              <a:effectLst/>
            </c:spPr>
          </c:dPt>
          <c:cat>
            <c:multiLvlStrRef>
              <c:f>Sheet1!$A$2:$A$9</c:f>
              <c:multiLvlStrCache>
                <c:ptCount val="8"/>
                <c:lvl>
                  <c:pt idx="0">
                    <c:v>MSFT #1</c:v>
                  </c:pt>
                  <c:pt idx="1">
                    <c:v>MSFT #2</c:v>
                  </c:pt>
                  <c:pt idx="2">
                    <c:v>AZN #1</c:v>
                  </c:pt>
                  <c:pt idx="3">
                    <c:v>AZN #2</c:v>
                  </c:pt>
                  <c:pt idx="4">
                    <c:v>M&amp;T</c:v>
                  </c:pt>
                  <c:pt idx="5">
                    <c:v>Console
MSFT</c:v>
                  </c:pt>
                  <c:pt idx="6">
                    <c:v>Console
AZN</c:v>
                  </c:pt>
                  <c:pt idx="7">
                    <c:v>Console
M&amp;T</c:v>
                  </c:pt>
                </c:lvl>
              </c:multiLvlStrCache>
            </c:multiLvlStrRef>
          </c:cat>
          <c:val>
            <c:numRef>
              <c:f>Sheet1!$B$2:$B$9</c:f>
              <c:numCache>
                <c:formatCode>General</c:formatCode>
                <c:ptCount val="8"/>
                <c:pt idx="0">
                  <c:v>7.48</c:v>
                </c:pt>
                <c:pt idx="1">
                  <c:v>6.8</c:v>
                </c:pt>
                <c:pt idx="2">
                  <c:v>6.83</c:v>
                </c:pt>
                <c:pt idx="3">
                  <c:v>7.21</c:v>
                </c:pt>
                <c:pt idx="4">
                  <c:v>7.61</c:v>
                </c:pt>
                <c:pt idx="5">
                  <c:v>7.63</c:v>
                </c:pt>
                <c:pt idx="6">
                  <c:v>11.03</c:v>
                </c:pt>
                <c:pt idx="7">
                  <c:v>6.71</c:v>
                </c:pt>
              </c:numCache>
            </c:numRef>
          </c:val>
        </c:ser>
        <c:dLbls>
          <c:numFmt formatCode="&quot;£&quot;0.00" sourceLinked="0"/>
          <c:txPr>
            <a:bodyPr/>
            <a:lstStyle/>
            <a:p>
              <a:pPr>
                <a:defRPr b="0" i="0" strike="noStrike" sz="1050" u="none">
                  <a:solidFill>
                    <a:srgbClr val="1B214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E466B"/>
                </a:solidFill>
                <a:latin typeface="Calibri"/>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12700" cap="flat">
              <a:solidFill>
                <a:srgbClr val="D8E0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B83A6"/>
                </a:solidFill>
                <a:latin typeface="Calibri"/>
              </a:defRPr>
            </a:pPr>
            <a:endParaRPr lang="en-US"/>
          </a:p>
        </c:txPr>
        <c:crossAx val="2094734554"/>
        <c:crosses val="autoZero"/>
        <c:crossBetween val="between"/>
        <c:majorUnit val="3"/>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is not that our prose is better than Claude's. It is that we produce a different kind of thing: a research record. The three numbers at the bottom are the whole argument, and each was measured by an audit whose raw results ship with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swipe at the console. The console's figures were accurate: the audit found nothing contradicting the filings. The problem is that neither you nor I can demonstrate that without doing the work again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architectural bet, and everything measurable downstream follows from it. Move one calculation into a prompt and the whole chain of evidence stops being checkable.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a draw, and we say so. Anyone selling you accuracy against a frontier model on public filings is selling you something the model already does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Reproducibility is the thing a chat structurally cannot offer, and it is what turns a research note into a record you can defend a year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Predictability matters more than the average. A research budget you can plan is a different product from one that varies by two thirds on the same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us from a demo. The guard caught a defect that every figure-level check passed, and the platform's answer was to withhold the report rather than ship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slide in front of them early. An investor who finds this out later will not trust the rest; an investor who is told it up front will believe the proof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left-hand column is deliberately unflattering and deliberately specific: every item has a named fix in the audit. That specificity is the argument — we know exactly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investor's real question is whether to believe the other slides. The answer is that the evidence behind them is in the repository, including the parts that do not flatter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a real product for a real job today: an evidence base nobody has to take on trust. The right column is the roadmap, stated as the audit stated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asymmetry: the three things they can check are already true, and the things that are not yet true are named with their fixes. No ask is on the slide — put yours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85800" y="402336"/>
            <a:ext cx="8686800" cy="274320"/>
          </a:xfrm>
          <a:prstGeom prst="rect">
            <a:avLst/>
          </a:prstGeom>
          <a:noFill/>
          <a:ln/>
        </p:spPr>
        <p:txBody>
          <a:bodyPr wrap="square" lIns="0" tIns="0" rIns="0" bIns="0" rtlCol="0" anchor="t"/>
          <a:lstStyle/>
          <a:p>
            <a:pPr indent="0" marL="0">
              <a:buNone/>
            </a:pPr>
            <a:r>
              <a:rPr lang="en-US" sz="1100" b="1" spc="220" kern="0" dirty="0">
                <a:solidFill>
                  <a:srgbClr val="CADCFC"/>
                </a:solidFill>
                <a:latin typeface="Calibri" pitchFamily="34" charset="0"/>
                <a:ea typeface="Calibri" pitchFamily="34" charset="-122"/>
                <a:cs typeface="Calibri" pitchFamily="34" charset="-120"/>
              </a:rPr>
              <a:t>AGEANTIC  ·  EQUITY RESEARCH PLATFORM</a:t>
            </a:r>
            <a:endParaRPr lang="en-US" sz="1100" dirty="0"/>
          </a:p>
        </p:txBody>
      </p:sp>
      <p:sp>
        <p:nvSpPr>
          <p:cNvPr id="3" name="Text 1"/>
          <p:cNvSpPr txBox="1"/>
          <p:nvPr/>
        </p:nvSpPr>
        <p:spPr>
          <a:xfrm>
            <a:off x="685800" y="1234440"/>
            <a:ext cx="9601200" cy="1737360"/>
          </a:xfrm>
          <a:prstGeom prst="rect">
            <a:avLst/>
          </a:prstGeom>
          <a:noFill/>
          <a:ln/>
        </p:spPr>
        <p:txBody>
          <a:bodyPr wrap="square" lIns="0" tIns="0" rIns="0" bIns="0" rtlCol="0" anchor="t"/>
          <a:lstStyle/>
          <a:p>
            <a:pPr indent="0" marL="0">
              <a:lnSpc>
                <a:spcPts val="5400"/>
              </a:lnSpc>
              <a:buNone/>
            </a:pPr>
            <a:r>
              <a:rPr lang="en-US" sz="4600" b="1" dirty="0">
                <a:solidFill>
                  <a:srgbClr val="FFFFFF"/>
                </a:solidFill>
                <a:latin typeface="Cambria" pitchFamily="34" charset="0"/>
                <a:ea typeface="Cambria" pitchFamily="34" charset="-122"/>
                <a:cs typeface="Cambria" pitchFamily="34" charset="-120"/>
              </a:rPr>
              <a:t>Not a better chat.</a:t>
            </a:r>
            <a:endParaRPr lang="en-US" sz="4600" dirty="0"/>
          </a:p>
          <a:p>
            <a:pPr indent="0" marL="0">
              <a:lnSpc>
                <a:spcPts val="5400"/>
              </a:lnSpc>
              <a:buNone/>
            </a:pPr>
            <a:r>
              <a:rPr lang="en-US" sz="4600" b="1" dirty="0">
                <a:solidFill>
                  <a:srgbClr val="CADCFC"/>
                </a:solidFill>
                <a:latin typeface="Cambria" pitchFamily="34" charset="0"/>
                <a:ea typeface="Cambria" pitchFamily="34" charset="-122"/>
                <a:cs typeface="Cambria" pitchFamily="34" charset="-120"/>
              </a:rPr>
              <a:t>A different artefact.</a:t>
            </a:r>
            <a:endParaRPr lang="en-US" sz="4600" dirty="0"/>
          </a:p>
        </p:txBody>
      </p:sp>
      <p:sp>
        <p:nvSpPr>
          <p:cNvPr id="4" name="Text 2"/>
          <p:cNvSpPr txBox="1"/>
          <p:nvPr/>
        </p:nvSpPr>
        <p:spPr>
          <a:xfrm>
            <a:off x="685800" y="3154680"/>
            <a:ext cx="7863840" cy="1325880"/>
          </a:xfrm>
          <a:prstGeom prst="rect">
            <a:avLst/>
          </a:prstGeom>
          <a:noFill/>
          <a:ln/>
        </p:spPr>
        <p:txBody>
          <a:bodyPr wrap="square" lIns="0" tIns="0" rIns="0" bIns="0" rtlCol="0" anchor="t"/>
          <a:lstStyle/>
          <a:p>
            <a:pPr indent="0" marL="0">
              <a:lnSpc>
                <a:spcPts val="2100"/>
              </a:lnSpc>
              <a:buNone/>
            </a:pPr>
            <a:r>
              <a:rPr lang="en-US" sz="1400" dirty="0">
                <a:solidFill>
                  <a:srgbClr val="CADCFC"/>
                </a:solidFill>
                <a:latin typeface="Calibri" pitchFamily="34" charset="0"/>
                <a:ea typeface="Calibri" pitchFamily="34" charset="-122"/>
                <a:cs typeface="Calibri" pitchFamily="34" charset="-120"/>
              </a:rPr>
              <a:t>Every figure in a research note here re-executes from stored inputs, resolves to hashed bytes, and costs a number you can read off a ledger. A chat answer does none of those three things. An independent readiness audit measured the difference across six live runs and three Claude-console baselines on the same briefs.</a:t>
            </a:r>
            <a:endParaRPr lang="en-US" sz="1400" dirty="0"/>
          </a:p>
        </p:txBody>
      </p:sp>
      <p:sp>
        <p:nvSpPr>
          <p:cNvPr id="5" name="Shape 3"/>
          <p:cNvSpPr/>
          <p:nvPr/>
        </p:nvSpPr>
        <p:spPr>
          <a:xfrm>
            <a:off x="685800" y="4617720"/>
            <a:ext cx="3291840" cy="1371600"/>
          </a:xfrm>
          <a:prstGeom prst="roundRect">
            <a:avLst>
              <a:gd name="adj" fmla="val 4000"/>
            </a:avLst>
          </a:prstGeom>
          <a:solidFill>
            <a:srgbClr val="26306A"/>
          </a:solidFill>
          <a:ln/>
        </p:spPr>
      </p:sp>
      <p:sp>
        <p:nvSpPr>
          <p:cNvPr id="6" name="Text 4"/>
          <p:cNvSpPr txBox="1"/>
          <p:nvPr/>
        </p:nvSpPr>
        <p:spPr>
          <a:xfrm>
            <a:off x="941832" y="4736592"/>
            <a:ext cx="2788920" cy="457200"/>
          </a:xfrm>
          <a:prstGeom prst="rect">
            <a:avLst/>
          </a:prstGeom>
          <a:noFill/>
          <a:ln/>
        </p:spPr>
        <p:txBody>
          <a:bodyPr wrap="square" lIns="0" tIns="0" rIns="0" bIns="0" rtlCol="0" anchor="t"/>
          <a:lstStyle/>
          <a:p>
            <a:pPr indent="0" marL="0">
              <a:buNone/>
            </a:pPr>
            <a:r>
              <a:rPr lang="en-US" sz="2600" b="1" dirty="0">
                <a:solidFill>
                  <a:srgbClr val="CADCFC"/>
                </a:solidFill>
                <a:latin typeface="Cambria" pitchFamily="34" charset="0"/>
                <a:ea typeface="Cambria" pitchFamily="34" charset="-122"/>
                <a:cs typeface="Cambria" pitchFamily="34" charset="-120"/>
              </a:rPr>
              <a:t>0 of 779</a:t>
            </a:r>
            <a:endParaRPr lang="en-US" sz="2600" dirty="0"/>
          </a:p>
        </p:txBody>
      </p:sp>
      <p:sp>
        <p:nvSpPr>
          <p:cNvPr id="7" name="Text 5"/>
          <p:cNvSpPr txBox="1"/>
          <p:nvPr/>
        </p:nvSpPr>
        <p:spPr>
          <a:xfrm>
            <a:off x="941832" y="5266944"/>
            <a:ext cx="2788920" cy="658368"/>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checkable figures contradicting the filing they came from, across five reports</a:t>
            </a:r>
            <a:endParaRPr lang="en-US" sz="1050" dirty="0"/>
          </a:p>
        </p:txBody>
      </p:sp>
      <p:sp>
        <p:nvSpPr>
          <p:cNvPr id="8" name="Shape 6"/>
          <p:cNvSpPr/>
          <p:nvPr/>
        </p:nvSpPr>
        <p:spPr>
          <a:xfrm>
            <a:off x="4343400" y="4617720"/>
            <a:ext cx="3291840" cy="1371600"/>
          </a:xfrm>
          <a:prstGeom prst="roundRect">
            <a:avLst>
              <a:gd name="adj" fmla="val 4000"/>
            </a:avLst>
          </a:prstGeom>
          <a:solidFill>
            <a:srgbClr val="26306A"/>
          </a:solidFill>
          <a:ln/>
        </p:spPr>
      </p:sp>
      <p:sp>
        <p:nvSpPr>
          <p:cNvPr id="9" name="Text 7"/>
          <p:cNvSpPr txBox="1"/>
          <p:nvPr/>
        </p:nvSpPr>
        <p:spPr>
          <a:xfrm>
            <a:off x="4599432" y="4736592"/>
            <a:ext cx="2788920" cy="457200"/>
          </a:xfrm>
          <a:prstGeom prst="rect">
            <a:avLst/>
          </a:prstGeom>
          <a:noFill/>
          <a:ln/>
        </p:spPr>
        <p:txBody>
          <a:bodyPr wrap="square" lIns="0" tIns="0" rIns="0" bIns="0" rtlCol="0" anchor="t"/>
          <a:lstStyle/>
          <a:p>
            <a:pPr indent="0" marL="0">
              <a:buNone/>
            </a:pPr>
            <a:r>
              <a:rPr lang="en-US" sz="2600" b="1" dirty="0">
                <a:solidFill>
                  <a:srgbClr val="CADCFC"/>
                </a:solidFill>
                <a:latin typeface="Cambria" pitchFamily="34" charset="0"/>
                <a:ea typeface="Cambria" pitchFamily="34" charset="-122"/>
                <a:cs typeface="Cambria" pitchFamily="34" charset="-120"/>
              </a:rPr>
              <a:t>259 of 259</a:t>
            </a:r>
            <a:endParaRPr lang="en-US" sz="2600" dirty="0"/>
          </a:p>
        </p:txBody>
      </p:sp>
      <p:sp>
        <p:nvSpPr>
          <p:cNvPr id="10" name="Text 8"/>
          <p:cNvSpPr txBox="1"/>
          <p:nvPr/>
        </p:nvSpPr>
        <p:spPr>
          <a:xfrm>
            <a:off x="4599432" y="5266944"/>
            <a:ext cx="2788920" cy="658368"/>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citations verified by re-reading the archived bytes, not by asking the model</a:t>
            </a:r>
            <a:endParaRPr lang="en-US" sz="1050" dirty="0"/>
          </a:p>
        </p:txBody>
      </p:sp>
      <p:sp>
        <p:nvSpPr>
          <p:cNvPr id="11" name="Shape 9"/>
          <p:cNvSpPr/>
          <p:nvPr/>
        </p:nvSpPr>
        <p:spPr>
          <a:xfrm>
            <a:off x="8001000" y="4617720"/>
            <a:ext cx="3291840" cy="1371600"/>
          </a:xfrm>
          <a:prstGeom prst="roundRect">
            <a:avLst>
              <a:gd name="adj" fmla="val 4000"/>
            </a:avLst>
          </a:prstGeom>
          <a:solidFill>
            <a:srgbClr val="26306A"/>
          </a:solidFill>
          <a:ln/>
        </p:spPr>
      </p:sp>
      <p:sp>
        <p:nvSpPr>
          <p:cNvPr id="12" name="Text 10"/>
          <p:cNvSpPr txBox="1"/>
          <p:nvPr/>
        </p:nvSpPr>
        <p:spPr>
          <a:xfrm>
            <a:off x="8257032" y="4736592"/>
            <a:ext cx="2788920" cy="457200"/>
          </a:xfrm>
          <a:prstGeom prst="rect">
            <a:avLst/>
          </a:prstGeom>
          <a:noFill/>
          <a:ln/>
        </p:spPr>
        <p:txBody>
          <a:bodyPr wrap="square" lIns="0" tIns="0" rIns="0" bIns="0" rtlCol="0" anchor="t"/>
          <a:lstStyle/>
          <a:p>
            <a:pPr indent="0" marL="0">
              <a:buNone/>
            </a:pPr>
            <a:r>
              <a:rPr lang="en-US" sz="2600" b="1" dirty="0">
                <a:solidFill>
                  <a:srgbClr val="CADCFC"/>
                </a:solidFill>
                <a:latin typeface="Cambria" pitchFamily="34" charset="0"/>
                <a:ea typeface="Cambria" pitchFamily="34" charset="-122"/>
                <a:cs typeface="Cambria" pitchFamily="34" charset="-120"/>
              </a:rPr>
              <a:t>3,335</a:t>
            </a:r>
            <a:endParaRPr lang="en-US" sz="2600" dirty="0"/>
          </a:p>
        </p:txBody>
      </p:sp>
      <p:sp>
        <p:nvSpPr>
          <p:cNvPr id="13" name="Text 11"/>
          <p:cNvSpPr txBox="1"/>
          <p:nvPr/>
        </p:nvSpPr>
        <p:spPr>
          <a:xfrm>
            <a:off x="8257032" y="5266944"/>
            <a:ext cx="2788920" cy="658368"/>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calculation rows re-executed from stored inputs — zero divergence</a:t>
            </a:r>
            <a:endParaRPr lang="en-US" sz="1050" dirty="0"/>
          </a:p>
        </p:txBody>
      </p:sp>
      <p:sp>
        <p:nvSpPr>
          <p:cNvPr id="14" name="Text 12"/>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8FA3D8"/>
                </a:solidFill>
                <a:latin typeface="Calibri" pitchFamily="34" charset="0"/>
                <a:ea typeface="Calibri" pitchFamily="34" charset="-122"/>
                <a:cs typeface="Calibri" pitchFamily="34" charset="-120"/>
              </a:rPr>
              <a:t>Readiness audit, 11–12 September 2026 — six live runs, three console baselines, £63.32 of measured spend.</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68680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300" b="1" dirty="0">
                <a:solidFill>
                  <a:srgbClr val="1E2761"/>
                </a:solidFill>
                <a:latin typeface="Cambria" pitchFamily="34" charset="0"/>
                <a:ea typeface="Cambria" pitchFamily="34" charset="-122"/>
                <a:cs typeface="Cambria" pitchFamily="34" charset="-120"/>
              </a:rPr>
              <a:t>A brilliant answer you cannot check</a:t>
            </a:r>
            <a:endParaRPr lang="en-US" sz="3300" dirty="0"/>
          </a:p>
        </p:txBody>
      </p:sp>
      <p:sp>
        <p:nvSpPr>
          <p:cNvPr id="4" name="Text 2"/>
          <p:cNvSpPr txBox="1"/>
          <p:nvPr/>
        </p:nvSpPr>
        <p:spPr>
          <a:xfrm>
            <a:off x="685800" y="1481328"/>
            <a:ext cx="9692640" cy="457200"/>
          </a:xfrm>
          <a:prstGeom prst="rect">
            <a:avLst/>
          </a:prstGeom>
          <a:noFill/>
          <a:ln/>
        </p:spPr>
        <p:txBody>
          <a:bodyPr wrap="square" lIns="0" tIns="0" rIns="0" bIns="0" rtlCol="0" anchor="t"/>
          <a:lstStyle/>
          <a:p>
            <a:pPr indent="0" marL="0">
              <a:lnSpc>
                <a:spcPts val="1700"/>
              </a:lnSpc>
              <a:buNone/>
            </a:pPr>
            <a:r>
              <a:rPr lang="en-US" sz="1350" dirty="0">
                <a:solidFill>
                  <a:srgbClr val="3E466B"/>
                </a:solidFill>
                <a:latin typeface="Calibri" pitchFamily="34" charset="0"/>
                <a:ea typeface="Calibri" pitchFamily="34" charset="-122"/>
                <a:cs typeface="Calibri" pitchFamily="34" charset="-120"/>
              </a:rPr>
              <a:t>Three console notes, written to the same brief as our own runs and measured by the same audit. They were accurate. They were also unauditable.</a:t>
            </a:r>
            <a:endParaRPr lang="en-US" sz="1350" dirty="0"/>
          </a:p>
        </p:txBody>
      </p:sp>
      <p:sp>
        <p:nvSpPr>
          <p:cNvPr id="5" name="Shape 3"/>
          <p:cNvSpPr/>
          <p:nvPr/>
        </p:nvSpPr>
        <p:spPr>
          <a:xfrm>
            <a:off x="685800" y="2148840"/>
            <a:ext cx="3291840" cy="2057400"/>
          </a:xfrm>
          <a:prstGeom prst="roundRect">
            <a:avLst>
              <a:gd name="adj" fmla="val 2667"/>
            </a:avLst>
          </a:prstGeom>
          <a:solidFill>
            <a:srgbClr val="F2F5FC"/>
          </a:solidFill>
          <a:ln/>
          <a:effectLst>
            <a:outerShdw sx="100000" sy="100000" kx="0" ky="0" algn="bl" rotWithShape="0" blurRad="152400" dist="38100" dir="5400000">
              <a:srgbClr val="1E2761">
                <a:alpha val="13000"/>
              </a:srgbClr>
            </a:outerShdw>
          </a:effectLst>
        </p:spPr>
      </p:sp>
      <p:sp>
        <p:nvSpPr>
          <p:cNvPr id="6" name="Text 4"/>
          <p:cNvSpPr txBox="1"/>
          <p:nvPr/>
        </p:nvSpPr>
        <p:spPr>
          <a:xfrm>
            <a:off x="960120" y="2304288"/>
            <a:ext cx="2743200" cy="640080"/>
          </a:xfrm>
          <a:prstGeom prst="rect">
            <a:avLst/>
          </a:prstGeom>
          <a:noFill/>
          <a:ln/>
        </p:spPr>
        <p:txBody>
          <a:bodyPr wrap="square" lIns="0" tIns="0" rIns="0" bIns="0" rtlCol="0" anchor="t"/>
          <a:lstStyle/>
          <a:p>
            <a:pPr indent="0" marL="0">
              <a:buNone/>
            </a:pPr>
            <a:r>
              <a:rPr lang="en-US" sz="3800" b="1" dirty="0">
                <a:solidFill>
                  <a:srgbClr val="1E2761"/>
                </a:solidFill>
                <a:latin typeface="Cambria" pitchFamily="34" charset="0"/>
                <a:ea typeface="Cambria" pitchFamily="34" charset="-122"/>
                <a:cs typeface="Cambria" pitchFamily="34" charset="-120"/>
              </a:rPr>
              <a:t>159</a:t>
            </a:r>
            <a:endParaRPr lang="en-US" sz="3800" dirty="0"/>
          </a:p>
        </p:txBody>
      </p:sp>
      <p:sp>
        <p:nvSpPr>
          <p:cNvPr id="7" name="Text 5"/>
          <p:cNvSpPr txBox="1"/>
          <p:nvPr/>
        </p:nvSpPr>
        <p:spPr>
          <a:xfrm>
            <a:off x="960120" y="3035808"/>
            <a:ext cx="2743200" cy="1051560"/>
          </a:xfrm>
          <a:prstGeom prst="rect">
            <a:avLst/>
          </a:prstGeom>
          <a:noFill/>
          <a:ln/>
        </p:spPr>
        <p:txBody>
          <a:bodyPr wrap="square" lIns="0" tIns="0" rIns="0" bIns="0" rtlCol="0" anchor="t"/>
          <a:lstStyle/>
          <a:p>
            <a:pPr indent="0" marL="0">
              <a:lnSpc>
                <a:spcPts val="1500"/>
              </a:lnSpc>
              <a:buNone/>
            </a:pPr>
            <a:r>
              <a:rPr lang="en-US" sz="1150" dirty="0">
                <a:solidFill>
                  <a:srgbClr val="3E466B"/>
                </a:solidFill>
                <a:latin typeface="Calibri" pitchFamily="34" charset="0"/>
                <a:ea typeface="Calibri" pitchFamily="34" charset="-122"/>
                <a:cs typeface="Calibri" pitchFamily="34" charset="-120"/>
              </a:rPr>
              <a:t>URLs cited across the three notes — and no response carried a machine-readable citation at all. The references are the model's own prose.</a:t>
            </a:r>
            <a:endParaRPr lang="en-US" sz="1150" dirty="0"/>
          </a:p>
        </p:txBody>
      </p:sp>
      <p:sp>
        <p:nvSpPr>
          <p:cNvPr id="8" name="Shape 6"/>
          <p:cNvSpPr/>
          <p:nvPr/>
        </p:nvSpPr>
        <p:spPr>
          <a:xfrm>
            <a:off x="4343400" y="2148840"/>
            <a:ext cx="3291840" cy="2057400"/>
          </a:xfrm>
          <a:prstGeom prst="roundRect">
            <a:avLst>
              <a:gd name="adj" fmla="val 2667"/>
            </a:avLst>
          </a:prstGeom>
          <a:solidFill>
            <a:srgbClr val="F2F5FC"/>
          </a:solidFill>
          <a:ln/>
          <a:effectLst>
            <a:outerShdw sx="100000" sy="100000" kx="0" ky="0" algn="bl" rotWithShape="0" blurRad="152400" dist="38100" dir="5400000">
              <a:srgbClr val="1E2761">
                <a:alpha val="13000"/>
              </a:srgbClr>
            </a:outerShdw>
          </a:effectLst>
        </p:spPr>
      </p:sp>
      <p:sp>
        <p:nvSpPr>
          <p:cNvPr id="9" name="Text 7"/>
          <p:cNvSpPr txBox="1"/>
          <p:nvPr/>
        </p:nvSpPr>
        <p:spPr>
          <a:xfrm>
            <a:off x="4617720" y="2304288"/>
            <a:ext cx="2743200" cy="640080"/>
          </a:xfrm>
          <a:prstGeom prst="rect">
            <a:avLst/>
          </a:prstGeom>
          <a:noFill/>
          <a:ln/>
        </p:spPr>
        <p:txBody>
          <a:bodyPr wrap="square" lIns="0" tIns="0" rIns="0" bIns="0" rtlCol="0" anchor="t"/>
          <a:lstStyle/>
          <a:p>
            <a:pPr indent="0" marL="0">
              <a:buNone/>
            </a:pPr>
            <a:r>
              <a:rPr lang="en-US" sz="3800" b="1" dirty="0">
                <a:solidFill>
                  <a:srgbClr val="1E2761"/>
                </a:solidFill>
                <a:latin typeface="Cambria" pitchFamily="34" charset="0"/>
                <a:ea typeface="Cambria" pitchFamily="34" charset="-122"/>
                <a:cs typeface="Cambria" pitchFamily="34" charset="-120"/>
              </a:rPr>
              <a:t>54</a:t>
            </a:r>
            <a:endParaRPr lang="en-US" sz="3800" dirty="0"/>
          </a:p>
        </p:txBody>
      </p:sp>
      <p:sp>
        <p:nvSpPr>
          <p:cNvPr id="10" name="Text 8"/>
          <p:cNvSpPr txBox="1"/>
          <p:nvPr/>
        </p:nvSpPr>
        <p:spPr>
          <a:xfrm>
            <a:off x="4617720" y="3035808"/>
            <a:ext cx="2743200" cy="1051560"/>
          </a:xfrm>
          <a:prstGeom prst="rect">
            <a:avLst/>
          </a:prstGeom>
          <a:noFill/>
          <a:ln/>
        </p:spPr>
        <p:txBody>
          <a:bodyPr wrap="square" lIns="0" tIns="0" rIns="0" bIns="0" rtlCol="0" anchor="t"/>
          <a:lstStyle/>
          <a:p>
            <a:pPr indent="0" marL="0">
              <a:lnSpc>
                <a:spcPts val="1500"/>
              </a:lnSpc>
              <a:buNone/>
            </a:pPr>
            <a:r>
              <a:rPr lang="en-US" sz="1150" dirty="0">
                <a:solidFill>
                  <a:srgbClr val="3E466B"/>
                </a:solidFill>
                <a:latin typeface="Calibri" pitchFamily="34" charset="0"/>
                <a:ea typeface="Calibri" pitchFamily="34" charset="-122"/>
                <a:cs typeface="Calibri" pitchFamily="34" charset="-120"/>
              </a:rPr>
              <a:t>of those links no longer resolved when the audit fetched them the next day. A third of the evidence was already gone.</a:t>
            </a:r>
            <a:endParaRPr lang="en-US" sz="1150" dirty="0"/>
          </a:p>
        </p:txBody>
      </p:sp>
      <p:sp>
        <p:nvSpPr>
          <p:cNvPr id="11" name="Shape 9"/>
          <p:cNvSpPr/>
          <p:nvPr/>
        </p:nvSpPr>
        <p:spPr>
          <a:xfrm>
            <a:off x="8001000" y="2148840"/>
            <a:ext cx="3291840" cy="2057400"/>
          </a:xfrm>
          <a:prstGeom prst="roundRect">
            <a:avLst>
              <a:gd name="adj" fmla="val 2667"/>
            </a:avLst>
          </a:prstGeom>
          <a:solidFill>
            <a:srgbClr val="F2F5FC"/>
          </a:solidFill>
          <a:ln/>
          <a:effectLst>
            <a:outerShdw sx="100000" sy="100000" kx="0" ky="0" algn="bl" rotWithShape="0" blurRad="152400" dist="38100" dir="5400000">
              <a:srgbClr val="1E2761">
                <a:alpha val="13000"/>
              </a:srgbClr>
            </a:outerShdw>
          </a:effectLst>
        </p:spPr>
      </p:sp>
      <p:sp>
        <p:nvSpPr>
          <p:cNvPr id="12" name="Text 10"/>
          <p:cNvSpPr txBox="1"/>
          <p:nvPr/>
        </p:nvSpPr>
        <p:spPr>
          <a:xfrm>
            <a:off x="8275320" y="2304288"/>
            <a:ext cx="2743200" cy="640080"/>
          </a:xfrm>
          <a:prstGeom prst="rect">
            <a:avLst/>
          </a:prstGeom>
          <a:noFill/>
          <a:ln/>
        </p:spPr>
        <p:txBody>
          <a:bodyPr wrap="square" lIns="0" tIns="0" rIns="0" bIns="0" rtlCol="0" anchor="t"/>
          <a:lstStyle/>
          <a:p>
            <a:pPr indent="0" marL="0">
              <a:buNone/>
            </a:pPr>
            <a:r>
              <a:rPr lang="en-US" sz="3800" b="1" dirty="0">
                <a:solidFill>
                  <a:srgbClr val="1E2761"/>
                </a:solidFill>
                <a:latin typeface="Cambria" pitchFamily="34" charset="0"/>
                <a:ea typeface="Cambria" pitchFamily="34" charset="-122"/>
                <a:cs typeface="Cambria" pitchFamily="34" charset="-120"/>
              </a:rPr>
              <a:t>65 %</a:t>
            </a:r>
            <a:endParaRPr lang="en-US" sz="3800" dirty="0"/>
          </a:p>
        </p:txBody>
      </p:sp>
      <p:sp>
        <p:nvSpPr>
          <p:cNvPr id="13" name="Text 11"/>
          <p:cNvSpPr txBox="1"/>
          <p:nvPr/>
        </p:nvSpPr>
        <p:spPr>
          <a:xfrm>
            <a:off x="8275320" y="3035808"/>
            <a:ext cx="2743200" cy="1051560"/>
          </a:xfrm>
          <a:prstGeom prst="rect">
            <a:avLst/>
          </a:prstGeom>
          <a:noFill/>
          <a:ln/>
        </p:spPr>
        <p:txBody>
          <a:bodyPr wrap="square" lIns="0" tIns="0" rIns="0" bIns="0" rtlCol="0" anchor="t"/>
          <a:lstStyle/>
          <a:p>
            <a:pPr indent="0" marL="0">
              <a:lnSpc>
                <a:spcPts val="1500"/>
              </a:lnSpc>
              <a:buNone/>
            </a:pPr>
            <a:r>
              <a:rPr lang="en-US" sz="1150" dirty="0">
                <a:solidFill>
                  <a:srgbClr val="3E466B"/>
                </a:solidFill>
                <a:latin typeface="Calibri" pitchFamily="34" charset="0"/>
                <a:ea typeface="Calibri" pitchFamily="34" charset="-122"/>
                <a:cs typeface="Calibri" pitchFamily="34" charset="-120"/>
              </a:rPr>
              <a:t>spread in what the same three briefs cost: £6.71 to £11.03, with no ledger to inspect and no cap that binds.</a:t>
            </a:r>
            <a:endParaRPr lang="en-US" sz="1150" dirty="0"/>
          </a:p>
        </p:txBody>
      </p:sp>
      <p:sp>
        <p:nvSpPr>
          <p:cNvPr id="14" name="Shape 12"/>
          <p:cNvSpPr/>
          <p:nvPr/>
        </p:nvSpPr>
        <p:spPr>
          <a:xfrm>
            <a:off x="685800" y="4617720"/>
            <a:ext cx="10817352" cy="1143000"/>
          </a:xfrm>
          <a:prstGeom prst="roundRect">
            <a:avLst>
              <a:gd name="adj" fmla="val 4000"/>
            </a:avLst>
          </a:prstGeom>
          <a:solidFill>
            <a:srgbClr val="1E2761"/>
          </a:solidFill>
          <a:ln/>
        </p:spPr>
      </p:sp>
      <p:sp>
        <p:nvSpPr>
          <p:cNvPr id="15" name="Text 13"/>
          <p:cNvSpPr txBox="1"/>
          <p:nvPr/>
        </p:nvSpPr>
        <p:spPr>
          <a:xfrm>
            <a:off x="1051560" y="4846320"/>
            <a:ext cx="10058400" cy="777240"/>
          </a:xfrm>
          <a:prstGeom prst="rect">
            <a:avLst/>
          </a:prstGeom>
          <a:noFill/>
          <a:ln/>
        </p:spPr>
        <p:txBody>
          <a:bodyPr wrap="square" lIns="0" tIns="0" rIns="0" bIns="0" rtlCol="0" anchor="t"/>
          <a:lstStyle/>
          <a:p>
            <a:pPr indent="0" marL="0">
              <a:lnSpc>
                <a:spcPts val="2400"/>
              </a:lnSpc>
              <a:buNone/>
            </a:pPr>
            <a:r>
              <a:rPr lang="en-US" sz="1650" i="1" dirty="0">
                <a:solidFill>
                  <a:srgbClr val="FFFFFF"/>
                </a:solidFill>
                <a:latin typeface="Cambria" pitchFamily="34" charset="0"/>
                <a:ea typeface="Cambria" pitchFamily="34" charset="-122"/>
                <a:cs typeface="Cambria" pitchFamily="34" charset="-120"/>
              </a:rPr>
              <a:t>Nothing in a chat transcript re-executes. When the links rot, what is left is a memory of an answer — and no way to tell which of yesterday's numbers survived the night.</a:t>
            </a:r>
            <a:endParaRPr lang="en-US" sz="1650" dirty="0"/>
          </a:p>
        </p:txBody>
      </p:sp>
      <p:sp>
        <p:nvSpPr>
          <p:cNvPr id="16" name="Text 14"/>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Readiness audit §3.2 — every cited URL fetched once through the platform's own guarded fetcher; §3.3 for the prices.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85800" y="402336"/>
            <a:ext cx="8686800" cy="274320"/>
          </a:xfrm>
          <a:prstGeom prst="rect">
            <a:avLst/>
          </a:prstGeom>
          <a:noFill/>
          <a:ln/>
        </p:spPr>
        <p:txBody>
          <a:bodyPr wrap="square" lIns="0" tIns="0" rIns="0" bIns="0" rtlCol="0" anchor="t"/>
          <a:lstStyle/>
          <a:p>
            <a:pPr indent="0" marL="0">
              <a:buNone/>
            </a:pPr>
            <a:r>
              <a:rPr lang="en-US" sz="1100" b="1" spc="220" kern="0" dirty="0">
                <a:solidFill>
                  <a:srgbClr val="CADCFC"/>
                </a:solidFill>
                <a:latin typeface="Calibri" pitchFamily="34" charset="0"/>
                <a:ea typeface="Calibri" pitchFamily="34" charset="-122"/>
                <a:cs typeface="Calibri" pitchFamily="34" charset="-120"/>
              </a:rPr>
              <a:t>HOW IT WORKS</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One rule decides what the machine may do</a:t>
            </a:r>
            <a:endParaRPr lang="en-US" sz="3300" dirty="0"/>
          </a:p>
        </p:txBody>
      </p:sp>
      <p:sp>
        <p:nvSpPr>
          <p:cNvPr id="4" name="Text 2"/>
          <p:cNvSpPr txBox="1"/>
          <p:nvPr/>
        </p:nvSpPr>
        <p:spPr>
          <a:xfrm>
            <a:off x="685800" y="1444752"/>
            <a:ext cx="10241280" cy="731520"/>
          </a:xfrm>
          <a:prstGeom prst="rect">
            <a:avLst/>
          </a:prstGeom>
          <a:noFill/>
          <a:ln/>
        </p:spPr>
        <p:txBody>
          <a:bodyPr wrap="square" lIns="0" tIns="0" rIns="0" bIns="0" rtlCol="0" anchor="t"/>
          <a:lstStyle/>
          <a:p>
            <a:pPr indent="0" marL="0">
              <a:lnSpc>
                <a:spcPts val="2400"/>
              </a:lnSpc>
              <a:buNone/>
            </a:pPr>
            <a:r>
              <a:rPr lang="en-US" sz="1700" i="1" dirty="0">
                <a:solidFill>
                  <a:srgbClr val="CADCFC"/>
                </a:solidFill>
                <a:latin typeface="Cambria" pitchFamily="34" charset="0"/>
                <a:ea typeface="Cambria" pitchFamily="34" charset="-122"/>
                <a:cs typeface="Cambria" pitchFamily="34" charset="-120"/>
              </a:rPr>
              <a:t>Deterministic Python owns every number and every fact. The model owns planning, interpretation, challenge and writing.</a:t>
            </a:r>
            <a:endParaRPr lang="en-US" sz="1700" dirty="0"/>
          </a:p>
        </p:txBody>
      </p:sp>
      <p:sp>
        <p:nvSpPr>
          <p:cNvPr id="5" name="Shape 3"/>
          <p:cNvSpPr/>
          <p:nvPr/>
        </p:nvSpPr>
        <p:spPr>
          <a:xfrm>
            <a:off x="685800" y="2286000"/>
            <a:ext cx="5285232" cy="2971800"/>
          </a:xfrm>
          <a:prstGeom prst="roundRect">
            <a:avLst>
              <a:gd name="adj" fmla="val 1846"/>
            </a:avLst>
          </a:prstGeom>
          <a:solidFill>
            <a:srgbClr val="26306A"/>
          </a:solidFill>
          <a:ln/>
        </p:spPr>
      </p:sp>
      <p:sp>
        <p:nvSpPr>
          <p:cNvPr id="6" name="Text 4"/>
          <p:cNvSpPr txBox="1"/>
          <p:nvPr/>
        </p:nvSpPr>
        <p:spPr>
          <a:xfrm>
            <a:off x="1005840" y="2487168"/>
            <a:ext cx="4663440" cy="365760"/>
          </a:xfrm>
          <a:prstGeom prst="rect">
            <a:avLst/>
          </a:prstGeom>
          <a:noFill/>
          <a:ln/>
        </p:spPr>
        <p:txBody>
          <a:bodyPr wrap="square" lIns="0" tIns="0" rIns="0" bIns="0" rtlCol="0" anchor="t"/>
          <a:lstStyle/>
          <a:p>
            <a:pPr indent="0" marL="0">
              <a:buNone/>
            </a:pPr>
            <a:r>
              <a:rPr lang="en-US" sz="1700" b="1" dirty="0">
                <a:solidFill>
                  <a:srgbClr val="CADCFC"/>
                </a:solidFill>
                <a:latin typeface="Cambria" pitchFamily="34" charset="0"/>
                <a:ea typeface="Cambria" pitchFamily="34" charset="-122"/>
                <a:cs typeface="Cambria" pitchFamily="34" charset="-120"/>
              </a:rPr>
              <a:t>Code owns</a:t>
            </a:r>
            <a:endParaRPr lang="en-US" sz="1700" dirty="0"/>
          </a:p>
        </p:txBody>
      </p:sp>
      <p:sp>
        <p:nvSpPr>
          <p:cNvPr id="7" name="Text 5"/>
          <p:cNvSpPr txBox="1"/>
          <p:nvPr/>
        </p:nvSpPr>
        <p:spPr>
          <a:xfrm>
            <a:off x="1005840" y="2944368"/>
            <a:ext cx="4663440" cy="219456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All arithmetic — ratios, growth, cost of capital, discounted cash flow, scenarios</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Fetching, hashing, caching and point-in-time filtering</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Units and currency, carried through every operation; a mismatch raises</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Citation verification: re-reading the artefact by hash and finding the excerpt</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Cost metering, and the caps that stop a run rather than warn about it</a:t>
            </a:r>
            <a:endParaRPr lang="en-US" sz="1150" dirty="0"/>
          </a:p>
        </p:txBody>
      </p:sp>
      <p:sp>
        <p:nvSpPr>
          <p:cNvPr id="8" name="Shape 6"/>
          <p:cNvSpPr/>
          <p:nvPr/>
        </p:nvSpPr>
        <p:spPr>
          <a:xfrm>
            <a:off x="6217920" y="2286000"/>
            <a:ext cx="5285232" cy="2971800"/>
          </a:xfrm>
          <a:prstGeom prst="roundRect">
            <a:avLst>
              <a:gd name="adj" fmla="val 1846"/>
            </a:avLst>
          </a:prstGeom>
          <a:solidFill>
            <a:srgbClr val="26306A"/>
          </a:solidFill>
          <a:ln/>
        </p:spPr>
      </p:sp>
      <p:sp>
        <p:nvSpPr>
          <p:cNvPr id="9" name="Text 7"/>
          <p:cNvSpPr txBox="1"/>
          <p:nvPr/>
        </p:nvSpPr>
        <p:spPr>
          <a:xfrm>
            <a:off x="6537960" y="2487168"/>
            <a:ext cx="4663440" cy="365760"/>
          </a:xfrm>
          <a:prstGeom prst="rect">
            <a:avLst/>
          </a:prstGeom>
          <a:noFill/>
          <a:ln/>
        </p:spPr>
        <p:txBody>
          <a:bodyPr wrap="square" lIns="0" tIns="0" rIns="0" bIns="0" rtlCol="0" anchor="t"/>
          <a:lstStyle/>
          <a:p>
            <a:pPr indent="0" marL="0">
              <a:buNone/>
            </a:pPr>
            <a:r>
              <a:rPr lang="en-US" sz="1700" b="1" dirty="0">
                <a:solidFill>
                  <a:srgbClr val="CADCFC"/>
                </a:solidFill>
                <a:latin typeface="Cambria" pitchFamily="34" charset="0"/>
                <a:ea typeface="Cambria" pitchFamily="34" charset="-122"/>
                <a:cs typeface="Cambria" pitchFamily="34" charset="-120"/>
              </a:rPr>
              <a:t>The model owns</a:t>
            </a:r>
            <a:endParaRPr lang="en-US" sz="1700" dirty="0"/>
          </a:p>
        </p:txBody>
      </p:sp>
      <p:sp>
        <p:nvSpPr>
          <p:cNvPr id="10" name="Text 8"/>
          <p:cNvSpPr txBox="1"/>
          <p:nvPr/>
        </p:nvSpPr>
        <p:spPr>
          <a:xfrm>
            <a:off x="6537960" y="2944368"/>
            <a:ext cx="4663440" cy="219456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Planning the research and forming the queries</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Judging which sources are worth reading</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Proposing assumptions, each with a justification you approve or refuse</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Red-teaming the thesis it has just been shown</a:t>
            </a:r>
            <a:endParaRPr lang="en-US" sz="1150" dirty="0"/>
          </a:p>
          <a:p>
            <a:pPr marL="342900" indent="-342900">
              <a:lnSpc>
                <a:spcPts val="1500"/>
              </a:lnSpc>
              <a:spcAft>
                <a:spcPts val="700"/>
              </a:spcAft>
              <a:buSzPct val="100000"/>
              <a:buChar char="•"/>
            </a:pPr>
            <a:r>
              <a:rPr lang="en-US" sz="1150" dirty="0">
                <a:solidFill>
                  <a:srgbClr val="FFFFFF"/>
                </a:solidFill>
                <a:latin typeface="Calibri" pitchFamily="34" charset="0"/>
                <a:ea typeface="Calibri" pitchFamily="34" charset="-122"/>
                <a:cs typeface="Calibri" pitchFamily="34" charset="-120"/>
              </a:rPr>
              <a:t>Writing prose from facts that are already structured</a:t>
            </a:r>
            <a:endParaRPr lang="en-US" sz="1150" dirty="0"/>
          </a:p>
        </p:txBody>
      </p:sp>
      <p:sp>
        <p:nvSpPr>
          <p:cNvPr id="11" name="Text 9"/>
          <p:cNvSpPr txBox="1"/>
          <p:nvPr/>
        </p:nvSpPr>
        <p:spPr>
          <a:xfrm>
            <a:off x="685800" y="5440680"/>
            <a:ext cx="10332720" cy="640080"/>
          </a:xfrm>
          <a:prstGeom prst="rect">
            <a:avLst/>
          </a:prstGeom>
          <a:noFill/>
          <a:ln/>
        </p:spPr>
        <p:txBody>
          <a:bodyPr wrap="square" lIns="0" tIns="0" rIns="0" bIns="0" rtlCol="0" anchor="t"/>
          <a:lstStyle/>
          <a:p>
            <a:pPr indent="0" marL="0">
              <a:lnSpc>
                <a:spcPts val="1700"/>
              </a:lnSpc>
              <a:buNone/>
            </a:pPr>
            <a:r>
              <a:rPr lang="en-US" sz="1250" dirty="0">
                <a:solidFill>
                  <a:srgbClr val="CADCFC"/>
                </a:solidFill>
                <a:latin typeface="Calibri" pitchFamily="34" charset="0"/>
                <a:ea typeface="Calibri" pitchFamily="34" charset="-122"/>
                <a:cs typeface="Calibri" pitchFamily="34" charset="-120"/>
              </a:rPr>
              <a:t>A discounted cash flow is forty lines of Python with unit tests. It is not a reasoning task — and prose is the most reliable way yet found to be confidently wrong about a number.</a:t>
            </a:r>
            <a:endParaRPr lang="en-US" sz="1250" dirty="0"/>
          </a:p>
        </p:txBody>
      </p:sp>
      <p:sp>
        <p:nvSpPr>
          <p:cNvPr id="12" name="Text 10"/>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8FA3D8"/>
                </a:solidFill>
                <a:latin typeface="Calibri" pitchFamily="34" charset="0"/>
                <a:ea typeface="Calibri" pitchFamily="34" charset="-122"/>
                <a:cs typeface="Calibri" pitchFamily="34" charset="-120"/>
              </a:rPr>
              <a:t>The rule is the repository's first convention, and the invariants beneath it are enforced in code, not in prompts.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68680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PROOF ONE  —  ACCURACY</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300" b="1" dirty="0">
                <a:solidFill>
                  <a:srgbClr val="1E2761"/>
                </a:solidFill>
                <a:latin typeface="Cambria" pitchFamily="34" charset="0"/>
                <a:ea typeface="Cambria" pitchFamily="34" charset="-122"/>
                <a:cs typeface="Cambria" pitchFamily="34" charset="-120"/>
              </a:rPr>
              <a:t>Every figure, held against its filing</a:t>
            </a:r>
            <a:endParaRPr lang="en-US" sz="3300" dirty="0"/>
          </a:p>
        </p:txBody>
      </p:sp>
      <p:sp>
        <p:nvSpPr>
          <p:cNvPr id="4" name="Text 2"/>
          <p:cNvSpPr txBox="1"/>
          <p:nvPr/>
        </p:nvSpPr>
        <p:spPr>
          <a:xfrm>
            <a:off x="685800" y="1691640"/>
            <a:ext cx="3017520" cy="731520"/>
          </a:xfrm>
          <a:prstGeom prst="rect">
            <a:avLst/>
          </a:prstGeom>
          <a:noFill/>
          <a:ln/>
        </p:spPr>
        <p:txBody>
          <a:bodyPr wrap="square" lIns="0" tIns="0" rIns="0" bIns="0" rtlCol="0" anchor="t"/>
          <a:lstStyle/>
          <a:p>
            <a:pPr indent="0" marL="0">
              <a:buNone/>
            </a:pPr>
            <a:r>
              <a:rPr lang="en-US" sz="4200" b="1" dirty="0">
                <a:solidFill>
                  <a:srgbClr val="1E2761"/>
                </a:solidFill>
                <a:latin typeface="Cambria" pitchFamily="34" charset="0"/>
                <a:ea typeface="Cambria" pitchFamily="34" charset="-122"/>
                <a:cs typeface="Cambria" pitchFamily="34" charset="-120"/>
              </a:rPr>
              <a:t>0 / 779</a:t>
            </a:r>
            <a:endParaRPr lang="en-US" sz="4200" dirty="0"/>
          </a:p>
        </p:txBody>
      </p:sp>
      <p:sp>
        <p:nvSpPr>
          <p:cNvPr id="5" name="Text 3"/>
          <p:cNvSpPr txBox="1"/>
          <p:nvPr/>
        </p:nvSpPr>
        <p:spPr>
          <a:xfrm>
            <a:off x="3840480" y="1801368"/>
            <a:ext cx="2880360" cy="1051560"/>
          </a:xfrm>
          <a:prstGeom prst="rect">
            <a:avLst/>
          </a:prstGeom>
          <a:noFill/>
          <a:ln/>
        </p:spPr>
        <p:txBody>
          <a:bodyPr wrap="square" lIns="0" tIns="0" rIns="0" bIns="0" rtlCol="0" anchor="t"/>
          <a:lstStyle/>
          <a:p>
            <a:pPr indent="0" marL="0">
              <a:lnSpc>
                <a:spcPts val="1600"/>
              </a:lnSpc>
              <a:buNone/>
            </a:pPr>
            <a:r>
              <a:rPr lang="en-US" sz="1200" dirty="0">
                <a:solidFill>
                  <a:srgbClr val="3E466B"/>
                </a:solidFill>
                <a:latin typeface="Calibri" pitchFamily="34" charset="0"/>
                <a:ea typeface="Calibri" pitchFamily="34" charset="-122"/>
                <a:cs typeface="Calibri" pitchFamily="34" charset="-120"/>
              </a:rPr>
              <a:t>checkable figures across five reports contradicted the filing they were drawn from.</a:t>
            </a:r>
            <a:endParaRPr lang="en-US" sz="1200" dirty="0"/>
          </a:p>
        </p:txBody>
      </p:sp>
      <p:sp>
        <p:nvSpPr>
          <p:cNvPr id="6" name="Text 4"/>
          <p:cNvSpPr txBox="1"/>
          <p:nvPr/>
        </p:nvSpPr>
        <p:spPr>
          <a:xfrm>
            <a:off x="685800" y="3154680"/>
            <a:ext cx="3017520" cy="731520"/>
          </a:xfrm>
          <a:prstGeom prst="rect">
            <a:avLst/>
          </a:prstGeom>
          <a:noFill/>
          <a:ln/>
        </p:spPr>
        <p:txBody>
          <a:bodyPr wrap="square" lIns="0" tIns="0" rIns="0" bIns="0" rtlCol="0" anchor="t"/>
          <a:lstStyle/>
          <a:p>
            <a:pPr indent="0" marL="0">
              <a:buNone/>
            </a:pPr>
            <a:r>
              <a:rPr lang="en-US" sz="4200" b="1" dirty="0">
                <a:solidFill>
                  <a:srgbClr val="1E2761"/>
                </a:solidFill>
                <a:latin typeface="Cambria" pitchFamily="34" charset="0"/>
                <a:ea typeface="Cambria" pitchFamily="34" charset="-122"/>
                <a:cs typeface="Cambria" pitchFamily="34" charset="-120"/>
              </a:rPr>
              <a:t>259 / 259</a:t>
            </a:r>
            <a:endParaRPr lang="en-US" sz="4200" dirty="0"/>
          </a:p>
        </p:txBody>
      </p:sp>
      <p:sp>
        <p:nvSpPr>
          <p:cNvPr id="7" name="Text 5"/>
          <p:cNvSpPr txBox="1"/>
          <p:nvPr/>
        </p:nvSpPr>
        <p:spPr>
          <a:xfrm>
            <a:off x="3840480" y="3264408"/>
            <a:ext cx="2880360" cy="1051560"/>
          </a:xfrm>
          <a:prstGeom prst="rect">
            <a:avLst/>
          </a:prstGeom>
          <a:noFill/>
          <a:ln/>
        </p:spPr>
        <p:txBody>
          <a:bodyPr wrap="square" lIns="0" tIns="0" rIns="0" bIns="0" rtlCol="0" anchor="t"/>
          <a:lstStyle/>
          <a:p>
            <a:pPr indent="0" marL="0">
              <a:lnSpc>
                <a:spcPts val="1600"/>
              </a:lnSpc>
              <a:buNone/>
            </a:pPr>
            <a:r>
              <a:rPr lang="en-US" sz="1200" dirty="0">
                <a:solidFill>
                  <a:srgbClr val="3E466B"/>
                </a:solidFill>
                <a:latin typeface="Calibri" pitchFamily="34" charset="0"/>
                <a:ea typeface="Calibri" pitchFamily="34" charset="-122"/>
                <a:cs typeface="Calibri" pitchFamily="34" charset="-120"/>
              </a:rPr>
              <a:t>citations verified by re-reading the stored bytes and finding the quoted excerpt in them.</a:t>
            </a:r>
            <a:endParaRPr lang="en-US" sz="1200" dirty="0"/>
          </a:p>
        </p:txBody>
      </p:sp>
      <p:sp>
        <p:nvSpPr>
          <p:cNvPr id="8" name="Text 6"/>
          <p:cNvSpPr txBox="1"/>
          <p:nvPr/>
        </p:nvSpPr>
        <p:spPr>
          <a:xfrm>
            <a:off x="685800" y="4526280"/>
            <a:ext cx="6035040" cy="868680"/>
          </a:xfrm>
          <a:prstGeom prst="rect">
            <a:avLst/>
          </a:prstGeom>
          <a:noFill/>
          <a:ln/>
        </p:spPr>
        <p:txBody>
          <a:bodyPr wrap="square" lIns="0" tIns="0" rIns="0" bIns="0" rtlCol="0" anchor="t"/>
          <a:lstStyle/>
          <a:p>
            <a:pPr indent="0" marL="0">
              <a:lnSpc>
                <a:spcPts val="1700"/>
              </a:lnSpc>
              <a:buNone/>
            </a:pPr>
            <a:r>
              <a:rPr lang="en-US" sz="1250" dirty="0">
                <a:solidFill>
                  <a:srgbClr val="3E466B"/>
                </a:solidFill>
                <a:latin typeface="Calibri" pitchFamily="34" charset="0"/>
                <a:ea typeface="Calibri" pitchFamily="34" charset="-122"/>
                <a:cs typeface="Calibri" pitchFamily="34" charset="-120"/>
              </a:rPr>
              <a:t>Checked independently. The audit rebuilt the basket of figures from the SEC's own company-facts data with its own arithmetic, so the result does not rest on the platform's word for itself.</a:t>
            </a:r>
            <a:endParaRPr lang="en-US" sz="1250" dirty="0"/>
          </a:p>
        </p:txBody>
      </p:sp>
      <p:sp>
        <p:nvSpPr>
          <p:cNvPr id="9" name="Shape 7"/>
          <p:cNvSpPr/>
          <p:nvPr/>
        </p:nvSpPr>
        <p:spPr>
          <a:xfrm>
            <a:off x="7086600" y="1691640"/>
            <a:ext cx="4416552" cy="3886200"/>
          </a:xfrm>
          <a:prstGeom prst="roundRect">
            <a:avLst>
              <a:gd name="adj" fmla="val 1412"/>
            </a:avLst>
          </a:prstGeom>
          <a:solidFill>
            <a:srgbClr val="F2F5FC"/>
          </a:solidFill>
          <a:ln/>
          <a:effectLst>
            <a:outerShdw sx="100000" sy="100000" kx="0" ky="0" algn="bl" rotWithShape="0" blurRad="152400" dist="38100" dir="5400000">
              <a:srgbClr val="1E2761">
                <a:alpha val="13000"/>
              </a:srgbClr>
            </a:outerShdw>
          </a:effectLst>
        </p:spPr>
      </p:sp>
      <p:sp>
        <p:nvSpPr>
          <p:cNvPr id="10" name="Text 8"/>
          <p:cNvSpPr txBox="1"/>
          <p:nvPr/>
        </p:nvSpPr>
        <p:spPr>
          <a:xfrm>
            <a:off x="7360920" y="1901952"/>
            <a:ext cx="3840480" cy="365760"/>
          </a:xfrm>
          <a:prstGeom prst="rect">
            <a:avLst/>
          </a:prstGeom>
          <a:noFill/>
          <a:ln/>
        </p:spPr>
        <p:txBody>
          <a:bodyPr wrap="square" lIns="0" tIns="0" rIns="0" bIns="0" rtlCol="0" anchor="t"/>
          <a:lstStyle/>
          <a:p>
            <a:pPr indent="0" marL="0">
              <a:buNone/>
            </a:pPr>
            <a:r>
              <a:rPr lang="en-US" sz="1700" b="1" dirty="0">
                <a:solidFill>
                  <a:srgbClr val="1E2761"/>
                </a:solidFill>
                <a:latin typeface="Cambria" pitchFamily="34" charset="0"/>
                <a:ea typeface="Cambria" pitchFamily="34" charset="-122"/>
                <a:cs typeface="Cambria" pitchFamily="34" charset="-120"/>
              </a:rPr>
              <a:t>And the honest half</a:t>
            </a:r>
            <a:endParaRPr lang="en-US" sz="1700" dirty="0"/>
          </a:p>
        </p:txBody>
      </p:sp>
      <p:sp>
        <p:nvSpPr>
          <p:cNvPr id="11" name="Text 9"/>
          <p:cNvSpPr txBox="1"/>
          <p:nvPr/>
        </p:nvSpPr>
        <p:spPr>
          <a:xfrm>
            <a:off x="7360920" y="2359152"/>
            <a:ext cx="3886200" cy="502920"/>
          </a:xfrm>
          <a:prstGeom prst="rect">
            <a:avLst/>
          </a:prstGeom>
          <a:noFill/>
          <a:ln/>
        </p:spPr>
        <p:txBody>
          <a:bodyPr wrap="square" lIns="0" tIns="0" rIns="0" bIns="0" rtlCol="0" anchor="t"/>
          <a:lstStyle/>
          <a:p>
            <a:pPr indent="0" marL="0">
              <a:lnSpc>
                <a:spcPts val="1600"/>
              </a:lnSpc>
              <a:buNone/>
            </a:pPr>
            <a:r>
              <a:rPr lang="en-US" sz="1200" dirty="0">
                <a:solidFill>
                  <a:srgbClr val="3E466B"/>
                </a:solidFill>
                <a:latin typeface="Calibri" pitchFamily="34" charset="0"/>
                <a:ea typeface="Calibri" pitchFamily="34" charset="-122"/>
                <a:cs typeface="Calibri" pitchFamily="34" charset="-120"/>
              </a:rPr>
              <a:t>On the figures it chose to state, the console was just as accurate:</a:t>
            </a:r>
            <a:endParaRPr lang="en-US" sz="1200" dirty="0"/>
          </a:p>
        </p:txBody>
      </p:sp>
      <p:sp>
        <p:nvSpPr>
          <p:cNvPr id="12" name="Text 10"/>
          <p:cNvSpPr txBox="1"/>
          <p:nvPr/>
        </p:nvSpPr>
        <p:spPr>
          <a:xfrm>
            <a:off x="7360920" y="2926080"/>
            <a:ext cx="3886200" cy="146304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150" dirty="0">
                <a:solidFill>
                  <a:srgbClr val="3E466B"/>
                </a:solidFill>
                <a:latin typeface="Calibri" pitchFamily="34" charset="0"/>
                <a:ea typeface="Calibri" pitchFamily="34" charset="-122"/>
                <a:cs typeface="Calibri" pitchFamily="34" charset="-120"/>
              </a:rPr>
              <a:t>0 contradicted of 154 — Microsoft</a:t>
            </a:r>
            <a:endParaRPr lang="en-US" sz="1150" dirty="0"/>
          </a:p>
          <a:p>
            <a:pPr marL="342900" indent="-342900">
              <a:lnSpc>
                <a:spcPts val="1700"/>
              </a:lnSpc>
              <a:spcAft>
                <a:spcPts val="900"/>
              </a:spcAft>
              <a:buSzPct val="100000"/>
              <a:buChar char="•"/>
            </a:pPr>
            <a:r>
              <a:rPr lang="en-US" sz="1150" dirty="0">
                <a:solidFill>
                  <a:srgbClr val="3E466B"/>
                </a:solidFill>
                <a:latin typeface="Calibri" pitchFamily="34" charset="0"/>
                <a:ea typeface="Calibri" pitchFamily="34" charset="-122"/>
                <a:cs typeface="Calibri" pitchFamily="34" charset="-120"/>
              </a:rPr>
              <a:t>0 contradicted of 107 — M&amp;T Bank</a:t>
            </a:r>
            <a:endParaRPr lang="en-US" sz="1150" dirty="0"/>
          </a:p>
          <a:p>
            <a:pPr marL="342900" indent="-342900">
              <a:lnSpc>
                <a:spcPts val="1700"/>
              </a:lnSpc>
              <a:spcAft>
                <a:spcPts val="900"/>
              </a:spcAft>
              <a:buSzPct val="100000"/>
              <a:buChar char="•"/>
            </a:pPr>
            <a:r>
              <a:rPr lang="en-US" sz="1150" dirty="0">
                <a:solidFill>
                  <a:srgbClr val="3E466B"/>
                </a:solidFill>
                <a:latin typeface="Calibri" pitchFamily="34" charset="0"/>
                <a:ea typeface="Calibri" pitchFamily="34" charset="-122"/>
                <a:cs typeface="Calibri" pitchFamily="34" charset="-120"/>
              </a:rPr>
              <a:t>1 flagged of 179 — AstraZeneca, and it is a definition the note itself discloses, not a wrong number</a:t>
            </a:r>
            <a:endParaRPr lang="en-US" sz="1150" dirty="0"/>
          </a:p>
        </p:txBody>
      </p:sp>
      <p:sp>
        <p:nvSpPr>
          <p:cNvPr id="13" name="Text 11"/>
          <p:cNvSpPr txBox="1"/>
          <p:nvPr/>
        </p:nvSpPr>
        <p:spPr>
          <a:xfrm>
            <a:off x="7360920" y="4526280"/>
            <a:ext cx="3886200" cy="868680"/>
          </a:xfrm>
          <a:prstGeom prst="rect">
            <a:avLst/>
          </a:prstGeom>
          <a:noFill/>
          <a:ln/>
        </p:spPr>
        <p:txBody>
          <a:bodyPr wrap="square" lIns="0" tIns="0" rIns="0" bIns="0" rtlCol="0" anchor="t"/>
          <a:lstStyle/>
          <a:p>
            <a:pPr indent="0" marL="0">
              <a:lnSpc>
                <a:spcPts val="2000"/>
              </a:lnSpc>
              <a:buNone/>
            </a:pPr>
            <a:r>
              <a:rPr lang="en-US" sz="1500" b="1" i="1" dirty="0">
                <a:solidFill>
                  <a:srgbClr val="B8862F"/>
                </a:solidFill>
                <a:latin typeface="Cambria" pitchFamily="34" charset="0"/>
                <a:ea typeface="Cambria" pitchFamily="34" charset="-122"/>
                <a:cs typeface="Cambria" pitchFamily="34" charset="-120"/>
              </a:rPr>
              <a:t>The difference between us is not accuracy. It is whether anybody can tell.</a:t>
            </a:r>
            <a:endParaRPr lang="en-US" sz="1500" dirty="0"/>
          </a:p>
        </p:txBody>
      </p:sp>
      <p:sp>
        <p:nvSpPr>
          <p:cNvPr id="14" name="Text 12"/>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Readiness audit §3.2 — the platform's own metrics and the audit's independent matcher, calibrated until every disputed reading was resolved on both sides.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68680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PROOF TWO  —  REPRODUCIBILITY</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300" b="1" dirty="0">
                <a:solidFill>
                  <a:srgbClr val="1E2761"/>
                </a:solidFill>
                <a:latin typeface="Cambria" pitchFamily="34" charset="0"/>
                <a:ea typeface="Cambria" pitchFamily="34" charset="-122"/>
                <a:cs typeface="Cambria" pitchFamily="34" charset="-120"/>
              </a:rPr>
              <a:t>A report that re-executes</a:t>
            </a:r>
            <a:endParaRPr lang="en-US" sz="3300" dirty="0"/>
          </a:p>
        </p:txBody>
      </p:sp>
      <p:sp>
        <p:nvSpPr>
          <p:cNvPr id="4" name="Text 2"/>
          <p:cNvSpPr txBox="1"/>
          <p:nvPr/>
        </p:nvSpPr>
        <p:spPr>
          <a:xfrm>
            <a:off x="685800" y="1572768"/>
            <a:ext cx="5029200" cy="914400"/>
          </a:xfrm>
          <a:prstGeom prst="rect">
            <a:avLst/>
          </a:prstGeom>
          <a:noFill/>
          <a:ln/>
        </p:spPr>
        <p:txBody>
          <a:bodyPr wrap="square" lIns="0" tIns="0" rIns="0" bIns="0" rtlCol="0" anchor="t"/>
          <a:lstStyle/>
          <a:p>
            <a:pPr indent="0" marL="0">
              <a:lnSpc>
                <a:spcPts val="1700"/>
              </a:lnSpc>
              <a:buNone/>
            </a:pPr>
            <a:r>
              <a:rPr lang="en-US" sz="1250" dirty="0">
                <a:solidFill>
                  <a:srgbClr val="3E466B"/>
                </a:solidFill>
                <a:latin typeface="Calibri" pitchFamily="34" charset="0"/>
                <a:ea typeface="Calibri" pitchFamily="34" charset="-122"/>
                <a:cs typeface="Calibri" pitchFamily="34" charset="-120"/>
              </a:rPr>
              <a:t>Every figure stores the formula that produced it, each input with its unit and its source, and the version of the code that ran. One command re-executes the lot and compares.</a:t>
            </a:r>
            <a:endParaRPr lang="en-US" sz="1250" dirty="0"/>
          </a:p>
        </p:txBody>
      </p:sp>
      <p:sp>
        <p:nvSpPr>
          <p:cNvPr id="5" name="Text 3"/>
          <p:cNvSpPr txBox="1"/>
          <p:nvPr/>
        </p:nvSpPr>
        <p:spPr>
          <a:xfrm>
            <a:off x="685800" y="2606040"/>
            <a:ext cx="5029200" cy="16459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3E466B"/>
                </a:solidFill>
                <a:latin typeface="Calibri" pitchFamily="34" charset="0"/>
                <a:ea typeface="Calibri" pitchFamily="34" charset="-122"/>
                <a:cs typeface="Calibri" pitchFamily="34" charset="-120"/>
              </a:rPr>
              <a:t>3,335 calculation rows re-run across five runs — zero divergence</a:t>
            </a:r>
            <a:endParaRPr lang="en-US" sz="1250" dirty="0"/>
          </a:p>
          <a:p>
            <a:pPr marL="342900" indent="-342900">
              <a:lnSpc>
                <a:spcPts val="1700"/>
              </a:lnSpc>
              <a:spcAft>
                <a:spcPts val="900"/>
              </a:spcAft>
              <a:buSzPct val="100000"/>
              <a:buChar char="•"/>
            </a:pPr>
            <a:r>
              <a:rPr lang="en-US" sz="1250" dirty="0">
                <a:solidFill>
                  <a:srgbClr val="3E466B"/>
                </a:solidFill>
                <a:latin typeface="Calibri" pitchFamily="34" charset="0"/>
                <a:ea typeface="Calibri" pitchFamily="34" charset="-122"/>
                <a:cs typeface="Calibri" pitchFamily="34" charset="-120"/>
              </a:rPr>
              <a:t>259 citations re-verified from the stored bytes</a:t>
            </a:r>
            <a:endParaRPr lang="en-US" sz="1250" dirty="0"/>
          </a:p>
          <a:p>
            <a:pPr marL="342900" indent="-342900">
              <a:lnSpc>
                <a:spcPts val="1700"/>
              </a:lnSpc>
              <a:spcAft>
                <a:spcPts val="900"/>
              </a:spcAft>
              <a:buSzPct val="100000"/>
              <a:buChar char="•"/>
            </a:pPr>
            <a:r>
              <a:rPr lang="en-US" sz="1250" dirty="0">
                <a:solidFill>
                  <a:srgbClr val="3E466B"/>
                </a:solidFill>
                <a:latin typeface="Calibri" pitchFamily="34" charset="0"/>
                <a:ea typeface="Calibri" pitchFamily="34" charset="-122"/>
                <a:cs typeface="Calibri" pitchFamily="34" charset="-120"/>
              </a:rPr>
              <a:t>559 artefacts re-hashed, every one intact</a:t>
            </a:r>
            <a:endParaRPr lang="en-US" sz="1250" dirty="0"/>
          </a:p>
          <a:p>
            <a:pPr marL="342900" indent="-342900">
              <a:lnSpc>
                <a:spcPts val="1700"/>
              </a:lnSpc>
              <a:spcAft>
                <a:spcPts val="900"/>
              </a:spcAft>
              <a:buSzPct val="100000"/>
              <a:buChar char="•"/>
            </a:pPr>
            <a:r>
              <a:rPr lang="en-US" sz="1250" dirty="0">
                <a:solidFill>
                  <a:srgbClr val="3E466B"/>
                </a:solidFill>
                <a:latin typeface="Calibri" pitchFamily="34" charset="0"/>
                <a:ea typeface="Calibri" pitchFamily="34" charset="-122"/>
                <a:cs typeface="Calibri" pitchFamily="34" charset="-120"/>
              </a:rPr>
              <a:t>36 audit events walked, the chain unbroken</a:t>
            </a:r>
            <a:endParaRPr lang="en-US" sz="1250" dirty="0"/>
          </a:p>
        </p:txBody>
      </p:sp>
      <p:sp>
        <p:nvSpPr>
          <p:cNvPr id="6" name="Shape 4"/>
          <p:cNvSpPr/>
          <p:nvPr/>
        </p:nvSpPr>
        <p:spPr>
          <a:xfrm>
            <a:off x="685800" y="4389120"/>
            <a:ext cx="5029200" cy="1325880"/>
          </a:xfrm>
          <a:prstGeom prst="roundRect">
            <a:avLst>
              <a:gd name="adj" fmla="val 3448"/>
            </a:avLst>
          </a:prstGeom>
          <a:solidFill>
            <a:srgbClr val="1E2761"/>
          </a:solidFill>
          <a:ln/>
        </p:spPr>
      </p:sp>
      <p:sp>
        <p:nvSpPr>
          <p:cNvPr id="7" name="Text 5"/>
          <p:cNvSpPr txBox="1"/>
          <p:nvPr/>
        </p:nvSpPr>
        <p:spPr>
          <a:xfrm>
            <a:off x="960120" y="4572000"/>
            <a:ext cx="4480560" cy="960120"/>
          </a:xfrm>
          <a:prstGeom prst="rect">
            <a:avLst/>
          </a:prstGeom>
          <a:noFill/>
          <a:ln/>
        </p:spPr>
        <p:txBody>
          <a:bodyPr wrap="square" lIns="0" tIns="0" rIns="0" bIns="0" rtlCol="0" anchor="t"/>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A chat answer has nothing to re-run. Ask it again tomorrow and you get a different answer, with no way to tell which one was right.</a:t>
            </a:r>
            <a:endParaRPr lang="en-US" sz="1250" dirty="0"/>
          </a:p>
        </p:txBody>
      </p:sp>
      <p:graphicFrame>
        <p:nvGraphicFramePr>
          <p:cNvPr id="8" name="Chart 0" descr=""/>
          <p:cNvGraphicFramePr/>
          <p:nvPr/>
        </p:nvGraphicFramePr>
        <p:xfrm>
          <a:off x="6035040" y="1783080"/>
          <a:ext cx="5486400" cy="32918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035040" y="5212080"/>
            <a:ext cx="5486400" cy="777240"/>
          </a:xfrm>
          <a:prstGeom prst="rect">
            <a:avLst/>
          </a:prstGeom>
          <a:noFill/>
          <a:ln/>
        </p:spPr>
        <p:txBody>
          <a:bodyPr wrap="square" lIns="0" tIns="0" rIns="0" bIns="0" rtlCol="0" anchor="t"/>
          <a:lstStyle/>
          <a:p>
            <a:pPr indent="0" marL="0">
              <a:lnSpc>
                <a:spcPts val="1400"/>
              </a:lnSpc>
              <a:buNone/>
            </a:pPr>
            <a:r>
              <a:rPr lang="en-US" sz="1050" i="1" dirty="0">
                <a:solidFill>
                  <a:srgbClr val="7B83A6"/>
                </a:solidFill>
                <a:latin typeface="Calibri" pitchFamily="34" charset="0"/>
                <a:ea typeface="Calibri" pitchFamily="34" charset="-122"/>
                <a:cs typeface="Calibri" pitchFamily="34" charset="-120"/>
              </a:rPr>
              <a:t>AstraZeneca's first run withheld its valuation for want of a share count the accounting tags did not carry; one mapping fix found by this audit restored 679 rows and a full discounted cash flow.</a:t>
            </a:r>
            <a:endParaRPr lang="en-US" sz="1050" dirty="0"/>
          </a:p>
        </p:txBody>
      </p:sp>
      <p:sp>
        <p:nvSpPr>
          <p:cNvPr id="10" name="Text 7"/>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Readiness audit §3.1 and §4.3 — replay output for each run is committed beside the reports.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68680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PROOF THREE  —  COST</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300" b="1" dirty="0">
                <a:solidFill>
                  <a:srgbClr val="1E2761"/>
                </a:solidFill>
                <a:latin typeface="Cambria" pitchFamily="34" charset="0"/>
                <a:ea typeface="Cambria" pitchFamily="34" charset="-122"/>
                <a:cs typeface="Cambria" pitchFamily="34" charset="-120"/>
              </a:rPr>
              <a:t>Priced to the penny, and predictable</a:t>
            </a:r>
            <a:endParaRPr lang="en-US" sz="3300" dirty="0"/>
          </a:p>
        </p:txBody>
      </p:sp>
      <p:graphicFrame>
        <p:nvGraphicFramePr>
          <p:cNvPr id="4" name="Chart 0" descr=""/>
          <p:cNvGraphicFramePr/>
          <p:nvPr/>
        </p:nvGraphicFramePr>
        <p:xfrm>
          <a:off x="548640" y="1737360"/>
          <a:ext cx="694944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737360"/>
            <a:ext cx="3703320" cy="3977640"/>
          </a:xfrm>
          <a:prstGeom prst="roundRect">
            <a:avLst>
              <a:gd name="adj" fmla="val 1481"/>
            </a:avLst>
          </a:prstGeom>
          <a:solidFill>
            <a:srgbClr val="F2F5FC"/>
          </a:solidFill>
          <a:ln/>
          <a:effectLst>
            <a:outerShdw sx="100000" sy="100000" kx="0" ky="0" algn="bl" rotWithShape="0" blurRad="152400" dist="38100" dir="5400000">
              <a:srgbClr val="1E2761">
                <a:alpha val="13000"/>
              </a:srgbClr>
            </a:outerShdw>
          </a:effectLst>
        </p:spPr>
      </p:sp>
      <p:sp>
        <p:nvSpPr>
          <p:cNvPr id="6" name="Text 3"/>
          <p:cNvSpPr txBox="1"/>
          <p:nvPr/>
        </p:nvSpPr>
        <p:spPr>
          <a:xfrm>
            <a:off x="8092440" y="1901952"/>
            <a:ext cx="3154680" cy="640080"/>
          </a:xfrm>
          <a:prstGeom prst="rect">
            <a:avLst/>
          </a:prstGeom>
          <a:noFill/>
          <a:ln/>
        </p:spPr>
        <p:txBody>
          <a:bodyPr wrap="square" lIns="0" tIns="0" rIns="0" bIns="0" rtlCol="0" anchor="t"/>
          <a:lstStyle/>
          <a:p>
            <a:pPr indent="0" marL="0">
              <a:buNone/>
            </a:pPr>
            <a:r>
              <a:rPr lang="en-US" sz="3800" b="1" dirty="0">
                <a:solidFill>
                  <a:srgbClr val="1E2761"/>
                </a:solidFill>
                <a:latin typeface="Cambria" pitchFamily="34" charset="0"/>
                <a:ea typeface="Cambria" pitchFamily="34" charset="-122"/>
                <a:cs typeface="Cambria" pitchFamily="34" charset="-120"/>
              </a:rPr>
              <a:t>£7.19</a:t>
            </a:r>
            <a:endParaRPr lang="en-US" sz="3800" dirty="0"/>
          </a:p>
        </p:txBody>
      </p:sp>
      <p:sp>
        <p:nvSpPr>
          <p:cNvPr id="7" name="Text 4"/>
          <p:cNvSpPr txBox="1"/>
          <p:nvPr/>
        </p:nvSpPr>
        <p:spPr>
          <a:xfrm>
            <a:off x="8092440" y="2606040"/>
            <a:ext cx="3154680" cy="594360"/>
          </a:xfrm>
          <a:prstGeom prst="rect">
            <a:avLst/>
          </a:prstGeom>
          <a:noFill/>
          <a:ln/>
        </p:spPr>
        <p:txBody>
          <a:bodyPr wrap="square" lIns="0" tIns="0" rIns="0" bIns="0" rtlCol="0" anchor="t"/>
          <a:lstStyle/>
          <a:p>
            <a:pPr indent="0" marL="0">
              <a:lnSpc>
                <a:spcPts val="1600"/>
              </a:lnSpc>
              <a:buNone/>
            </a:pPr>
            <a:r>
              <a:rPr lang="en-US" sz="1200" dirty="0">
                <a:solidFill>
                  <a:srgbClr val="3E466B"/>
                </a:solidFill>
                <a:latin typeface="Calibri" pitchFamily="34" charset="0"/>
                <a:ea typeface="Calibri" pitchFamily="34" charset="-122"/>
                <a:cs typeface="Calibri" pitchFamily="34" charset="-120"/>
              </a:rPr>
              <a:t>average per report, against the £10 the operator set as the ceiling.</a:t>
            </a:r>
            <a:endParaRPr lang="en-US" sz="1200" dirty="0"/>
          </a:p>
        </p:txBody>
      </p:sp>
      <p:sp>
        <p:nvSpPr>
          <p:cNvPr id="8" name="Text 5"/>
          <p:cNvSpPr txBox="1"/>
          <p:nvPr/>
        </p:nvSpPr>
        <p:spPr>
          <a:xfrm>
            <a:off x="8092440" y="3291840"/>
            <a:ext cx="3154680" cy="228600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150" dirty="0">
                <a:solidFill>
                  <a:srgbClr val="3E466B"/>
                </a:solidFill>
                <a:latin typeface="Calibri" pitchFamily="34" charset="0"/>
                <a:ea typeface="Calibri" pitchFamily="34" charset="-122"/>
                <a:cs typeface="Calibri" pitchFamily="34" charset="-120"/>
              </a:rPr>
              <a:t>11 % spread across five runs; 65 % across three console notes</a:t>
            </a:r>
            <a:endParaRPr lang="en-US" sz="1150" dirty="0"/>
          </a:p>
          <a:p>
            <a:pPr marL="342900" indent="-342900">
              <a:lnSpc>
                <a:spcPts val="1700"/>
              </a:lnSpc>
              <a:spcAft>
                <a:spcPts val="900"/>
              </a:spcAft>
              <a:buSzPct val="100000"/>
              <a:buChar char="•"/>
            </a:pPr>
            <a:r>
              <a:rPr lang="en-US" sz="1150" dirty="0">
                <a:solidFill>
                  <a:srgbClr val="3E466B"/>
                </a:solidFill>
                <a:latin typeface="Calibri" pitchFamily="34" charset="0"/>
                <a:ea typeface="Calibri" pitchFamily="34" charset="-122"/>
                <a:cs typeface="Calibri" pitchFamily="34" charset="-120"/>
              </a:rPr>
              <a:t>The cap was never raised and no run breached it — the ceiling is code, not a warning</a:t>
            </a:r>
            <a:endParaRPr lang="en-US" sz="1150" dirty="0"/>
          </a:p>
          <a:p>
            <a:pPr marL="342900" indent="-342900">
              <a:lnSpc>
                <a:spcPts val="1700"/>
              </a:lnSpc>
              <a:spcAft>
                <a:spcPts val="900"/>
              </a:spcAft>
              <a:buSzPct val="100000"/>
              <a:buChar char="•"/>
            </a:pPr>
            <a:r>
              <a:rPr lang="en-US" sz="1150" dirty="0">
                <a:solidFill>
                  <a:srgbClr val="3E466B"/>
                </a:solidFill>
                <a:latin typeface="Calibri" pitchFamily="34" charset="0"/>
                <a:ea typeface="Calibri" pitchFamily="34" charset="-122"/>
                <a:cs typeface="Calibri" pitchFamily="34" charset="-120"/>
              </a:rPr>
              <a:t>Every model call is priced through one router and written to a ledger that adds up row by row</a:t>
            </a:r>
            <a:endParaRPr lang="en-US" sz="1150" dirty="0"/>
          </a:p>
        </p:txBody>
      </p:sp>
      <p:sp>
        <p:nvSpPr>
          <p:cNvPr id="9" name="Text 6"/>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Readiness audit §3.3 — platform spend read from the costs table; console spend priced from the same table on the API's reported usage.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85800" y="402336"/>
            <a:ext cx="8686800" cy="274320"/>
          </a:xfrm>
          <a:prstGeom prst="rect">
            <a:avLst/>
          </a:prstGeom>
          <a:noFill/>
          <a:ln/>
        </p:spPr>
        <p:txBody>
          <a:bodyPr wrap="square" lIns="0" tIns="0" rIns="0" bIns="0" rtlCol="0" anchor="t"/>
          <a:lstStyle/>
          <a:p>
            <a:pPr indent="0" marL="0">
              <a:buNone/>
            </a:pPr>
            <a:r>
              <a:rPr lang="en-US" sz="1100" b="1" spc="220" kern="0" dirty="0">
                <a:solidFill>
                  <a:srgbClr val="CADCFC"/>
                </a:solidFill>
                <a:latin typeface="Calibri" pitchFamily="34" charset="0"/>
                <a:ea typeface="Calibri" pitchFamily="34" charset="-122"/>
                <a:cs typeface="Calibri" pitchFamily="34" charset="-120"/>
              </a:rPr>
              <a:t>WHAT THE DISCIPLINE ACTUALLY BUYS</a:t>
            </a:r>
            <a:endParaRPr lang="en-US" sz="1100" dirty="0"/>
          </a:p>
        </p:txBody>
      </p:sp>
      <p:sp>
        <p:nvSpPr>
          <p:cNvPr id="3" name="Text 1"/>
          <p:cNvSpPr txBox="1"/>
          <p:nvPr/>
        </p:nvSpPr>
        <p:spPr>
          <a:xfrm>
            <a:off x="685800" y="777240"/>
            <a:ext cx="10817352" cy="10515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run we are proudest of is the one that refused to publish</a:t>
            </a:r>
            <a:endParaRPr lang="en-US" sz="3000" dirty="0"/>
          </a:p>
        </p:txBody>
      </p:sp>
      <p:sp>
        <p:nvSpPr>
          <p:cNvPr id="4" name="Text 2"/>
          <p:cNvSpPr txBox="1"/>
          <p:nvPr/>
        </p:nvSpPr>
        <p:spPr>
          <a:xfrm>
            <a:off x="685800" y="1965960"/>
            <a:ext cx="6263640" cy="1920240"/>
          </a:xfrm>
          <a:prstGeom prst="rect">
            <a:avLst/>
          </a:prstGeom>
          <a:noFill/>
          <a:ln/>
        </p:spPr>
        <p:txBody>
          <a:bodyPr wrap="square" lIns="0" tIns="0" rIns="0" bIns="0" rtlCol="0" anchor="t"/>
          <a:lstStyle/>
          <a:p>
            <a:pPr indent="0" marL="0">
              <a:lnSpc>
                <a:spcPts val="1900"/>
              </a:lnSpc>
              <a:buNone/>
            </a:pPr>
            <a:r>
              <a:rPr lang="en-US" sz="1300" dirty="0">
                <a:solidFill>
                  <a:srgbClr val="CADCFC"/>
                </a:solidFill>
                <a:latin typeface="Calibri" pitchFamily="34" charset="0"/>
                <a:ea typeface="Calibri" pitchFamily="34" charset="-122"/>
                <a:cs typeface="Calibri" pitchFamily="34" charset="-120"/>
              </a:rPr>
              <a:t>M&amp;T Bank. Eighteen sections written, 643 calculations, every figure traceable to its filing and not one of them contradicting it. Then the check that reads the relations between figures found eleven that are impossible — a net margin above one, income larger than revenue — because a bank's revenue is not a caption M&amp;T has reported since 2023. The report was refused at the final gate. It was never published.</a:t>
            </a:r>
            <a:endParaRPr lang="en-US" sz="1300" dirty="0"/>
          </a:p>
        </p:txBody>
      </p:sp>
      <p:sp>
        <p:nvSpPr>
          <p:cNvPr id="5" name="Text 3"/>
          <p:cNvSpPr txBox="1"/>
          <p:nvPr/>
        </p:nvSpPr>
        <p:spPr>
          <a:xfrm>
            <a:off x="685800" y="4114800"/>
            <a:ext cx="6263640" cy="1005840"/>
          </a:xfrm>
          <a:prstGeom prst="rect">
            <a:avLst/>
          </a:prstGeom>
          <a:noFill/>
          <a:ln/>
        </p:spPr>
        <p:txBody>
          <a:bodyPr wrap="square" lIns="0" tIns="0" rIns="0" bIns="0" rtlCol="0" anchor="t"/>
          <a:lstStyle/>
          <a:p>
            <a:pPr indent="0" marL="0">
              <a:lnSpc>
                <a:spcPts val="2300"/>
              </a:lnSpc>
              <a:buNone/>
            </a:pPr>
            <a:r>
              <a:rPr lang="en-US" sz="1600" i="1" dirty="0">
                <a:solidFill>
                  <a:srgbClr val="FFFFFF"/>
                </a:solidFill>
                <a:latin typeface="Cambria" pitchFamily="34" charset="0"/>
                <a:ea typeface="Cambria" pitchFamily="34" charset="-122"/>
                <a:cs typeface="Cambria" pitchFamily="34" charset="-120"/>
              </a:rPr>
              <a:t>A chat would have written that sentence and moved on. We would rather publish nothing than publish a number that cannot be true.</a:t>
            </a:r>
            <a:endParaRPr lang="en-US" sz="1600" dirty="0"/>
          </a:p>
        </p:txBody>
      </p:sp>
      <p:sp>
        <p:nvSpPr>
          <p:cNvPr id="6" name="Shape 4"/>
          <p:cNvSpPr/>
          <p:nvPr/>
        </p:nvSpPr>
        <p:spPr>
          <a:xfrm>
            <a:off x="7315200" y="1828800"/>
            <a:ext cx="4206240" cy="1143000"/>
          </a:xfrm>
          <a:prstGeom prst="roundRect">
            <a:avLst>
              <a:gd name="adj" fmla="val 4800"/>
            </a:avLst>
          </a:prstGeom>
          <a:solidFill>
            <a:srgbClr val="26306A"/>
          </a:solidFill>
          <a:ln/>
        </p:spPr>
      </p:sp>
      <p:sp>
        <p:nvSpPr>
          <p:cNvPr id="7" name="Text 5"/>
          <p:cNvSpPr txBox="1"/>
          <p:nvPr/>
        </p:nvSpPr>
        <p:spPr>
          <a:xfrm>
            <a:off x="7589520" y="2011680"/>
            <a:ext cx="822960" cy="777240"/>
          </a:xfrm>
          <a:prstGeom prst="rect">
            <a:avLst/>
          </a:prstGeom>
          <a:noFill/>
          <a:ln/>
        </p:spPr>
        <p:txBody>
          <a:bodyPr wrap="square" lIns="0" tIns="0" rIns="0" bIns="0"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11</a:t>
            </a:r>
            <a:endParaRPr lang="en-US" sz="3000" dirty="0"/>
          </a:p>
        </p:txBody>
      </p:sp>
      <p:sp>
        <p:nvSpPr>
          <p:cNvPr id="8" name="Text 6"/>
          <p:cNvSpPr txBox="1"/>
          <p:nvPr/>
        </p:nvSpPr>
        <p:spPr>
          <a:xfrm>
            <a:off x="8458200" y="2011680"/>
            <a:ext cx="2834640" cy="777240"/>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Calibri" pitchFamily="34" charset="0"/>
                <a:ea typeface="Calibri" pitchFamily="34" charset="-122"/>
                <a:cs typeface="Calibri" pitchFamily="34" charset="-120"/>
              </a:rPr>
              <a:t>impossible relations caught by a check no prompt performs</a:t>
            </a:r>
            <a:endParaRPr lang="en-US" sz="1100" dirty="0"/>
          </a:p>
        </p:txBody>
      </p:sp>
      <p:sp>
        <p:nvSpPr>
          <p:cNvPr id="9" name="Shape 7"/>
          <p:cNvSpPr/>
          <p:nvPr/>
        </p:nvSpPr>
        <p:spPr>
          <a:xfrm>
            <a:off x="7315200" y="3154680"/>
            <a:ext cx="4206240" cy="1143000"/>
          </a:xfrm>
          <a:prstGeom prst="roundRect">
            <a:avLst>
              <a:gd name="adj" fmla="val 4800"/>
            </a:avLst>
          </a:prstGeom>
          <a:solidFill>
            <a:srgbClr val="26306A"/>
          </a:solidFill>
          <a:ln/>
        </p:spPr>
      </p:sp>
      <p:sp>
        <p:nvSpPr>
          <p:cNvPr id="10" name="Text 8"/>
          <p:cNvSpPr txBox="1"/>
          <p:nvPr/>
        </p:nvSpPr>
        <p:spPr>
          <a:xfrm>
            <a:off x="7589520" y="3337560"/>
            <a:ext cx="822960" cy="777240"/>
          </a:xfrm>
          <a:prstGeom prst="rect">
            <a:avLst/>
          </a:prstGeom>
          <a:noFill/>
          <a:ln/>
        </p:spPr>
        <p:txBody>
          <a:bodyPr wrap="square" lIns="0" tIns="0" rIns="0" bIns="0"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0</a:t>
            </a:r>
            <a:endParaRPr lang="en-US" sz="3000" dirty="0"/>
          </a:p>
        </p:txBody>
      </p:sp>
      <p:sp>
        <p:nvSpPr>
          <p:cNvPr id="11" name="Text 9"/>
          <p:cNvSpPr txBox="1"/>
          <p:nvPr/>
        </p:nvSpPr>
        <p:spPr>
          <a:xfrm>
            <a:off x="8458200" y="3337560"/>
            <a:ext cx="2834640" cy="777240"/>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Calibri" pitchFamily="34" charset="0"/>
                <a:ea typeface="Calibri" pitchFamily="34" charset="-122"/>
                <a:cs typeface="Calibri" pitchFamily="34" charset="-120"/>
              </a:rPr>
              <a:t>reports published while one of them stood</a:t>
            </a:r>
            <a:endParaRPr lang="en-US" sz="1100" dirty="0"/>
          </a:p>
        </p:txBody>
      </p:sp>
      <p:sp>
        <p:nvSpPr>
          <p:cNvPr id="12" name="Shape 10"/>
          <p:cNvSpPr/>
          <p:nvPr/>
        </p:nvSpPr>
        <p:spPr>
          <a:xfrm>
            <a:off x="7315200" y="4480560"/>
            <a:ext cx="4206240" cy="1143000"/>
          </a:xfrm>
          <a:prstGeom prst="roundRect">
            <a:avLst>
              <a:gd name="adj" fmla="val 4800"/>
            </a:avLst>
          </a:prstGeom>
          <a:solidFill>
            <a:srgbClr val="26306A"/>
          </a:solidFill>
          <a:ln/>
        </p:spPr>
      </p:sp>
      <p:sp>
        <p:nvSpPr>
          <p:cNvPr id="13" name="Text 11"/>
          <p:cNvSpPr txBox="1"/>
          <p:nvPr/>
        </p:nvSpPr>
        <p:spPr>
          <a:xfrm>
            <a:off x="7589520" y="4663440"/>
            <a:ext cx="822960" cy="777240"/>
          </a:xfrm>
          <a:prstGeom prst="rect">
            <a:avLst/>
          </a:prstGeom>
          <a:noFill/>
          <a:ln/>
        </p:spPr>
        <p:txBody>
          <a:bodyPr wrap="square" lIns="0" tIns="0" rIns="0" bIns="0" rtlCol="0" anchor="ctr"/>
          <a:lstStyle/>
          <a:p>
            <a:pPr indent="0" marL="0">
              <a:buNone/>
            </a:pPr>
            <a:r>
              <a:rPr lang="en-US" sz="3000" b="1" dirty="0">
                <a:solidFill>
                  <a:srgbClr val="CADCFC"/>
                </a:solidFill>
                <a:latin typeface="Cambria" pitchFamily="34" charset="0"/>
                <a:ea typeface="Cambria" pitchFamily="34" charset="-122"/>
                <a:cs typeface="Cambria" pitchFamily="34" charset="-120"/>
              </a:rPr>
              <a:t>1</a:t>
            </a:r>
            <a:endParaRPr lang="en-US" sz="3000" dirty="0"/>
          </a:p>
        </p:txBody>
      </p:sp>
      <p:sp>
        <p:nvSpPr>
          <p:cNvPr id="14" name="Text 12"/>
          <p:cNvSpPr txBox="1"/>
          <p:nvPr/>
        </p:nvSpPr>
        <p:spPr>
          <a:xfrm>
            <a:off x="8458200" y="4663440"/>
            <a:ext cx="2834640" cy="777240"/>
          </a:xfrm>
          <a:prstGeom prst="rect">
            <a:avLst/>
          </a:prstGeom>
          <a:noFill/>
          <a:ln/>
        </p:spPr>
        <p:txBody>
          <a:bodyPr wrap="square" lIns="0" tIns="0" rIns="0" bIns="0" rtlCol="0" anchor="ctr"/>
          <a:lstStyle/>
          <a:p>
            <a:pPr indent="0" marL="0">
              <a:lnSpc>
                <a:spcPts val="1400"/>
              </a:lnSpc>
              <a:buNone/>
            </a:pPr>
            <a:r>
              <a:rPr lang="en-US" sz="1100" dirty="0">
                <a:solidFill>
                  <a:srgbClr val="FFFFFF"/>
                </a:solidFill>
                <a:latin typeface="Calibri" pitchFamily="34" charset="0"/>
                <a:ea typeface="Calibri" pitchFamily="34" charset="-122"/>
                <a:cs typeface="Calibri" pitchFamily="34" charset="-120"/>
              </a:rPr>
              <a:t>open decision: what a bank's revenue is — ours to take, not the model's</a:t>
            </a:r>
            <a:endParaRPr lang="en-US" sz="1100" dirty="0"/>
          </a:p>
        </p:txBody>
      </p:sp>
      <p:sp>
        <p:nvSpPr>
          <p:cNvPr id="15" name="Text 13"/>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8FA3D8"/>
                </a:solidFill>
                <a:latin typeface="Calibri" pitchFamily="34" charset="0"/>
                <a:ea typeface="Calibri" pitchFamily="34" charset="-122"/>
                <a:cs typeface="Calibri" pitchFamily="34" charset="-120"/>
              </a:rPr>
              <a:t>Readiness audit §3.2 and finding F-24 — the one blocking finding the audit left open, with the three ways to close it costed.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68680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SAID PLAINLY</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300" b="1" dirty="0">
                <a:solidFill>
                  <a:srgbClr val="1E2761"/>
                </a:solidFill>
                <a:latin typeface="Cambria" pitchFamily="34" charset="0"/>
                <a:ea typeface="Cambria" pitchFamily="34" charset="-122"/>
                <a:cs typeface="Cambria" pitchFamily="34" charset="-120"/>
              </a:rPr>
              <a:t>Today, a chat writes the better note</a:t>
            </a:r>
            <a:endParaRPr lang="en-US" sz="3300" dirty="0"/>
          </a:p>
        </p:txBody>
      </p:sp>
      <p:sp>
        <p:nvSpPr>
          <p:cNvPr id="4" name="Text 2"/>
          <p:cNvSpPr txBox="1"/>
          <p:nvPr/>
        </p:nvSpPr>
        <p:spPr>
          <a:xfrm>
            <a:off x="685800" y="1481328"/>
            <a:ext cx="10332720" cy="502920"/>
          </a:xfrm>
          <a:prstGeom prst="rect">
            <a:avLst/>
          </a:prstGeom>
          <a:noFill/>
          <a:ln/>
        </p:spPr>
        <p:txBody>
          <a:bodyPr wrap="square" lIns="0" tIns="0" rIns="0" bIns="0" rtlCol="0" anchor="t"/>
          <a:lstStyle/>
          <a:p>
            <a:pPr indent="0" marL="0">
              <a:lnSpc>
                <a:spcPts val="1700"/>
              </a:lnSpc>
              <a:buNone/>
            </a:pPr>
            <a:r>
              <a:rPr lang="en-US" sz="1250" dirty="0">
                <a:solidFill>
                  <a:srgbClr val="3E466B"/>
                </a:solidFill>
                <a:latin typeface="Calibri" pitchFamily="34" charset="0"/>
                <a:ea typeface="Calibri" pitchFamily="34" charset="-122"/>
                <a:cs typeface="Calibri" pitchFamily="34" charset="-120"/>
              </a:rPr>
              <a:t>Three independent judges read each document blind — an investor deciding with their own money, a reader handed only the file, a sceptic checking the work — and then compared the pairs blind.</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2212848"/>
          <a:ext cx="10817352" cy="914400"/>
        </p:xfrm>
        <a:graphic>
          <a:graphicData uri="http://schemas.openxmlformats.org/drawingml/2006/table">
            <a:tbl>
              <a:tblPr/>
              <a:tblGrid>
                <a:gridCol w="4599432"/>
                <a:gridCol w="3108960"/>
                <a:gridCol w="310896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judges were asked</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This platform</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Claude console</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1E2761"/>
                    </a:solidFill>
                  </a:tcPr>
                </a:tc>
              </a:tr>
              <a:tr h="384048">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Would you act on it?</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no — 6 of 6</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with reservations — 6 of 6</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Is an investment view stated?</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no — 5 of 6</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yes — 6 of 6</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Is it argued, rather than recited?</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no — 5 of 6</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yes — 6 of 6</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Blind pairwise comparisons won</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0 of 6</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6 of 6</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Reading time</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30–45 minutes</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c>
                  <a:txBody>
                    <a:bodyPr/>
                    <a:lstStyle/>
                    <a:p>
                      <a:pPr indent="0" marL="0">
                        <a:buNone/>
                      </a:pPr>
                      <a:r>
                        <a:rPr lang="en-US" sz="1200" dirty="0">
                          <a:solidFill>
                            <a:srgbClr val="3E466B"/>
                          </a:solidFill>
                          <a:latin typeface="Calibri" pitchFamily="34" charset="0"/>
                          <a:ea typeface="Calibri" pitchFamily="34" charset="-122"/>
                          <a:cs typeface="Calibri" pitchFamily="34" charset="-120"/>
                        </a:rPr>
                        <a:t>50–60 minutes</a:t>
                      </a:r>
                      <a:endParaRPr lang="en-US" sz="1200" dirty="0">
                        <a:latin typeface="Calibri" charset="0"/>
                        <a:ea typeface="Calibri" charset="0"/>
                        <a:cs typeface="Calibri" charset="0"/>
                      </a:endParaRPr>
                    </a:p>
                  </a:txBody>
                  <a:tcPr marL="127000" marR="127000" marT="50800" marB="50800" anchor="ctr">
                    <a:lnL w="12700" cap="flat" cmpd="sng" algn="ctr">
                      <a:solidFill>
                        <a:srgbClr val="D8E0F2"/>
                      </a:solidFill>
                      <a:prstDash val="solid"/>
                      <a:round/>
                      <a:headEnd type="none" w="med" len="med"/>
                      <a:tailEnd type="none" w="med" len="med"/>
                    </a:lnL>
                    <a:lnR w="12700" cap="flat" cmpd="sng" algn="ctr">
                      <a:solidFill>
                        <a:srgbClr val="D8E0F2"/>
                      </a:solidFill>
                      <a:prstDash val="solid"/>
                      <a:round/>
                      <a:headEnd type="none" w="med" len="med"/>
                      <a:tailEnd type="none" w="med" len="med"/>
                    </a:lnR>
                    <a:lnT w="12700" cap="flat" cmpd="sng" algn="ctr">
                      <a:solidFill>
                        <a:srgbClr val="D8E0F2"/>
                      </a:solidFill>
                      <a:prstDash val="solid"/>
                      <a:round/>
                      <a:headEnd type="none" w="med" len="med"/>
                      <a:tailEnd type="none" w="med" len="med"/>
                    </a:lnT>
                    <a:lnB w="12700" cap="flat" cmpd="sng" algn="ctr">
                      <a:solidFill>
                        <a:srgbClr val="D8E0F2"/>
                      </a:solidFill>
                      <a:prstDash val="solid"/>
                      <a:round/>
                      <a:headEnd type="none" w="med" len="med"/>
                      <a:tailEnd type="none" w="med" len="med"/>
                    </a:lnB>
                    <a:solidFill>
                      <a:srgbClr val="FFFFFF"/>
                    </a:solidFill>
                  </a:tcPr>
                </a:tc>
              </a:tr>
            </a:tbl>
          </a:graphicData>
        </a:graphic>
      </p:graphicFrame>
      <p:sp>
        <p:nvSpPr>
          <p:cNvPr id="6" name="Shape 3"/>
          <p:cNvSpPr/>
          <p:nvPr/>
        </p:nvSpPr>
        <p:spPr>
          <a:xfrm>
            <a:off x="685800" y="4800600"/>
            <a:ext cx="10817352" cy="1143000"/>
          </a:xfrm>
          <a:prstGeom prst="roundRect">
            <a:avLst>
              <a:gd name="adj" fmla="val 4000"/>
            </a:avLst>
          </a:prstGeom>
          <a:solidFill>
            <a:srgbClr val="F2F5FC"/>
          </a:solidFill>
          <a:ln w="15875">
            <a:solidFill>
              <a:srgbClr val="B8862F"/>
            </a:solidFill>
            <a:prstDash val="solid"/>
          </a:ln>
        </p:spPr>
      </p:sp>
      <p:sp>
        <p:nvSpPr>
          <p:cNvPr id="7" name="Text 4"/>
          <p:cNvSpPr txBox="1"/>
          <p:nvPr/>
        </p:nvSpPr>
        <p:spPr>
          <a:xfrm>
            <a:off x="1005840" y="5029200"/>
            <a:ext cx="10149840" cy="777240"/>
          </a:xfrm>
          <a:prstGeom prst="rect">
            <a:avLst/>
          </a:prstGeom>
          <a:noFill/>
          <a:ln/>
        </p:spPr>
        <p:txBody>
          <a:bodyPr wrap="square" lIns="0" tIns="0" rIns="0" bIns="0" rtlCol="0" anchor="t"/>
          <a:lstStyle/>
          <a:p>
            <a:pPr indent="0" marL="0">
              <a:lnSpc>
                <a:spcPts val="1800"/>
              </a:lnSpc>
              <a:buNone/>
            </a:pPr>
            <a:r>
              <a:rPr lang="en-US" sz="1250" dirty="0">
                <a:solidFill>
                  <a:srgbClr val="1B2140"/>
                </a:solidFill>
                <a:latin typeface="Calibri" pitchFamily="34" charset="0"/>
                <a:ea typeface="Calibri" pitchFamily="34" charset="-122"/>
                <a:cs typeface="Calibri" pitchFamily="34" charset="-120"/>
              </a:rPr>
              <a:t>The reasons were the same every time: our header says “no view reached”, the brief's questions are answered only partly, and the multiples a research note is read for are withheld on every run.</a:t>
            </a:r>
            <a:endParaRPr lang="en-US" sz="1250" dirty="0"/>
          </a:p>
        </p:txBody>
      </p:sp>
      <p:sp>
        <p:nvSpPr>
          <p:cNvPr id="8" name="Text 5"/>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Readiness audit §4.1 — twelve blind reads and six blind comparisons; the raw rubrics are committed with the audit.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68680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THE ASYMMETRY</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300" b="1" dirty="0">
                <a:solidFill>
                  <a:srgbClr val="1E2761"/>
                </a:solidFill>
                <a:latin typeface="Cambria" pitchFamily="34" charset="0"/>
                <a:ea typeface="Cambria" pitchFamily="34" charset="-122"/>
                <a:cs typeface="Cambria" pitchFamily="34" charset="-120"/>
              </a:rPr>
              <a:t>One gap is wiring. The other is architecture.</a:t>
            </a:r>
            <a:endParaRPr lang="en-US" sz="3300" dirty="0"/>
          </a:p>
        </p:txBody>
      </p:sp>
      <p:sp>
        <p:nvSpPr>
          <p:cNvPr id="4" name="Shape 2"/>
          <p:cNvSpPr/>
          <p:nvPr/>
        </p:nvSpPr>
        <p:spPr>
          <a:xfrm>
            <a:off x="685800" y="1645920"/>
            <a:ext cx="5285232" cy="3840480"/>
          </a:xfrm>
          <a:prstGeom prst="roundRect">
            <a:avLst>
              <a:gd name="adj" fmla="val 1429"/>
            </a:avLst>
          </a:prstGeom>
          <a:solidFill>
            <a:srgbClr val="1E2761"/>
          </a:solidFill>
          <a:ln/>
        </p:spPr>
      </p:sp>
      <p:sp>
        <p:nvSpPr>
          <p:cNvPr id="5" name="Text 3"/>
          <p:cNvSpPr txBox="1"/>
          <p:nvPr/>
        </p:nvSpPr>
        <p:spPr>
          <a:xfrm>
            <a:off x="1005840" y="1847088"/>
            <a:ext cx="4663440" cy="365760"/>
          </a:xfrm>
          <a:prstGeom prst="rect">
            <a:avLst/>
          </a:prstGeom>
          <a:noFill/>
          <a:ln/>
        </p:spPr>
        <p:txBody>
          <a:bodyPr wrap="square" lIns="0" tIns="0" rIns="0" bIns="0" rtlCol="0" anchor="t"/>
          <a:lstStyle/>
          <a:p>
            <a:pPr indent="0" marL="0">
              <a:buNone/>
            </a:pPr>
            <a:r>
              <a:rPr lang="en-US" sz="1650" b="1" dirty="0">
                <a:solidFill>
                  <a:srgbClr val="CADCFC"/>
                </a:solidFill>
                <a:latin typeface="Cambria" pitchFamily="34" charset="0"/>
                <a:ea typeface="Cambria" pitchFamily="34" charset="-122"/>
                <a:cs typeface="Cambria" pitchFamily="34" charset="-120"/>
              </a:rPr>
              <a:t>What we lack is named and scoped</a:t>
            </a:r>
            <a:endParaRPr lang="en-US" sz="1650" dirty="0"/>
          </a:p>
        </p:txBody>
      </p:sp>
      <p:sp>
        <p:nvSpPr>
          <p:cNvPr id="6" name="Text 4"/>
          <p:cNvSpPr txBox="1"/>
          <p:nvPr/>
        </p:nvSpPr>
        <p:spPr>
          <a:xfrm>
            <a:off x="1005840" y="2331720"/>
            <a:ext cx="4663440" cy="30175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Peer multiples — acquire eight peers' filings, which EDGAR gives away</a:t>
            </a:r>
            <a:endParaRPr lang="en-US" sz="1200" dirty="0"/>
          </a:p>
          <a:p>
            <a:pPr marL="342900" indent="-342900">
              <a:lnSpc>
                <a:spcPts val="17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Segment revenue and guidance — extraction work, not intelligence</a:t>
            </a:r>
            <a:endParaRPr lang="en-US" sz="1200" dirty="0"/>
          </a:p>
          <a:p>
            <a:pPr marL="342900" indent="-342900">
              <a:lnSpc>
                <a:spcPts val="17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News in the body — raise one evidence ceiling by a single tier</a:t>
            </a:r>
            <a:endParaRPr lang="en-US" sz="1200" dirty="0"/>
          </a:p>
          <a:p>
            <a:pPr marL="342900" indent="-342900">
              <a:lnSpc>
                <a:spcPts val="17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A bank's revenue — one function and one recorded definition</a:t>
            </a:r>
            <a:endParaRPr lang="en-US" sz="1200" dirty="0"/>
          </a:p>
          <a:p>
            <a:pPr marL="342900" indent="-342900">
              <a:lnSpc>
                <a:spcPts val="17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A stated view — the model already writes the prose; today the policy withholds the verdict</a:t>
            </a:r>
            <a:endParaRPr lang="en-US" sz="1200" dirty="0"/>
          </a:p>
        </p:txBody>
      </p:sp>
      <p:sp>
        <p:nvSpPr>
          <p:cNvPr id="7" name="Shape 5"/>
          <p:cNvSpPr/>
          <p:nvPr/>
        </p:nvSpPr>
        <p:spPr>
          <a:xfrm>
            <a:off x="6217920" y="1645920"/>
            <a:ext cx="5285232" cy="3840480"/>
          </a:xfrm>
          <a:prstGeom prst="roundRect">
            <a:avLst>
              <a:gd name="adj" fmla="val 1429"/>
            </a:avLst>
          </a:prstGeom>
          <a:solidFill>
            <a:srgbClr val="F2F5FC"/>
          </a:solidFill>
          <a:ln w="15875">
            <a:solidFill>
              <a:srgbClr val="B8862F"/>
            </a:solidFill>
            <a:prstDash val="solid"/>
          </a:ln>
        </p:spPr>
      </p:sp>
      <p:sp>
        <p:nvSpPr>
          <p:cNvPr id="8" name="Text 6"/>
          <p:cNvSpPr txBox="1"/>
          <p:nvPr/>
        </p:nvSpPr>
        <p:spPr>
          <a:xfrm>
            <a:off x="6537960" y="1847088"/>
            <a:ext cx="4663440" cy="365760"/>
          </a:xfrm>
          <a:prstGeom prst="rect">
            <a:avLst/>
          </a:prstGeom>
          <a:noFill/>
          <a:ln/>
        </p:spPr>
        <p:txBody>
          <a:bodyPr wrap="square" lIns="0" tIns="0" rIns="0" bIns="0" rtlCol="0" anchor="t"/>
          <a:lstStyle/>
          <a:p>
            <a:pPr indent="0" marL="0">
              <a:buNone/>
            </a:pPr>
            <a:r>
              <a:rPr lang="en-US" sz="1650" b="1" dirty="0">
                <a:solidFill>
                  <a:srgbClr val="B8862F"/>
                </a:solidFill>
                <a:latin typeface="Cambria" pitchFamily="34" charset="0"/>
                <a:ea typeface="Cambria" pitchFamily="34" charset="-122"/>
                <a:cs typeface="Cambria" pitchFamily="34" charset="-120"/>
              </a:rPr>
              <a:t>What a chat lacks cannot be bolted on</a:t>
            </a:r>
            <a:endParaRPr lang="en-US" sz="1650" dirty="0"/>
          </a:p>
        </p:txBody>
      </p:sp>
      <p:sp>
        <p:nvSpPr>
          <p:cNvPr id="9" name="Text 7"/>
          <p:cNvSpPr txBox="1"/>
          <p:nvPr/>
        </p:nvSpPr>
        <p:spPr>
          <a:xfrm>
            <a:off x="6537960" y="2331720"/>
            <a:ext cx="4663440" cy="30175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00" dirty="0">
                <a:solidFill>
                  <a:srgbClr val="3E466B"/>
                </a:solidFill>
                <a:latin typeface="Calibri" pitchFamily="34" charset="0"/>
                <a:ea typeface="Calibri" pitchFamily="34" charset="-122"/>
                <a:cs typeface="Calibri" pitchFamily="34" charset="-120"/>
              </a:rPr>
              <a:t>Evidence hashed at the moment it is fetched — or it is hearsay for ever</a:t>
            </a:r>
            <a:endParaRPr lang="en-US" sz="1200" dirty="0"/>
          </a:p>
          <a:p>
            <a:pPr marL="342900" indent="-342900">
              <a:lnSpc>
                <a:spcPts val="1700"/>
              </a:lnSpc>
              <a:spcAft>
                <a:spcPts val="900"/>
              </a:spcAft>
              <a:buSzPct val="100000"/>
              <a:buChar char="•"/>
            </a:pPr>
            <a:r>
              <a:rPr lang="en-US" sz="1200" dirty="0">
                <a:solidFill>
                  <a:srgbClr val="3E466B"/>
                </a:solidFill>
                <a:latin typeface="Calibri" pitchFamily="34" charset="0"/>
                <a:ea typeface="Calibri" pitchFamily="34" charset="-122"/>
                <a:cs typeface="Calibri" pitchFamily="34" charset="-120"/>
              </a:rPr>
              <a:t>Arithmetic outside the prose, with units that raise instead of coercing</a:t>
            </a:r>
            <a:endParaRPr lang="en-US" sz="1200" dirty="0"/>
          </a:p>
          <a:p>
            <a:pPr marL="342900" indent="-342900">
              <a:lnSpc>
                <a:spcPts val="1700"/>
              </a:lnSpc>
              <a:spcAft>
                <a:spcPts val="900"/>
              </a:spcAft>
              <a:buSzPct val="100000"/>
              <a:buChar char="•"/>
            </a:pPr>
            <a:r>
              <a:rPr lang="en-US" sz="1200" dirty="0">
                <a:solidFill>
                  <a:srgbClr val="3E466B"/>
                </a:solidFill>
                <a:latin typeface="Calibri" pitchFamily="34" charset="0"/>
                <a:ea typeface="Calibri" pitchFamily="34" charset="-122"/>
                <a:cs typeface="Calibri" pitchFamily="34" charset="-120"/>
              </a:rPr>
              <a:t>A cost ledger, and a cap that stops the work rather than warning about it</a:t>
            </a:r>
            <a:endParaRPr lang="en-US" sz="1200" dirty="0"/>
          </a:p>
          <a:p>
            <a:pPr marL="342900" indent="-342900">
              <a:lnSpc>
                <a:spcPts val="1700"/>
              </a:lnSpc>
              <a:spcAft>
                <a:spcPts val="900"/>
              </a:spcAft>
              <a:buSzPct val="100000"/>
              <a:buChar char="•"/>
            </a:pPr>
            <a:r>
              <a:rPr lang="en-US" sz="1200" dirty="0">
                <a:solidFill>
                  <a:srgbClr val="3E466B"/>
                </a:solidFill>
                <a:latin typeface="Calibri" pitchFamily="34" charset="0"/>
                <a:ea typeface="Calibri" pitchFamily="34" charset="-122"/>
                <a:cs typeface="Calibri" pitchFamily="34" charset="-120"/>
              </a:rPr>
              <a:t>Point-in-time enforced when a page is acquired, not when it is quoted</a:t>
            </a:r>
            <a:endParaRPr lang="en-US" sz="1200" dirty="0"/>
          </a:p>
          <a:p>
            <a:pPr marL="342900" indent="-342900">
              <a:lnSpc>
                <a:spcPts val="1700"/>
              </a:lnSpc>
              <a:spcAft>
                <a:spcPts val="900"/>
              </a:spcAft>
              <a:buSzPct val="100000"/>
              <a:buChar char="•"/>
            </a:pPr>
            <a:r>
              <a:rPr lang="en-US" sz="1200" dirty="0">
                <a:solidFill>
                  <a:srgbClr val="3E466B"/>
                </a:solidFill>
                <a:latin typeface="Calibri" pitchFamily="34" charset="0"/>
                <a:ea typeface="Calibri" pitchFamily="34" charset="-122"/>
                <a:cs typeface="Calibri" pitchFamily="34" charset="-120"/>
              </a:rPr>
              <a:t>A record that still re-executes a year after anybody remembers the question</a:t>
            </a:r>
            <a:endParaRPr lang="en-US" sz="1200" dirty="0"/>
          </a:p>
        </p:txBody>
      </p:sp>
      <p:sp>
        <p:nvSpPr>
          <p:cNvPr id="10" name="Text 8"/>
          <p:cNvSpPr txBox="1"/>
          <p:nvPr/>
        </p:nvSpPr>
        <p:spPr>
          <a:xfrm>
            <a:off x="685800" y="5715000"/>
            <a:ext cx="10817352" cy="411480"/>
          </a:xfrm>
          <a:prstGeom prst="rect">
            <a:avLst/>
          </a:prstGeom>
          <a:noFill/>
          <a:ln/>
        </p:spPr>
        <p:txBody>
          <a:bodyPr wrap="square" lIns="0" tIns="0" rIns="0" bIns="0" rtlCol="0" anchor="t"/>
          <a:lstStyle/>
          <a:p>
            <a:pPr indent="0" marL="0">
              <a:buNone/>
            </a:pPr>
            <a:r>
              <a:rPr lang="en-US" sz="1450" b="1" i="1" dirty="0">
                <a:solidFill>
                  <a:srgbClr val="1E2761"/>
                </a:solidFill>
                <a:latin typeface="Cambria" pitchFamily="34" charset="0"/>
                <a:ea typeface="Cambria" pitchFamily="34" charset="-122"/>
                <a:cs typeface="Cambria" pitchFamily="34" charset="-120"/>
              </a:rPr>
              <a:t>Closing our list is a quarter's work on a system that exists. Closing theirs means building this one.</a:t>
            </a:r>
            <a:endParaRPr lang="en-US" sz="1450" dirty="0"/>
          </a:p>
        </p:txBody>
      </p:sp>
      <p:sp>
        <p:nvSpPr>
          <p:cNvPr id="11" name="Text 9"/>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Readiness audit §8 — each item on the left is a recorded decision with its options and its cost set out.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85800" y="402336"/>
            <a:ext cx="8686800" cy="274320"/>
          </a:xfrm>
          <a:prstGeom prst="rect">
            <a:avLst/>
          </a:prstGeom>
          <a:noFill/>
          <a:ln/>
        </p:spPr>
        <p:txBody>
          <a:bodyPr wrap="square" lIns="0" tIns="0" rIns="0" bIns="0" rtlCol="0" anchor="t"/>
          <a:lstStyle/>
          <a:p>
            <a:pPr indent="0" marL="0">
              <a:buNone/>
            </a:pPr>
            <a:r>
              <a:rPr lang="en-US" sz="1100" b="1" spc="220" kern="0" dirty="0">
                <a:solidFill>
                  <a:srgbClr val="CADCFC"/>
                </a:solidFill>
                <a:latin typeface="Calibri" pitchFamily="34" charset="0"/>
                <a:ea typeface="Calibri" pitchFamily="34" charset="-122"/>
                <a:cs typeface="Calibri" pitchFamily="34" charset="-120"/>
              </a:rPr>
              <a:t>HOW WE KNOW ANY OF THIS</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We audited ourselves the way we audit a filer</a:t>
            </a:r>
            <a:endParaRPr lang="en-US" sz="3300" dirty="0"/>
          </a:p>
        </p:txBody>
      </p:sp>
      <p:sp>
        <p:nvSpPr>
          <p:cNvPr id="4" name="Shape 2"/>
          <p:cNvSpPr/>
          <p:nvPr/>
        </p:nvSpPr>
        <p:spPr>
          <a:xfrm>
            <a:off x="685800" y="1828800"/>
            <a:ext cx="3383280" cy="1463040"/>
          </a:xfrm>
          <a:prstGeom prst="roundRect">
            <a:avLst>
              <a:gd name="adj" fmla="val 3750"/>
            </a:avLst>
          </a:prstGeom>
          <a:solidFill>
            <a:srgbClr val="26306A"/>
          </a:solidFill>
          <a:ln/>
        </p:spPr>
      </p:sp>
      <p:sp>
        <p:nvSpPr>
          <p:cNvPr id="5" name="Text 3"/>
          <p:cNvSpPr txBox="1"/>
          <p:nvPr/>
        </p:nvSpPr>
        <p:spPr>
          <a:xfrm>
            <a:off x="960120" y="1993392"/>
            <a:ext cx="2834640" cy="475488"/>
          </a:xfrm>
          <a:prstGeom prst="rect">
            <a:avLst/>
          </a:prstGeom>
          <a:noFill/>
          <a:ln/>
        </p:spPr>
        <p:txBody>
          <a:bodyPr wrap="square" lIns="0" tIns="0" rIns="0" bIns="0" rtlCol="0" anchor="t"/>
          <a:lstStyle/>
          <a:p>
            <a:pPr indent="0" marL="0">
              <a:buNone/>
            </a:pPr>
            <a:r>
              <a:rPr lang="en-US" sz="2500" b="1" dirty="0">
                <a:solidFill>
                  <a:srgbClr val="CADCFC"/>
                </a:solidFill>
                <a:latin typeface="Cambria" pitchFamily="34" charset="0"/>
                <a:ea typeface="Cambria" pitchFamily="34" charset="-122"/>
                <a:cs typeface="Cambria" pitchFamily="34" charset="-120"/>
              </a:rPr>
              <a:t>28</a:t>
            </a:r>
            <a:endParaRPr lang="en-US" sz="2500" dirty="0"/>
          </a:p>
        </p:txBody>
      </p:sp>
      <p:sp>
        <p:nvSpPr>
          <p:cNvPr id="6" name="Text 4"/>
          <p:cNvSpPr txBox="1"/>
          <p:nvPr/>
        </p:nvSpPr>
        <p:spPr>
          <a:xfrm>
            <a:off x="960120" y="2523744"/>
            <a:ext cx="2834640" cy="658368"/>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findings, of which 21 are fixed — each with a regression test that failed first</a:t>
            </a:r>
            <a:endParaRPr lang="en-US" sz="1050" dirty="0"/>
          </a:p>
        </p:txBody>
      </p:sp>
      <p:sp>
        <p:nvSpPr>
          <p:cNvPr id="7" name="Shape 5"/>
          <p:cNvSpPr/>
          <p:nvPr/>
        </p:nvSpPr>
        <p:spPr>
          <a:xfrm>
            <a:off x="4389120" y="1828800"/>
            <a:ext cx="3383280" cy="1463040"/>
          </a:xfrm>
          <a:prstGeom prst="roundRect">
            <a:avLst>
              <a:gd name="adj" fmla="val 3750"/>
            </a:avLst>
          </a:prstGeom>
          <a:solidFill>
            <a:srgbClr val="26306A"/>
          </a:solidFill>
          <a:ln/>
        </p:spPr>
      </p:sp>
      <p:sp>
        <p:nvSpPr>
          <p:cNvPr id="8" name="Text 6"/>
          <p:cNvSpPr txBox="1"/>
          <p:nvPr/>
        </p:nvSpPr>
        <p:spPr>
          <a:xfrm>
            <a:off x="4663440" y="1993392"/>
            <a:ext cx="2834640" cy="475488"/>
          </a:xfrm>
          <a:prstGeom prst="rect">
            <a:avLst/>
          </a:prstGeom>
          <a:noFill/>
          <a:ln/>
        </p:spPr>
        <p:txBody>
          <a:bodyPr wrap="square" lIns="0" tIns="0" rIns="0" bIns="0" rtlCol="0" anchor="t"/>
          <a:lstStyle/>
          <a:p>
            <a:pPr indent="0" marL="0">
              <a:buNone/>
            </a:pPr>
            <a:r>
              <a:rPr lang="en-US" sz="2500" b="1" dirty="0">
                <a:solidFill>
                  <a:srgbClr val="CADCFC"/>
                </a:solidFill>
                <a:latin typeface="Cambria" pitchFamily="34" charset="0"/>
                <a:ea typeface="Cambria" pitchFamily="34" charset="-122"/>
                <a:cs typeface="Cambria" pitchFamily="34" charset="-120"/>
              </a:rPr>
              <a:t>6,968</a:t>
            </a:r>
            <a:endParaRPr lang="en-US" sz="2500" dirty="0"/>
          </a:p>
        </p:txBody>
      </p:sp>
      <p:sp>
        <p:nvSpPr>
          <p:cNvPr id="9" name="Text 7"/>
          <p:cNvSpPr txBox="1"/>
          <p:nvPr/>
        </p:nvSpPr>
        <p:spPr>
          <a:xfrm>
            <a:off x="4663440" y="2523744"/>
            <a:ext cx="2834640" cy="658368"/>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automated tests, run with no network access and no model spend</a:t>
            </a:r>
            <a:endParaRPr lang="en-US" sz="1050" dirty="0"/>
          </a:p>
        </p:txBody>
      </p:sp>
      <p:sp>
        <p:nvSpPr>
          <p:cNvPr id="10" name="Shape 8"/>
          <p:cNvSpPr/>
          <p:nvPr/>
        </p:nvSpPr>
        <p:spPr>
          <a:xfrm>
            <a:off x="8092440" y="1828800"/>
            <a:ext cx="3383280" cy="1463040"/>
          </a:xfrm>
          <a:prstGeom prst="roundRect">
            <a:avLst>
              <a:gd name="adj" fmla="val 3750"/>
            </a:avLst>
          </a:prstGeom>
          <a:solidFill>
            <a:srgbClr val="26306A"/>
          </a:solidFill>
          <a:ln/>
        </p:spPr>
      </p:sp>
      <p:sp>
        <p:nvSpPr>
          <p:cNvPr id="11" name="Text 9"/>
          <p:cNvSpPr txBox="1"/>
          <p:nvPr/>
        </p:nvSpPr>
        <p:spPr>
          <a:xfrm>
            <a:off x="8366760" y="1993392"/>
            <a:ext cx="2834640" cy="475488"/>
          </a:xfrm>
          <a:prstGeom prst="rect">
            <a:avLst/>
          </a:prstGeom>
          <a:noFill/>
          <a:ln/>
        </p:spPr>
        <p:txBody>
          <a:bodyPr wrap="square" lIns="0" tIns="0" rIns="0" bIns="0" rtlCol="0" anchor="t"/>
          <a:lstStyle/>
          <a:p>
            <a:pPr indent="0" marL="0">
              <a:buNone/>
            </a:pPr>
            <a:r>
              <a:rPr lang="en-US" sz="2500" b="1" dirty="0">
                <a:solidFill>
                  <a:srgbClr val="CADCFC"/>
                </a:solidFill>
                <a:latin typeface="Cambria" pitchFamily="34" charset="0"/>
                <a:ea typeface="Cambria" pitchFamily="34" charset="-122"/>
                <a:cs typeface="Cambria" pitchFamily="34" charset="-120"/>
              </a:rPr>
              <a:t>559</a:t>
            </a:r>
            <a:endParaRPr lang="en-US" sz="2500" dirty="0"/>
          </a:p>
        </p:txBody>
      </p:sp>
      <p:sp>
        <p:nvSpPr>
          <p:cNvPr id="12" name="Text 10"/>
          <p:cNvSpPr txBox="1"/>
          <p:nvPr/>
        </p:nvSpPr>
        <p:spPr>
          <a:xfrm>
            <a:off x="8366760" y="2523744"/>
            <a:ext cx="2834640" cy="658368"/>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stored artefacts re-hashed, every one intact</a:t>
            </a:r>
            <a:endParaRPr lang="en-US" sz="1050" dirty="0"/>
          </a:p>
        </p:txBody>
      </p:sp>
      <p:sp>
        <p:nvSpPr>
          <p:cNvPr id="13" name="Shape 11"/>
          <p:cNvSpPr/>
          <p:nvPr/>
        </p:nvSpPr>
        <p:spPr>
          <a:xfrm>
            <a:off x="685800" y="3520440"/>
            <a:ext cx="3383280" cy="1463040"/>
          </a:xfrm>
          <a:prstGeom prst="roundRect">
            <a:avLst>
              <a:gd name="adj" fmla="val 3750"/>
            </a:avLst>
          </a:prstGeom>
          <a:solidFill>
            <a:srgbClr val="26306A"/>
          </a:solidFill>
          <a:ln/>
        </p:spPr>
      </p:sp>
      <p:sp>
        <p:nvSpPr>
          <p:cNvPr id="14" name="Text 12"/>
          <p:cNvSpPr txBox="1"/>
          <p:nvPr/>
        </p:nvSpPr>
        <p:spPr>
          <a:xfrm>
            <a:off x="960120" y="3685032"/>
            <a:ext cx="2834640" cy="475488"/>
          </a:xfrm>
          <a:prstGeom prst="rect">
            <a:avLst/>
          </a:prstGeom>
          <a:noFill/>
          <a:ln/>
        </p:spPr>
        <p:txBody>
          <a:bodyPr wrap="square" lIns="0" tIns="0" rIns="0" bIns="0" rtlCol="0" anchor="t"/>
          <a:lstStyle/>
          <a:p>
            <a:pPr indent="0" marL="0">
              <a:buNone/>
            </a:pPr>
            <a:r>
              <a:rPr lang="en-US" sz="2500" b="1" dirty="0">
                <a:solidFill>
                  <a:srgbClr val="CADCFC"/>
                </a:solidFill>
                <a:latin typeface="Cambria" pitchFamily="34" charset="0"/>
                <a:ea typeface="Cambria" pitchFamily="34" charset="-122"/>
                <a:cs typeface="Cambria" pitchFamily="34" charset="-120"/>
              </a:rPr>
              <a:t>36</a:t>
            </a:r>
            <a:endParaRPr lang="en-US" sz="2500" dirty="0"/>
          </a:p>
        </p:txBody>
      </p:sp>
      <p:sp>
        <p:nvSpPr>
          <p:cNvPr id="15" name="Text 13"/>
          <p:cNvSpPr txBox="1"/>
          <p:nvPr/>
        </p:nvSpPr>
        <p:spPr>
          <a:xfrm>
            <a:off x="960120" y="4215384"/>
            <a:ext cx="2834640" cy="658368"/>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audit events walked with the chain unbroken</a:t>
            </a:r>
            <a:endParaRPr lang="en-US" sz="1050" dirty="0"/>
          </a:p>
        </p:txBody>
      </p:sp>
      <p:sp>
        <p:nvSpPr>
          <p:cNvPr id="16" name="Shape 14"/>
          <p:cNvSpPr/>
          <p:nvPr/>
        </p:nvSpPr>
        <p:spPr>
          <a:xfrm>
            <a:off x="4389120" y="3520440"/>
            <a:ext cx="3383280" cy="1463040"/>
          </a:xfrm>
          <a:prstGeom prst="roundRect">
            <a:avLst>
              <a:gd name="adj" fmla="val 3750"/>
            </a:avLst>
          </a:prstGeom>
          <a:solidFill>
            <a:srgbClr val="26306A"/>
          </a:solidFill>
          <a:ln/>
        </p:spPr>
      </p:sp>
      <p:sp>
        <p:nvSpPr>
          <p:cNvPr id="17" name="Text 15"/>
          <p:cNvSpPr txBox="1"/>
          <p:nvPr/>
        </p:nvSpPr>
        <p:spPr>
          <a:xfrm>
            <a:off x="4663440" y="3685032"/>
            <a:ext cx="2834640" cy="475488"/>
          </a:xfrm>
          <a:prstGeom prst="rect">
            <a:avLst/>
          </a:prstGeom>
          <a:noFill/>
          <a:ln/>
        </p:spPr>
        <p:txBody>
          <a:bodyPr wrap="square" lIns="0" tIns="0" rIns="0" bIns="0" rtlCol="0" anchor="t"/>
          <a:lstStyle/>
          <a:p>
            <a:pPr indent="0" marL="0">
              <a:buNone/>
            </a:pPr>
            <a:r>
              <a:rPr lang="en-US" sz="2500" b="1" dirty="0">
                <a:solidFill>
                  <a:srgbClr val="CADCFC"/>
                </a:solidFill>
                <a:latin typeface="Cambria" pitchFamily="34" charset="0"/>
                <a:ea typeface="Cambria" pitchFamily="34" charset="-122"/>
                <a:cs typeface="Cambria" pitchFamily="34" charset="-120"/>
              </a:rPr>
              <a:t>£63.32</a:t>
            </a:r>
            <a:endParaRPr lang="en-US" sz="2500" dirty="0"/>
          </a:p>
        </p:txBody>
      </p:sp>
      <p:sp>
        <p:nvSpPr>
          <p:cNvPr id="18" name="Text 16"/>
          <p:cNvSpPr txBox="1"/>
          <p:nvPr/>
        </p:nvSpPr>
        <p:spPr>
          <a:xfrm>
            <a:off x="4663440" y="4215384"/>
            <a:ext cx="2834640" cy="658368"/>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of a £100 audit budget, itemised run by run</a:t>
            </a:r>
            <a:endParaRPr lang="en-US" sz="1050" dirty="0"/>
          </a:p>
        </p:txBody>
      </p:sp>
      <p:sp>
        <p:nvSpPr>
          <p:cNvPr id="19" name="Shape 17"/>
          <p:cNvSpPr/>
          <p:nvPr/>
        </p:nvSpPr>
        <p:spPr>
          <a:xfrm>
            <a:off x="8092440" y="3520440"/>
            <a:ext cx="3383280" cy="1463040"/>
          </a:xfrm>
          <a:prstGeom prst="roundRect">
            <a:avLst>
              <a:gd name="adj" fmla="val 3750"/>
            </a:avLst>
          </a:prstGeom>
          <a:solidFill>
            <a:srgbClr val="26306A"/>
          </a:solidFill>
          <a:ln/>
        </p:spPr>
      </p:sp>
      <p:sp>
        <p:nvSpPr>
          <p:cNvPr id="20" name="Text 18"/>
          <p:cNvSpPr txBox="1"/>
          <p:nvPr/>
        </p:nvSpPr>
        <p:spPr>
          <a:xfrm>
            <a:off x="8366760" y="3685032"/>
            <a:ext cx="2834640" cy="475488"/>
          </a:xfrm>
          <a:prstGeom prst="rect">
            <a:avLst/>
          </a:prstGeom>
          <a:noFill/>
          <a:ln/>
        </p:spPr>
        <p:txBody>
          <a:bodyPr wrap="square" lIns="0" tIns="0" rIns="0" bIns="0" rtlCol="0" anchor="t"/>
          <a:lstStyle/>
          <a:p>
            <a:pPr indent="0" marL="0">
              <a:buNone/>
            </a:pPr>
            <a:r>
              <a:rPr lang="en-US" sz="2500" b="1" dirty="0">
                <a:solidFill>
                  <a:srgbClr val="CADCFC"/>
                </a:solidFill>
                <a:latin typeface="Cambria" pitchFamily="34" charset="0"/>
                <a:ea typeface="Cambria" pitchFamily="34" charset="-122"/>
                <a:cs typeface="Cambria" pitchFamily="34" charset="-120"/>
              </a:rPr>
              <a:t>6 of 6</a:t>
            </a:r>
            <a:endParaRPr lang="en-US" sz="2500" dirty="0"/>
          </a:p>
        </p:txBody>
      </p:sp>
      <p:sp>
        <p:nvSpPr>
          <p:cNvPr id="21" name="Text 19"/>
          <p:cNvSpPr txBox="1"/>
          <p:nvPr/>
        </p:nvSpPr>
        <p:spPr>
          <a:xfrm>
            <a:off x="8366760" y="4215384"/>
            <a:ext cx="2834640" cy="658368"/>
          </a:xfrm>
          <a:prstGeom prst="rect">
            <a:avLst/>
          </a:prstGeom>
          <a:noFill/>
          <a:ln/>
        </p:spPr>
        <p:txBody>
          <a:bodyPr wrap="square" lIns="0" tIns="0" rIns="0" bIns="0" rtlCol="0" anchor="t"/>
          <a:lstStyle/>
          <a:p>
            <a:pPr indent="0" marL="0">
              <a:lnSpc>
                <a:spcPts val="1300"/>
              </a:lnSpc>
              <a:buNone/>
            </a:pPr>
            <a:r>
              <a:rPr lang="en-US" sz="1050" dirty="0">
                <a:solidFill>
                  <a:srgbClr val="FFFFFF"/>
                </a:solidFill>
                <a:latin typeface="Calibri" pitchFamily="34" charset="0"/>
                <a:ea typeface="Calibri" pitchFamily="34" charset="-122"/>
                <a:cs typeface="Calibri" pitchFamily="34" charset="-120"/>
              </a:rPr>
              <a:t>blind comparisons lost to the console — measured, written down, published</a:t>
            </a:r>
            <a:endParaRPr lang="en-US" sz="1050" dirty="0"/>
          </a:p>
        </p:txBody>
      </p:sp>
      <p:sp>
        <p:nvSpPr>
          <p:cNvPr id="22" name="Text 20"/>
          <p:cNvSpPr txBox="1"/>
          <p:nvPr/>
        </p:nvSpPr>
        <p:spPr>
          <a:xfrm>
            <a:off x="685800" y="5394960"/>
            <a:ext cx="10332720" cy="731520"/>
          </a:xfrm>
          <a:prstGeom prst="rect">
            <a:avLst/>
          </a:prstGeom>
          <a:noFill/>
          <a:ln/>
        </p:spPr>
        <p:txBody>
          <a:bodyPr wrap="square" lIns="0" tIns="0" rIns="0" bIns="0" rtlCol="0" anchor="t"/>
          <a:lstStyle/>
          <a:p>
            <a:pPr indent="0" marL="0">
              <a:lnSpc>
                <a:spcPts val="2100"/>
              </a:lnSpc>
              <a:buNone/>
            </a:pPr>
            <a:r>
              <a:rPr lang="en-US" sz="1500" i="1" dirty="0">
                <a:solidFill>
                  <a:srgbClr val="CADCFC"/>
                </a:solidFill>
                <a:latin typeface="Cambria" pitchFamily="34" charset="0"/>
                <a:ea typeface="Cambria" pitchFamily="34" charset="-122"/>
                <a:cs typeface="Cambria" pitchFamily="34" charset="-120"/>
              </a:rPr>
              <a:t>The audit is committed to the repository with its raw rubrics, its scores, its own defects and the six comparisons that went against us. Anything else would be marketing.</a:t>
            </a:r>
            <a:endParaRPr lang="en-US" sz="1500" dirty="0"/>
          </a:p>
        </p:txBody>
      </p:sp>
      <p:sp>
        <p:nvSpPr>
          <p:cNvPr id="23" name="Text 21"/>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8FA3D8"/>
                </a:solidFill>
                <a:latin typeface="Calibri" pitchFamily="34" charset="0"/>
                <a:ea typeface="Calibri" pitchFamily="34" charset="-122"/>
                <a:cs typeface="Calibri" pitchFamily="34" charset="-120"/>
              </a:rPr>
              <a:t>Readiness audit §5 to §7 — findings, the harness's own defects, and the spend ledger.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02336"/>
            <a:ext cx="8686800" cy="274320"/>
          </a:xfrm>
          <a:prstGeom prst="rect">
            <a:avLst/>
          </a:prstGeom>
          <a:noFill/>
          <a:ln/>
        </p:spPr>
        <p:txBody>
          <a:bodyPr wrap="square" lIns="0" tIns="0" rIns="0" bIns="0" rtlCol="0" anchor="t"/>
          <a:lstStyle/>
          <a:p>
            <a:pPr indent="0" marL="0">
              <a:buNone/>
            </a:pPr>
            <a:r>
              <a:rPr lang="en-US" sz="1100" b="1" spc="220" kern="0" dirty="0">
                <a:solidFill>
                  <a:srgbClr val="7B83A6"/>
                </a:solidFill>
                <a:latin typeface="Calibri" pitchFamily="34" charset="0"/>
                <a:ea typeface="Calibri" pitchFamily="34" charset="-122"/>
                <a:cs typeface="Calibri" pitchFamily="34" charset="-120"/>
              </a:rPr>
              <a:t>TODAY, NOT EVENTUALLY</a:t>
            </a:r>
            <a:endParaRPr lang="en-US" sz="1100" dirty="0"/>
          </a:p>
        </p:txBody>
      </p:sp>
      <p:sp>
        <p:nvSpPr>
          <p:cNvPr id="3" name="Text 1"/>
          <p:cNvSpPr txBox="1"/>
          <p:nvPr/>
        </p:nvSpPr>
        <p:spPr>
          <a:xfrm>
            <a:off x="685800" y="777240"/>
            <a:ext cx="10817352" cy="566928"/>
          </a:xfrm>
          <a:prstGeom prst="rect">
            <a:avLst/>
          </a:prstGeom>
          <a:noFill/>
          <a:ln/>
        </p:spPr>
        <p:txBody>
          <a:bodyPr wrap="square" lIns="0" tIns="0" rIns="0" bIns="0" rtlCol="0" anchor="t"/>
          <a:lstStyle/>
          <a:p>
            <a:pPr indent="0" marL="0">
              <a:buNone/>
            </a:pPr>
            <a:r>
              <a:rPr lang="en-US" sz="3300" b="1" dirty="0">
                <a:solidFill>
                  <a:srgbClr val="1E2761"/>
                </a:solidFill>
                <a:latin typeface="Cambria" pitchFamily="34" charset="0"/>
                <a:ea typeface="Cambria" pitchFamily="34" charset="-122"/>
                <a:cs typeface="Cambria" pitchFamily="34" charset="-120"/>
              </a:rPr>
              <a:t>Where it already earns its place</a:t>
            </a:r>
            <a:endParaRPr lang="en-US" sz="3300" dirty="0"/>
          </a:p>
        </p:txBody>
      </p:sp>
      <p:sp>
        <p:nvSpPr>
          <p:cNvPr id="4" name="Shape 2"/>
          <p:cNvSpPr/>
          <p:nvPr/>
        </p:nvSpPr>
        <p:spPr>
          <a:xfrm>
            <a:off x="685800" y="1645920"/>
            <a:ext cx="5285232" cy="3611880"/>
          </a:xfrm>
          <a:prstGeom prst="roundRect">
            <a:avLst>
              <a:gd name="adj" fmla="val 1519"/>
            </a:avLst>
          </a:prstGeom>
          <a:solidFill>
            <a:srgbClr val="1E2761"/>
          </a:solidFill>
          <a:ln/>
        </p:spPr>
      </p:sp>
      <p:sp>
        <p:nvSpPr>
          <p:cNvPr id="5" name="Text 3"/>
          <p:cNvSpPr txBox="1"/>
          <p:nvPr/>
        </p:nvSpPr>
        <p:spPr>
          <a:xfrm>
            <a:off x="1005840" y="1847088"/>
            <a:ext cx="4663440" cy="365760"/>
          </a:xfrm>
          <a:prstGeom prst="rect">
            <a:avLst/>
          </a:prstGeom>
          <a:noFill/>
          <a:ln/>
        </p:spPr>
        <p:txBody>
          <a:bodyPr wrap="square" lIns="0" tIns="0" rIns="0" bIns="0" rtlCol="0" anchor="t"/>
          <a:lstStyle/>
          <a:p>
            <a:pPr indent="0" marL="0">
              <a:buNone/>
            </a:pPr>
            <a:r>
              <a:rPr lang="en-US" sz="1700" b="1" dirty="0">
                <a:solidFill>
                  <a:srgbClr val="CADCFC"/>
                </a:solidFill>
                <a:latin typeface="Cambria" pitchFamily="34" charset="0"/>
                <a:ea typeface="Cambria" pitchFamily="34" charset="-122"/>
                <a:cs typeface="Cambria" pitchFamily="34" charset="-120"/>
              </a:rPr>
              <a:t>Use it for</a:t>
            </a:r>
            <a:endParaRPr lang="en-US" sz="1700" dirty="0"/>
          </a:p>
        </p:txBody>
      </p:sp>
      <p:sp>
        <p:nvSpPr>
          <p:cNvPr id="6" name="Text 4"/>
          <p:cNvSpPr txBox="1"/>
          <p:nvPr/>
        </p:nvSpPr>
        <p:spPr>
          <a:xfrm>
            <a:off x="1005840" y="2331720"/>
            <a:ext cx="4663440" cy="27889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Building and auditing an evidence base on an SEC filer — £7.48, 42 minutes of machine time, 18 sections, 142 footnotes</a:t>
            </a:r>
            <a:endParaRPr lang="en-US" sz="1200" dirty="0"/>
          </a:p>
          <a:p>
            <a:pPr marL="342900" indent="-342900">
              <a:lnSpc>
                <a:spcPts val="17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Walking any figure to the bytes behind it in minutes, and any objection to what it rests on</a:t>
            </a:r>
            <a:endParaRPr lang="en-US" sz="1200" dirty="0"/>
          </a:p>
          <a:p>
            <a:pPr marL="342900" indent="-342900">
              <a:lnSpc>
                <a:spcPts val="17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Refreshing a company you have already researched, with the prior report in the plan</a:t>
            </a:r>
            <a:endParaRPr lang="en-US" sz="1200" dirty="0"/>
          </a:p>
          <a:p>
            <a:pPr marL="342900" indent="-342900">
              <a:lnSpc>
                <a:spcPts val="1700"/>
              </a:lnSpc>
              <a:spcAft>
                <a:spcPts val="900"/>
              </a:spcAft>
              <a:buSzPct val="100000"/>
              <a:buChar char="•"/>
            </a:pPr>
            <a:r>
              <a:rPr lang="en-US" sz="1200" dirty="0">
                <a:solidFill>
                  <a:srgbClr val="FFFFFF"/>
                </a:solidFill>
                <a:latin typeface="Calibri" pitchFamily="34" charset="0"/>
                <a:ea typeface="Calibri" pitchFamily="34" charset="-122"/>
                <a:cs typeface="Calibri" pitchFamily="34" charset="-120"/>
              </a:rPr>
              <a:t>A UK plc through its 20-F — 831 calculations and a 5.83 % cost of capital</a:t>
            </a:r>
            <a:endParaRPr lang="en-US" sz="1200" dirty="0"/>
          </a:p>
        </p:txBody>
      </p:sp>
      <p:sp>
        <p:nvSpPr>
          <p:cNvPr id="7" name="Shape 5"/>
          <p:cNvSpPr/>
          <p:nvPr/>
        </p:nvSpPr>
        <p:spPr>
          <a:xfrm>
            <a:off x="6217920" y="1645920"/>
            <a:ext cx="5285232" cy="3611880"/>
          </a:xfrm>
          <a:prstGeom prst="roundRect">
            <a:avLst>
              <a:gd name="adj" fmla="val 1519"/>
            </a:avLst>
          </a:prstGeom>
          <a:solidFill>
            <a:srgbClr val="F2F5FC"/>
          </a:solidFill>
          <a:ln w="15875">
            <a:solidFill>
              <a:srgbClr val="B8862F"/>
            </a:solidFill>
            <a:prstDash val="solid"/>
          </a:ln>
        </p:spPr>
      </p:sp>
      <p:sp>
        <p:nvSpPr>
          <p:cNvPr id="8" name="Text 6"/>
          <p:cNvSpPr txBox="1"/>
          <p:nvPr/>
        </p:nvSpPr>
        <p:spPr>
          <a:xfrm>
            <a:off x="6537960" y="1847088"/>
            <a:ext cx="4663440" cy="365760"/>
          </a:xfrm>
          <a:prstGeom prst="rect">
            <a:avLst/>
          </a:prstGeom>
          <a:noFill/>
          <a:ln/>
        </p:spPr>
        <p:txBody>
          <a:bodyPr wrap="square" lIns="0" tIns="0" rIns="0" bIns="0" rtlCol="0" anchor="t"/>
          <a:lstStyle/>
          <a:p>
            <a:pPr indent="0" marL="0">
              <a:buNone/>
            </a:pPr>
            <a:r>
              <a:rPr lang="en-US" sz="1700" b="1" dirty="0">
                <a:solidFill>
                  <a:srgbClr val="B8862F"/>
                </a:solidFill>
                <a:latin typeface="Cambria" pitchFamily="34" charset="0"/>
                <a:ea typeface="Cambria" pitchFamily="34" charset="-122"/>
                <a:cs typeface="Cambria" pitchFamily="34" charset="-120"/>
              </a:rPr>
              <a:t>Not yet</a:t>
            </a:r>
            <a:endParaRPr lang="en-US" sz="1700" dirty="0"/>
          </a:p>
        </p:txBody>
      </p:sp>
      <p:sp>
        <p:nvSpPr>
          <p:cNvPr id="9" name="Text 7"/>
          <p:cNvSpPr txBox="1"/>
          <p:nvPr/>
        </p:nvSpPr>
        <p:spPr>
          <a:xfrm>
            <a:off x="6537960" y="2331720"/>
            <a:ext cx="4663440" cy="27889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00" dirty="0">
                <a:solidFill>
                  <a:srgbClr val="3E466B"/>
                </a:solidFill>
                <a:latin typeface="Calibri" pitchFamily="34" charset="0"/>
                <a:ea typeface="Calibri" pitchFamily="34" charset="-122"/>
                <a:cs typeface="Calibri" pitchFamily="34" charset="-120"/>
              </a:rPr>
              <a:t>Reaching a view — the report states none, and six judges of six would not act on it</a:t>
            </a:r>
            <a:endParaRPr lang="en-US" sz="1200" dirty="0"/>
          </a:p>
          <a:p>
            <a:pPr marL="342900" indent="-342900">
              <a:lnSpc>
                <a:spcPts val="1700"/>
              </a:lnSpc>
              <a:spcAft>
                <a:spcPts val="900"/>
              </a:spcAft>
              <a:buSzPct val="100000"/>
              <a:buChar char="•"/>
            </a:pPr>
            <a:r>
              <a:rPr lang="en-US" sz="1200" dirty="0">
                <a:solidFill>
                  <a:srgbClr val="3E466B"/>
                </a:solidFill>
                <a:latin typeface="Calibri" pitchFamily="34" charset="0"/>
                <a:ea typeface="Calibri" pitchFamily="34" charset="-122"/>
                <a:cs typeface="Calibri" pitchFamily="34" charset="-120"/>
              </a:rPr>
              <a:t>A bank — until what a bank's revenue is has been decided and recorded</a:t>
            </a:r>
            <a:endParaRPr lang="en-US" sz="1200" dirty="0"/>
          </a:p>
          <a:p>
            <a:pPr marL="342900" indent="-342900">
              <a:lnSpc>
                <a:spcPts val="1700"/>
              </a:lnSpc>
              <a:spcAft>
                <a:spcPts val="900"/>
              </a:spcAft>
              <a:buSzPct val="100000"/>
              <a:buChar char="•"/>
            </a:pPr>
            <a:r>
              <a:rPr lang="en-US" sz="1200" dirty="0">
                <a:solidFill>
                  <a:srgbClr val="3E466B"/>
                </a:solidFill>
                <a:latin typeface="Calibri" pitchFamily="34" charset="0"/>
                <a:ea typeface="Calibri" pitchFamily="34" charset="-122"/>
                <a:cs typeface="Calibri" pitchFamily="34" charset="-120"/>
              </a:rPr>
              <a:t>A domestic UK filer — acquisition resolves every subject through EDGAR alone</a:t>
            </a:r>
            <a:endParaRPr lang="en-US" sz="1200" dirty="0"/>
          </a:p>
          <a:p>
            <a:pPr marL="342900" indent="-342900">
              <a:lnSpc>
                <a:spcPts val="1700"/>
              </a:lnSpc>
              <a:spcAft>
                <a:spcPts val="900"/>
              </a:spcAft>
              <a:buSzPct val="100000"/>
              <a:buChar char="•"/>
            </a:pPr>
            <a:r>
              <a:rPr lang="en-US" sz="1200" dirty="0">
                <a:solidFill>
                  <a:srgbClr val="3E466B"/>
                </a:solidFill>
                <a:latin typeface="Calibri" pitchFamily="34" charset="0"/>
                <a:ea typeface="Calibri" pitchFamily="34" charset="-122"/>
                <a:cs typeface="Calibri" pitchFamily="34" charset="-120"/>
              </a:rPr>
              <a:t>An answer before the open — 31 to 42 minutes of machine time and six human decisions; nothing useful exists at ten</a:t>
            </a:r>
            <a:endParaRPr lang="en-US" sz="1200" dirty="0"/>
          </a:p>
        </p:txBody>
      </p:sp>
      <p:sp>
        <p:nvSpPr>
          <p:cNvPr id="10" name="Text 8"/>
          <p:cNvSpPr txBox="1"/>
          <p:nvPr/>
        </p:nvSpPr>
        <p:spPr>
          <a:xfrm>
            <a:off x="685800" y="5532120"/>
            <a:ext cx="10817352" cy="411480"/>
          </a:xfrm>
          <a:prstGeom prst="rect">
            <a:avLst/>
          </a:prstGeom>
          <a:noFill/>
          <a:ln/>
        </p:spPr>
        <p:txBody>
          <a:bodyPr wrap="square" lIns="0" tIns="0" rIns="0" bIns="0" rtlCol="0" anchor="t"/>
          <a:lstStyle/>
          <a:p>
            <a:pPr indent="0" marL="0">
              <a:buNone/>
            </a:pPr>
            <a:r>
              <a:rPr lang="en-US" sz="1450" b="1" i="1" dirty="0">
                <a:solidFill>
                  <a:srgbClr val="1E2761"/>
                </a:solidFill>
                <a:latin typeface="Cambria" pitchFamily="34" charset="0"/>
                <a:ea typeface="Cambria" pitchFamily="34" charset="-122"/>
                <a:cs typeface="Cambria" pitchFamily="34" charset="-120"/>
              </a:rPr>
              <a:t>The left column is a product today. The right is the roadmap, in the order the audit put it.</a:t>
            </a:r>
            <a:endParaRPr lang="en-US" sz="1450" dirty="0"/>
          </a:p>
        </p:txBody>
      </p:sp>
      <p:sp>
        <p:nvSpPr>
          <p:cNvPr id="11" name="Text 9"/>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7B83A6"/>
                </a:solidFill>
                <a:latin typeface="Calibri" pitchFamily="34" charset="0"/>
                <a:ea typeface="Calibri" pitchFamily="34" charset="-122"/>
                <a:cs typeface="Calibri" pitchFamily="34" charset="-120"/>
              </a:rPr>
              <a:t>Readiness audit §4.3 — the suitability matrix, twelve use cases walked or proved offline.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85800" y="402336"/>
            <a:ext cx="8686800" cy="274320"/>
          </a:xfrm>
          <a:prstGeom prst="rect">
            <a:avLst/>
          </a:prstGeom>
          <a:noFill/>
          <a:ln/>
        </p:spPr>
        <p:txBody>
          <a:bodyPr wrap="square" lIns="0" tIns="0" rIns="0" bIns="0" rtlCol="0" anchor="t"/>
          <a:lstStyle/>
          <a:p>
            <a:pPr indent="0" marL="0">
              <a:buNone/>
            </a:pPr>
            <a:r>
              <a:rPr lang="en-US" sz="1100" b="1" spc="220" kern="0" dirty="0">
                <a:solidFill>
                  <a:srgbClr val="CADCFC"/>
                </a:solidFill>
                <a:latin typeface="Calibri" pitchFamily="34" charset="0"/>
                <a:ea typeface="Calibri" pitchFamily="34" charset="-122"/>
                <a:cs typeface="Calibri" pitchFamily="34" charset="-120"/>
              </a:rPr>
              <a:t>THE WHOLE ARGUMENT</a:t>
            </a:r>
            <a:endParaRPr lang="en-US" sz="1100" dirty="0"/>
          </a:p>
        </p:txBody>
      </p:sp>
      <p:sp>
        <p:nvSpPr>
          <p:cNvPr id="3" name="Text 1"/>
          <p:cNvSpPr txBox="1"/>
          <p:nvPr/>
        </p:nvSpPr>
        <p:spPr>
          <a:xfrm>
            <a:off x="685800" y="1417320"/>
            <a:ext cx="10817352" cy="1554480"/>
          </a:xfrm>
          <a:prstGeom prst="rect">
            <a:avLst/>
          </a:prstGeom>
          <a:noFill/>
          <a:ln/>
        </p:spPr>
        <p:txBody>
          <a:bodyPr wrap="square" lIns="0" tIns="0" rIns="0" bIns="0" rtlCol="0" anchor="t"/>
          <a:lstStyle/>
          <a:p>
            <a:pPr indent="0" marL="0">
              <a:lnSpc>
                <a:spcPts val="4400"/>
              </a:lnSpc>
              <a:buNone/>
            </a:pPr>
            <a:r>
              <a:rPr lang="en-US" sz="3000" b="1" dirty="0">
                <a:solidFill>
                  <a:srgbClr val="CADCFC"/>
                </a:solidFill>
                <a:latin typeface="Cambria" pitchFamily="34" charset="0"/>
                <a:ea typeface="Cambria" pitchFamily="34" charset="-122"/>
                <a:cs typeface="Cambria" pitchFamily="34" charset="-120"/>
              </a:rPr>
              <a:t>A chat gives you an answer you have to trust.</a:t>
            </a:r>
            <a:endParaRPr lang="en-US" sz="3000" dirty="0"/>
          </a:p>
          <a:p>
            <a:pPr indent="0" marL="0">
              <a:lnSpc>
                <a:spcPts val="4400"/>
              </a:lnSpc>
              <a:buNone/>
            </a:pPr>
            <a:r>
              <a:rPr lang="en-US" sz="3000" b="1" dirty="0">
                <a:solidFill>
                  <a:srgbClr val="FFFFFF"/>
                </a:solidFill>
                <a:latin typeface="Cambria" pitchFamily="34" charset="0"/>
                <a:ea typeface="Cambria" pitchFamily="34" charset="-122"/>
                <a:cs typeface="Cambria" pitchFamily="34" charset="-120"/>
              </a:rPr>
              <a:t>This gives you a record you can check.</a:t>
            </a:r>
            <a:endParaRPr lang="en-US" sz="3000" dirty="0"/>
          </a:p>
        </p:txBody>
      </p:sp>
      <p:sp>
        <p:nvSpPr>
          <p:cNvPr id="4" name="Text 2"/>
          <p:cNvSpPr txBox="1"/>
          <p:nvPr/>
        </p:nvSpPr>
        <p:spPr>
          <a:xfrm>
            <a:off x="685800" y="3200400"/>
            <a:ext cx="10817352" cy="777240"/>
          </a:xfrm>
          <a:prstGeom prst="rect">
            <a:avLst/>
          </a:prstGeom>
          <a:noFill/>
          <a:ln/>
        </p:spPr>
        <p:txBody>
          <a:bodyPr wrap="square" lIns="0" tIns="0" rIns="0" bIns="0" rtlCol="0" anchor="t"/>
          <a:lstStyle/>
          <a:p>
            <a:pPr indent="0" marL="0">
              <a:lnSpc>
                <a:spcPts val="2200"/>
              </a:lnSpc>
              <a:buNone/>
            </a:pPr>
            <a:r>
              <a:rPr lang="en-US" sz="1400" dirty="0">
                <a:solidFill>
                  <a:srgbClr val="CADCFC"/>
                </a:solidFill>
                <a:latin typeface="Calibri" pitchFamily="34" charset="0"/>
                <a:ea typeface="Calibri" pitchFamily="34" charset="-122"/>
                <a:cs typeface="Calibri" pitchFamily="34" charset="-120"/>
              </a:rPr>
              <a:t>0 of 779 figures contradicting their filings   ·   259 of 259 citations verified   ·   3,335 calculation rows re-executed with no divergence   ·   £7.19 a report, in an 11 % band</a:t>
            </a:r>
            <a:endParaRPr lang="en-US" sz="1400" dirty="0"/>
          </a:p>
        </p:txBody>
      </p:sp>
      <p:sp>
        <p:nvSpPr>
          <p:cNvPr id="5" name="Shape 3"/>
          <p:cNvSpPr/>
          <p:nvPr/>
        </p:nvSpPr>
        <p:spPr>
          <a:xfrm>
            <a:off x="685800" y="4251960"/>
            <a:ext cx="10817352" cy="1417320"/>
          </a:xfrm>
          <a:prstGeom prst="roundRect">
            <a:avLst>
              <a:gd name="adj" fmla="val 3871"/>
            </a:avLst>
          </a:prstGeom>
          <a:solidFill>
            <a:srgbClr val="26306A"/>
          </a:solidFill>
          <a:ln/>
        </p:spPr>
      </p:sp>
      <p:sp>
        <p:nvSpPr>
          <p:cNvPr id="6" name="Text 4"/>
          <p:cNvSpPr txBox="1"/>
          <p:nvPr/>
        </p:nvSpPr>
        <p:spPr>
          <a:xfrm>
            <a:off x="1005840" y="4462272"/>
            <a:ext cx="5486400" cy="320040"/>
          </a:xfrm>
          <a:prstGeom prst="rect">
            <a:avLst/>
          </a:prstGeom>
          <a:noFill/>
          <a:ln/>
        </p:spPr>
        <p:txBody>
          <a:bodyPr wrap="square" lIns="0" tIns="0" rIns="0" bIns="0" rtlCol="0" anchor="t"/>
          <a:lstStyle/>
          <a:p>
            <a:pPr indent="0" marL="0">
              <a:buNone/>
            </a:pPr>
            <a:r>
              <a:rPr lang="en-US" sz="1100" b="1" spc="140" kern="0" dirty="0">
                <a:solidFill>
                  <a:srgbClr val="CADCFC"/>
                </a:solidFill>
                <a:latin typeface="Calibri" pitchFamily="34" charset="0"/>
                <a:ea typeface="Calibri" pitchFamily="34" charset="-122"/>
                <a:cs typeface="Calibri" pitchFamily="34" charset="-120"/>
              </a:rPr>
              <a:t>Next, in the order the audit put them</a:t>
            </a:r>
            <a:endParaRPr lang="en-US" sz="1100" dirty="0"/>
          </a:p>
        </p:txBody>
      </p:sp>
      <p:sp>
        <p:nvSpPr>
          <p:cNvPr id="7" name="Text 5"/>
          <p:cNvSpPr txBox="1"/>
          <p:nvPr/>
        </p:nvSpPr>
        <p:spPr>
          <a:xfrm>
            <a:off x="1005840" y="4864608"/>
            <a:ext cx="10149840" cy="731520"/>
          </a:xfrm>
          <a:prstGeom prst="rect">
            <a:avLst/>
          </a:prstGeom>
          <a:noFill/>
          <a:ln/>
        </p:spPr>
        <p:txBody>
          <a:bodyPr wrap="square" lIns="0" tIns="0" rIns="0" bIns="0" rtlCol="0" anchor="t"/>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Peer multiples, so a report carries EV/EBITDA and P/E   ·   a bank's revenue, so a bank can be researched at all   ·   a stated view, so the record becomes a note somebody can act on.</a:t>
            </a:r>
            <a:endParaRPr lang="en-US" sz="1250" dirty="0"/>
          </a:p>
        </p:txBody>
      </p:sp>
      <p:sp>
        <p:nvSpPr>
          <p:cNvPr id="8" name="Text 6"/>
          <p:cNvSpPr txBox="1"/>
          <p:nvPr/>
        </p:nvSpPr>
        <p:spPr>
          <a:xfrm>
            <a:off x="685800" y="6272784"/>
            <a:ext cx="10817352" cy="274320"/>
          </a:xfrm>
          <a:prstGeom prst="rect">
            <a:avLst/>
          </a:prstGeom>
          <a:noFill/>
          <a:ln/>
        </p:spPr>
        <p:txBody>
          <a:bodyPr wrap="square" lIns="0" tIns="0" rIns="0" bIns="0" rtlCol="0" anchor="t"/>
          <a:lstStyle/>
          <a:p>
            <a:pPr indent="0" marL="0">
              <a:buNone/>
            </a:pPr>
            <a:r>
              <a:rPr lang="en-US" sz="950" i="1" dirty="0">
                <a:solidFill>
                  <a:srgbClr val="8FA3D8"/>
                </a:solidFill>
                <a:latin typeface="Calibri" pitchFamily="34" charset="0"/>
                <a:ea typeface="Calibri" pitchFamily="34" charset="-122"/>
                <a:cs typeface="Calibri" pitchFamily="34" charset="-120"/>
              </a:rPr>
              <a:t>Ageantic — a local-first, auditable equity research platform. A personal research tool, not regulated investment advice.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Ageantic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 a better chat</dc:title>
  <dc:subject>Why an auditable research record beats a chat answer</dc:subject>
  <dc:creator>Ageantic</dc:creator>
  <cp:lastModifiedBy>Ageantic</cp:lastModifiedBy>
  <cp:revision>1</cp:revision>
  <dcterms:created xsi:type="dcterms:W3CDTF">2026-09-13T07:09:36Z</dcterms:created>
  <dcterms:modified xsi:type="dcterms:W3CDTF">2026-09-13T07:09:36Z</dcterms:modified>
</cp:coreProperties>
</file>