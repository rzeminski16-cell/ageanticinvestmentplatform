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Model spend</c:v>
                </c:pt>
              </c:strCache>
            </c:strRef>
          </c:tx>
          <c:spPr>
            <a:solidFill>
              <a:srgbClr val="00879B"/>
            </a:solidFill>
            <a:effectLst/>
          </c:spPr>
          <c:invertIfNegative val="0"/>
          <c:dLbls>
            <c:numFmt formatCode="&quot;£&quot;0.00" sourceLinked="0"/>
            <c:txPr>
              <a:bodyPr/>
              <a:lstStyle/>
              <a:p>
                <a:pPr>
                  <a:defRPr b="0" i="0" strike="noStrike" sz="950" u="none">
                    <a:solidFill>
                      <a:srgbClr val="15252E"/>
                    </a:solidFill>
                    <a:latin typeface="Consolas"/>
                  </a:defRPr>
                </a:pPr>
              </a:p>
            </c:txPr>
            <c:showLegendKey val="0"/>
            <c:showVal val="1"/>
            <c:showCatName val="0"/>
            <c:showSerName val="0"/>
            <c:showPercent val="0"/>
            <c:showBubbleSize val="0"/>
            <c:showLeaderLines val="0"/>
          </c:dLbls>
          <c:dPt>
            <c:idx val="0"/>
            <c:invertIfNegative val="0"/>
            <c:bubble3D val="0"/>
            <c:spPr>
              <a:solidFill>
                <a:srgbClr val="00879B"/>
              </a:solidFill>
              <a:effectLst/>
            </c:spPr>
          </c:dPt>
          <c:dPt>
            <c:idx val="1"/>
            <c:invertIfNegative val="0"/>
            <c:bubble3D val="0"/>
            <c:spPr>
              <a:solidFill>
                <a:srgbClr val="00879B"/>
              </a:solidFill>
              <a:effectLst/>
            </c:spPr>
          </c:dPt>
          <c:dPt>
            <c:idx val="2"/>
            <c:invertIfNegative val="0"/>
            <c:bubble3D val="0"/>
            <c:spPr>
              <a:solidFill>
                <a:srgbClr val="00879B"/>
              </a:solidFill>
              <a:effectLst/>
            </c:spPr>
          </c:dPt>
          <c:dPt>
            <c:idx val="3"/>
            <c:invertIfNegative val="0"/>
            <c:bubble3D val="0"/>
            <c:spPr>
              <a:solidFill>
                <a:srgbClr val="00879B"/>
              </a:solidFill>
              <a:effectLst/>
            </c:spPr>
          </c:dPt>
          <c:dPt>
            <c:idx val="4"/>
            <c:invertIfNegative val="0"/>
            <c:bubble3D val="0"/>
            <c:spPr>
              <a:solidFill>
                <a:srgbClr val="00879B"/>
              </a:solidFill>
              <a:effectLst/>
            </c:spPr>
          </c:dPt>
          <c:dPt>
            <c:idx val="5"/>
            <c:invertIfNegative val="0"/>
            <c:bubble3D val="0"/>
            <c:spPr>
              <a:solidFill>
                <a:srgbClr val="B86E00"/>
              </a:solidFill>
              <a:effectLst/>
            </c:spPr>
          </c:dPt>
          <c:dPt>
            <c:idx val="6"/>
            <c:invertIfNegative val="0"/>
            <c:bubble3D val="0"/>
            <c:spPr>
              <a:solidFill>
                <a:srgbClr val="B86E00"/>
              </a:solidFill>
              <a:effectLst/>
            </c:spPr>
          </c:dPt>
          <c:dPt>
            <c:idx val="7"/>
            <c:invertIfNegative val="0"/>
            <c:bubble3D val="0"/>
            <c:spPr>
              <a:solidFill>
                <a:srgbClr val="B86E00"/>
              </a:solidFill>
              <a:effectLst/>
            </c:spPr>
          </c:dPt>
          <c:cat>
            <c:multiLvlStrRef>
              <c:f>Sheet1!$A$2:$A$9</c:f>
              <c:multiLvlStrCache>
                <c:ptCount val="8"/>
                <c:lvl>
                  <c:pt idx="0">
                    <c:v>Microsoft #1</c:v>
                  </c:pt>
                  <c:pt idx="1">
                    <c:v>Microsoft #2</c:v>
                  </c:pt>
                  <c:pt idx="2">
                    <c:v>AstraZeneca #1</c:v>
                  </c:pt>
                  <c:pt idx="3">
                    <c:v>AstraZeneca #2</c:v>
                  </c:pt>
                  <c:pt idx="4">
                    <c:v>M&amp;T Bank</c:v>
                  </c:pt>
                  <c:pt idx="5">
                    <c:v>AI note: Microsoft</c:v>
                  </c:pt>
                  <c:pt idx="6">
                    <c:v>AI note: AstraZeneca</c:v>
                  </c:pt>
                  <c:pt idx="7">
                    <c:v>AI note: M&amp;T Bank</c:v>
                  </c:pt>
                </c:lvl>
              </c:multiLvlStrCache>
            </c:multiLvlStrRef>
          </c:cat>
          <c:val>
            <c:numRef>
              <c:f>Sheet1!$B$2:$B$9</c:f>
              <c:numCache>
                <c:formatCode>General</c:formatCode>
                <c:ptCount val="8"/>
                <c:pt idx="0">
                  <c:v>7.48</c:v>
                </c:pt>
                <c:pt idx="1">
                  <c:v>6.8</c:v>
                </c:pt>
                <c:pt idx="2">
                  <c:v>6.83</c:v>
                </c:pt>
                <c:pt idx="3">
                  <c:v>7.21</c:v>
                </c:pt>
                <c:pt idx="4">
                  <c:v>7.61</c:v>
                </c:pt>
                <c:pt idx="5">
                  <c:v>7.63</c:v>
                </c:pt>
                <c:pt idx="6">
                  <c:v>11.03</c:v>
                </c:pt>
                <c:pt idx="7">
                  <c:v>6.71</c:v>
                </c:pt>
              </c:numCache>
            </c:numRef>
          </c:val>
        </c:ser>
        <c:dLbls>
          <c:numFmt formatCode="&quot;£&quot;0.00" sourceLinked="0"/>
          <c:txPr>
            <a:bodyPr/>
            <a:lstStyle/>
            <a:p>
              <a:pPr>
                <a:defRPr b="0" i="0" strike="noStrike" sz="950" u="none">
                  <a:solidFill>
                    <a:srgbClr val="15252E"/>
                  </a:solidFill>
                  <a:latin typeface="Consolas"/>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950" b="0" i="0" u="none" strike="noStrike">
                <a:solidFill>
                  <a:srgbClr val="15252E"/>
                </a:solidFill>
                <a:latin typeface="Calibri"/>
              </a:defRPr>
            </a:pPr>
            <a:endParaRPr lang="en-US"/>
          </a:p>
        </c:txPr>
        <c:crossAx val="2094734552"/>
        <c:crosses val="autoZero"/>
        <c:auto val="1"/>
        <c:lblAlgn val="ctr"/>
        <c:noMultiLvlLbl val="1"/>
      </c:catAx>
      <c:valAx>
        <c:axId val="2094734552"/>
        <c:scaling>
          <c:orientation val="minMax"/>
          <c:max val="12.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 not the investor. Every slide says what kind of claim it makes, which is the same discipline the product applies to every figure. Work through the checklist, then delete this slide. pitch-sources.md, beside this file, maps every figure to the document it was read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artefact, not the ambition. The two lines are the whole pitch: research whose every figure can be checked, and a record of why you bought that the product keeps testing. The three figures are measured, from the readiness audit of 11–12 September 2026 — five live reports on Microsoft, AstraZeneca and M&amp;T Bank. The panel on the right is the chain every figure sits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investor reads one slide, it is this one. Each card is expanded later in the deck. The evidence card is deliberately two-sided: the accuracy figures are strong, and the comparisons judged by language models went against us. Saying both here buys the credibility the rest of the deck spends.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that general AI is inaccurate — our own audit found its stated figures accurate. The problem is that nobody can tell which figures to trust without redoing the work. The three numbers on the right come from the three baseline notes the audit commissioned: a third of their links were dead the next day, none carried a citation block, and the cost of the same kind of brief varied by 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between a twenty-dollar chatbot and a five-figure professional seat. Consumer tools give data, ratings and screens; professional tools give depth and source links, at institutional prices. The claim in the left card is our judgement from the categories we examined, not a survey of every product — check it against anything the investor names. Our own price is a placeholder: the only number we have is the measured cost of producing one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problem the V1.0 product is organised around, in the design documents’ own words: are the reasons I bought still standing? It is our framing, not a measured market fact — the placeholder at the bottom is where evidence from real investors goes. Interviews that quote this pain back to you are worth more than any number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not the report. A chat session structurally cannot do this: it does not keep what you believed, so it cannot test it. The pass matters most — a record of the companies you declined, and why, is the one thing nobody else keeps. Source: docs/V1.0_Alpha/00-the-product.md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remember one thing technical, it is this split. It is the repository’s first architectural decision (ADR 0003), and it is enforced in code rather than requested in a prompt: a figure that is not a stored fact, a recorded calculation or the operator’s own attested holding is refused before it reaches a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are the product, not friction: nothing is spent until the costed plan is approved, and nothing is published until the draft is. A run stops for six decisions on an ordinary company and seven on a bank. The largest single cost is drafting. All figures in the bottom row are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property that makes it different, and the one a chat product cannot retrofit: every figure sits at the top of an unbroken chain down to archived bytes. In the interface the chain is a link; in an exported file it is a quotation — the verified passage printed with its retrieval date and digest, so a file that has left the machine is still checkable. The screen is an illustration; its figures are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Plum is the design system’s colour for a guardrail deliberately withholding an answer — never the colour of a fault. Each of these refusals is enforced in code and pinned by tests; the skill-file one is proved against a corpus of attacks that must all fail. Source: docs/product/what-it-is.md, ‘What it refuses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 door is a briefing, not an inbox. The strip across the top is every position by weight, coloured by whether its reasoning still holds — the two-second read is how much of the book still has a reason behind it. Stages organise the menu; the portfolio is where the user lives. Everything on the screen is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Commissioning without documentation is one of the V1.0 bars. The Quick figure is a single measured run (£4.95, 31 minutes). The closing section computes consequences over the operator’s own book and never issues instructions — which matters for the regulatory slides later. The screen’s prices are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never guesses: a question outside the record is refused with a price. The third tier leaves the record larger than it found it. The refresh figure is one measured run from the verdict round (£1.66); that run also lost its valuation, which the plan fixes and re-measures. The workbook is also a quiet distribution channel: the provenance tab travels when an analyst emails the model to a colleague.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is the load-bearing idea of the product: without it there is nothing to monitor, validate or review. After the verdict round the platform stopped stating a view of its own; the view is the operator’s and the adversary argues against it (F2 and F13’s authored half, both in the V1.0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pre-trade check and the risk page share one implementation, so they can never disagree. The check computes consequences rather than issuing instructions — a tool that refuses a trade has confused advice with control. The screen’s figures are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 12% this week. Nothing has been filed since your last check and all four premises still hold.’ That sentence is the product in miniature: it is the difference between an alert that causes panic and one that prevents it, and no chat can produce it because no chat remembers what you believed last quarter. Figures on screen are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profitable trade on a broken thesis is a bad decision that paid, and it teaches the wrong lesson if nobody names it. Decision analytics deliberately says nothing until the sample supports it — the design shows it greyed out at eleven reviews of twenty. The screen is an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Shown as delivered at your instruction: this is the V1.0 plan’s scope plus the roadmap’s tools. Before sending, confirm each has shipped. F-numbers refer to docs/V1.0_Alpha/04-feature-specifications.md. Two honest boundaries sit underneath: the step to a second user is designed but deferred, and some things are decided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engineering is part of the moat. Every architectural decision is a written record with its reason; the invariants are enforced by tests, not by convention; and the whole suite runs with no network and no model spend. The knowledge map is pinned to the code by a test, so the documentation fails the suite rather than going stale.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 of 779 comes from the audit’s own matcher, whose precision was calibrated and whose recall was not measured — say so if asked. 3,335 is the sum of five runs’ replayed calculation rows. The 28/21 tile shows the system is measured and repaired, not just asserted. The verdict strip is the audit’s own words, including the two criteria it failed at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slide. Across three rounds the model judges chose the general AI note every time, and the pre-registered stop rule fired on 25 September 2026. What they objected to moved from ‘reaches no view’ to ‘states a broken view’; what they valued was the evidence — the source register, the red-team log, the primary-source trail. That is why the product now claims the evidence base and the checking instrument, and no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 one is a frontier model’s home ground and we concede it. Column three is architecture: it cannot be bolted onto a chat after the fact. The asymmetry — closing our column-one gap is scoped work, closing their column-three gap means building this — is the investment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operator’s decisions of 25 September 2026, taken after the verdict round. The finish line is the plan’s own definition of V1.0 done for personal use; per your instruction the deck treats it as met — confirm before sending. The re-measurement after the fixes (about £21, pre-approved) has a result nobody knows yet: that is the placeholder, and it matters more than anything else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is fact: the product was built for one operator, a private investor who checks the work. The middle column is what the project’s own documents already say about who pays — quoted, not invented. The right column is yours: which segments you will test, and the evidence so far. Candidates you might consider testing, none of them assumed: self-directed investors who write their own theses, investment clubs, independent analysts and newsletter writers, small fund managers and family offices who must defend research to a committee.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in the project’s record sizes the market, so nothing here is estimated. Build it bottom-up from the beachhead segment you validate: the number of reachable users times a tested price is more credible to an angel than a top-down share of a large number. Cite every input; the deck’s other figures are all sourced, and a guessed market number would stand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forces, each tagged by what kind of claim it is. The funding figures are from primary announcements where we could find them (Rogo’s press release, 29 April 2026) and secondary sources otherwise — verify before use. The point of the second card is that general AI moving into personal investing makes the trust problem bigger, not smaller. The fourth card is measured cost, plus our judgement about model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positioning map is an argument, and this one is ours: placement is our reading of each category, not a measurement. The bottom-right quadrant — checkable research, built for one person — is where the serious individual investor already works, by hand, in spreadsheets and filings. We automate that work and keep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matters: they set the standard, they prove willingness to pay, and they attract capital. None of them sells an individual a checkable research record of their own reasoning. Daloopa is the closest in spirit — every data point linked to its source — and is better treated as a potential data partner than a rival.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AI is the competitor that matters most, and we say so: in our own tests model judges preferred its notes every time. Its weakness is structural, not a matter of quality. The honest incumbent for our user is doing it yourself — full control, full checkability, and hours per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question ‘what if a frontier lab or Bloomberg just builds this?’. The honest answer: they could, and it would mean building this — provenance from the moment a byte is fetched, not memory bolted onto a conversation. Our edge is a head start, a documented architecture and focus on a customer the incumbents do not 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reasons; each says underneath whether it rests on a measurement or on our judgement. Lead with the first two, which are measured. The sixth is an idea already written down in the project — an immutable, hashed record of every report is the basis for a track record nobody can edit after the fact — not something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project’s documents already sketch the economics but decide none of it. The strongest idea on the record is that the refresh turns a purchase into a subscription. The delivery model is a real fork: today’s architecture is local-first, and the recorded design for a second user (ADR 0120) adds accounts without making it a hosted service. Choosing hosted would reverse a recorded decision, which the project does by ADR.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cost column is measured, and some of it only once — say so. The price and contribution columns are yours. Two cost lines are not model spend at all: the price-data subscription, whose current plan is personal-use only, and hosting, which does not exist yet because the product is local-first.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in the record says how the product reaches customers, so the left side is yours. The right side lists distribution ideas the project has already written down; each is cheap relative to what it would return, and none is built. The workbook is the quietest: an analyst emails the model to a colleague and the provenance tab travels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is the predictability argument: five platform runs inside an 11% band against a 65% spread for the AI baseline on the same briefs. Model spend is the only variable cost today, and every penny is metered per call. Data subscriptions sit outside that ledger, and the one paid feed is on a personal-use plan — see the data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side is what the record measures: live model spend on the three measurement rounds, and the V1.0 delivery plan’s own estimate, written before the work. Development cost — your time, tools, anything else — is not recorded in the project, so it is a placeholder. The right side is every cost line the risks imply for a business; put a number on each, or say why it is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here is either measured or a gap the record admits. The first is the one an investor will press on; the answer is that we measured it ourselves, pre-registered what would make us stop, and narrowed the claim when it fired.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on this slide is legal advice, and it needs a solicitor’s reading before it is shown. The project’s documents themselves say the advice question is ‘for a solicitor before launch rather than after’. The US position is not analysed anywhere in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licence row matters most to a business: the paid feed in use is a personal plan, and the project’s own decision record (ADR 0030) accepts that a commercial version needs a different licence. UK coverage is narrower than ‘UK or US’ suggests, for a reason outside the platform’s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row is the largest technical step between a personal tool and a business, and the project calls it ‘before this leaves one machine’. It is designed, and deliberately deferred until a solicitor has read the consequences-not-instructions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empty. The plan is treated as delivered; beyond it, the record states no roadmap, so this slide states none either. The strip underneath is not a roadmap — it lists decisions the business cannot avoid, each of which is already open in the project’s own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side is not invented: these bars are written into the product’s own specification, with how each is measured. Offering them as the scorecard for the investment makes the measurement culture a selling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Angels invest in people first. Say why you, and why now; name the gaps honestly and how the round fills them. Diligence will ask how the code was written and who owns it — have a one-line answer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earlier decks deliberately stated no ask, because the audit measured none of it. This slide is where yours goes. The use-of-funds lines mirror the cost slide, so every pound maps to a risk it retires. UK angels will usually ask about SEIS or EIS eligibility — check it with an accountant before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category difference, not on a number. Then stop talking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organised by trust zone rather than alphabetically, and a change inside a stricter zone carries stricter obligations. Source: docs/developers/knowledge-map.md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Weakening one is a recorded decision, not a code change. Invariant 4 was retired by ADR 0113 when the readiness audit showed it had never fired; a test keeps the retired enforcement gone. Source: CLAUDE.md and docs/developers/knowledge-map.md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sources were declined on their own terms and stay declined: the FCA’s National Storage Mechanism and the Bank of England’s statistical database. The one paid feed is on a personal-use plan. Everything else is free public data under licences that permit commercial use, series by series in FRED’s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Totals: 259 citations and 779 checkable figures match the audit’s main text and the replay records. The scorecard prints slightly different per-run citation counts; the totals here are the audit’s. Calculations replayed sum to 3,335.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round was pre-registered: what would count as fixed, and what would mean stopping, was written down before any money was spent. That is why the stop rule could fire, and why an investor can trust the other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the left is in the repository for anyone who reads it. Better that the investor hears it from you, with the answer, than finds it alone. Delete rows only if they no longer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words the product uses precisely. Useful when an investor reads the repository or the product’s own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pitch-sources.md, beside this deck in the repository, maps every figure slide by slide, including every external URL and the date it was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00 · READ ME FIRST · DELETE THIS SLIDE BEFORE SENDING</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How this deck is built, and what is left for you</a:t>
            </a:r>
            <a:endParaRPr lang="en-US" sz="2800" dirty="0"/>
          </a:p>
        </p:txBody>
      </p:sp>
      <p:sp>
        <p:nvSpPr>
          <p:cNvPr id="5" name="Shape 3"/>
          <p:cNvSpPr/>
          <p:nvPr/>
        </p:nvSpPr>
        <p:spPr>
          <a:xfrm>
            <a:off x="10624414" y="384048"/>
            <a:ext cx="1018642" cy="219456"/>
          </a:xfrm>
          <a:prstGeom prst="roundRect">
            <a:avLst>
              <a:gd name="adj" fmla="val 50000"/>
            </a:avLst>
          </a:prstGeom>
          <a:solidFill>
            <a:srgbClr val="7A4B00"/>
          </a:solidFill>
          <a:ln/>
        </p:spPr>
      </p:sp>
      <p:sp>
        <p:nvSpPr>
          <p:cNvPr id="6" name="Text 4"/>
          <p:cNvSpPr txBox="1"/>
          <p:nvPr/>
        </p:nvSpPr>
        <p:spPr>
          <a:xfrm>
            <a:off x="10624414" y="38404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7" name="Text 5"/>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8" name="Text 6"/>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01</a:t>
            </a:r>
            <a:endParaRPr lang="en-US" sz="800" dirty="0"/>
          </a:p>
        </p:txBody>
      </p:sp>
      <p:sp>
        <p:nvSpPr>
          <p:cNvPr id="10" name="Shape 7"/>
          <p:cNvSpPr/>
          <p:nvPr/>
        </p:nvSpPr>
        <p:spPr>
          <a:xfrm>
            <a:off x="548640" y="1463040"/>
            <a:ext cx="5577840" cy="4617720"/>
          </a:xfrm>
          <a:prstGeom prst="roundRect">
            <a:avLst>
              <a:gd name="adj" fmla="val 990"/>
            </a:avLst>
          </a:prstGeom>
          <a:solidFill>
            <a:srgbClr val="FFFFFF"/>
          </a:solidFill>
          <a:ln w="9525">
            <a:solidFill>
              <a:srgbClr val="CDD8DC"/>
            </a:solidFill>
            <a:prstDash val="solid"/>
          </a:ln>
        </p:spPr>
      </p:sp>
      <p:sp>
        <p:nvSpPr>
          <p:cNvPr id="11" name="Text 8"/>
          <p:cNvSpPr txBox="1"/>
          <p:nvPr/>
        </p:nvSpPr>
        <p:spPr>
          <a:xfrm>
            <a:off x="777240" y="1645920"/>
            <a:ext cx="5120640"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THE PROVENANCE TAG ON EVERY SLIDE</a:t>
            </a:r>
            <a:endParaRPr lang="en-US" sz="900" dirty="0"/>
          </a:p>
        </p:txBody>
      </p:sp>
      <p:sp>
        <p:nvSpPr>
          <p:cNvPr id="12" name="Text 9"/>
          <p:cNvSpPr txBox="1"/>
          <p:nvPr/>
        </p:nvSpPr>
        <p:spPr>
          <a:xfrm>
            <a:off x="777240" y="1920240"/>
            <a:ext cx="5120640" cy="274320"/>
          </a:xfrm>
          <a:prstGeom prst="rect">
            <a:avLst/>
          </a:prstGeom>
          <a:noFill/>
          <a:ln/>
        </p:spPr>
        <p:txBody>
          <a:bodyPr wrap="square" lIns="0" tIns="0" rIns="0" bIns="0" rtlCol="0" anchor="t"/>
          <a:lstStyle/>
          <a:p>
            <a:pPr indent="0" marL="0">
              <a:buNone/>
            </a:pPr>
            <a:r>
              <a:rPr lang="en-US" sz="1100" dirty="0">
                <a:solidFill>
                  <a:srgbClr val="52656E"/>
                </a:solidFill>
                <a:latin typeface="Calibri" pitchFamily="34" charset="0"/>
                <a:ea typeface="Calibri" pitchFamily="34" charset="-122"/>
                <a:cs typeface="Calibri" pitchFamily="34" charset="-120"/>
              </a:rPr>
              <a:t>Every slide says what kind of claim it makes, as every figure in the product does.</a:t>
            </a:r>
            <a:endParaRPr lang="en-US" sz="1100" dirty="0"/>
          </a:p>
        </p:txBody>
      </p:sp>
      <p:sp>
        <p:nvSpPr>
          <p:cNvPr id="13" name="Shape 10"/>
          <p:cNvSpPr/>
          <p:nvPr/>
        </p:nvSpPr>
        <p:spPr>
          <a:xfrm>
            <a:off x="777240" y="2359152"/>
            <a:ext cx="815645" cy="219456"/>
          </a:xfrm>
          <a:prstGeom prst="roundRect">
            <a:avLst>
              <a:gd name="adj" fmla="val 50000"/>
            </a:avLst>
          </a:prstGeom>
          <a:solidFill>
            <a:srgbClr val="0F6673"/>
          </a:solidFill>
          <a:ln/>
        </p:spPr>
      </p:sp>
      <p:sp>
        <p:nvSpPr>
          <p:cNvPr id="14" name="Text 11"/>
          <p:cNvSpPr txBox="1"/>
          <p:nvPr/>
        </p:nvSpPr>
        <p:spPr>
          <a:xfrm>
            <a:off x="777240" y="2359152"/>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15" name="Text 12"/>
          <p:cNvSpPr txBox="1"/>
          <p:nvPr/>
        </p:nvSpPr>
        <p:spPr>
          <a:xfrm>
            <a:off x="2514600" y="2331720"/>
            <a:ext cx="3429000" cy="548640"/>
          </a:xfrm>
          <a:prstGeom prst="rect">
            <a:avLst/>
          </a:prstGeom>
          <a:noFill/>
          <a:ln/>
        </p:spPr>
        <p:txBody>
          <a:bodyPr wrap="square" lIns="0" tIns="0" rIns="0" bIns="0" rtlCol="0" anchor="t"/>
          <a:lstStyle/>
          <a:p>
            <a:pPr indent="0" marL="0">
              <a:buNone/>
            </a:pPr>
            <a:r>
              <a:rPr lang="en-US" sz="1000" dirty="0">
                <a:solidFill>
                  <a:srgbClr val="15252E"/>
                </a:solidFill>
                <a:latin typeface="Calibri" pitchFamily="34" charset="0"/>
                <a:ea typeface="Calibri" pitchFamily="34" charset="-122"/>
                <a:cs typeface="Calibri" pitchFamily="34" charset="-120"/>
              </a:rPr>
              <a:t>Read from the readiness audit, a measurement round or the repository. Mapped in pitch-sources.md.</a:t>
            </a:r>
            <a:endParaRPr lang="en-US" sz="1000" dirty="0"/>
          </a:p>
        </p:txBody>
      </p:sp>
      <p:sp>
        <p:nvSpPr>
          <p:cNvPr id="16" name="Shape 13"/>
          <p:cNvSpPr/>
          <p:nvPr/>
        </p:nvSpPr>
        <p:spPr>
          <a:xfrm>
            <a:off x="777240" y="2962656"/>
            <a:ext cx="1356970" cy="219456"/>
          </a:xfrm>
          <a:prstGeom prst="roundRect">
            <a:avLst>
              <a:gd name="adj" fmla="val 50000"/>
            </a:avLst>
          </a:prstGeom>
          <a:solidFill>
            <a:srgbClr val="14613F"/>
          </a:solidFill>
          <a:ln/>
        </p:spPr>
      </p:sp>
      <p:sp>
        <p:nvSpPr>
          <p:cNvPr id="17" name="Text 14"/>
          <p:cNvSpPr txBox="1"/>
          <p:nvPr/>
        </p:nvSpPr>
        <p:spPr>
          <a:xfrm>
            <a:off x="777240" y="2962656"/>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18" name="Text 15"/>
          <p:cNvSpPr txBox="1"/>
          <p:nvPr/>
        </p:nvSpPr>
        <p:spPr>
          <a:xfrm>
            <a:off x="2514600" y="2935224"/>
            <a:ext cx="3429000" cy="548640"/>
          </a:xfrm>
          <a:prstGeom prst="rect">
            <a:avLst/>
          </a:prstGeom>
          <a:noFill/>
          <a:ln/>
        </p:spPr>
        <p:txBody>
          <a:bodyPr wrap="square" lIns="0" tIns="0" rIns="0" bIns="0" rtlCol="0" anchor="t"/>
          <a:lstStyle/>
          <a:p>
            <a:pPr indent="0" marL="0">
              <a:buNone/>
            </a:pPr>
            <a:r>
              <a:rPr lang="en-US" sz="1000" dirty="0">
                <a:solidFill>
                  <a:srgbClr val="15252E"/>
                </a:solidFill>
                <a:latin typeface="Calibri" pitchFamily="34" charset="0"/>
                <a:ea typeface="Calibri" pitchFamily="34" charset="-122"/>
                <a:cs typeface="Calibri" pitchFamily="34" charset="-120"/>
              </a:rPr>
              <a:t>In the roadmap or the V1.0 plan, shown as delivered at your instruction. Confirm each has shipped.</a:t>
            </a:r>
            <a:endParaRPr lang="en-US" sz="1000" dirty="0"/>
          </a:p>
        </p:txBody>
      </p:sp>
      <p:sp>
        <p:nvSpPr>
          <p:cNvPr id="19" name="Shape 16"/>
          <p:cNvSpPr/>
          <p:nvPr/>
        </p:nvSpPr>
        <p:spPr>
          <a:xfrm>
            <a:off x="777240" y="3566160"/>
            <a:ext cx="1424635" cy="219456"/>
          </a:xfrm>
          <a:prstGeom prst="roundRect">
            <a:avLst>
              <a:gd name="adj" fmla="val 50000"/>
            </a:avLst>
          </a:prstGeom>
          <a:solidFill>
            <a:srgbClr val="F4F7F8"/>
          </a:solidFill>
          <a:ln w="12700">
            <a:solidFill>
              <a:srgbClr val="52656E"/>
            </a:solidFill>
            <a:prstDash val="solid"/>
          </a:ln>
        </p:spPr>
      </p:sp>
      <p:sp>
        <p:nvSpPr>
          <p:cNvPr id="20" name="Text 17"/>
          <p:cNvSpPr txBox="1"/>
          <p:nvPr/>
        </p:nvSpPr>
        <p:spPr>
          <a:xfrm>
            <a:off x="777240" y="3566160"/>
            <a:ext cx="1424635" cy="219456"/>
          </a:xfrm>
          <a:prstGeom prst="rect">
            <a:avLst/>
          </a:prstGeom>
          <a:noFill/>
          <a:ln/>
        </p:spPr>
        <p:txBody>
          <a:bodyPr wrap="square" lIns="0" tIns="0" rIns="0" bIns="0" rtlCol="0" anchor="ctr"/>
          <a:lstStyle/>
          <a:p>
            <a:pPr algn="ctr" indent="0" marL="0">
              <a:buNone/>
            </a:pPr>
            <a:r>
              <a:rPr lang="en-US" sz="750" b="1" spc="80" kern="0" dirty="0">
                <a:solidFill>
                  <a:srgbClr val="52656E"/>
                </a:solidFill>
                <a:latin typeface="Consolas" pitchFamily="34" charset="0"/>
                <a:ea typeface="Consolas" pitchFamily="34" charset="-122"/>
                <a:cs typeface="Consolas" pitchFamily="34" charset="-120"/>
              </a:rPr>
              <a:t>EXTERNAL · VERIFY</a:t>
            </a:r>
            <a:endParaRPr lang="en-US" sz="750" dirty="0"/>
          </a:p>
        </p:txBody>
      </p:sp>
      <p:sp>
        <p:nvSpPr>
          <p:cNvPr id="21" name="Text 18"/>
          <p:cNvSpPr txBox="1"/>
          <p:nvPr/>
        </p:nvSpPr>
        <p:spPr>
          <a:xfrm>
            <a:off x="2514600" y="3538728"/>
            <a:ext cx="3429000" cy="548640"/>
          </a:xfrm>
          <a:prstGeom prst="rect">
            <a:avLst/>
          </a:prstGeom>
          <a:noFill/>
          <a:ln/>
        </p:spPr>
        <p:txBody>
          <a:bodyPr wrap="square" lIns="0" tIns="0" rIns="0" bIns="0" rtlCol="0" anchor="t"/>
          <a:lstStyle/>
          <a:p>
            <a:pPr indent="0" marL="0">
              <a:buNone/>
            </a:pPr>
            <a:r>
              <a:rPr lang="en-US" sz="1000" dirty="0">
                <a:solidFill>
                  <a:srgbClr val="15252E"/>
                </a:solidFill>
                <a:latin typeface="Calibri" pitchFamily="34" charset="0"/>
                <a:ea typeface="Calibri" pitchFamily="34" charset="-122"/>
                <a:cs typeface="Calibri" pitchFamily="34" charset="-120"/>
              </a:rPr>
              <a:t>A third party’s price, round or feature, from public, mostly secondary, sources on 25 Sep 2026.</a:t>
            </a:r>
            <a:endParaRPr lang="en-US" sz="1000" dirty="0"/>
          </a:p>
        </p:txBody>
      </p:sp>
      <p:sp>
        <p:nvSpPr>
          <p:cNvPr id="22" name="Shape 19"/>
          <p:cNvSpPr/>
          <p:nvPr/>
        </p:nvSpPr>
        <p:spPr>
          <a:xfrm>
            <a:off x="777240" y="4169664"/>
            <a:ext cx="1153973" cy="219456"/>
          </a:xfrm>
          <a:prstGeom prst="roundRect">
            <a:avLst>
              <a:gd name="adj" fmla="val 50000"/>
            </a:avLst>
          </a:prstGeom>
          <a:solidFill>
            <a:srgbClr val="F4F7F8"/>
          </a:solidFill>
          <a:ln w="12700">
            <a:solidFill>
              <a:srgbClr val="15252E"/>
            </a:solidFill>
            <a:prstDash val="solid"/>
          </a:ln>
        </p:spPr>
      </p:sp>
      <p:sp>
        <p:nvSpPr>
          <p:cNvPr id="23" name="Text 20"/>
          <p:cNvSpPr txBox="1"/>
          <p:nvPr/>
        </p:nvSpPr>
        <p:spPr>
          <a:xfrm>
            <a:off x="777240" y="4169664"/>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24" name="Text 21"/>
          <p:cNvSpPr txBox="1"/>
          <p:nvPr/>
        </p:nvSpPr>
        <p:spPr>
          <a:xfrm>
            <a:off x="2514600" y="4142232"/>
            <a:ext cx="3429000" cy="548640"/>
          </a:xfrm>
          <a:prstGeom prst="rect">
            <a:avLst/>
          </a:prstGeom>
          <a:noFill/>
          <a:ln/>
        </p:spPr>
        <p:txBody>
          <a:bodyPr wrap="square" lIns="0" tIns="0" rIns="0" bIns="0" rtlCol="0" anchor="t"/>
          <a:lstStyle/>
          <a:p>
            <a:pPr indent="0" marL="0">
              <a:buNone/>
            </a:pPr>
            <a:r>
              <a:rPr lang="en-US" sz="1000" dirty="0">
                <a:solidFill>
                  <a:srgbClr val="15252E"/>
                </a:solidFill>
                <a:latin typeface="Calibri" pitchFamily="34" charset="0"/>
                <a:ea typeface="Calibri" pitchFamily="34" charset="-122"/>
                <a:cs typeface="Calibri" pitchFamily="34" charset="-120"/>
              </a:rPr>
              <a:t>An argument, not a measurement. Yours to keep, sharpen or cut.</a:t>
            </a:r>
            <a:endParaRPr lang="en-US" sz="1000" dirty="0"/>
          </a:p>
        </p:txBody>
      </p:sp>
      <p:sp>
        <p:nvSpPr>
          <p:cNvPr id="25" name="Shape 22"/>
          <p:cNvSpPr/>
          <p:nvPr/>
        </p:nvSpPr>
        <p:spPr>
          <a:xfrm>
            <a:off x="777240" y="4773168"/>
            <a:ext cx="1018642" cy="219456"/>
          </a:xfrm>
          <a:prstGeom prst="roundRect">
            <a:avLst>
              <a:gd name="adj" fmla="val 50000"/>
            </a:avLst>
          </a:prstGeom>
          <a:solidFill>
            <a:srgbClr val="7A4B00"/>
          </a:solidFill>
          <a:ln/>
        </p:spPr>
      </p:sp>
      <p:sp>
        <p:nvSpPr>
          <p:cNvPr id="26" name="Text 23"/>
          <p:cNvSpPr txBox="1"/>
          <p:nvPr/>
        </p:nvSpPr>
        <p:spPr>
          <a:xfrm>
            <a:off x="777240" y="477316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27" name="Text 24"/>
          <p:cNvSpPr txBox="1"/>
          <p:nvPr/>
        </p:nvSpPr>
        <p:spPr>
          <a:xfrm>
            <a:off x="2514600" y="4745736"/>
            <a:ext cx="3429000" cy="548640"/>
          </a:xfrm>
          <a:prstGeom prst="rect">
            <a:avLst/>
          </a:prstGeom>
          <a:noFill/>
          <a:ln/>
        </p:spPr>
        <p:txBody>
          <a:bodyPr wrap="square" lIns="0" tIns="0" rIns="0" bIns="0" rtlCol="0" anchor="t"/>
          <a:lstStyle/>
          <a:p>
            <a:pPr indent="0" marL="0">
              <a:buNone/>
            </a:pPr>
            <a:r>
              <a:rPr lang="en-US" sz="1000" dirty="0">
                <a:solidFill>
                  <a:srgbClr val="15252E"/>
                </a:solidFill>
                <a:latin typeface="Calibri" pitchFamily="34" charset="0"/>
                <a:ea typeface="Calibri" pitchFamily="34" charset="-122"/>
                <a:cs typeface="Calibri" pitchFamily="34" charset="-120"/>
              </a:rPr>
              <a:t>Yours to fill: market, pricing, go-to-market, the future, team and the ask.</a:t>
            </a:r>
            <a:endParaRPr lang="en-US" sz="1000" dirty="0"/>
          </a:p>
        </p:txBody>
      </p:sp>
      <p:sp>
        <p:nvSpPr>
          <p:cNvPr id="28" name="Shape 25"/>
          <p:cNvSpPr/>
          <p:nvPr/>
        </p:nvSpPr>
        <p:spPr>
          <a:xfrm>
            <a:off x="777240" y="5376672"/>
            <a:ext cx="1559966" cy="219456"/>
          </a:xfrm>
          <a:prstGeom prst="roundRect">
            <a:avLst>
              <a:gd name="adj" fmla="val 50000"/>
            </a:avLst>
          </a:prstGeom>
          <a:solidFill>
            <a:srgbClr val="F4F7F8"/>
          </a:solidFill>
          <a:ln w="12700">
            <a:solidFill>
              <a:srgbClr val="0F6673"/>
            </a:solidFill>
            <a:prstDash val="solid"/>
          </a:ln>
        </p:spPr>
      </p:sp>
      <p:sp>
        <p:nvSpPr>
          <p:cNvPr id="29" name="Text 26"/>
          <p:cNvSpPr txBox="1"/>
          <p:nvPr/>
        </p:nvSpPr>
        <p:spPr>
          <a:xfrm>
            <a:off x="777240" y="5376672"/>
            <a:ext cx="1559966" cy="219456"/>
          </a:xfrm>
          <a:prstGeom prst="rect">
            <a:avLst/>
          </a:prstGeom>
          <a:noFill/>
          <a:ln/>
        </p:spPr>
        <p:txBody>
          <a:bodyPr wrap="square" lIns="0" tIns="0" rIns="0" bIns="0" rtlCol="0" anchor="ctr"/>
          <a:lstStyle/>
          <a:p>
            <a:pPr algn="ctr" indent="0" marL="0">
              <a:buNone/>
            </a:pPr>
            <a:r>
              <a:rPr lang="en-US" sz="750" b="1" spc="80" kern="0" dirty="0">
                <a:solidFill>
                  <a:srgbClr val="0F6673"/>
                </a:solidFill>
                <a:latin typeface="Consolas" pitchFamily="34" charset="0"/>
                <a:ea typeface="Consolas" pitchFamily="34" charset="-122"/>
                <a:cs typeface="Consolas" pitchFamily="34" charset="-120"/>
              </a:rPr>
              <a:t>DESIGN ILLUSTRATION</a:t>
            </a:r>
            <a:endParaRPr lang="en-US" sz="750" dirty="0"/>
          </a:p>
        </p:txBody>
      </p:sp>
      <p:sp>
        <p:nvSpPr>
          <p:cNvPr id="30" name="Text 27"/>
          <p:cNvSpPr txBox="1"/>
          <p:nvPr/>
        </p:nvSpPr>
        <p:spPr>
          <a:xfrm>
            <a:off x="2514600" y="5349240"/>
            <a:ext cx="3429000" cy="548640"/>
          </a:xfrm>
          <a:prstGeom prst="rect">
            <a:avLst/>
          </a:prstGeom>
          <a:noFill/>
          <a:ln/>
        </p:spPr>
        <p:txBody>
          <a:bodyPr wrap="square" lIns="0" tIns="0" rIns="0" bIns="0" rtlCol="0" anchor="t"/>
          <a:lstStyle/>
          <a:p>
            <a:pPr indent="0" marL="0">
              <a:buNone/>
            </a:pPr>
            <a:r>
              <a:rPr lang="en-US" sz="1000" dirty="0">
                <a:solidFill>
                  <a:srgbClr val="15252E"/>
                </a:solidFill>
                <a:latin typeface="Calibri" pitchFamily="34" charset="0"/>
                <a:ea typeface="Calibri" pitchFamily="34" charset="-122"/>
                <a:cs typeface="Calibri" pitchFamily="34" charset="-120"/>
              </a:rPr>
              <a:t>A V1.0 design artboard. Every company, name and figure in it is invented.</a:t>
            </a:r>
            <a:endParaRPr lang="en-US" sz="1000" dirty="0"/>
          </a:p>
        </p:txBody>
      </p:sp>
      <p:sp>
        <p:nvSpPr>
          <p:cNvPr id="31" name="Shape 28"/>
          <p:cNvSpPr/>
          <p:nvPr/>
        </p:nvSpPr>
        <p:spPr>
          <a:xfrm>
            <a:off x="6355080" y="1463040"/>
            <a:ext cx="5285232" cy="4617720"/>
          </a:xfrm>
          <a:prstGeom prst="roundRect">
            <a:avLst>
              <a:gd name="adj" fmla="val 990"/>
            </a:avLst>
          </a:prstGeom>
          <a:solidFill>
            <a:srgbClr val="FFF3D6"/>
          </a:solidFill>
          <a:ln w="9525">
            <a:solidFill>
              <a:srgbClr val="7A4B00"/>
            </a:solidFill>
            <a:prstDash val="solid"/>
          </a:ln>
        </p:spPr>
      </p:sp>
      <p:sp>
        <p:nvSpPr>
          <p:cNvPr id="32" name="Text 29"/>
          <p:cNvSpPr txBox="1"/>
          <p:nvPr/>
        </p:nvSpPr>
        <p:spPr>
          <a:xfrm>
            <a:off x="6583680" y="1645920"/>
            <a:ext cx="4846320" cy="201168"/>
          </a:xfrm>
          <a:prstGeom prst="rect">
            <a:avLst/>
          </a:prstGeom>
          <a:noFill/>
          <a:ln/>
        </p:spPr>
        <p:txBody>
          <a:bodyPr wrap="square" lIns="0" tIns="0" rIns="0" bIns="0" rtlCol="0" anchor="t"/>
          <a:lstStyle/>
          <a:p>
            <a:pPr indent="0" marL="0">
              <a:buNone/>
            </a:pPr>
            <a:r>
              <a:rPr lang="en-US" sz="900" b="1" spc="100" kern="0" dirty="0">
                <a:solidFill>
                  <a:srgbClr val="7A4B00"/>
                </a:solidFill>
                <a:latin typeface="Consolas" pitchFamily="34" charset="0"/>
                <a:ea typeface="Consolas" pitchFamily="34" charset="-122"/>
                <a:cs typeface="Consolas" pitchFamily="34" charset="-120"/>
              </a:rPr>
              <a:t>BEFORE IT LEAVES YOUR HANDS</a:t>
            </a:r>
            <a:endParaRPr lang="en-US" sz="900" dirty="0"/>
          </a:p>
        </p:txBody>
      </p:sp>
      <p:sp>
        <p:nvSpPr>
          <p:cNvPr id="33" name="Shape 30"/>
          <p:cNvSpPr/>
          <p:nvPr/>
        </p:nvSpPr>
        <p:spPr>
          <a:xfrm>
            <a:off x="6583680" y="1975104"/>
            <a:ext cx="237744" cy="237744"/>
          </a:xfrm>
          <a:prstGeom prst="ellipse">
            <a:avLst/>
          </a:prstGeom>
          <a:solidFill>
            <a:srgbClr val="7A4B00"/>
          </a:solidFill>
          <a:ln/>
        </p:spPr>
      </p:sp>
      <p:sp>
        <p:nvSpPr>
          <p:cNvPr id="34" name="Text 31"/>
          <p:cNvSpPr txBox="1"/>
          <p:nvPr/>
        </p:nvSpPr>
        <p:spPr>
          <a:xfrm>
            <a:off x="6583680" y="197510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1</a:t>
            </a:r>
            <a:endParaRPr lang="en-US" sz="900" dirty="0"/>
          </a:p>
        </p:txBody>
      </p:sp>
      <p:sp>
        <p:nvSpPr>
          <p:cNvPr id="35" name="Text 32"/>
          <p:cNvSpPr txBox="1"/>
          <p:nvPr/>
        </p:nvSpPr>
        <p:spPr>
          <a:xfrm>
            <a:off x="6949440" y="1965960"/>
            <a:ext cx="4526280" cy="457200"/>
          </a:xfrm>
          <a:prstGeom prst="rect">
            <a:avLst/>
          </a:prstGeom>
          <a:noFill/>
          <a:ln/>
        </p:spPr>
        <p:txBody>
          <a:bodyPr wrap="square" lIns="0" tIns="0" rIns="0" bIns="0" rtlCol="0" anchor="t"/>
          <a:lstStyle/>
          <a:p>
            <a:pPr indent="0" marL="0">
              <a:buNone/>
            </a:pPr>
            <a:r>
              <a:rPr lang="en-US" sz="1000" dirty="0">
                <a:solidFill>
                  <a:srgbClr val="5D3900"/>
                </a:solidFill>
                <a:latin typeface="Calibri" pitchFamily="34" charset="0"/>
                <a:ea typeface="Calibri" pitchFamily="34" charset="-122"/>
                <a:cs typeface="Calibri" pitchFamily="34" charset="-120"/>
              </a:rPr>
              <a:t>Pick one name. The README says Tracework Invest; the older decks and the licence say Ageantic. This deck and its screens use the README’s.</a:t>
            </a:r>
            <a:endParaRPr lang="en-US" sz="1000" dirty="0"/>
          </a:p>
        </p:txBody>
      </p:sp>
      <p:sp>
        <p:nvSpPr>
          <p:cNvPr id="36" name="Shape 33"/>
          <p:cNvSpPr/>
          <p:nvPr/>
        </p:nvSpPr>
        <p:spPr>
          <a:xfrm>
            <a:off x="6583680" y="2468880"/>
            <a:ext cx="237744" cy="237744"/>
          </a:xfrm>
          <a:prstGeom prst="ellipse">
            <a:avLst/>
          </a:prstGeom>
          <a:solidFill>
            <a:srgbClr val="7A4B00"/>
          </a:solidFill>
          <a:ln/>
        </p:spPr>
      </p:sp>
      <p:sp>
        <p:nvSpPr>
          <p:cNvPr id="37" name="Text 34"/>
          <p:cNvSpPr txBox="1"/>
          <p:nvPr/>
        </p:nvSpPr>
        <p:spPr>
          <a:xfrm>
            <a:off x="6583680" y="246888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2</a:t>
            </a:r>
            <a:endParaRPr lang="en-US" sz="900" dirty="0"/>
          </a:p>
        </p:txBody>
      </p:sp>
      <p:sp>
        <p:nvSpPr>
          <p:cNvPr id="38" name="Text 35"/>
          <p:cNvSpPr txBox="1"/>
          <p:nvPr/>
        </p:nvSpPr>
        <p:spPr>
          <a:xfrm>
            <a:off x="6949440" y="2459736"/>
            <a:ext cx="4526280" cy="457200"/>
          </a:xfrm>
          <a:prstGeom prst="rect">
            <a:avLst/>
          </a:prstGeom>
          <a:noFill/>
          <a:ln/>
        </p:spPr>
        <p:txBody>
          <a:bodyPr wrap="square" lIns="0" tIns="0" rIns="0" bIns="0" rtlCol="0" anchor="t"/>
          <a:lstStyle/>
          <a:p>
            <a:pPr indent="0" marL="0">
              <a:buNone/>
            </a:pPr>
            <a:r>
              <a:rPr lang="en-US" sz="1000" dirty="0">
                <a:solidFill>
                  <a:srgbClr val="5D3900"/>
                </a:solidFill>
                <a:latin typeface="Calibri" pitchFamily="34" charset="0"/>
                <a:ea typeface="Calibri" pitchFamily="34" charset="-122"/>
                <a:cs typeface="Calibri" pitchFamily="34" charset="-120"/>
              </a:rPr>
              <a:t>Fill every amber placeholder: search the deck for “PLACEHOLDER” and for “[”.</a:t>
            </a:r>
            <a:endParaRPr lang="en-US" sz="1000" dirty="0"/>
          </a:p>
        </p:txBody>
      </p:sp>
      <p:sp>
        <p:nvSpPr>
          <p:cNvPr id="39" name="Shape 36"/>
          <p:cNvSpPr/>
          <p:nvPr/>
        </p:nvSpPr>
        <p:spPr>
          <a:xfrm>
            <a:off x="6583680" y="2962656"/>
            <a:ext cx="237744" cy="237744"/>
          </a:xfrm>
          <a:prstGeom prst="ellipse">
            <a:avLst/>
          </a:prstGeom>
          <a:solidFill>
            <a:srgbClr val="7A4B00"/>
          </a:solidFill>
          <a:ln/>
        </p:spPr>
      </p:sp>
      <p:sp>
        <p:nvSpPr>
          <p:cNvPr id="40" name="Text 37"/>
          <p:cNvSpPr txBox="1"/>
          <p:nvPr/>
        </p:nvSpPr>
        <p:spPr>
          <a:xfrm>
            <a:off x="6583680" y="296265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3</a:t>
            </a:r>
            <a:endParaRPr lang="en-US" sz="900" dirty="0"/>
          </a:p>
        </p:txBody>
      </p:sp>
      <p:sp>
        <p:nvSpPr>
          <p:cNvPr id="41" name="Text 38"/>
          <p:cNvSpPr txBox="1"/>
          <p:nvPr/>
        </p:nvSpPr>
        <p:spPr>
          <a:xfrm>
            <a:off x="6949440" y="2953512"/>
            <a:ext cx="4526280" cy="457200"/>
          </a:xfrm>
          <a:prstGeom prst="rect">
            <a:avLst/>
          </a:prstGeom>
          <a:noFill/>
          <a:ln/>
        </p:spPr>
        <p:txBody>
          <a:bodyPr wrap="square" lIns="0" tIns="0" rIns="0" bIns="0" rtlCol="0" anchor="t"/>
          <a:lstStyle/>
          <a:p>
            <a:pPr indent="0" marL="0">
              <a:buNone/>
            </a:pPr>
            <a:r>
              <a:rPr lang="en-US" sz="1000" dirty="0">
                <a:solidFill>
                  <a:srgbClr val="5D3900"/>
                </a:solidFill>
                <a:latin typeface="Calibri" pitchFamily="34" charset="0"/>
                <a:ea typeface="Calibri" pitchFamily="34" charset="-122"/>
                <a:cs typeface="Calibri" pitchFamily="34" charset="-120"/>
              </a:rPr>
              <a:t>Confirm every READY item has shipped. The plan’s own V1.0 finish line is on the “We sell the evidence” slide.</a:t>
            </a:r>
            <a:endParaRPr lang="en-US" sz="1000" dirty="0"/>
          </a:p>
        </p:txBody>
      </p:sp>
      <p:sp>
        <p:nvSpPr>
          <p:cNvPr id="42" name="Shape 39"/>
          <p:cNvSpPr/>
          <p:nvPr/>
        </p:nvSpPr>
        <p:spPr>
          <a:xfrm>
            <a:off x="6583680" y="3456432"/>
            <a:ext cx="237744" cy="237744"/>
          </a:xfrm>
          <a:prstGeom prst="ellipse">
            <a:avLst/>
          </a:prstGeom>
          <a:solidFill>
            <a:srgbClr val="7A4B00"/>
          </a:solidFill>
          <a:ln/>
        </p:spPr>
      </p:sp>
      <p:sp>
        <p:nvSpPr>
          <p:cNvPr id="43" name="Text 40"/>
          <p:cNvSpPr txBox="1"/>
          <p:nvPr/>
        </p:nvSpPr>
        <p:spPr>
          <a:xfrm>
            <a:off x="6583680" y="345643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4</a:t>
            </a:r>
            <a:endParaRPr lang="en-US" sz="900" dirty="0"/>
          </a:p>
        </p:txBody>
      </p:sp>
      <p:sp>
        <p:nvSpPr>
          <p:cNvPr id="44" name="Text 41"/>
          <p:cNvSpPr txBox="1"/>
          <p:nvPr/>
        </p:nvSpPr>
        <p:spPr>
          <a:xfrm>
            <a:off x="6949440" y="3447288"/>
            <a:ext cx="4526280" cy="457200"/>
          </a:xfrm>
          <a:prstGeom prst="rect">
            <a:avLst/>
          </a:prstGeom>
          <a:noFill/>
          <a:ln/>
        </p:spPr>
        <p:txBody>
          <a:bodyPr wrap="square" lIns="0" tIns="0" rIns="0" bIns="0" rtlCol="0" anchor="t"/>
          <a:lstStyle/>
          <a:p>
            <a:pPr indent="0" marL="0">
              <a:buNone/>
            </a:pPr>
            <a:r>
              <a:rPr lang="en-US" sz="1000" dirty="0">
                <a:solidFill>
                  <a:srgbClr val="5D3900"/>
                </a:solidFill>
                <a:latin typeface="Calibri" pitchFamily="34" charset="0"/>
                <a:ea typeface="Calibri" pitchFamily="34" charset="-122"/>
                <a:cs typeface="Calibri" pitchFamily="34" charset="-120"/>
              </a:rPr>
              <a:t>Re-check each EXTERNAL figure in the week you send the deck. Prices and rounds move.</a:t>
            </a:r>
            <a:endParaRPr lang="en-US" sz="1000" dirty="0"/>
          </a:p>
        </p:txBody>
      </p:sp>
      <p:sp>
        <p:nvSpPr>
          <p:cNvPr id="45" name="Shape 42"/>
          <p:cNvSpPr/>
          <p:nvPr/>
        </p:nvSpPr>
        <p:spPr>
          <a:xfrm>
            <a:off x="6583680" y="3950208"/>
            <a:ext cx="237744" cy="237744"/>
          </a:xfrm>
          <a:prstGeom prst="ellipse">
            <a:avLst/>
          </a:prstGeom>
          <a:solidFill>
            <a:srgbClr val="7A4B00"/>
          </a:solidFill>
          <a:ln/>
        </p:spPr>
      </p:sp>
      <p:sp>
        <p:nvSpPr>
          <p:cNvPr id="46" name="Text 43"/>
          <p:cNvSpPr txBox="1"/>
          <p:nvPr/>
        </p:nvSpPr>
        <p:spPr>
          <a:xfrm>
            <a:off x="6583680" y="395020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5</a:t>
            </a:r>
            <a:endParaRPr lang="en-US" sz="900" dirty="0"/>
          </a:p>
        </p:txBody>
      </p:sp>
      <p:sp>
        <p:nvSpPr>
          <p:cNvPr id="47" name="Text 44"/>
          <p:cNvSpPr txBox="1"/>
          <p:nvPr/>
        </p:nvSpPr>
        <p:spPr>
          <a:xfrm>
            <a:off x="6949440" y="3941064"/>
            <a:ext cx="4526280" cy="457200"/>
          </a:xfrm>
          <a:prstGeom prst="rect">
            <a:avLst/>
          </a:prstGeom>
          <a:noFill/>
          <a:ln/>
        </p:spPr>
        <p:txBody>
          <a:bodyPr wrap="square" lIns="0" tIns="0" rIns="0" bIns="0" rtlCol="0" anchor="t"/>
          <a:lstStyle/>
          <a:p>
            <a:pPr indent="0" marL="0">
              <a:buNone/>
            </a:pPr>
            <a:r>
              <a:rPr lang="en-US" sz="1000" dirty="0">
                <a:solidFill>
                  <a:srgbClr val="5D3900"/>
                </a:solidFill>
                <a:latin typeface="Calibri" pitchFamily="34" charset="0"/>
                <a:ea typeface="Calibri" pitchFamily="34" charset="-122"/>
                <a:cs typeface="Calibri" pitchFamily="34" charset="-120"/>
              </a:rPr>
              <a:t>Have a solicitor read the regulatory slides and every disclaimer before the deck goes anywhere.</a:t>
            </a:r>
            <a:endParaRPr lang="en-US" sz="1000" dirty="0"/>
          </a:p>
        </p:txBody>
      </p:sp>
      <p:sp>
        <p:nvSpPr>
          <p:cNvPr id="48" name="Shape 45"/>
          <p:cNvSpPr/>
          <p:nvPr/>
        </p:nvSpPr>
        <p:spPr>
          <a:xfrm>
            <a:off x="6583680" y="4443984"/>
            <a:ext cx="237744" cy="237744"/>
          </a:xfrm>
          <a:prstGeom prst="ellipse">
            <a:avLst/>
          </a:prstGeom>
          <a:solidFill>
            <a:srgbClr val="7A4B00"/>
          </a:solidFill>
          <a:ln/>
        </p:spPr>
      </p:sp>
      <p:sp>
        <p:nvSpPr>
          <p:cNvPr id="49" name="Text 46"/>
          <p:cNvSpPr txBox="1"/>
          <p:nvPr/>
        </p:nvSpPr>
        <p:spPr>
          <a:xfrm>
            <a:off x="6583680" y="444398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6</a:t>
            </a:r>
            <a:endParaRPr lang="en-US" sz="900" dirty="0"/>
          </a:p>
        </p:txBody>
      </p:sp>
      <p:sp>
        <p:nvSpPr>
          <p:cNvPr id="50" name="Text 47"/>
          <p:cNvSpPr txBox="1"/>
          <p:nvPr/>
        </p:nvSpPr>
        <p:spPr>
          <a:xfrm>
            <a:off x="6949440" y="4434840"/>
            <a:ext cx="4526280" cy="457200"/>
          </a:xfrm>
          <a:prstGeom prst="rect">
            <a:avLst/>
          </a:prstGeom>
          <a:noFill/>
          <a:ln/>
        </p:spPr>
        <p:txBody>
          <a:bodyPr wrap="square" lIns="0" tIns="0" rIns="0" bIns="0" rtlCol="0" anchor="t"/>
          <a:lstStyle/>
          <a:p>
            <a:pPr indent="0" marL="0">
              <a:buNone/>
            </a:pPr>
            <a:r>
              <a:rPr lang="en-US" sz="1000" dirty="0">
                <a:solidFill>
                  <a:srgbClr val="5D3900"/>
                </a:solidFill>
                <a:latin typeface="Calibri" pitchFamily="34" charset="0"/>
                <a:ea typeface="Calibri" pitchFamily="34" charset="-122"/>
                <a:cs typeface="Calibri" pitchFamily="34" charset="-120"/>
              </a:rPr>
              <a:t>Settle the licence and IP position (MIT, marked provisional) before sharing code or a build.</a:t>
            </a:r>
            <a:endParaRPr lang="en-US" sz="1000" dirty="0"/>
          </a:p>
        </p:txBody>
      </p:sp>
      <p:sp>
        <p:nvSpPr>
          <p:cNvPr id="51" name="Shape 48"/>
          <p:cNvSpPr/>
          <p:nvPr/>
        </p:nvSpPr>
        <p:spPr>
          <a:xfrm>
            <a:off x="6583680" y="4937760"/>
            <a:ext cx="237744" cy="237744"/>
          </a:xfrm>
          <a:prstGeom prst="ellipse">
            <a:avLst/>
          </a:prstGeom>
          <a:solidFill>
            <a:srgbClr val="7A4B00"/>
          </a:solidFill>
          <a:ln/>
        </p:spPr>
      </p:sp>
      <p:sp>
        <p:nvSpPr>
          <p:cNvPr id="52" name="Text 49"/>
          <p:cNvSpPr txBox="1"/>
          <p:nvPr/>
        </p:nvSpPr>
        <p:spPr>
          <a:xfrm>
            <a:off x="6583680" y="49377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7</a:t>
            </a:r>
            <a:endParaRPr lang="en-US" sz="900" dirty="0"/>
          </a:p>
        </p:txBody>
      </p:sp>
      <p:sp>
        <p:nvSpPr>
          <p:cNvPr id="53" name="Text 50"/>
          <p:cNvSpPr txBox="1"/>
          <p:nvPr/>
        </p:nvSpPr>
        <p:spPr>
          <a:xfrm>
            <a:off x="6949440" y="4928616"/>
            <a:ext cx="4526280" cy="457200"/>
          </a:xfrm>
          <a:prstGeom prst="rect">
            <a:avLst/>
          </a:prstGeom>
          <a:noFill/>
          <a:ln/>
        </p:spPr>
        <p:txBody>
          <a:bodyPr wrap="square" lIns="0" tIns="0" rIns="0" bIns="0" rtlCol="0" anchor="t"/>
          <a:lstStyle/>
          <a:p>
            <a:pPr indent="0" marL="0">
              <a:buNone/>
            </a:pPr>
            <a:r>
              <a:rPr lang="en-US" sz="1000" dirty="0">
                <a:solidFill>
                  <a:srgbClr val="5D3900"/>
                </a:solidFill>
                <a:latin typeface="Calibri" pitchFamily="34" charset="0"/>
                <a:ea typeface="Calibri" pitchFamily="34" charset="-122"/>
                <a:cs typeface="Calibri" pitchFamily="34" charset="-120"/>
              </a:rPr>
              <a:t>Keep the evidence slides. Diligence will find the losses in the repository; shown first, they read as discipline.</a:t>
            </a:r>
            <a:endParaRPr lang="en-US" sz="1000" dirty="0"/>
          </a:p>
        </p:txBody>
      </p:sp>
      <p:sp>
        <p:nvSpPr>
          <p:cNvPr id="54" name="Shape 51"/>
          <p:cNvSpPr/>
          <p:nvPr/>
        </p:nvSpPr>
        <p:spPr>
          <a:xfrm>
            <a:off x="6583680" y="5431536"/>
            <a:ext cx="237744" cy="237744"/>
          </a:xfrm>
          <a:prstGeom prst="ellipse">
            <a:avLst/>
          </a:prstGeom>
          <a:solidFill>
            <a:srgbClr val="7A4B00"/>
          </a:solidFill>
          <a:ln/>
        </p:spPr>
      </p:sp>
      <p:sp>
        <p:nvSpPr>
          <p:cNvPr id="55" name="Text 52"/>
          <p:cNvSpPr txBox="1"/>
          <p:nvPr/>
        </p:nvSpPr>
        <p:spPr>
          <a:xfrm>
            <a:off x="6583680" y="5431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8</a:t>
            </a:r>
            <a:endParaRPr lang="en-US" sz="900" dirty="0"/>
          </a:p>
        </p:txBody>
      </p:sp>
      <p:sp>
        <p:nvSpPr>
          <p:cNvPr id="56" name="Text 53"/>
          <p:cNvSpPr txBox="1"/>
          <p:nvPr/>
        </p:nvSpPr>
        <p:spPr>
          <a:xfrm>
            <a:off x="6949440" y="5422392"/>
            <a:ext cx="4526280" cy="457200"/>
          </a:xfrm>
          <a:prstGeom prst="rect">
            <a:avLst/>
          </a:prstGeom>
          <a:noFill/>
          <a:ln/>
        </p:spPr>
        <p:txBody>
          <a:bodyPr wrap="square" lIns="0" tIns="0" rIns="0" bIns="0" rtlCol="0" anchor="t"/>
          <a:lstStyle/>
          <a:p>
            <a:pPr indent="0" marL="0">
              <a:buNone/>
            </a:pPr>
            <a:r>
              <a:rPr lang="en-US" sz="1000" dirty="0">
                <a:solidFill>
                  <a:srgbClr val="5D3900"/>
                </a:solidFill>
                <a:latin typeface="Calibri" pitchFamily="34" charset="0"/>
                <a:ea typeface="Calibri" pitchFamily="34" charset="-122"/>
                <a:cs typeface="Calibri" pitchFamily="34" charset="-120"/>
              </a:rPr>
              <a:t>Never quote a figure from a design screen. They are invented.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71D"/>
        </a:solidFill>
      </p:bgPr>
    </p:bg>
    <p:spTree>
      <p:nvGrpSpPr>
        <p:cNvPr id="1" name=""/>
        <p:cNvGrpSpPr/>
        <p:nvPr/>
      </p:nvGrpSpPr>
      <p:grpSpPr>
        <a:xfrm>
          <a:off x="0" y="0"/>
          <a:ext cx="0" cy="0"/>
          <a:chOff x="0" y="0"/>
          <a:chExt cx="0" cy="0"/>
        </a:xfrm>
      </p:grpSpPr>
      <p:sp>
        <p:nvSpPr>
          <p:cNvPr id="2" name="Text 0"/>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9AADB3"/>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3" name="Text 1"/>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9AADB3"/>
                </a:solidFill>
                <a:latin typeface="Consolas" pitchFamily="34" charset="0"/>
                <a:ea typeface="Consolas" pitchFamily="34" charset="-122"/>
                <a:cs typeface="Consolas" pitchFamily="34" charset="-120"/>
              </a:rPr>
              <a:t>02</a:t>
            </a:r>
            <a:endParaRPr lang="en-US" sz="800" dirty="0"/>
          </a:p>
        </p:txBody>
      </p:sp>
      <p:sp>
        <p:nvSpPr>
          <p:cNvPr id="5" name="Text 2"/>
          <p:cNvSpPr txBox="1"/>
          <p:nvPr/>
        </p:nvSpPr>
        <p:spPr>
          <a:xfrm>
            <a:off x="548640" y="640080"/>
            <a:ext cx="7315200" cy="274320"/>
          </a:xfrm>
          <a:prstGeom prst="rect">
            <a:avLst/>
          </a:prstGeom>
          <a:noFill/>
          <a:ln/>
        </p:spPr>
        <p:txBody>
          <a:bodyPr wrap="square" lIns="0" tIns="0" rIns="0" bIns="0" rtlCol="0" anchor="t"/>
          <a:lstStyle/>
          <a:p>
            <a:pPr indent="0" marL="0">
              <a:buNone/>
            </a:pPr>
            <a:r>
              <a:rPr lang="en-US" sz="1100" b="1" spc="300" kern="0" dirty="0">
                <a:solidFill>
                  <a:srgbClr val="B5ECF0"/>
                </a:solidFill>
                <a:latin typeface="Consolas" pitchFamily="34" charset="0"/>
                <a:ea typeface="Consolas" pitchFamily="34" charset="-122"/>
                <a:cs typeface="Consolas" pitchFamily="34" charset="-120"/>
              </a:rPr>
              <a:t>TRACEWORK INVEST  ·  ANGEL ROUND</a:t>
            </a:r>
            <a:endParaRPr lang="en-US" sz="1100" dirty="0"/>
          </a:p>
        </p:txBody>
      </p:sp>
      <p:sp>
        <p:nvSpPr>
          <p:cNvPr id="6" name="Text 3"/>
          <p:cNvSpPr txBox="1"/>
          <p:nvPr/>
        </p:nvSpPr>
        <p:spPr>
          <a:xfrm>
            <a:off x="548640" y="1051560"/>
            <a:ext cx="7863840" cy="1600200"/>
          </a:xfrm>
          <a:prstGeom prst="rect">
            <a:avLst/>
          </a:prstGeom>
          <a:noFill/>
          <a:ln/>
        </p:spPr>
        <p:txBody>
          <a:bodyPr wrap="square" lIns="0" tIns="0" rIns="0" bIns="0" rtlCol="0" anchor="t"/>
          <a:lstStyle/>
          <a:p>
            <a:pPr indent="0" marL="0">
              <a:buNone/>
            </a:pPr>
            <a:r>
              <a:rPr lang="en-US" sz="4600" b="1" dirty="0">
                <a:solidFill>
                  <a:srgbClr val="EDF6F7"/>
                </a:solidFill>
                <a:latin typeface="Calibri" pitchFamily="34" charset="0"/>
                <a:ea typeface="Calibri" pitchFamily="34" charset="-122"/>
                <a:cs typeface="Calibri" pitchFamily="34" charset="-120"/>
              </a:rPr>
              <a:t>Research you can check.</a:t>
            </a:r>
            <a:endParaRPr lang="en-US" sz="4600" dirty="0"/>
          </a:p>
          <a:p>
            <a:pPr indent="0" marL="0">
              <a:buNone/>
            </a:pPr>
            <a:r>
              <a:rPr lang="en-US" sz="4600" b="1" dirty="0">
                <a:solidFill>
                  <a:srgbClr val="B5ECF0"/>
                </a:solidFill>
                <a:latin typeface="Calibri" pitchFamily="34" charset="0"/>
                <a:ea typeface="Calibri" pitchFamily="34" charset="-122"/>
                <a:cs typeface="Calibri" pitchFamily="34" charset="-120"/>
              </a:rPr>
              <a:t>Reasons you can keep.</a:t>
            </a:r>
            <a:endParaRPr lang="en-US" sz="4600" dirty="0"/>
          </a:p>
        </p:txBody>
      </p:sp>
      <p:sp>
        <p:nvSpPr>
          <p:cNvPr id="7" name="Text 4"/>
          <p:cNvSpPr txBox="1"/>
          <p:nvPr/>
        </p:nvSpPr>
        <p:spPr>
          <a:xfrm>
            <a:off x="548640" y="2788920"/>
            <a:ext cx="7406640" cy="1188720"/>
          </a:xfrm>
          <a:prstGeom prst="rect">
            <a:avLst/>
          </a:prstGeom>
          <a:noFill/>
          <a:ln/>
        </p:spPr>
        <p:txBody>
          <a:bodyPr wrap="square" lIns="0" tIns="0" rIns="0" bIns="0" rtlCol="0" anchor="t"/>
          <a:lstStyle/>
          <a:p>
            <a:pPr indent="0" marL="0">
              <a:buNone/>
            </a:pPr>
            <a:r>
              <a:rPr lang="en-US" sz="1450" dirty="0">
                <a:solidFill>
                  <a:srgbClr val="BBCACE"/>
                </a:solidFill>
                <a:latin typeface="Calibri" pitchFamily="34" charset="0"/>
                <a:ea typeface="Calibri" pitchFamily="34" charset="-122"/>
                <a:cs typeface="Calibri" pitchFamily="34" charset="-120"/>
              </a:rPr>
              <a:t>An equity research platform for self-directed investors. Code does every calculation and traces every figure to a hashed source document; a language model reads, argues and writes; you approve each step. And the record of why you bought is kept, tested against every new filing, and reviewed when you sell.</a:t>
            </a:r>
            <a:endParaRPr lang="en-US" sz="1450" dirty="0"/>
          </a:p>
        </p:txBody>
      </p:sp>
      <p:sp>
        <p:nvSpPr>
          <p:cNvPr id="8" name="Shape 5"/>
          <p:cNvSpPr/>
          <p:nvPr/>
        </p:nvSpPr>
        <p:spPr>
          <a:xfrm>
            <a:off x="548640" y="4160520"/>
            <a:ext cx="2331720" cy="1188720"/>
          </a:xfrm>
          <a:prstGeom prst="roundRect">
            <a:avLst>
              <a:gd name="adj" fmla="val 3846"/>
            </a:avLst>
          </a:prstGeom>
          <a:solidFill>
            <a:srgbClr val="102B35"/>
          </a:solidFill>
          <a:ln w="9525">
            <a:solidFill>
              <a:srgbClr val="2B414A"/>
            </a:solidFill>
            <a:prstDash val="solid"/>
          </a:ln>
        </p:spPr>
      </p:sp>
      <p:sp>
        <p:nvSpPr>
          <p:cNvPr id="9" name="Text 6"/>
          <p:cNvSpPr txBox="1"/>
          <p:nvPr/>
        </p:nvSpPr>
        <p:spPr>
          <a:xfrm>
            <a:off x="731520" y="4279392"/>
            <a:ext cx="2011680" cy="411480"/>
          </a:xfrm>
          <a:prstGeom prst="rect">
            <a:avLst/>
          </a:prstGeom>
          <a:noFill/>
          <a:ln/>
        </p:spPr>
        <p:txBody>
          <a:bodyPr wrap="square" lIns="0" tIns="0" rIns="0" bIns="0" rtlCol="0" anchor="t"/>
          <a:lstStyle/>
          <a:p>
            <a:pPr indent="0" marL="0">
              <a:buNone/>
            </a:pPr>
            <a:r>
              <a:rPr lang="en-US" sz="2200" b="1" dirty="0">
                <a:solidFill>
                  <a:srgbClr val="B5ECF0"/>
                </a:solidFill>
                <a:latin typeface="Consolas" pitchFamily="34" charset="0"/>
                <a:ea typeface="Consolas" pitchFamily="34" charset="-122"/>
                <a:cs typeface="Consolas" pitchFamily="34" charset="-120"/>
              </a:rPr>
              <a:t>0 of 779</a:t>
            </a:r>
            <a:endParaRPr lang="en-US" sz="2200" dirty="0"/>
          </a:p>
        </p:txBody>
      </p:sp>
      <p:sp>
        <p:nvSpPr>
          <p:cNvPr id="10" name="Text 7"/>
          <p:cNvSpPr txBox="1"/>
          <p:nvPr/>
        </p:nvSpPr>
        <p:spPr>
          <a:xfrm>
            <a:off x="731520" y="4736592"/>
            <a:ext cx="2011680" cy="548640"/>
          </a:xfrm>
          <a:prstGeom prst="rect">
            <a:avLst/>
          </a:prstGeom>
          <a:noFill/>
          <a:ln/>
        </p:spPr>
        <p:txBody>
          <a:bodyPr wrap="square" lIns="0" tIns="0" rIns="0" bIns="0" rtlCol="0" anchor="t"/>
          <a:lstStyle/>
          <a:p>
            <a:pPr indent="0" marL="0">
              <a:buNone/>
            </a:pPr>
            <a:r>
              <a:rPr lang="en-US" sz="1000" dirty="0">
                <a:solidFill>
                  <a:srgbClr val="EDF6F7"/>
                </a:solidFill>
                <a:latin typeface="Calibri" pitchFamily="34" charset="0"/>
                <a:ea typeface="Calibri" pitchFamily="34" charset="-122"/>
                <a:cs typeface="Calibri" pitchFamily="34" charset="-120"/>
              </a:rPr>
              <a:t>checkable figures contradicted by their source</a:t>
            </a:r>
            <a:endParaRPr lang="en-US" sz="1000" dirty="0"/>
          </a:p>
        </p:txBody>
      </p:sp>
      <p:sp>
        <p:nvSpPr>
          <p:cNvPr id="11" name="Shape 8"/>
          <p:cNvSpPr/>
          <p:nvPr/>
        </p:nvSpPr>
        <p:spPr>
          <a:xfrm>
            <a:off x="3035808" y="4160520"/>
            <a:ext cx="2331720" cy="1188720"/>
          </a:xfrm>
          <a:prstGeom prst="roundRect">
            <a:avLst>
              <a:gd name="adj" fmla="val 3846"/>
            </a:avLst>
          </a:prstGeom>
          <a:solidFill>
            <a:srgbClr val="102B35"/>
          </a:solidFill>
          <a:ln w="9525">
            <a:solidFill>
              <a:srgbClr val="2B414A"/>
            </a:solidFill>
            <a:prstDash val="solid"/>
          </a:ln>
        </p:spPr>
      </p:sp>
      <p:sp>
        <p:nvSpPr>
          <p:cNvPr id="12" name="Text 9"/>
          <p:cNvSpPr txBox="1"/>
          <p:nvPr/>
        </p:nvSpPr>
        <p:spPr>
          <a:xfrm>
            <a:off x="3218688" y="4279392"/>
            <a:ext cx="2011680" cy="411480"/>
          </a:xfrm>
          <a:prstGeom prst="rect">
            <a:avLst/>
          </a:prstGeom>
          <a:noFill/>
          <a:ln/>
        </p:spPr>
        <p:txBody>
          <a:bodyPr wrap="square" lIns="0" tIns="0" rIns="0" bIns="0" rtlCol="0" anchor="t"/>
          <a:lstStyle/>
          <a:p>
            <a:pPr indent="0" marL="0">
              <a:buNone/>
            </a:pPr>
            <a:r>
              <a:rPr lang="en-US" sz="2200" b="1" dirty="0">
                <a:solidFill>
                  <a:srgbClr val="B5ECF0"/>
                </a:solidFill>
                <a:latin typeface="Consolas" pitchFamily="34" charset="0"/>
                <a:ea typeface="Consolas" pitchFamily="34" charset="-122"/>
                <a:cs typeface="Consolas" pitchFamily="34" charset="-120"/>
              </a:rPr>
              <a:t>259 / 259</a:t>
            </a:r>
            <a:endParaRPr lang="en-US" sz="2200" dirty="0"/>
          </a:p>
        </p:txBody>
      </p:sp>
      <p:sp>
        <p:nvSpPr>
          <p:cNvPr id="13" name="Text 10"/>
          <p:cNvSpPr txBox="1"/>
          <p:nvPr/>
        </p:nvSpPr>
        <p:spPr>
          <a:xfrm>
            <a:off x="3218688" y="4736592"/>
            <a:ext cx="2011680" cy="548640"/>
          </a:xfrm>
          <a:prstGeom prst="rect">
            <a:avLst/>
          </a:prstGeom>
          <a:noFill/>
          <a:ln/>
        </p:spPr>
        <p:txBody>
          <a:bodyPr wrap="square" lIns="0" tIns="0" rIns="0" bIns="0" rtlCol="0" anchor="t"/>
          <a:lstStyle/>
          <a:p>
            <a:pPr indent="0" marL="0">
              <a:buNone/>
            </a:pPr>
            <a:r>
              <a:rPr lang="en-US" sz="1000" dirty="0">
                <a:solidFill>
                  <a:srgbClr val="EDF6F7"/>
                </a:solidFill>
                <a:latin typeface="Calibri" pitchFamily="34" charset="0"/>
                <a:ea typeface="Calibri" pitchFamily="34" charset="-122"/>
                <a:cs typeface="Calibri" pitchFamily="34" charset="-120"/>
              </a:rPr>
              <a:t>citations confirmed by code re-reading the archived document</a:t>
            </a:r>
            <a:endParaRPr lang="en-US" sz="1000" dirty="0"/>
          </a:p>
        </p:txBody>
      </p:sp>
      <p:sp>
        <p:nvSpPr>
          <p:cNvPr id="14" name="Shape 11"/>
          <p:cNvSpPr/>
          <p:nvPr/>
        </p:nvSpPr>
        <p:spPr>
          <a:xfrm>
            <a:off x="5522976" y="4160520"/>
            <a:ext cx="2331720" cy="1188720"/>
          </a:xfrm>
          <a:prstGeom prst="roundRect">
            <a:avLst>
              <a:gd name="adj" fmla="val 3846"/>
            </a:avLst>
          </a:prstGeom>
          <a:solidFill>
            <a:srgbClr val="102B35"/>
          </a:solidFill>
          <a:ln w="9525">
            <a:solidFill>
              <a:srgbClr val="2B414A"/>
            </a:solidFill>
            <a:prstDash val="solid"/>
          </a:ln>
        </p:spPr>
      </p:sp>
      <p:sp>
        <p:nvSpPr>
          <p:cNvPr id="15" name="Text 12"/>
          <p:cNvSpPr txBox="1"/>
          <p:nvPr/>
        </p:nvSpPr>
        <p:spPr>
          <a:xfrm>
            <a:off x="5705856" y="4279392"/>
            <a:ext cx="2011680" cy="411480"/>
          </a:xfrm>
          <a:prstGeom prst="rect">
            <a:avLst/>
          </a:prstGeom>
          <a:noFill/>
          <a:ln/>
        </p:spPr>
        <p:txBody>
          <a:bodyPr wrap="square" lIns="0" tIns="0" rIns="0" bIns="0" rtlCol="0" anchor="t"/>
          <a:lstStyle/>
          <a:p>
            <a:pPr indent="0" marL="0">
              <a:buNone/>
            </a:pPr>
            <a:r>
              <a:rPr lang="en-US" sz="2200" b="1" dirty="0">
                <a:solidFill>
                  <a:srgbClr val="B5ECF0"/>
                </a:solidFill>
                <a:latin typeface="Consolas" pitchFamily="34" charset="0"/>
                <a:ea typeface="Consolas" pitchFamily="34" charset="-122"/>
                <a:cs typeface="Consolas" pitchFamily="34" charset="-120"/>
              </a:rPr>
              <a:t>£7.19</a:t>
            </a:r>
            <a:endParaRPr lang="en-US" sz="2200" dirty="0"/>
          </a:p>
        </p:txBody>
      </p:sp>
      <p:sp>
        <p:nvSpPr>
          <p:cNvPr id="16" name="Text 13"/>
          <p:cNvSpPr txBox="1"/>
          <p:nvPr/>
        </p:nvSpPr>
        <p:spPr>
          <a:xfrm>
            <a:off x="5705856" y="4736592"/>
            <a:ext cx="2011680" cy="548640"/>
          </a:xfrm>
          <a:prstGeom prst="rect">
            <a:avLst/>
          </a:prstGeom>
          <a:noFill/>
          <a:ln/>
        </p:spPr>
        <p:txBody>
          <a:bodyPr wrap="square" lIns="0" tIns="0" rIns="0" bIns="0" rtlCol="0" anchor="t"/>
          <a:lstStyle/>
          <a:p>
            <a:pPr indent="0" marL="0">
              <a:buNone/>
            </a:pPr>
            <a:r>
              <a:rPr lang="en-US" sz="1000" dirty="0">
                <a:solidFill>
                  <a:srgbClr val="EDF6F7"/>
                </a:solidFill>
                <a:latin typeface="Calibri" pitchFamily="34" charset="0"/>
                <a:ea typeface="Calibri" pitchFamily="34" charset="-122"/>
                <a:cs typeface="Calibri" pitchFamily="34" charset="-120"/>
              </a:rPr>
              <a:t>average model spend for a full 18-section report</a:t>
            </a:r>
            <a:endParaRPr lang="en-US" sz="1000" dirty="0"/>
          </a:p>
        </p:txBody>
      </p:sp>
      <p:sp>
        <p:nvSpPr>
          <p:cNvPr id="17" name="Text 14"/>
          <p:cNvSpPr txBox="1"/>
          <p:nvPr/>
        </p:nvSpPr>
        <p:spPr>
          <a:xfrm>
            <a:off x="548640" y="5623560"/>
            <a:ext cx="7406640" cy="274320"/>
          </a:xfrm>
          <a:prstGeom prst="rect">
            <a:avLst/>
          </a:prstGeom>
          <a:noFill/>
          <a:ln/>
        </p:spPr>
        <p:txBody>
          <a:bodyPr wrap="square" lIns="0" tIns="0" rIns="0" bIns="0" rtlCol="0" anchor="t"/>
          <a:lstStyle/>
          <a:p>
            <a:pPr indent="0" marL="0">
              <a:buNone/>
            </a:pPr>
            <a:r>
              <a:rPr lang="en-US" sz="1000" dirty="0">
                <a:solidFill>
                  <a:srgbClr val="FFD27A"/>
                </a:solidFill>
                <a:latin typeface="Consolas" pitchFamily="34" charset="0"/>
                <a:ea typeface="Consolas" pitchFamily="34" charset="-122"/>
                <a:cs typeface="Consolas" pitchFamily="34" charset="-120"/>
              </a:rPr>
              <a:t>[PLACEHOLDER: founder name  ·  email  ·  phone  ·  month and year]</a:t>
            </a:r>
            <a:endParaRPr lang="en-US" sz="1000" dirty="0"/>
          </a:p>
        </p:txBody>
      </p:sp>
      <p:sp>
        <p:nvSpPr>
          <p:cNvPr id="18" name="Text 15"/>
          <p:cNvSpPr txBox="1"/>
          <p:nvPr/>
        </p:nvSpPr>
        <p:spPr>
          <a:xfrm>
            <a:off x="548640" y="5989320"/>
            <a:ext cx="7406640" cy="237744"/>
          </a:xfrm>
          <a:prstGeom prst="rect">
            <a:avLst/>
          </a:prstGeom>
          <a:noFill/>
          <a:ln/>
        </p:spPr>
        <p:txBody>
          <a:bodyPr wrap="square" lIns="0" tIns="0" rIns="0" bIns="0" rtlCol="0" anchor="t"/>
          <a:lstStyle/>
          <a:p>
            <a:pPr indent="0" marL="0">
              <a:buNone/>
            </a:pPr>
            <a:r>
              <a:rPr lang="en-US" sz="900" i="1" dirty="0">
                <a:solidFill>
                  <a:srgbClr val="9AADB3"/>
                </a:solidFill>
                <a:latin typeface="Calibri" pitchFamily="34" charset="0"/>
                <a:ea typeface="Calibri" pitchFamily="34" charset="-122"/>
                <a:cs typeface="Calibri" pitchFamily="34" charset="-120"/>
              </a:rPr>
              <a:t>Measured in the readiness audit of 11–12 September 2026: five live reports on three companies.</a:t>
            </a:r>
            <a:endParaRPr lang="en-US" sz="900" dirty="0"/>
          </a:p>
        </p:txBody>
      </p:sp>
      <p:sp>
        <p:nvSpPr>
          <p:cNvPr id="19" name="Shape 16"/>
          <p:cNvSpPr/>
          <p:nvPr/>
        </p:nvSpPr>
        <p:spPr>
          <a:xfrm>
            <a:off x="8686800" y="640080"/>
            <a:ext cx="2953512" cy="5532120"/>
          </a:xfrm>
          <a:prstGeom prst="roundRect">
            <a:avLst>
              <a:gd name="adj" fmla="val 1548"/>
            </a:avLst>
          </a:prstGeom>
          <a:solidFill>
            <a:srgbClr val="0C222B"/>
          </a:solidFill>
          <a:ln w="9525">
            <a:solidFill>
              <a:srgbClr val="2B414A"/>
            </a:solidFill>
            <a:prstDash val="solid"/>
          </a:ln>
        </p:spPr>
      </p:sp>
      <p:sp>
        <p:nvSpPr>
          <p:cNvPr id="20" name="Text 17"/>
          <p:cNvSpPr txBox="1"/>
          <p:nvPr/>
        </p:nvSpPr>
        <p:spPr>
          <a:xfrm>
            <a:off x="8961120" y="868680"/>
            <a:ext cx="2560320" cy="201168"/>
          </a:xfrm>
          <a:prstGeom prst="rect">
            <a:avLst/>
          </a:prstGeom>
          <a:noFill/>
          <a:ln/>
        </p:spPr>
        <p:txBody>
          <a:bodyPr wrap="square" lIns="0" tIns="0" rIns="0" bIns="0" rtlCol="0" anchor="t"/>
          <a:lstStyle/>
          <a:p>
            <a:pPr indent="0" marL="0">
              <a:buNone/>
            </a:pPr>
            <a:r>
              <a:rPr lang="en-US" sz="900" b="1" spc="100" kern="0" dirty="0">
                <a:solidFill>
                  <a:srgbClr val="B5ECF0"/>
                </a:solidFill>
                <a:latin typeface="Consolas" pitchFamily="34" charset="0"/>
                <a:ea typeface="Consolas" pitchFamily="34" charset="-122"/>
                <a:cs typeface="Consolas" pitchFamily="34" charset="-120"/>
              </a:rPr>
              <a:t>ONE FIGURE, SIX LINKS</a:t>
            </a:r>
            <a:endParaRPr lang="en-US" sz="900" dirty="0"/>
          </a:p>
        </p:txBody>
      </p:sp>
      <p:sp>
        <p:nvSpPr>
          <p:cNvPr id="21" name="Shape 18"/>
          <p:cNvSpPr/>
          <p:nvPr/>
        </p:nvSpPr>
        <p:spPr>
          <a:xfrm>
            <a:off x="9052560" y="1463040"/>
            <a:ext cx="0" cy="4160520"/>
          </a:xfrm>
          <a:prstGeom prst="line">
            <a:avLst/>
          </a:prstGeom>
          <a:noFill/>
          <a:ln w="15875">
            <a:solidFill>
              <a:srgbClr val="2B414A"/>
            </a:solidFill>
            <a:prstDash val="solid"/>
          </a:ln>
        </p:spPr>
      </p:sp>
      <p:sp>
        <p:nvSpPr>
          <p:cNvPr id="22" name="Shape 19"/>
          <p:cNvSpPr/>
          <p:nvPr/>
        </p:nvSpPr>
        <p:spPr>
          <a:xfrm>
            <a:off x="8961120" y="1362456"/>
            <a:ext cx="182880" cy="182880"/>
          </a:xfrm>
          <a:prstGeom prst="ellipse">
            <a:avLst/>
          </a:prstGeom>
          <a:solidFill>
            <a:srgbClr val="0C222B"/>
          </a:solidFill>
          <a:ln w="25400">
            <a:solidFill>
              <a:srgbClr val="B5ECF0"/>
            </a:solidFill>
            <a:prstDash val="solid"/>
          </a:ln>
        </p:spPr>
      </p:sp>
      <p:sp>
        <p:nvSpPr>
          <p:cNvPr id="23" name="Text 20"/>
          <p:cNvSpPr txBox="1"/>
          <p:nvPr/>
        </p:nvSpPr>
        <p:spPr>
          <a:xfrm>
            <a:off x="9326880" y="1307592"/>
            <a:ext cx="2194560" cy="274320"/>
          </a:xfrm>
          <a:prstGeom prst="rect">
            <a:avLst/>
          </a:prstGeom>
          <a:noFill/>
          <a:ln/>
        </p:spPr>
        <p:txBody>
          <a:bodyPr wrap="square" lIns="0" tIns="0" rIns="0" bIns="0" rtlCol="0" anchor="t"/>
          <a:lstStyle/>
          <a:p>
            <a:pPr indent="0" marL="0">
              <a:buNone/>
            </a:pPr>
            <a:r>
              <a:rPr lang="en-US" sz="1250" b="1" dirty="0">
                <a:solidFill>
                  <a:srgbClr val="EDF6F7"/>
                </a:solidFill>
                <a:latin typeface="Calibri" pitchFamily="34" charset="0"/>
                <a:ea typeface="Calibri" pitchFamily="34" charset="-122"/>
                <a:cs typeface="Calibri" pitchFamily="34" charset="-120"/>
              </a:rPr>
              <a:t>The figure</a:t>
            </a:r>
            <a:endParaRPr lang="en-US" sz="1250" dirty="0"/>
          </a:p>
        </p:txBody>
      </p:sp>
      <p:sp>
        <p:nvSpPr>
          <p:cNvPr id="24" name="Text 21"/>
          <p:cNvSpPr txBox="1"/>
          <p:nvPr/>
        </p:nvSpPr>
        <p:spPr>
          <a:xfrm>
            <a:off x="9326880" y="1581912"/>
            <a:ext cx="2194560" cy="411480"/>
          </a:xfrm>
          <a:prstGeom prst="rect">
            <a:avLst/>
          </a:prstGeom>
          <a:noFill/>
          <a:ln/>
        </p:spPr>
        <p:txBody>
          <a:bodyPr wrap="square" lIns="0" tIns="0" rIns="0" bIns="0" rtlCol="0" anchor="t"/>
          <a:lstStyle/>
          <a:p>
            <a:pPr indent="0" marL="0">
              <a:buNone/>
            </a:pPr>
            <a:r>
              <a:rPr lang="en-US" sz="950" dirty="0">
                <a:solidFill>
                  <a:srgbClr val="BBCACE"/>
                </a:solidFill>
                <a:latin typeface="Calibri" pitchFamily="34" charset="0"/>
                <a:ea typeface="Calibri" pitchFamily="34" charset="-122"/>
                <a:cs typeface="Calibri" pitchFamily="34" charset="-120"/>
              </a:rPr>
              <a:t>in a section of the report</a:t>
            </a:r>
            <a:endParaRPr lang="en-US" sz="950" dirty="0"/>
          </a:p>
        </p:txBody>
      </p:sp>
      <p:sp>
        <p:nvSpPr>
          <p:cNvPr id="25" name="Shape 22"/>
          <p:cNvSpPr/>
          <p:nvPr/>
        </p:nvSpPr>
        <p:spPr>
          <a:xfrm>
            <a:off x="8961120" y="2185416"/>
            <a:ext cx="182880" cy="182880"/>
          </a:xfrm>
          <a:prstGeom prst="ellipse">
            <a:avLst/>
          </a:prstGeom>
          <a:solidFill>
            <a:srgbClr val="0C222B"/>
          </a:solidFill>
          <a:ln w="25400">
            <a:solidFill>
              <a:srgbClr val="B5ECF0"/>
            </a:solidFill>
            <a:prstDash val="solid"/>
          </a:ln>
        </p:spPr>
      </p:sp>
      <p:sp>
        <p:nvSpPr>
          <p:cNvPr id="26" name="Text 23"/>
          <p:cNvSpPr txBox="1"/>
          <p:nvPr/>
        </p:nvSpPr>
        <p:spPr>
          <a:xfrm>
            <a:off x="9326880" y="2130552"/>
            <a:ext cx="2194560" cy="274320"/>
          </a:xfrm>
          <a:prstGeom prst="rect">
            <a:avLst/>
          </a:prstGeom>
          <a:noFill/>
          <a:ln/>
        </p:spPr>
        <p:txBody>
          <a:bodyPr wrap="square" lIns="0" tIns="0" rIns="0" bIns="0" rtlCol="0" anchor="t"/>
          <a:lstStyle/>
          <a:p>
            <a:pPr indent="0" marL="0">
              <a:buNone/>
            </a:pPr>
            <a:r>
              <a:rPr lang="en-US" sz="1250" b="1" dirty="0">
                <a:solidFill>
                  <a:srgbClr val="EDF6F7"/>
                </a:solidFill>
                <a:latin typeface="Calibri" pitchFamily="34" charset="0"/>
                <a:ea typeface="Calibri" pitchFamily="34" charset="-122"/>
                <a:cs typeface="Calibri" pitchFamily="34" charset="-120"/>
              </a:rPr>
              <a:t>The claim</a:t>
            </a:r>
            <a:endParaRPr lang="en-US" sz="1250" dirty="0"/>
          </a:p>
        </p:txBody>
      </p:sp>
      <p:sp>
        <p:nvSpPr>
          <p:cNvPr id="27" name="Text 24"/>
          <p:cNvSpPr txBox="1"/>
          <p:nvPr/>
        </p:nvSpPr>
        <p:spPr>
          <a:xfrm>
            <a:off x="9326880" y="2404872"/>
            <a:ext cx="2194560" cy="411480"/>
          </a:xfrm>
          <a:prstGeom prst="rect">
            <a:avLst/>
          </a:prstGeom>
          <a:noFill/>
          <a:ln/>
        </p:spPr>
        <p:txBody>
          <a:bodyPr wrap="square" lIns="0" tIns="0" rIns="0" bIns="0" rtlCol="0" anchor="t"/>
          <a:lstStyle/>
          <a:p>
            <a:pPr indent="0" marL="0">
              <a:buNone/>
            </a:pPr>
            <a:r>
              <a:rPr lang="en-US" sz="950" dirty="0">
                <a:solidFill>
                  <a:srgbClr val="BBCACE"/>
                </a:solidFill>
                <a:latin typeface="Calibri" pitchFamily="34" charset="0"/>
                <a:ea typeface="Calibri" pitchFamily="34" charset="-122"/>
                <a:cs typeface="Calibri" pitchFamily="34" charset="-120"/>
              </a:rPr>
              <a:t>names exactly one fact or calculation</a:t>
            </a:r>
            <a:endParaRPr lang="en-US" sz="950" dirty="0"/>
          </a:p>
        </p:txBody>
      </p:sp>
      <p:sp>
        <p:nvSpPr>
          <p:cNvPr id="28" name="Shape 25"/>
          <p:cNvSpPr/>
          <p:nvPr/>
        </p:nvSpPr>
        <p:spPr>
          <a:xfrm>
            <a:off x="8961120" y="3008376"/>
            <a:ext cx="182880" cy="182880"/>
          </a:xfrm>
          <a:prstGeom prst="ellipse">
            <a:avLst/>
          </a:prstGeom>
          <a:solidFill>
            <a:srgbClr val="0C222B"/>
          </a:solidFill>
          <a:ln w="25400">
            <a:solidFill>
              <a:srgbClr val="B5ECF0"/>
            </a:solidFill>
            <a:prstDash val="solid"/>
          </a:ln>
        </p:spPr>
      </p:sp>
      <p:sp>
        <p:nvSpPr>
          <p:cNvPr id="29" name="Text 26"/>
          <p:cNvSpPr txBox="1"/>
          <p:nvPr/>
        </p:nvSpPr>
        <p:spPr>
          <a:xfrm>
            <a:off x="9326880" y="2953512"/>
            <a:ext cx="2194560" cy="274320"/>
          </a:xfrm>
          <a:prstGeom prst="rect">
            <a:avLst/>
          </a:prstGeom>
          <a:noFill/>
          <a:ln/>
        </p:spPr>
        <p:txBody>
          <a:bodyPr wrap="square" lIns="0" tIns="0" rIns="0" bIns="0" rtlCol="0" anchor="t"/>
          <a:lstStyle/>
          <a:p>
            <a:pPr indent="0" marL="0">
              <a:buNone/>
            </a:pPr>
            <a:r>
              <a:rPr lang="en-US" sz="1250" b="1" dirty="0">
                <a:solidFill>
                  <a:srgbClr val="EDF6F7"/>
                </a:solidFill>
                <a:latin typeface="Calibri" pitchFamily="34" charset="0"/>
                <a:ea typeface="Calibri" pitchFamily="34" charset="-122"/>
                <a:cs typeface="Calibri" pitchFamily="34" charset="-120"/>
              </a:rPr>
              <a:t>The citation</a:t>
            </a:r>
            <a:endParaRPr lang="en-US" sz="1250" dirty="0"/>
          </a:p>
        </p:txBody>
      </p:sp>
      <p:sp>
        <p:nvSpPr>
          <p:cNvPr id="30" name="Text 27"/>
          <p:cNvSpPr txBox="1"/>
          <p:nvPr/>
        </p:nvSpPr>
        <p:spPr>
          <a:xfrm>
            <a:off x="9326880" y="3227832"/>
            <a:ext cx="2194560" cy="411480"/>
          </a:xfrm>
          <a:prstGeom prst="rect">
            <a:avLst/>
          </a:prstGeom>
          <a:noFill/>
          <a:ln/>
        </p:spPr>
        <p:txBody>
          <a:bodyPr wrap="square" lIns="0" tIns="0" rIns="0" bIns="0" rtlCol="0" anchor="t"/>
          <a:lstStyle/>
          <a:p>
            <a:pPr indent="0" marL="0">
              <a:buNone/>
            </a:pPr>
            <a:r>
              <a:rPr lang="en-US" sz="950" dirty="0">
                <a:solidFill>
                  <a:srgbClr val="BBCACE"/>
                </a:solidFill>
                <a:latin typeface="Calibri" pitchFamily="34" charset="0"/>
                <a:ea typeface="Calibri" pitchFamily="34" charset="-122"/>
                <a:cs typeface="Calibri" pitchFamily="34" charset="-120"/>
              </a:rPr>
              <a:t>confirmed by code, never by the model</a:t>
            </a:r>
            <a:endParaRPr lang="en-US" sz="950" dirty="0"/>
          </a:p>
        </p:txBody>
      </p:sp>
      <p:sp>
        <p:nvSpPr>
          <p:cNvPr id="31" name="Shape 28"/>
          <p:cNvSpPr/>
          <p:nvPr/>
        </p:nvSpPr>
        <p:spPr>
          <a:xfrm>
            <a:off x="8961120" y="3831336"/>
            <a:ext cx="182880" cy="182880"/>
          </a:xfrm>
          <a:prstGeom prst="ellipse">
            <a:avLst/>
          </a:prstGeom>
          <a:solidFill>
            <a:srgbClr val="0C222B"/>
          </a:solidFill>
          <a:ln w="25400">
            <a:solidFill>
              <a:srgbClr val="B5ECF0"/>
            </a:solidFill>
            <a:prstDash val="solid"/>
          </a:ln>
        </p:spPr>
      </p:sp>
      <p:sp>
        <p:nvSpPr>
          <p:cNvPr id="32" name="Text 29"/>
          <p:cNvSpPr txBox="1"/>
          <p:nvPr/>
        </p:nvSpPr>
        <p:spPr>
          <a:xfrm>
            <a:off x="9326880" y="3776472"/>
            <a:ext cx="2194560" cy="274320"/>
          </a:xfrm>
          <a:prstGeom prst="rect">
            <a:avLst/>
          </a:prstGeom>
          <a:noFill/>
          <a:ln/>
        </p:spPr>
        <p:txBody>
          <a:bodyPr wrap="square" lIns="0" tIns="0" rIns="0" bIns="0" rtlCol="0" anchor="t"/>
          <a:lstStyle/>
          <a:p>
            <a:pPr indent="0" marL="0">
              <a:buNone/>
            </a:pPr>
            <a:r>
              <a:rPr lang="en-US" sz="1250" b="1" dirty="0">
                <a:solidFill>
                  <a:srgbClr val="EDF6F7"/>
                </a:solidFill>
                <a:latin typeface="Calibri" pitchFamily="34" charset="0"/>
                <a:ea typeface="Calibri" pitchFamily="34" charset="-122"/>
                <a:cs typeface="Calibri" pitchFamily="34" charset="-120"/>
              </a:rPr>
              <a:t>The extraction</a:t>
            </a:r>
            <a:endParaRPr lang="en-US" sz="1250" dirty="0"/>
          </a:p>
        </p:txBody>
      </p:sp>
      <p:sp>
        <p:nvSpPr>
          <p:cNvPr id="33" name="Text 30"/>
          <p:cNvSpPr txBox="1"/>
          <p:nvPr/>
        </p:nvSpPr>
        <p:spPr>
          <a:xfrm>
            <a:off x="9326880" y="4050792"/>
            <a:ext cx="2194560" cy="411480"/>
          </a:xfrm>
          <a:prstGeom prst="rect">
            <a:avLst/>
          </a:prstGeom>
          <a:noFill/>
          <a:ln/>
        </p:spPr>
        <p:txBody>
          <a:bodyPr wrap="square" lIns="0" tIns="0" rIns="0" bIns="0" rtlCol="0" anchor="t"/>
          <a:lstStyle/>
          <a:p>
            <a:pPr indent="0" marL="0">
              <a:buNone/>
            </a:pPr>
            <a:r>
              <a:rPr lang="en-US" sz="950" dirty="0">
                <a:solidFill>
                  <a:srgbClr val="BBCACE"/>
                </a:solidFill>
                <a:latin typeface="Calibri" pitchFamily="34" charset="0"/>
                <a:ea typeface="Calibri" pitchFamily="34" charset="-122"/>
                <a:cs typeface="Calibri" pitchFamily="34" charset="-120"/>
              </a:rPr>
              <a:t>text with locators into the source</a:t>
            </a:r>
            <a:endParaRPr lang="en-US" sz="950" dirty="0"/>
          </a:p>
        </p:txBody>
      </p:sp>
      <p:sp>
        <p:nvSpPr>
          <p:cNvPr id="34" name="Shape 31"/>
          <p:cNvSpPr/>
          <p:nvPr/>
        </p:nvSpPr>
        <p:spPr>
          <a:xfrm>
            <a:off x="8961120" y="4654296"/>
            <a:ext cx="182880" cy="182880"/>
          </a:xfrm>
          <a:prstGeom prst="ellipse">
            <a:avLst/>
          </a:prstGeom>
          <a:solidFill>
            <a:srgbClr val="0C222B"/>
          </a:solidFill>
          <a:ln w="25400">
            <a:solidFill>
              <a:srgbClr val="B5ECF0"/>
            </a:solidFill>
            <a:prstDash val="solid"/>
          </a:ln>
        </p:spPr>
      </p:sp>
      <p:sp>
        <p:nvSpPr>
          <p:cNvPr id="35" name="Text 32"/>
          <p:cNvSpPr txBox="1"/>
          <p:nvPr/>
        </p:nvSpPr>
        <p:spPr>
          <a:xfrm>
            <a:off x="9326880" y="4599432"/>
            <a:ext cx="2194560" cy="274320"/>
          </a:xfrm>
          <a:prstGeom prst="rect">
            <a:avLst/>
          </a:prstGeom>
          <a:noFill/>
          <a:ln/>
        </p:spPr>
        <p:txBody>
          <a:bodyPr wrap="square" lIns="0" tIns="0" rIns="0" bIns="0" rtlCol="0" anchor="t"/>
          <a:lstStyle/>
          <a:p>
            <a:pPr indent="0" marL="0">
              <a:buNone/>
            </a:pPr>
            <a:r>
              <a:rPr lang="en-US" sz="1250" b="1" dirty="0">
                <a:solidFill>
                  <a:srgbClr val="EDF6F7"/>
                </a:solidFill>
                <a:latin typeface="Calibri" pitchFamily="34" charset="0"/>
                <a:ea typeface="Calibri" pitchFamily="34" charset="-122"/>
                <a:cs typeface="Calibri" pitchFamily="34" charset="-120"/>
              </a:rPr>
              <a:t>The artefact</a:t>
            </a:r>
            <a:endParaRPr lang="en-US" sz="1250" dirty="0"/>
          </a:p>
        </p:txBody>
      </p:sp>
      <p:sp>
        <p:nvSpPr>
          <p:cNvPr id="36" name="Text 33"/>
          <p:cNvSpPr txBox="1"/>
          <p:nvPr/>
        </p:nvSpPr>
        <p:spPr>
          <a:xfrm>
            <a:off x="9326880" y="4873752"/>
            <a:ext cx="2194560" cy="411480"/>
          </a:xfrm>
          <a:prstGeom prst="rect">
            <a:avLst/>
          </a:prstGeom>
          <a:noFill/>
          <a:ln/>
        </p:spPr>
        <p:txBody>
          <a:bodyPr wrap="square" lIns="0" tIns="0" rIns="0" bIns="0" rtlCol="0" anchor="t"/>
          <a:lstStyle/>
          <a:p>
            <a:pPr indent="0" marL="0">
              <a:buNone/>
            </a:pPr>
            <a:r>
              <a:rPr lang="en-US" sz="950" dirty="0">
                <a:solidFill>
                  <a:srgbClr val="BBCACE"/>
                </a:solidFill>
                <a:latin typeface="Calibri" pitchFamily="34" charset="0"/>
                <a:ea typeface="Calibri" pitchFamily="34" charset="-122"/>
                <a:cs typeface="Calibri" pitchFamily="34" charset="-120"/>
              </a:rPr>
              <a:t>addressed by its SHA-256 hash</a:t>
            </a:r>
            <a:endParaRPr lang="en-US" sz="950" dirty="0"/>
          </a:p>
        </p:txBody>
      </p:sp>
      <p:sp>
        <p:nvSpPr>
          <p:cNvPr id="37" name="Shape 34"/>
          <p:cNvSpPr/>
          <p:nvPr/>
        </p:nvSpPr>
        <p:spPr>
          <a:xfrm>
            <a:off x="8961120" y="5477256"/>
            <a:ext cx="182880" cy="182880"/>
          </a:xfrm>
          <a:prstGeom prst="ellipse">
            <a:avLst/>
          </a:prstGeom>
          <a:solidFill>
            <a:srgbClr val="0C222B"/>
          </a:solidFill>
          <a:ln w="25400">
            <a:solidFill>
              <a:srgbClr val="B5ECF0"/>
            </a:solidFill>
            <a:prstDash val="solid"/>
          </a:ln>
        </p:spPr>
      </p:sp>
      <p:sp>
        <p:nvSpPr>
          <p:cNvPr id="38" name="Text 35"/>
          <p:cNvSpPr txBox="1"/>
          <p:nvPr/>
        </p:nvSpPr>
        <p:spPr>
          <a:xfrm>
            <a:off x="9326880" y="5422392"/>
            <a:ext cx="2194560" cy="274320"/>
          </a:xfrm>
          <a:prstGeom prst="rect">
            <a:avLst/>
          </a:prstGeom>
          <a:noFill/>
          <a:ln/>
        </p:spPr>
        <p:txBody>
          <a:bodyPr wrap="square" lIns="0" tIns="0" rIns="0" bIns="0" rtlCol="0" anchor="t"/>
          <a:lstStyle/>
          <a:p>
            <a:pPr indent="0" marL="0">
              <a:buNone/>
            </a:pPr>
            <a:r>
              <a:rPr lang="en-US" sz="1250" b="1" dirty="0">
                <a:solidFill>
                  <a:srgbClr val="EDF6F7"/>
                </a:solidFill>
                <a:latin typeface="Calibri" pitchFamily="34" charset="0"/>
                <a:ea typeface="Calibri" pitchFamily="34" charset="-122"/>
                <a:cs typeface="Calibri" pitchFamily="34" charset="-120"/>
              </a:rPr>
              <a:t>The bytes</a:t>
            </a:r>
            <a:endParaRPr lang="en-US" sz="1250" dirty="0"/>
          </a:p>
        </p:txBody>
      </p:sp>
      <p:sp>
        <p:nvSpPr>
          <p:cNvPr id="39" name="Text 36"/>
          <p:cNvSpPr txBox="1"/>
          <p:nvPr/>
        </p:nvSpPr>
        <p:spPr>
          <a:xfrm>
            <a:off x="9326880" y="5696712"/>
            <a:ext cx="2194560" cy="411480"/>
          </a:xfrm>
          <a:prstGeom prst="rect">
            <a:avLst/>
          </a:prstGeom>
          <a:noFill/>
          <a:ln/>
        </p:spPr>
        <p:txBody>
          <a:bodyPr wrap="square" lIns="0" tIns="0" rIns="0" bIns="0" rtlCol="0" anchor="t"/>
          <a:lstStyle/>
          <a:p>
            <a:pPr indent="0" marL="0">
              <a:buNone/>
            </a:pPr>
            <a:r>
              <a:rPr lang="en-US" sz="950" dirty="0">
                <a:solidFill>
                  <a:srgbClr val="BBCACE"/>
                </a:solidFill>
                <a:latin typeface="Calibri" pitchFamily="34" charset="0"/>
                <a:ea typeface="Calibri" pitchFamily="34" charset="-122"/>
                <a:cs typeface="Calibri" pitchFamily="34" charset="-120"/>
              </a:rPr>
              <a:t>archived as fetched, with the date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01 · IN ONE MINUTE</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The short version</a:t>
            </a:r>
            <a:endParaRPr lang="en-US" sz="2800" dirty="0"/>
          </a:p>
        </p:txBody>
      </p:sp>
      <p:sp>
        <p:nvSpPr>
          <p:cNvPr id="5" name="Shape 3"/>
          <p:cNvSpPr/>
          <p:nvPr/>
        </p:nvSpPr>
        <p:spPr>
          <a:xfrm>
            <a:off x="10624414" y="384048"/>
            <a:ext cx="1018642" cy="219456"/>
          </a:xfrm>
          <a:prstGeom prst="roundRect">
            <a:avLst>
              <a:gd name="adj" fmla="val 50000"/>
            </a:avLst>
          </a:prstGeom>
          <a:solidFill>
            <a:srgbClr val="7A4B00"/>
          </a:solidFill>
          <a:ln/>
        </p:spPr>
      </p:sp>
      <p:sp>
        <p:nvSpPr>
          <p:cNvPr id="6" name="Text 4"/>
          <p:cNvSpPr txBox="1"/>
          <p:nvPr/>
        </p:nvSpPr>
        <p:spPr>
          <a:xfrm>
            <a:off x="10624414" y="38404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7" name="Shape 5"/>
          <p:cNvSpPr/>
          <p:nvPr/>
        </p:nvSpPr>
        <p:spPr>
          <a:xfrm>
            <a:off x="9176004" y="384048"/>
            <a:ext cx="1356970" cy="219456"/>
          </a:xfrm>
          <a:prstGeom prst="roundRect">
            <a:avLst>
              <a:gd name="adj" fmla="val 50000"/>
            </a:avLst>
          </a:prstGeom>
          <a:solidFill>
            <a:srgbClr val="14613F"/>
          </a:solidFill>
          <a:ln/>
        </p:spPr>
      </p:sp>
      <p:sp>
        <p:nvSpPr>
          <p:cNvPr id="8" name="Text 6"/>
          <p:cNvSpPr txBox="1"/>
          <p:nvPr/>
        </p:nvSpPr>
        <p:spPr>
          <a:xfrm>
            <a:off x="9176004"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9" name="Shape 7"/>
          <p:cNvSpPr/>
          <p:nvPr/>
        </p:nvSpPr>
        <p:spPr>
          <a:xfrm>
            <a:off x="8268919" y="384048"/>
            <a:ext cx="815645" cy="219456"/>
          </a:xfrm>
          <a:prstGeom prst="roundRect">
            <a:avLst>
              <a:gd name="adj" fmla="val 50000"/>
            </a:avLst>
          </a:prstGeom>
          <a:solidFill>
            <a:srgbClr val="0F6673"/>
          </a:solidFill>
          <a:ln/>
        </p:spPr>
      </p:sp>
      <p:sp>
        <p:nvSpPr>
          <p:cNvPr id="10" name="Text 8"/>
          <p:cNvSpPr txBox="1"/>
          <p:nvPr/>
        </p:nvSpPr>
        <p:spPr>
          <a:xfrm>
            <a:off x="8268919"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11" name="Text 9"/>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2" name="Text 10"/>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03</a:t>
            </a:r>
            <a:endParaRPr lang="en-US" sz="800" dirty="0"/>
          </a:p>
        </p:txBody>
      </p:sp>
      <p:sp>
        <p:nvSpPr>
          <p:cNvPr id="14" name="Shape 11"/>
          <p:cNvSpPr/>
          <p:nvPr/>
        </p:nvSpPr>
        <p:spPr>
          <a:xfrm>
            <a:off x="548640" y="1463040"/>
            <a:ext cx="3545738" cy="2103120"/>
          </a:xfrm>
          <a:prstGeom prst="roundRect">
            <a:avLst>
              <a:gd name="adj" fmla="val 2174"/>
            </a:avLst>
          </a:prstGeom>
          <a:solidFill>
            <a:srgbClr val="FFFFFF"/>
          </a:solidFill>
          <a:ln w="9525">
            <a:solidFill>
              <a:srgbClr val="CDD8DC"/>
            </a:solidFill>
            <a:prstDash val="solid"/>
          </a:ln>
        </p:spPr>
      </p:sp>
      <p:sp>
        <p:nvSpPr>
          <p:cNvPr id="15" name="Text 12"/>
          <p:cNvSpPr txBox="1"/>
          <p:nvPr/>
        </p:nvSpPr>
        <p:spPr>
          <a:xfrm>
            <a:off x="749808" y="1645920"/>
            <a:ext cx="3143402"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WHAT IT IS</a:t>
            </a:r>
            <a:endParaRPr lang="en-US" sz="900" dirty="0"/>
          </a:p>
        </p:txBody>
      </p:sp>
      <p:sp>
        <p:nvSpPr>
          <p:cNvPr id="16" name="Text 13"/>
          <p:cNvSpPr txBox="1"/>
          <p:nvPr/>
        </p:nvSpPr>
        <p:spPr>
          <a:xfrm>
            <a:off x="749808" y="1938528"/>
            <a:ext cx="3143402" cy="1554480"/>
          </a:xfrm>
          <a:prstGeom prst="rect">
            <a:avLst/>
          </a:prstGeom>
          <a:noFill/>
          <a:ln/>
        </p:spPr>
        <p:txBody>
          <a:bodyPr wrap="square" lIns="0" tIns="0" rIns="0" bIns="0" rtlCol="0" anchor="t"/>
          <a:lstStyle/>
          <a:p>
            <a:pPr indent="0" marL="0">
              <a:buNone/>
            </a:pPr>
            <a:r>
              <a:rPr lang="en-US" sz="1300" dirty="0">
                <a:solidFill>
                  <a:srgbClr val="15252E"/>
                </a:solidFill>
                <a:latin typeface="Calibri" pitchFamily="34" charset="0"/>
                <a:ea typeface="Calibri" pitchFamily="34" charset="-122"/>
                <a:cs typeface="Calibri" pitchFamily="34" charset="-120"/>
              </a:rPr>
              <a:t>An equity research platform for self-directed investors. It writes institutional-style reports on listed companies, and keeps a living record of your theses, decisions and reviews, tested against every new filing.</a:t>
            </a:r>
            <a:endParaRPr lang="en-US" sz="1300" dirty="0"/>
          </a:p>
        </p:txBody>
      </p:sp>
      <p:sp>
        <p:nvSpPr>
          <p:cNvPr id="17" name="Shape 14"/>
          <p:cNvSpPr/>
          <p:nvPr/>
        </p:nvSpPr>
        <p:spPr>
          <a:xfrm>
            <a:off x="4322978" y="1463040"/>
            <a:ext cx="3545738" cy="2103120"/>
          </a:xfrm>
          <a:prstGeom prst="roundRect">
            <a:avLst>
              <a:gd name="adj" fmla="val 2174"/>
            </a:avLst>
          </a:prstGeom>
          <a:solidFill>
            <a:srgbClr val="FFFFFF"/>
          </a:solidFill>
          <a:ln w="9525">
            <a:solidFill>
              <a:srgbClr val="CDD8DC"/>
            </a:solidFill>
            <a:prstDash val="solid"/>
          </a:ln>
        </p:spPr>
      </p:sp>
      <p:sp>
        <p:nvSpPr>
          <p:cNvPr id="18" name="Text 15"/>
          <p:cNvSpPr txBox="1"/>
          <p:nvPr/>
        </p:nvSpPr>
        <p:spPr>
          <a:xfrm>
            <a:off x="4524146" y="1645920"/>
            <a:ext cx="3143402"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THE PROBLEM</a:t>
            </a:r>
            <a:endParaRPr lang="en-US" sz="900" dirty="0"/>
          </a:p>
        </p:txBody>
      </p:sp>
      <p:sp>
        <p:nvSpPr>
          <p:cNvPr id="19" name="Text 16"/>
          <p:cNvSpPr txBox="1"/>
          <p:nvPr/>
        </p:nvSpPr>
        <p:spPr>
          <a:xfrm>
            <a:off x="4524146" y="1938528"/>
            <a:ext cx="3143402" cy="1554480"/>
          </a:xfrm>
          <a:prstGeom prst="rect">
            <a:avLst/>
          </a:prstGeom>
          <a:noFill/>
          <a:ln/>
        </p:spPr>
        <p:txBody>
          <a:bodyPr wrap="square" lIns="0" tIns="0" rIns="0" bIns="0" rtlCol="0" anchor="t"/>
          <a:lstStyle/>
          <a:p>
            <a:pPr indent="0" marL="0">
              <a:buNone/>
            </a:pPr>
            <a:r>
              <a:rPr lang="en-US" sz="1300" dirty="0">
                <a:solidFill>
                  <a:srgbClr val="15252E"/>
                </a:solidFill>
                <a:latin typeface="Calibri" pitchFamily="34" charset="0"/>
                <a:ea typeface="Calibri" pitchFamily="34" charset="-122"/>
                <a:cs typeface="Calibri" pitchFamily="34" charset="-120"/>
              </a:rPr>
              <a:t>AI made company research fast but not checkable. The tools that make it checkable are priced for institutions. And nothing keeps an investor’s own reasoning honest after they buy.</a:t>
            </a:r>
            <a:endParaRPr lang="en-US" sz="1300" dirty="0"/>
          </a:p>
        </p:txBody>
      </p:sp>
      <p:sp>
        <p:nvSpPr>
          <p:cNvPr id="20" name="Shape 17"/>
          <p:cNvSpPr/>
          <p:nvPr/>
        </p:nvSpPr>
        <p:spPr>
          <a:xfrm>
            <a:off x="8097317" y="1463040"/>
            <a:ext cx="3545738" cy="2103120"/>
          </a:xfrm>
          <a:prstGeom prst="roundRect">
            <a:avLst>
              <a:gd name="adj" fmla="val 2174"/>
            </a:avLst>
          </a:prstGeom>
          <a:solidFill>
            <a:srgbClr val="FFFFFF"/>
          </a:solidFill>
          <a:ln w="9525">
            <a:solidFill>
              <a:srgbClr val="CDD8DC"/>
            </a:solidFill>
            <a:prstDash val="solid"/>
          </a:ln>
        </p:spPr>
      </p:sp>
      <p:sp>
        <p:nvSpPr>
          <p:cNvPr id="21" name="Text 18"/>
          <p:cNvSpPr txBox="1"/>
          <p:nvPr/>
        </p:nvSpPr>
        <p:spPr>
          <a:xfrm>
            <a:off x="8298485" y="1645920"/>
            <a:ext cx="3143402"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THE DIFFERENCE</a:t>
            </a:r>
            <a:endParaRPr lang="en-US" sz="900" dirty="0"/>
          </a:p>
        </p:txBody>
      </p:sp>
      <p:sp>
        <p:nvSpPr>
          <p:cNvPr id="22" name="Text 19"/>
          <p:cNvSpPr txBox="1"/>
          <p:nvPr/>
        </p:nvSpPr>
        <p:spPr>
          <a:xfrm>
            <a:off x="8298485" y="1938528"/>
            <a:ext cx="3143402" cy="1554480"/>
          </a:xfrm>
          <a:prstGeom prst="rect">
            <a:avLst/>
          </a:prstGeom>
          <a:noFill/>
          <a:ln/>
        </p:spPr>
        <p:txBody>
          <a:bodyPr wrap="square" lIns="0" tIns="0" rIns="0" bIns="0" rtlCol="0" anchor="t"/>
          <a:lstStyle/>
          <a:p>
            <a:pPr indent="0" marL="0">
              <a:buNone/>
            </a:pPr>
            <a:r>
              <a:rPr lang="en-US" sz="1300" dirty="0">
                <a:solidFill>
                  <a:srgbClr val="15252E"/>
                </a:solidFill>
                <a:latin typeface="Calibri" pitchFamily="34" charset="0"/>
                <a:ea typeface="Calibri" pitchFamily="34" charset="-122"/>
                <a:cs typeface="Calibri" pitchFamily="34" charset="-120"/>
              </a:rPr>
              <a:t>Code owns every number and every fact; the model plans, reads, argues and writes. Every figure resolves to a formula or to archived, hashed source bytes, and a figure that cannot is refused.</a:t>
            </a:r>
            <a:endParaRPr lang="en-US" sz="1300" dirty="0"/>
          </a:p>
        </p:txBody>
      </p:sp>
      <p:sp>
        <p:nvSpPr>
          <p:cNvPr id="23" name="Shape 20"/>
          <p:cNvSpPr/>
          <p:nvPr/>
        </p:nvSpPr>
        <p:spPr>
          <a:xfrm>
            <a:off x="548640" y="3749040"/>
            <a:ext cx="3545738" cy="2103120"/>
          </a:xfrm>
          <a:prstGeom prst="roundRect">
            <a:avLst>
              <a:gd name="adj" fmla="val 2174"/>
            </a:avLst>
          </a:prstGeom>
          <a:solidFill>
            <a:srgbClr val="FFFFFF"/>
          </a:solidFill>
          <a:ln w="9525">
            <a:solidFill>
              <a:srgbClr val="CDD8DC"/>
            </a:solidFill>
            <a:prstDash val="solid"/>
          </a:ln>
        </p:spPr>
      </p:sp>
      <p:sp>
        <p:nvSpPr>
          <p:cNvPr id="24" name="Text 21"/>
          <p:cNvSpPr txBox="1"/>
          <p:nvPr/>
        </p:nvSpPr>
        <p:spPr>
          <a:xfrm>
            <a:off x="749808" y="3931920"/>
            <a:ext cx="3143402"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WHAT IS READY</a:t>
            </a:r>
            <a:endParaRPr lang="en-US" sz="900" dirty="0"/>
          </a:p>
        </p:txBody>
      </p:sp>
      <p:sp>
        <p:nvSpPr>
          <p:cNvPr id="25" name="Text 22"/>
          <p:cNvSpPr txBox="1"/>
          <p:nvPr/>
        </p:nvSpPr>
        <p:spPr>
          <a:xfrm>
            <a:off x="749808" y="4224528"/>
            <a:ext cx="3143402" cy="1554480"/>
          </a:xfrm>
          <a:prstGeom prst="rect">
            <a:avLst/>
          </a:prstGeom>
          <a:noFill/>
          <a:ln/>
        </p:spPr>
        <p:txBody>
          <a:bodyPr wrap="square" lIns="0" tIns="0" rIns="0" bIns="0" rtlCol="0" anchor="t"/>
          <a:lstStyle/>
          <a:p>
            <a:pPr indent="0" marL="0">
              <a:buNone/>
            </a:pPr>
            <a:r>
              <a:rPr lang="en-US" sz="1300" dirty="0">
                <a:solidFill>
                  <a:srgbClr val="15252E"/>
                </a:solidFill>
                <a:latin typeface="Calibri" pitchFamily="34" charset="0"/>
                <a:ea typeface="Calibri" pitchFamily="34" charset="-122"/>
                <a:cs typeface="Calibri" pitchFamily="34" charset="-120"/>
              </a:rPr>
              <a:t>Ten tools across research, decide, hold and review: costed plans with approval gates, refresh, Ask, a live workbook, theses, decisions, a monitor, risk, post-trade review and decision analytics.</a:t>
            </a:r>
            <a:endParaRPr lang="en-US" sz="1300" dirty="0"/>
          </a:p>
        </p:txBody>
      </p:sp>
      <p:sp>
        <p:nvSpPr>
          <p:cNvPr id="26" name="Shape 23"/>
          <p:cNvSpPr/>
          <p:nvPr/>
        </p:nvSpPr>
        <p:spPr>
          <a:xfrm>
            <a:off x="4322978" y="3749040"/>
            <a:ext cx="3545738" cy="2103120"/>
          </a:xfrm>
          <a:prstGeom prst="roundRect">
            <a:avLst>
              <a:gd name="adj" fmla="val 2174"/>
            </a:avLst>
          </a:prstGeom>
          <a:solidFill>
            <a:srgbClr val="FFFFFF"/>
          </a:solidFill>
          <a:ln w="9525">
            <a:solidFill>
              <a:srgbClr val="CDD8DC"/>
            </a:solidFill>
            <a:prstDash val="solid"/>
          </a:ln>
        </p:spPr>
      </p:sp>
      <p:sp>
        <p:nvSpPr>
          <p:cNvPr id="27" name="Text 24"/>
          <p:cNvSpPr txBox="1"/>
          <p:nvPr/>
        </p:nvSpPr>
        <p:spPr>
          <a:xfrm>
            <a:off x="4524146" y="3931920"/>
            <a:ext cx="3143402"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THE EVIDENCE</a:t>
            </a:r>
            <a:endParaRPr lang="en-US" sz="900" dirty="0"/>
          </a:p>
        </p:txBody>
      </p:sp>
      <p:sp>
        <p:nvSpPr>
          <p:cNvPr id="28" name="Text 25"/>
          <p:cNvSpPr txBox="1"/>
          <p:nvPr/>
        </p:nvSpPr>
        <p:spPr>
          <a:xfrm>
            <a:off x="4524146" y="4224528"/>
            <a:ext cx="3143402" cy="1554480"/>
          </a:xfrm>
          <a:prstGeom prst="rect">
            <a:avLst/>
          </a:prstGeom>
          <a:noFill/>
          <a:ln/>
        </p:spPr>
        <p:txBody>
          <a:bodyPr wrap="square" lIns="0" tIns="0" rIns="0" bIns="0" rtlCol="0" anchor="t"/>
          <a:lstStyle/>
          <a:p>
            <a:pPr indent="0" marL="0">
              <a:buNone/>
            </a:pPr>
            <a:r>
              <a:rPr lang="en-US" sz="1300" dirty="0">
                <a:solidFill>
                  <a:srgbClr val="15252E"/>
                </a:solidFill>
                <a:latin typeface="Calibri" pitchFamily="34" charset="0"/>
                <a:ea typeface="Calibri" pitchFamily="34" charset="-122"/>
                <a:cs typeface="Calibri" pitchFamily="34" charset="-120"/>
              </a:rPr>
              <a:t>Audited on live runs: 0 of 779 checkable figures contradicted, 259 of 259 citations confirmed, £7.19 a report. Model judges still preferred a general AI note, so we sell the evidence, not the essay.</a:t>
            </a:r>
            <a:endParaRPr lang="en-US" sz="1300" dirty="0"/>
          </a:p>
        </p:txBody>
      </p:sp>
      <p:sp>
        <p:nvSpPr>
          <p:cNvPr id="29" name="Shape 26"/>
          <p:cNvSpPr/>
          <p:nvPr/>
        </p:nvSpPr>
        <p:spPr>
          <a:xfrm>
            <a:off x="8097317" y="3749040"/>
            <a:ext cx="3545738" cy="2103120"/>
          </a:xfrm>
          <a:prstGeom prst="roundRect">
            <a:avLst>
              <a:gd name="adj" fmla="val 2174"/>
            </a:avLst>
          </a:prstGeom>
          <a:solidFill>
            <a:srgbClr val="FFF3D6"/>
          </a:solidFill>
          <a:ln w="9525">
            <a:solidFill>
              <a:srgbClr val="7A4B00"/>
            </a:solidFill>
            <a:prstDash val="solid"/>
          </a:ln>
        </p:spPr>
      </p:sp>
      <p:sp>
        <p:nvSpPr>
          <p:cNvPr id="30" name="Text 27"/>
          <p:cNvSpPr txBox="1"/>
          <p:nvPr/>
        </p:nvSpPr>
        <p:spPr>
          <a:xfrm>
            <a:off x="8225333" y="3877056"/>
            <a:ext cx="3289706"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PLACEHOLDER</a:t>
            </a:r>
            <a:endParaRPr lang="en-US" sz="800" dirty="0"/>
          </a:p>
        </p:txBody>
      </p:sp>
      <p:sp>
        <p:nvSpPr>
          <p:cNvPr id="31" name="Text 28"/>
          <p:cNvSpPr txBox="1"/>
          <p:nvPr/>
        </p:nvSpPr>
        <p:spPr>
          <a:xfrm>
            <a:off x="8225333" y="4105656"/>
            <a:ext cx="3289706" cy="1669694"/>
          </a:xfrm>
          <a:prstGeom prst="rect">
            <a:avLst/>
          </a:prstGeom>
          <a:noFill/>
          <a:ln/>
        </p:spPr>
        <p:txBody>
          <a:bodyPr wrap="square" lIns="0" tIns="0" rIns="0" bIns="0" rtlCol="0" anchor="t"/>
          <a:lstStyle/>
          <a:p>
            <a:pPr algn="l" indent="0" marL="0">
              <a:buNone/>
            </a:pPr>
            <a:r>
              <a:rPr lang="en-US" sz="1200" dirty="0">
                <a:solidFill>
                  <a:srgbClr val="5D3900"/>
                </a:solidFill>
                <a:latin typeface="Calibri" pitchFamily="34" charset="0"/>
                <a:ea typeface="Calibri" pitchFamily="34" charset="-122"/>
                <a:cs typeface="Calibri" pitchFamily="34" charset="-120"/>
              </a:rPr>
              <a:t>THE ASK</a:t>
            </a:r>
            <a:endParaRPr lang="en-US" sz="1200" dirty="0"/>
          </a:p>
          <a:p>
            <a:pPr algn="l" indent="0" marL="0">
              <a:buNone/>
            </a:pPr>
            <a:r>
              <a:rPr lang="en-US" sz="1200" dirty="0">
                <a:solidFill>
                  <a:srgbClr val="5D3900"/>
                </a:solidFill>
                <a:latin typeface="Calibri" pitchFamily="34" charset="0"/>
                <a:ea typeface="Calibri" pitchFamily="34" charset="-122"/>
                <a:cs typeface="Calibri" pitchFamily="34" charset="-120"/>
              </a:rPr>
              <a:t>[Amount] · [instrument] · [what it buys] · [by when]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02 · THE PROBLEM</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AI made company research fast. It did not make it checkable.</a:t>
            </a:r>
            <a:endParaRPr lang="en-US" sz="2800" dirty="0"/>
          </a:p>
        </p:txBody>
      </p:sp>
      <p:sp>
        <p:nvSpPr>
          <p:cNvPr id="5" name="Shape 3"/>
          <p:cNvSpPr/>
          <p:nvPr/>
        </p:nvSpPr>
        <p:spPr>
          <a:xfrm>
            <a:off x="10827410" y="384048"/>
            <a:ext cx="815645" cy="219456"/>
          </a:xfrm>
          <a:prstGeom prst="roundRect">
            <a:avLst>
              <a:gd name="adj" fmla="val 50000"/>
            </a:avLst>
          </a:prstGeom>
          <a:solidFill>
            <a:srgbClr val="0F6673"/>
          </a:solidFill>
          <a:ln/>
        </p:spPr>
      </p:sp>
      <p:sp>
        <p:nvSpPr>
          <p:cNvPr id="6" name="Text 4"/>
          <p:cNvSpPr txBox="1"/>
          <p:nvPr/>
        </p:nvSpPr>
        <p:spPr>
          <a:xfrm>
            <a:off x="10827410"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7" name="Text 5"/>
          <p:cNvSpPr txBox="1"/>
          <p:nvPr/>
        </p:nvSpPr>
        <p:spPr>
          <a:xfrm>
            <a:off x="548640" y="6217920"/>
            <a:ext cx="11094415"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AI baseline: Claude Opus 5 at high effort with server-side web search, through the API, on the same three briefs as the platform. Readiness audit, 11–12 Sep 2026.</a:t>
            </a:r>
            <a:endParaRPr lang="en-US" sz="900" dirty="0"/>
          </a:p>
        </p:txBody>
      </p:sp>
      <p:sp>
        <p:nvSpPr>
          <p:cNvPr id="8" name="Text 6"/>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9" name="Text 7"/>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04</a:t>
            </a:r>
            <a:endParaRPr lang="en-US" sz="800" dirty="0"/>
          </a:p>
        </p:txBody>
      </p:sp>
      <p:sp>
        <p:nvSpPr>
          <p:cNvPr id="11" name="Text 8"/>
          <p:cNvSpPr txBox="1"/>
          <p:nvPr/>
        </p:nvSpPr>
        <p:spPr>
          <a:xfrm>
            <a:off x="548640" y="1508760"/>
            <a:ext cx="5486400" cy="1737360"/>
          </a:xfrm>
          <a:prstGeom prst="rect">
            <a:avLst/>
          </a:prstGeom>
          <a:noFill/>
          <a:ln/>
        </p:spPr>
        <p:txBody>
          <a:bodyPr wrap="square" lIns="0" tIns="0" rIns="0" bIns="0" rtlCol="0" anchor="t"/>
          <a:lstStyle/>
          <a:p>
            <a:pPr indent="0" marL="0">
              <a:buNone/>
            </a:pPr>
            <a:r>
              <a:rPr lang="en-US" sz="1450" dirty="0">
                <a:solidFill>
                  <a:srgbClr val="15252E"/>
                </a:solidFill>
                <a:latin typeface="Calibri" pitchFamily="34" charset="0"/>
                <a:ea typeface="Calibri" pitchFamily="34" charset="-122"/>
                <a:cs typeface="Calibri" pitchFamily="34" charset="-120"/>
              </a:rPr>
              <a:t>Ask a general-purpose assistant to research a company and you get fluent, plausible prose. Writing a paragraph and computing a discounted cash flow are the same operation to it, and only one of them has a right answer. Asking it to be careful and cite its sources is a request, not a constraint, and it fails quietly on exactly the figures a reader is least able to check.</a:t>
            </a:r>
            <a:endParaRPr lang="en-US" sz="1450" dirty="0"/>
          </a:p>
        </p:txBody>
      </p:sp>
      <p:sp>
        <p:nvSpPr>
          <p:cNvPr id="12" name="Shape 9"/>
          <p:cNvSpPr/>
          <p:nvPr/>
        </p:nvSpPr>
        <p:spPr>
          <a:xfrm>
            <a:off x="548640" y="3383280"/>
            <a:ext cx="5486400" cy="1325880"/>
          </a:xfrm>
          <a:prstGeom prst="roundRect">
            <a:avLst>
              <a:gd name="adj" fmla="val 3448"/>
            </a:avLst>
          </a:prstGeom>
          <a:solidFill>
            <a:srgbClr val="07171D"/>
          </a:solidFill>
          <a:ln/>
        </p:spPr>
      </p:sp>
      <p:sp>
        <p:nvSpPr>
          <p:cNvPr id="13" name="Text 10"/>
          <p:cNvSpPr txBox="1"/>
          <p:nvPr/>
        </p:nvSpPr>
        <p:spPr>
          <a:xfrm>
            <a:off x="822960" y="3538728"/>
            <a:ext cx="4937760" cy="1005840"/>
          </a:xfrm>
          <a:prstGeom prst="rect">
            <a:avLst/>
          </a:prstGeom>
          <a:noFill/>
          <a:ln/>
        </p:spPr>
        <p:txBody>
          <a:bodyPr wrap="square" lIns="0" tIns="0" rIns="0" bIns="0" rtlCol="0" anchor="ctr"/>
          <a:lstStyle/>
          <a:p>
            <a:pPr indent="0" marL="0">
              <a:buNone/>
            </a:pPr>
            <a:r>
              <a:rPr lang="en-US" sz="2100" i="1" dirty="0">
                <a:solidFill>
                  <a:srgbClr val="B5ECF0"/>
                </a:solidFill>
                <a:latin typeface="Calibri" pitchFamily="34" charset="0"/>
                <a:ea typeface="Calibri" pitchFamily="34" charset="-122"/>
                <a:cs typeface="Calibri" pitchFamily="34" charset="-120"/>
              </a:rPr>
              <a:t>“The difference is not accuracy. It is whether anybody can tell.”</a:t>
            </a:r>
            <a:endParaRPr lang="en-US" sz="2100" dirty="0"/>
          </a:p>
        </p:txBody>
      </p:sp>
      <p:sp>
        <p:nvSpPr>
          <p:cNvPr id="14" name="Text 11"/>
          <p:cNvSpPr txBox="1"/>
          <p:nvPr/>
        </p:nvSpPr>
        <p:spPr>
          <a:xfrm>
            <a:off x="548640" y="4937760"/>
            <a:ext cx="5486400" cy="1097280"/>
          </a:xfrm>
          <a:prstGeom prst="rect">
            <a:avLst/>
          </a:prstGeom>
          <a:noFill/>
          <a:ln/>
        </p:spPr>
        <p:txBody>
          <a:bodyPr wrap="square" lIns="0" tIns="0" rIns="0" bIns="0" rtlCol="0" anchor="t"/>
          <a:lstStyle/>
          <a:p>
            <a:pPr indent="0" marL="0">
              <a:buNone/>
            </a:pPr>
            <a:r>
              <a:rPr lang="en-US" sz="1200" dirty="0">
                <a:solidFill>
                  <a:srgbClr val="52656E"/>
                </a:solidFill>
                <a:latin typeface="Calibri" pitchFamily="34" charset="0"/>
                <a:ea typeface="Calibri" pitchFamily="34" charset="-122"/>
                <a:cs typeface="Calibri" pitchFamily="34" charset="-120"/>
              </a:rPr>
              <a:t>To be fair to them: the baseline notes’ stated figures were accurate — 0 contradicted of 154 and of 107, and 1 flagged of 179, a definition the note itself disclosed. They are not usually wrong. You cannot tell when they are.</a:t>
            </a:r>
            <a:endParaRPr lang="en-US" sz="1200" dirty="0"/>
          </a:p>
        </p:txBody>
      </p:sp>
      <p:sp>
        <p:nvSpPr>
          <p:cNvPr id="15" name="Shape 12"/>
          <p:cNvSpPr/>
          <p:nvPr/>
        </p:nvSpPr>
        <p:spPr>
          <a:xfrm>
            <a:off x="6446520" y="1508760"/>
            <a:ext cx="5193792" cy="987552"/>
          </a:xfrm>
          <a:prstGeom prst="roundRect">
            <a:avLst>
              <a:gd name="adj" fmla="val 4630"/>
            </a:avLst>
          </a:prstGeom>
          <a:solidFill>
            <a:srgbClr val="FFFFFF"/>
          </a:solidFill>
          <a:ln w="9525">
            <a:solidFill>
              <a:srgbClr val="CDD8DC"/>
            </a:solidFill>
            <a:prstDash val="solid"/>
          </a:ln>
        </p:spPr>
      </p:sp>
      <p:sp>
        <p:nvSpPr>
          <p:cNvPr id="16" name="Text 13"/>
          <p:cNvSpPr txBox="1"/>
          <p:nvPr/>
        </p:nvSpPr>
        <p:spPr>
          <a:xfrm>
            <a:off x="6629400" y="1709928"/>
            <a:ext cx="1783080" cy="548640"/>
          </a:xfrm>
          <a:prstGeom prst="rect">
            <a:avLst/>
          </a:prstGeom>
          <a:noFill/>
          <a:ln/>
        </p:spPr>
        <p:txBody>
          <a:bodyPr wrap="square" lIns="0" tIns="0" rIns="0" bIns="0" rtlCol="0" anchor="ctr"/>
          <a:lstStyle/>
          <a:p>
            <a:pPr indent="0" marL="0">
              <a:buNone/>
            </a:pPr>
            <a:r>
              <a:rPr lang="en-US" sz="2000" b="1" dirty="0">
                <a:solidFill>
                  <a:srgbClr val="9B293F"/>
                </a:solidFill>
                <a:latin typeface="Consolas" pitchFamily="34" charset="0"/>
                <a:ea typeface="Consolas" pitchFamily="34" charset="-122"/>
                <a:cs typeface="Consolas" pitchFamily="34" charset="-120"/>
              </a:rPr>
              <a:t>54 of 159</a:t>
            </a:r>
            <a:endParaRPr lang="en-US" sz="2000" dirty="0"/>
          </a:p>
        </p:txBody>
      </p:sp>
      <p:sp>
        <p:nvSpPr>
          <p:cNvPr id="17" name="Text 14"/>
          <p:cNvSpPr txBox="1"/>
          <p:nvPr/>
        </p:nvSpPr>
        <p:spPr>
          <a:xfrm>
            <a:off x="8458200" y="1664208"/>
            <a:ext cx="3017520" cy="713232"/>
          </a:xfrm>
          <a:prstGeom prst="rect">
            <a:avLst/>
          </a:prstGeom>
          <a:noFill/>
          <a:ln/>
        </p:spPr>
        <p:txBody>
          <a:bodyPr wrap="square" lIns="0" tIns="0" rIns="0" bIns="0" rtlCol="0" anchor="ctr"/>
          <a:lstStyle/>
          <a:p>
            <a:pPr indent="0" marL="0">
              <a:buNone/>
            </a:pPr>
            <a:r>
              <a:rPr lang="en-US" sz="1100" dirty="0">
                <a:solidFill>
                  <a:srgbClr val="15252E"/>
                </a:solidFill>
                <a:latin typeface="Calibri" pitchFamily="34" charset="0"/>
                <a:ea typeface="Calibri" pitchFamily="34" charset="-122"/>
                <a:cs typeface="Calibri" pitchFamily="34" charset="-120"/>
              </a:rPr>
              <a:t>web links cited by the three AI notes had stopped resolving the day after they were written.</a:t>
            </a:r>
            <a:endParaRPr lang="en-US" sz="1100" dirty="0"/>
          </a:p>
        </p:txBody>
      </p:sp>
      <p:sp>
        <p:nvSpPr>
          <p:cNvPr id="18" name="Shape 15"/>
          <p:cNvSpPr/>
          <p:nvPr/>
        </p:nvSpPr>
        <p:spPr>
          <a:xfrm>
            <a:off x="6446520" y="2633472"/>
            <a:ext cx="5193792" cy="987552"/>
          </a:xfrm>
          <a:prstGeom prst="roundRect">
            <a:avLst>
              <a:gd name="adj" fmla="val 4630"/>
            </a:avLst>
          </a:prstGeom>
          <a:solidFill>
            <a:srgbClr val="FFFFFF"/>
          </a:solidFill>
          <a:ln w="9525">
            <a:solidFill>
              <a:srgbClr val="CDD8DC"/>
            </a:solidFill>
            <a:prstDash val="solid"/>
          </a:ln>
        </p:spPr>
      </p:sp>
      <p:sp>
        <p:nvSpPr>
          <p:cNvPr id="19" name="Text 16"/>
          <p:cNvSpPr txBox="1"/>
          <p:nvPr/>
        </p:nvSpPr>
        <p:spPr>
          <a:xfrm>
            <a:off x="6629400" y="2834640"/>
            <a:ext cx="1783080" cy="548640"/>
          </a:xfrm>
          <a:prstGeom prst="rect">
            <a:avLst/>
          </a:prstGeom>
          <a:noFill/>
          <a:ln/>
        </p:spPr>
        <p:txBody>
          <a:bodyPr wrap="square" lIns="0" tIns="0" rIns="0" bIns="0" rtlCol="0" anchor="ctr"/>
          <a:lstStyle/>
          <a:p>
            <a:pPr indent="0" marL="0">
              <a:buNone/>
            </a:pPr>
            <a:r>
              <a:rPr lang="en-US" sz="2000" b="1" dirty="0">
                <a:solidFill>
                  <a:srgbClr val="9B293F"/>
                </a:solidFill>
                <a:latin typeface="Consolas" pitchFamily="34" charset="0"/>
                <a:ea typeface="Consolas" pitchFamily="34" charset="-122"/>
                <a:cs typeface="Consolas" pitchFamily="34" charset="-120"/>
              </a:rPr>
              <a:t>0 of 3</a:t>
            </a:r>
            <a:endParaRPr lang="en-US" sz="2000" dirty="0"/>
          </a:p>
        </p:txBody>
      </p:sp>
      <p:sp>
        <p:nvSpPr>
          <p:cNvPr id="20" name="Text 17"/>
          <p:cNvSpPr txBox="1"/>
          <p:nvPr/>
        </p:nvSpPr>
        <p:spPr>
          <a:xfrm>
            <a:off x="8458200" y="2788920"/>
            <a:ext cx="3017520" cy="713232"/>
          </a:xfrm>
          <a:prstGeom prst="rect">
            <a:avLst/>
          </a:prstGeom>
          <a:noFill/>
          <a:ln/>
        </p:spPr>
        <p:txBody>
          <a:bodyPr wrap="square" lIns="0" tIns="0" rIns="0" bIns="0" rtlCol="0" anchor="ctr"/>
          <a:lstStyle/>
          <a:p>
            <a:pPr indent="0" marL="0">
              <a:buNone/>
            </a:pPr>
            <a:r>
              <a:rPr lang="en-US" sz="1100" dirty="0">
                <a:solidFill>
                  <a:srgbClr val="15252E"/>
                </a:solidFill>
                <a:latin typeface="Calibri" pitchFamily="34" charset="0"/>
                <a:ea typeface="Calibri" pitchFamily="34" charset="-122"/>
                <a:cs typeface="Calibri" pitchFamily="34" charset="-120"/>
              </a:rPr>
              <a:t>notes carried a citation block. The references were the model’s own prose.</a:t>
            </a:r>
            <a:endParaRPr lang="en-US" sz="1100" dirty="0"/>
          </a:p>
        </p:txBody>
      </p:sp>
      <p:sp>
        <p:nvSpPr>
          <p:cNvPr id="21" name="Shape 18"/>
          <p:cNvSpPr/>
          <p:nvPr/>
        </p:nvSpPr>
        <p:spPr>
          <a:xfrm>
            <a:off x="6446520" y="3758184"/>
            <a:ext cx="5193792" cy="987552"/>
          </a:xfrm>
          <a:prstGeom prst="roundRect">
            <a:avLst>
              <a:gd name="adj" fmla="val 4630"/>
            </a:avLst>
          </a:prstGeom>
          <a:solidFill>
            <a:srgbClr val="FFFFFF"/>
          </a:solidFill>
          <a:ln w="9525">
            <a:solidFill>
              <a:srgbClr val="CDD8DC"/>
            </a:solidFill>
            <a:prstDash val="solid"/>
          </a:ln>
        </p:spPr>
      </p:sp>
      <p:sp>
        <p:nvSpPr>
          <p:cNvPr id="22" name="Text 19"/>
          <p:cNvSpPr txBox="1"/>
          <p:nvPr/>
        </p:nvSpPr>
        <p:spPr>
          <a:xfrm>
            <a:off x="6629400" y="3959352"/>
            <a:ext cx="1783080" cy="548640"/>
          </a:xfrm>
          <a:prstGeom prst="rect">
            <a:avLst/>
          </a:prstGeom>
          <a:noFill/>
          <a:ln/>
        </p:spPr>
        <p:txBody>
          <a:bodyPr wrap="square" lIns="0" tIns="0" rIns="0" bIns="0" rtlCol="0" anchor="ctr"/>
          <a:lstStyle/>
          <a:p>
            <a:pPr indent="0" marL="0">
              <a:buNone/>
            </a:pPr>
            <a:r>
              <a:rPr lang="en-US" sz="2000" b="1" dirty="0">
                <a:solidFill>
                  <a:srgbClr val="9B293F"/>
                </a:solidFill>
                <a:latin typeface="Consolas" pitchFamily="34" charset="0"/>
                <a:ea typeface="Consolas" pitchFamily="34" charset="-122"/>
                <a:cs typeface="Consolas" pitchFamily="34" charset="-120"/>
              </a:rPr>
              <a:t>65%</a:t>
            </a:r>
            <a:endParaRPr lang="en-US" sz="2000" dirty="0"/>
          </a:p>
        </p:txBody>
      </p:sp>
      <p:sp>
        <p:nvSpPr>
          <p:cNvPr id="23" name="Text 20"/>
          <p:cNvSpPr txBox="1"/>
          <p:nvPr/>
        </p:nvSpPr>
        <p:spPr>
          <a:xfrm>
            <a:off x="8458200" y="3913632"/>
            <a:ext cx="3017520" cy="713232"/>
          </a:xfrm>
          <a:prstGeom prst="rect">
            <a:avLst/>
          </a:prstGeom>
          <a:noFill/>
          <a:ln/>
        </p:spPr>
        <p:txBody>
          <a:bodyPr wrap="square" lIns="0" tIns="0" rIns="0" bIns="0" rtlCol="0" anchor="ctr"/>
          <a:lstStyle/>
          <a:p>
            <a:pPr indent="0" marL="0">
              <a:buNone/>
            </a:pPr>
            <a:r>
              <a:rPr lang="en-US" sz="1100" dirty="0">
                <a:solidFill>
                  <a:srgbClr val="15252E"/>
                </a:solidFill>
                <a:latin typeface="Calibri" pitchFamily="34" charset="0"/>
                <a:ea typeface="Calibri" pitchFamily="34" charset="-122"/>
                <a:cs typeface="Calibri" pitchFamily="34" charset="-120"/>
              </a:rPr>
              <a:t>spread in cost across the three briefs, £6.71 to £11.03, with no ceiling built in.</a:t>
            </a:r>
            <a:endParaRPr lang="en-US" sz="1100" dirty="0"/>
          </a:p>
        </p:txBody>
      </p:sp>
      <p:sp>
        <p:nvSpPr>
          <p:cNvPr id="24" name="Shape 21"/>
          <p:cNvSpPr/>
          <p:nvPr/>
        </p:nvSpPr>
        <p:spPr>
          <a:xfrm>
            <a:off x="6446520" y="4882896"/>
            <a:ext cx="5193792" cy="987552"/>
          </a:xfrm>
          <a:prstGeom prst="roundRect">
            <a:avLst>
              <a:gd name="adj" fmla="val 4630"/>
            </a:avLst>
          </a:prstGeom>
          <a:solidFill>
            <a:srgbClr val="FFFFFF"/>
          </a:solidFill>
          <a:ln w="9525">
            <a:solidFill>
              <a:srgbClr val="CDD8DC"/>
            </a:solidFill>
            <a:prstDash val="solid"/>
          </a:ln>
        </p:spPr>
      </p:sp>
      <p:sp>
        <p:nvSpPr>
          <p:cNvPr id="25" name="Text 22"/>
          <p:cNvSpPr txBox="1"/>
          <p:nvPr/>
        </p:nvSpPr>
        <p:spPr>
          <a:xfrm>
            <a:off x="6629400" y="5084064"/>
            <a:ext cx="1783080" cy="548640"/>
          </a:xfrm>
          <a:prstGeom prst="rect">
            <a:avLst/>
          </a:prstGeom>
          <a:noFill/>
          <a:ln/>
        </p:spPr>
        <p:txBody>
          <a:bodyPr wrap="square" lIns="0" tIns="0" rIns="0" bIns="0" rtlCol="0" anchor="ctr"/>
          <a:lstStyle/>
          <a:p>
            <a:pPr indent="0" marL="0">
              <a:buNone/>
            </a:pPr>
            <a:r>
              <a:rPr lang="en-US" sz="2000" b="1" dirty="0">
                <a:solidFill>
                  <a:srgbClr val="9B293F"/>
                </a:solidFill>
                <a:latin typeface="Consolas" pitchFamily="34" charset="0"/>
                <a:ea typeface="Consolas" pitchFamily="34" charset="-122"/>
                <a:cs typeface="Consolas" pitchFamily="34" charset="-120"/>
              </a:rPr>
              <a:t>Nothing</a:t>
            </a:r>
            <a:endParaRPr lang="en-US" sz="2000" dirty="0"/>
          </a:p>
        </p:txBody>
      </p:sp>
      <p:sp>
        <p:nvSpPr>
          <p:cNvPr id="26" name="Text 23"/>
          <p:cNvSpPr txBox="1"/>
          <p:nvPr/>
        </p:nvSpPr>
        <p:spPr>
          <a:xfrm>
            <a:off x="8458200" y="5038344"/>
            <a:ext cx="3017520" cy="713232"/>
          </a:xfrm>
          <a:prstGeom prst="rect">
            <a:avLst/>
          </a:prstGeom>
          <a:noFill/>
          <a:ln/>
        </p:spPr>
        <p:txBody>
          <a:bodyPr wrap="square" lIns="0" tIns="0" rIns="0" bIns="0" rtlCol="0" anchor="ctr"/>
          <a:lstStyle/>
          <a:p>
            <a:pPr indent="0" marL="0">
              <a:buNone/>
            </a:pPr>
            <a:r>
              <a:rPr lang="en-US" sz="1100" dirty="0">
                <a:solidFill>
                  <a:srgbClr val="15252E"/>
                </a:solidFill>
                <a:latin typeface="Calibri" pitchFamily="34" charset="0"/>
                <a:ea typeface="Calibri" pitchFamily="34" charset="-122"/>
                <a:cs typeface="Calibri" pitchFamily="34" charset="-120"/>
              </a:rPr>
              <a:t>to re-run. A chat keeps no structured record of how any figure was produced.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02 · THE PROBLEM</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The tools that make research checkable are priced for institutions</a:t>
            </a:r>
            <a:endParaRPr lang="en-US" sz="2800" dirty="0"/>
          </a:p>
        </p:txBody>
      </p:sp>
      <p:sp>
        <p:nvSpPr>
          <p:cNvPr id="5" name="Shape 3"/>
          <p:cNvSpPr/>
          <p:nvPr/>
        </p:nvSpPr>
        <p:spPr>
          <a:xfrm>
            <a:off x="10489082" y="384048"/>
            <a:ext cx="1153973" cy="219456"/>
          </a:xfrm>
          <a:prstGeom prst="roundRect">
            <a:avLst>
              <a:gd name="adj" fmla="val 50000"/>
            </a:avLst>
          </a:prstGeom>
          <a:solidFill>
            <a:srgbClr val="F4F7F8"/>
          </a:solidFill>
          <a:ln w="12700">
            <a:solidFill>
              <a:srgbClr val="15252E"/>
            </a:solidFill>
            <a:prstDash val="solid"/>
          </a:ln>
        </p:spPr>
      </p:sp>
      <p:sp>
        <p:nvSpPr>
          <p:cNvPr id="6" name="Text 4"/>
          <p:cNvSpPr txBox="1"/>
          <p:nvPr/>
        </p:nvSpPr>
        <p:spPr>
          <a:xfrm>
            <a:off x="10489082" y="384048"/>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7" name="Shape 5"/>
          <p:cNvSpPr/>
          <p:nvPr/>
        </p:nvSpPr>
        <p:spPr>
          <a:xfrm>
            <a:off x="8973007" y="384048"/>
            <a:ext cx="1424635" cy="219456"/>
          </a:xfrm>
          <a:prstGeom prst="roundRect">
            <a:avLst>
              <a:gd name="adj" fmla="val 50000"/>
            </a:avLst>
          </a:prstGeom>
          <a:solidFill>
            <a:srgbClr val="F4F7F8"/>
          </a:solidFill>
          <a:ln w="12700">
            <a:solidFill>
              <a:srgbClr val="52656E"/>
            </a:solidFill>
            <a:prstDash val="solid"/>
          </a:ln>
        </p:spPr>
      </p:sp>
      <p:sp>
        <p:nvSpPr>
          <p:cNvPr id="8" name="Text 6"/>
          <p:cNvSpPr txBox="1"/>
          <p:nvPr/>
        </p:nvSpPr>
        <p:spPr>
          <a:xfrm>
            <a:off x="8973007" y="384048"/>
            <a:ext cx="1424635" cy="219456"/>
          </a:xfrm>
          <a:prstGeom prst="rect">
            <a:avLst/>
          </a:prstGeom>
          <a:noFill/>
          <a:ln/>
        </p:spPr>
        <p:txBody>
          <a:bodyPr wrap="square" lIns="0" tIns="0" rIns="0" bIns="0" rtlCol="0" anchor="ctr"/>
          <a:lstStyle/>
          <a:p>
            <a:pPr algn="ctr" indent="0" marL="0">
              <a:buNone/>
            </a:pPr>
            <a:r>
              <a:rPr lang="en-US" sz="750" b="1" spc="80" kern="0" dirty="0">
                <a:solidFill>
                  <a:srgbClr val="52656E"/>
                </a:solidFill>
                <a:latin typeface="Consolas" pitchFamily="34" charset="0"/>
                <a:ea typeface="Consolas" pitchFamily="34" charset="-122"/>
                <a:cs typeface="Consolas" pitchFamily="34" charset="-120"/>
              </a:rPr>
              <a:t>EXTERNAL · VERIFY</a:t>
            </a:r>
            <a:endParaRPr lang="en-US" sz="750" dirty="0"/>
          </a:p>
        </p:txBody>
      </p:sp>
      <p:sp>
        <p:nvSpPr>
          <p:cNvPr id="9" name="Text 7"/>
          <p:cNvSpPr txBox="1"/>
          <p:nvPr/>
        </p:nvSpPr>
        <p:spPr>
          <a:xfrm>
            <a:off x="548640" y="6217920"/>
            <a:ext cx="11094415"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Prices from public, mostly secondary, sources read 25 Sep 2026; AlphaSense is quote-based, shown as a range. Log scale. Verify before use — sources in pitch-sources.md.</a:t>
            </a:r>
            <a:endParaRPr lang="en-US" sz="900" dirty="0"/>
          </a:p>
        </p:txBody>
      </p:sp>
      <p:sp>
        <p:nvSpPr>
          <p:cNvPr id="10" name="Text 8"/>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1" name="Text 9"/>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05</a:t>
            </a:r>
            <a:endParaRPr lang="en-US" sz="800" dirty="0"/>
          </a:p>
        </p:txBody>
      </p:sp>
      <p:sp>
        <p:nvSpPr>
          <p:cNvPr id="13" name="Shape 10"/>
          <p:cNvSpPr/>
          <p:nvPr/>
        </p:nvSpPr>
        <p:spPr>
          <a:xfrm>
            <a:off x="3063240" y="1737360"/>
            <a:ext cx="0" cy="3035808"/>
          </a:xfrm>
          <a:prstGeom prst="line">
            <a:avLst/>
          </a:prstGeom>
          <a:noFill/>
          <a:ln w="9525">
            <a:solidFill>
              <a:srgbClr val="CDD8DC"/>
            </a:solidFill>
            <a:prstDash val="dash"/>
          </a:ln>
        </p:spPr>
      </p:sp>
      <p:sp>
        <p:nvSpPr>
          <p:cNvPr id="14" name="Text 11"/>
          <p:cNvSpPr txBox="1"/>
          <p:nvPr/>
        </p:nvSpPr>
        <p:spPr>
          <a:xfrm>
            <a:off x="2514600" y="4809744"/>
            <a:ext cx="1097280" cy="201168"/>
          </a:xfrm>
          <a:prstGeom prst="rect">
            <a:avLst/>
          </a:prstGeom>
          <a:noFill/>
          <a:ln/>
        </p:spPr>
        <p:txBody>
          <a:bodyPr wrap="square" lIns="0" tIns="0" rIns="0" bIns="0" rtlCol="0" anchor="t"/>
          <a:lstStyle/>
          <a:p>
            <a:pPr algn="ctr" indent="0" marL="0">
              <a:buNone/>
            </a:pPr>
            <a:r>
              <a:rPr lang="en-US" sz="850" dirty="0">
                <a:solidFill>
                  <a:srgbClr val="5B6D75"/>
                </a:solidFill>
                <a:latin typeface="Calibri" pitchFamily="34" charset="0"/>
                <a:ea typeface="Calibri" pitchFamily="34" charset="-122"/>
                <a:cs typeface="Calibri" pitchFamily="34" charset="-120"/>
              </a:rPr>
              <a:t>$100 a year</a:t>
            </a:r>
            <a:endParaRPr lang="en-US" sz="850" dirty="0"/>
          </a:p>
        </p:txBody>
      </p:sp>
      <p:sp>
        <p:nvSpPr>
          <p:cNvPr id="15" name="Shape 12"/>
          <p:cNvSpPr/>
          <p:nvPr/>
        </p:nvSpPr>
        <p:spPr>
          <a:xfrm>
            <a:off x="5214594" y="1737360"/>
            <a:ext cx="0" cy="3035808"/>
          </a:xfrm>
          <a:prstGeom prst="line">
            <a:avLst/>
          </a:prstGeom>
          <a:noFill/>
          <a:ln w="9525">
            <a:solidFill>
              <a:srgbClr val="CDD8DC"/>
            </a:solidFill>
            <a:prstDash val="dash"/>
          </a:ln>
        </p:spPr>
      </p:sp>
      <p:sp>
        <p:nvSpPr>
          <p:cNvPr id="16" name="Text 13"/>
          <p:cNvSpPr txBox="1"/>
          <p:nvPr/>
        </p:nvSpPr>
        <p:spPr>
          <a:xfrm>
            <a:off x="4665954" y="4809744"/>
            <a:ext cx="1097280" cy="201168"/>
          </a:xfrm>
          <a:prstGeom prst="rect">
            <a:avLst/>
          </a:prstGeom>
          <a:noFill/>
          <a:ln/>
        </p:spPr>
        <p:txBody>
          <a:bodyPr wrap="square" lIns="0" tIns="0" rIns="0" bIns="0" rtlCol="0" anchor="t"/>
          <a:lstStyle/>
          <a:p>
            <a:pPr algn="ctr" indent="0" marL="0">
              <a:buNone/>
            </a:pPr>
            <a:r>
              <a:rPr lang="en-US" sz="850" dirty="0">
                <a:solidFill>
                  <a:srgbClr val="5B6D75"/>
                </a:solidFill>
                <a:latin typeface="Calibri" pitchFamily="34" charset="0"/>
                <a:ea typeface="Calibri" pitchFamily="34" charset="-122"/>
                <a:cs typeface="Calibri" pitchFamily="34" charset="-120"/>
              </a:rPr>
              <a:t>$1,000 a year</a:t>
            </a:r>
            <a:endParaRPr lang="en-US" sz="850" dirty="0"/>
          </a:p>
        </p:txBody>
      </p:sp>
      <p:sp>
        <p:nvSpPr>
          <p:cNvPr id="17" name="Shape 14"/>
          <p:cNvSpPr/>
          <p:nvPr/>
        </p:nvSpPr>
        <p:spPr>
          <a:xfrm>
            <a:off x="7365948" y="1737360"/>
            <a:ext cx="0" cy="3035808"/>
          </a:xfrm>
          <a:prstGeom prst="line">
            <a:avLst/>
          </a:prstGeom>
          <a:noFill/>
          <a:ln w="9525">
            <a:solidFill>
              <a:srgbClr val="CDD8DC"/>
            </a:solidFill>
            <a:prstDash val="dash"/>
          </a:ln>
        </p:spPr>
      </p:sp>
      <p:sp>
        <p:nvSpPr>
          <p:cNvPr id="18" name="Text 15"/>
          <p:cNvSpPr txBox="1"/>
          <p:nvPr/>
        </p:nvSpPr>
        <p:spPr>
          <a:xfrm>
            <a:off x="6817308" y="4809744"/>
            <a:ext cx="1097280" cy="201168"/>
          </a:xfrm>
          <a:prstGeom prst="rect">
            <a:avLst/>
          </a:prstGeom>
          <a:noFill/>
          <a:ln/>
        </p:spPr>
        <p:txBody>
          <a:bodyPr wrap="square" lIns="0" tIns="0" rIns="0" bIns="0" rtlCol="0" anchor="t"/>
          <a:lstStyle/>
          <a:p>
            <a:pPr algn="ctr" indent="0" marL="0">
              <a:buNone/>
            </a:pPr>
            <a:r>
              <a:rPr lang="en-US" sz="850" dirty="0">
                <a:solidFill>
                  <a:srgbClr val="5B6D75"/>
                </a:solidFill>
                <a:latin typeface="Calibri" pitchFamily="34" charset="0"/>
                <a:ea typeface="Calibri" pitchFamily="34" charset="-122"/>
                <a:cs typeface="Calibri" pitchFamily="34" charset="-120"/>
              </a:rPr>
              <a:t>$10,000 a year</a:t>
            </a:r>
            <a:endParaRPr lang="en-US" sz="850" dirty="0"/>
          </a:p>
        </p:txBody>
      </p:sp>
      <p:sp>
        <p:nvSpPr>
          <p:cNvPr id="19" name="Text 16"/>
          <p:cNvSpPr txBox="1"/>
          <p:nvPr/>
        </p:nvSpPr>
        <p:spPr>
          <a:xfrm>
            <a:off x="548640" y="1847088"/>
            <a:ext cx="2423160" cy="201168"/>
          </a:xfrm>
          <a:prstGeom prst="rect">
            <a:avLst/>
          </a:prstGeom>
          <a:noFill/>
          <a:ln/>
        </p:spPr>
        <p:txBody>
          <a:bodyPr wrap="square" lIns="0" tIns="0" rIns="0" bIns="0" rtlCol="0" anchor="t"/>
          <a:lstStyle/>
          <a:p>
            <a:pPr indent="0" marL="0">
              <a:buNone/>
            </a:pPr>
            <a:r>
              <a:rPr lang="en-US" sz="1100" b="1" dirty="0">
                <a:solidFill>
                  <a:srgbClr val="15252E"/>
                </a:solidFill>
                <a:latin typeface="Calibri" pitchFamily="34" charset="0"/>
                <a:ea typeface="Calibri" pitchFamily="34" charset="-122"/>
                <a:cs typeface="Calibri" pitchFamily="34" charset="-120"/>
              </a:rPr>
              <a:t>ChatGPT Plus</a:t>
            </a:r>
            <a:endParaRPr lang="en-US" sz="1100" dirty="0"/>
          </a:p>
        </p:txBody>
      </p:sp>
      <p:sp>
        <p:nvSpPr>
          <p:cNvPr id="20" name="Text 17"/>
          <p:cNvSpPr txBox="1"/>
          <p:nvPr/>
        </p:nvSpPr>
        <p:spPr>
          <a:xfrm>
            <a:off x="548640" y="2029968"/>
            <a:ext cx="2423160" cy="182880"/>
          </a:xfrm>
          <a:prstGeom prst="rect">
            <a:avLst/>
          </a:prstGeom>
          <a:noFill/>
          <a:ln/>
        </p:spPr>
        <p:txBody>
          <a:bodyPr wrap="square" lIns="0" tIns="0" rIns="0" bIns="0" rtlCol="0" anchor="t"/>
          <a:lstStyle/>
          <a:p>
            <a:pPr indent="0" marL="0">
              <a:buNone/>
            </a:pPr>
            <a:r>
              <a:rPr lang="en-US" sz="850" dirty="0">
                <a:solidFill>
                  <a:srgbClr val="5B6D75"/>
                </a:solidFill>
                <a:latin typeface="Calibri" pitchFamily="34" charset="0"/>
                <a:ea typeface="Calibri" pitchFamily="34" charset="-122"/>
                <a:cs typeface="Calibri" pitchFamily="34" charset="-120"/>
              </a:rPr>
              <a:t>General AI assistant</a:t>
            </a:r>
            <a:endParaRPr lang="en-US" sz="850" dirty="0"/>
          </a:p>
        </p:txBody>
      </p:sp>
      <p:sp>
        <p:nvSpPr>
          <p:cNvPr id="21" name="Shape 18"/>
          <p:cNvSpPr/>
          <p:nvPr/>
        </p:nvSpPr>
        <p:spPr>
          <a:xfrm>
            <a:off x="3063240" y="1920240"/>
            <a:ext cx="817969" cy="219456"/>
          </a:xfrm>
          <a:prstGeom prst="rect">
            <a:avLst/>
          </a:prstGeom>
          <a:solidFill>
            <a:srgbClr val="00879B"/>
          </a:solidFill>
          <a:ln/>
        </p:spPr>
      </p:sp>
      <p:sp>
        <p:nvSpPr>
          <p:cNvPr id="22" name="Text 19"/>
          <p:cNvSpPr txBox="1"/>
          <p:nvPr/>
        </p:nvSpPr>
        <p:spPr>
          <a:xfrm>
            <a:off x="9006840" y="1920240"/>
            <a:ext cx="2633472" cy="219456"/>
          </a:xfrm>
          <a:prstGeom prst="rect">
            <a:avLst/>
          </a:prstGeom>
          <a:noFill/>
          <a:ln/>
        </p:spPr>
        <p:txBody>
          <a:bodyPr wrap="square" lIns="0" tIns="0" rIns="0" bIns="0" rtlCol="0" anchor="ctr"/>
          <a:lstStyle/>
          <a:p>
            <a:pPr indent="0" marL="0">
              <a:buNone/>
            </a:pPr>
            <a:r>
              <a:rPr lang="en-US" sz="950" dirty="0">
                <a:solidFill>
                  <a:srgbClr val="15252E"/>
                </a:solidFill>
                <a:latin typeface="Consolas" pitchFamily="34" charset="0"/>
                <a:ea typeface="Consolas" pitchFamily="34" charset="-122"/>
                <a:cs typeface="Consolas" pitchFamily="34" charset="-120"/>
              </a:rPr>
              <a:t>$20 a month</a:t>
            </a:r>
            <a:endParaRPr lang="en-US" sz="950" dirty="0"/>
          </a:p>
        </p:txBody>
      </p:sp>
      <p:sp>
        <p:nvSpPr>
          <p:cNvPr id="23" name="Text 20"/>
          <p:cNvSpPr txBox="1"/>
          <p:nvPr/>
        </p:nvSpPr>
        <p:spPr>
          <a:xfrm>
            <a:off x="548640" y="2267712"/>
            <a:ext cx="2423160" cy="201168"/>
          </a:xfrm>
          <a:prstGeom prst="rect">
            <a:avLst/>
          </a:prstGeom>
          <a:noFill/>
          <a:ln/>
        </p:spPr>
        <p:txBody>
          <a:bodyPr wrap="square" lIns="0" tIns="0" rIns="0" bIns="0" rtlCol="0" anchor="t"/>
          <a:lstStyle/>
          <a:p>
            <a:pPr indent="0" marL="0">
              <a:buNone/>
            </a:pPr>
            <a:r>
              <a:rPr lang="en-US" sz="1100" b="1" dirty="0">
                <a:solidFill>
                  <a:srgbClr val="15252E"/>
                </a:solidFill>
                <a:latin typeface="Calibri" pitchFamily="34" charset="0"/>
                <a:ea typeface="Calibri" pitchFamily="34" charset="-122"/>
                <a:cs typeface="Calibri" pitchFamily="34" charset="-120"/>
              </a:rPr>
              <a:t>Perplexity Pro</a:t>
            </a:r>
            <a:endParaRPr lang="en-US" sz="1100" dirty="0"/>
          </a:p>
        </p:txBody>
      </p:sp>
      <p:sp>
        <p:nvSpPr>
          <p:cNvPr id="24" name="Text 21"/>
          <p:cNvSpPr txBox="1"/>
          <p:nvPr/>
        </p:nvSpPr>
        <p:spPr>
          <a:xfrm>
            <a:off x="548640" y="2450592"/>
            <a:ext cx="2423160" cy="182880"/>
          </a:xfrm>
          <a:prstGeom prst="rect">
            <a:avLst/>
          </a:prstGeom>
          <a:noFill/>
          <a:ln/>
        </p:spPr>
        <p:txBody>
          <a:bodyPr wrap="square" lIns="0" tIns="0" rIns="0" bIns="0" rtlCol="0" anchor="t"/>
          <a:lstStyle/>
          <a:p>
            <a:pPr indent="0" marL="0">
              <a:buNone/>
            </a:pPr>
            <a:r>
              <a:rPr lang="en-US" sz="850" dirty="0">
                <a:solidFill>
                  <a:srgbClr val="5B6D75"/>
                </a:solidFill>
                <a:latin typeface="Calibri" pitchFamily="34" charset="0"/>
                <a:ea typeface="Calibri" pitchFamily="34" charset="-122"/>
                <a:cs typeface="Calibri" pitchFamily="34" charset="-120"/>
              </a:rPr>
              <a:t>General AI, with finance pages</a:t>
            </a:r>
            <a:endParaRPr lang="en-US" sz="850" dirty="0"/>
          </a:p>
        </p:txBody>
      </p:sp>
      <p:sp>
        <p:nvSpPr>
          <p:cNvPr id="25" name="Shape 22"/>
          <p:cNvSpPr/>
          <p:nvPr/>
        </p:nvSpPr>
        <p:spPr>
          <a:xfrm>
            <a:off x="3063240" y="2340864"/>
            <a:ext cx="817969" cy="219456"/>
          </a:xfrm>
          <a:prstGeom prst="rect">
            <a:avLst/>
          </a:prstGeom>
          <a:solidFill>
            <a:srgbClr val="00879B"/>
          </a:solidFill>
          <a:ln/>
        </p:spPr>
      </p:sp>
      <p:sp>
        <p:nvSpPr>
          <p:cNvPr id="26" name="Text 23"/>
          <p:cNvSpPr txBox="1"/>
          <p:nvPr/>
        </p:nvSpPr>
        <p:spPr>
          <a:xfrm>
            <a:off x="9006840" y="2340864"/>
            <a:ext cx="2633472" cy="219456"/>
          </a:xfrm>
          <a:prstGeom prst="rect">
            <a:avLst/>
          </a:prstGeom>
          <a:noFill/>
          <a:ln/>
        </p:spPr>
        <p:txBody>
          <a:bodyPr wrap="square" lIns="0" tIns="0" rIns="0" bIns="0" rtlCol="0" anchor="ctr"/>
          <a:lstStyle/>
          <a:p>
            <a:pPr indent="0" marL="0">
              <a:buNone/>
            </a:pPr>
            <a:r>
              <a:rPr lang="en-US" sz="950" dirty="0">
                <a:solidFill>
                  <a:srgbClr val="15252E"/>
                </a:solidFill>
                <a:latin typeface="Consolas" pitchFamily="34" charset="0"/>
                <a:ea typeface="Consolas" pitchFamily="34" charset="-122"/>
                <a:cs typeface="Consolas" pitchFamily="34" charset="-120"/>
              </a:rPr>
              <a:t>$20 a month</a:t>
            </a:r>
            <a:endParaRPr lang="en-US" sz="950" dirty="0"/>
          </a:p>
        </p:txBody>
      </p:sp>
      <p:sp>
        <p:nvSpPr>
          <p:cNvPr id="27" name="Text 24"/>
          <p:cNvSpPr txBox="1"/>
          <p:nvPr/>
        </p:nvSpPr>
        <p:spPr>
          <a:xfrm>
            <a:off x="548640" y="2688336"/>
            <a:ext cx="2423160" cy="201168"/>
          </a:xfrm>
          <a:prstGeom prst="rect">
            <a:avLst/>
          </a:prstGeom>
          <a:noFill/>
          <a:ln/>
        </p:spPr>
        <p:txBody>
          <a:bodyPr wrap="square" lIns="0" tIns="0" rIns="0" bIns="0" rtlCol="0" anchor="t"/>
          <a:lstStyle/>
          <a:p>
            <a:pPr indent="0" marL="0">
              <a:buNone/>
            </a:pPr>
            <a:r>
              <a:rPr lang="en-US" sz="1100" b="1" dirty="0">
                <a:solidFill>
                  <a:srgbClr val="15252E"/>
                </a:solidFill>
                <a:latin typeface="Calibri" pitchFamily="34" charset="0"/>
                <a:ea typeface="Calibri" pitchFamily="34" charset="-122"/>
                <a:cs typeface="Calibri" pitchFamily="34" charset="-120"/>
              </a:rPr>
              <a:t>Morningstar Investor</a:t>
            </a:r>
            <a:endParaRPr lang="en-US" sz="1100" dirty="0"/>
          </a:p>
        </p:txBody>
      </p:sp>
      <p:sp>
        <p:nvSpPr>
          <p:cNvPr id="28" name="Text 25"/>
          <p:cNvSpPr txBox="1"/>
          <p:nvPr/>
        </p:nvSpPr>
        <p:spPr>
          <a:xfrm>
            <a:off x="548640" y="2871216"/>
            <a:ext cx="2423160" cy="182880"/>
          </a:xfrm>
          <a:prstGeom prst="rect">
            <a:avLst/>
          </a:prstGeom>
          <a:noFill/>
          <a:ln/>
        </p:spPr>
        <p:txBody>
          <a:bodyPr wrap="square" lIns="0" tIns="0" rIns="0" bIns="0" rtlCol="0" anchor="t"/>
          <a:lstStyle/>
          <a:p>
            <a:pPr indent="0" marL="0">
              <a:buNone/>
            </a:pPr>
            <a:r>
              <a:rPr lang="en-US" sz="850" dirty="0">
                <a:solidFill>
                  <a:srgbClr val="5B6D75"/>
                </a:solidFill>
                <a:latin typeface="Calibri" pitchFamily="34" charset="0"/>
                <a:ea typeface="Calibri" pitchFamily="34" charset="-122"/>
                <a:cs typeface="Calibri" pitchFamily="34" charset="-120"/>
              </a:rPr>
              <a:t>Retail research and ratings</a:t>
            </a:r>
            <a:endParaRPr lang="en-US" sz="850" dirty="0"/>
          </a:p>
        </p:txBody>
      </p:sp>
      <p:sp>
        <p:nvSpPr>
          <p:cNvPr id="29" name="Shape 26"/>
          <p:cNvSpPr/>
          <p:nvPr/>
        </p:nvSpPr>
        <p:spPr>
          <a:xfrm>
            <a:off x="3063240" y="2761488"/>
            <a:ext cx="852365" cy="219456"/>
          </a:xfrm>
          <a:prstGeom prst="rect">
            <a:avLst/>
          </a:prstGeom>
          <a:solidFill>
            <a:srgbClr val="00879B"/>
          </a:solidFill>
          <a:ln/>
        </p:spPr>
      </p:sp>
      <p:sp>
        <p:nvSpPr>
          <p:cNvPr id="30" name="Text 27"/>
          <p:cNvSpPr txBox="1"/>
          <p:nvPr/>
        </p:nvSpPr>
        <p:spPr>
          <a:xfrm>
            <a:off x="9006840" y="2761488"/>
            <a:ext cx="2633472" cy="219456"/>
          </a:xfrm>
          <a:prstGeom prst="rect">
            <a:avLst/>
          </a:prstGeom>
          <a:noFill/>
          <a:ln/>
        </p:spPr>
        <p:txBody>
          <a:bodyPr wrap="square" lIns="0" tIns="0" rIns="0" bIns="0" rtlCol="0" anchor="ctr"/>
          <a:lstStyle/>
          <a:p>
            <a:pPr indent="0" marL="0">
              <a:buNone/>
            </a:pPr>
            <a:r>
              <a:rPr lang="en-US" sz="950" dirty="0">
                <a:solidFill>
                  <a:srgbClr val="15252E"/>
                </a:solidFill>
                <a:latin typeface="Consolas" pitchFamily="34" charset="0"/>
                <a:ea typeface="Consolas" pitchFamily="34" charset="-122"/>
                <a:cs typeface="Consolas" pitchFamily="34" charset="-120"/>
              </a:rPr>
              <a:t>$249 a year</a:t>
            </a:r>
            <a:endParaRPr lang="en-US" sz="950" dirty="0"/>
          </a:p>
        </p:txBody>
      </p:sp>
      <p:sp>
        <p:nvSpPr>
          <p:cNvPr id="31" name="Text 28"/>
          <p:cNvSpPr txBox="1"/>
          <p:nvPr/>
        </p:nvSpPr>
        <p:spPr>
          <a:xfrm>
            <a:off x="548640" y="3108960"/>
            <a:ext cx="2423160" cy="201168"/>
          </a:xfrm>
          <a:prstGeom prst="rect">
            <a:avLst/>
          </a:prstGeom>
          <a:noFill/>
          <a:ln/>
        </p:spPr>
        <p:txBody>
          <a:bodyPr wrap="square" lIns="0" tIns="0" rIns="0" bIns="0" rtlCol="0" anchor="t"/>
          <a:lstStyle/>
          <a:p>
            <a:pPr indent="0" marL="0">
              <a:buNone/>
            </a:pPr>
            <a:r>
              <a:rPr lang="en-US" sz="1100" b="1" dirty="0">
                <a:solidFill>
                  <a:srgbClr val="15252E"/>
                </a:solidFill>
                <a:latin typeface="Calibri" pitchFamily="34" charset="0"/>
                <a:ea typeface="Calibri" pitchFamily="34" charset="-122"/>
                <a:cs typeface="Calibri" pitchFamily="34" charset="-120"/>
              </a:rPr>
              <a:t>Fiscal.ai Pro</a:t>
            </a:r>
            <a:endParaRPr lang="en-US" sz="1100" dirty="0"/>
          </a:p>
        </p:txBody>
      </p:sp>
      <p:sp>
        <p:nvSpPr>
          <p:cNvPr id="32" name="Text 29"/>
          <p:cNvSpPr txBox="1"/>
          <p:nvPr/>
        </p:nvSpPr>
        <p:spPr>
          <a:xfrm>
            <a:off x="548640" y="3291840"/>
            <a:ext cx="2423160" cy="182880"/>
          </a:xfrm>
          <a:prstGeom prst="rect">
            <a:avLst/>
          </a:prstGeom>
          <a:noFill/>
          <a:ln/>
        </p:spPr>
        <p:txBody>
          <a:bodyPr wrap="square" lIns="0" tIns="0" rIns="0" bIns="0" rtlCol="0" anchor="t"/>
          <a:lstStyle/>
          <a:p>
            <a:pPr indent="0" marL="0">
              <a:buNone/>
            </a:pPr>
            <a:r>
              <a:rPr lang="en-US" sz="850" dirty="0">
                <a:solidFill>
                  <a:srgbClr val="5B6D75"/>
                </a:solidFill>
                <a:latin typeface="Calibri" pitchFamily="34" charset="0"/>
                <a:ea typeface="Calibri" pitchFamily="34" charset="-122"/>
                <a:cs typeface="Calibri" pitchFamily="34" charset="-120"/>
              </a:rPr>
              <a:t>AI stock research</a:t>
            </a:r>
            <a:endParaRPr lang="en-US" sz="850" dirty="0"/>
          </a:p>
        </p:txBody>
      </p:sp>
      <p:sp>
        <p:nvSpPr>
          <p:cNvPr id="33" name="Shape 30"/>
          <p:cNvSpPr/>
          <p:nvPr/>
        </p:nvSpPr>
        <p:spPr>
          <a:xfrm>
            <a:off x="3063240" y="3182112"/>
            <a:ext cx="1441936" cy="219456"/>
          </a:xfrm>
          <a:prstGeom prst="rect">
            <a:avLst/>
          </a:prstGeom>
          <a:solidFill>
            <a:srgbClr val="00879B"/>
          </a:solidFill>
          <a:ln/>
        </p:spPr>
      </p:sp>
      <p:sp>
        <p:nvSpPr>
          <p:cNvPr id="34" name="Text 31"/>
          <p:cNvSpPr txBox="1"/>
          <p:nvPr/>
        </p:nvSpPr>
        <p:spPr>
          <a:xfrm>
            <a:off x="9006840" y="3182112"/>
            <a:ext cx="2633472" cy="219456"/>
          </a:xfrm>
          <a:prstGeom prst="rect">
            <a:avLst/>
          </a:prstGeom>
          <a:noFill/>
          <a:ln/>
        </p:spPr>
        <p:txBody>
          <a:bodyPr wrap="square" lIns="0" tIns="0" rIns="0" bIns="0" rtlCol="0" anchor="ctr"/>
          <a:lstStyle/>
          <a:p>
            <a:pPr indent="0" marL="0">
              <a:buNone/>
            </a:pPr>
            <a:r>
              <a:rPr lang="en-US" sz="950" dirty="0">
                <a:solidFill>
                  <a:srgbClr val="15252E"/>
                </a:solidFill>
                <a:latin typeface="Consolas" pitchFamily="34" charset="0"/>
                <a:ea typeface="Consolas" pitchFamily="34" charset="-122"/>
                <a:cs typeface="Consolas" pitchFamily="34" charset="-120"/>
              </a:rPr>
              <a:t>$39 a month, billed yearly</a:t>
            </a:r>
            <a:endParaRPr lang="en-US" sz="950" dirty="0"/>
          </a:p>
        </p:txBody>
      </p:sp>
      <p:sp>
        <p:nvSpPr>
          <p:cNvPr id="35" name="Text 32"/>
          <p:cNvSpPr txBox="1"/>
          <p:nvPr/>
        </p:nvSpPr>
        <p:spPr>
          <a:xfrm>
            <a:off x="548640" y="3529584"/>
            <a:ext cx="2423160" cy="201168"/>
          </a:xfrm>
          <a:prstGeom prst="rect">
            <a:avLst/>
          </a:prstGeom>
          <a:noFill/>
          <a:ln/>
        </p:spPr>
        <p:txBody>
          <a:bodyPr wrap="square" lIns="0" tIns="0" rIns="0" bIns="0" rtlCol="0" anchor="t"/>
          <a:lstStyle/>
          <a:p>
            <a:pPr indent="0" marL="0">
              <a:buNone/>
            </a:pPr>
            <a:r>
              <a:rPr lang="en-US" sz="1100" b="1" dirty="0">
                <a:solidFill>
                  <a:srgbClr val="15252E"/>
                </a:solidFill>
                <a:latin typeface="Calibri" pitchFamily="34" charset="0"/>
                <a:ea typeface="Calibri" pitchFamily="34" charset="-122"/>
                <a:cs typeface="Calibri" pitchFamily="34" charset="-120"/>
              </a:rPr>
              <a:t>Koyfin Premium</a:t>
            </a:r>
            <a:endParaRPr lang="en-US" sz="1100" dirty="0"/>
          </a:p>
        </p:txBody>
      </p:sp>
      <p:sp>
        <p:nvSpPr>
          <p:cNvPr id="36" name="Text 33"/>
          <p:cNvSpPr txBox="1"/>
          <p:nvPr/>
        </p:nvSpPr>
        <p:spPr>
          <a:xfrm>
            <a:off x="548640" y="3712464"/>
            <a:ext cx="2423160" cy="182880"/>
          </a:xfrm>
          <a:prstGeom prst="rect">
            <a:avLst/>
          </a:prstGeom>
          <a:noFill/>
          <a:ln/>
        </p:spPr>
        <p:txBody>
          <a:bodyPr wrap="square" lIns="0" tIns="0" rIns="0" bIns="0" rtlCol="0" anchor="t"/>
          <a:lstStyle/>
          <a:p>
            <a:pPr indent="0" marL="0">
              <a:buNone/>
            </a:pPr>
            <a:r>
              <a:rPr lang="en-US" sz="850" dirty="0">
                <a:solidFill>
                  <a:srgbClr val="5B6D75"/>
                </a:solidFill>
                <a:latin typeface="Calibri" pitchFamily="34" charset="0"/>
                <a:ea typeface="Calibri" pitchFamily="34" charset="-122"/>
                <a:cs typeface="Calibri" pitchFamily="34" charset="-120"/>
              </a:rPr>
              <a:t>Market data and dashboards</a:t>
            </a:r>
            <a:endParaRPr lang="en-US" sz="850" dirty="0"/>
          </a:p>
        </p:txBody>
      </p:sp>
      <p:sp>
        <p:nvSpPr>
          <p:cNvPr id="37" name="Shape 34"/>
          <p:cNvSpPr/>
          <p:nvPr/>
        </p:nvSpPr>
        <p:spPr>
          <a:xfrm>
            <a:off x="3063240" y="3602736"/>
            <a:ext cx="2101461" cy="219456"/>
          </a:xfrm>
          <a:prstGeom prst="rect">
            <a:avLst/>
          </a:prstGeom>
          <a:solidFill>
            <a:srgbClr val="00879B"/>
          </a:solidFill>
          <a:ln/>
        </p:spPr>
      </p:sp>
      <p:sp>
        <p:nvSpPr>
          <p:cNvPr id="38" name="Text 35"/>
          <p:cNvSpPr txBox="1"/>
          <p:nvPr/>
        </p:nvSpPr>
        <p:spPr>
          <a:xfrm>
            <a:off x="9006840" y="3602736"/>
            <a:ext cx="2633472" cy="219456"/>
          </a:xfrm>
          <a:prstGeom prst="rect">
            <a:avLst/>
          </a:prstGeom>
          <a:noFill/>
          <a:ln/>
        </p:spPr>
        <p:txBody>
          <a:bodyPr wrap="square" lIns="0" tIns="0" rIns="0" bIns="0" rtlCol="0" anchor="ctr"/>
          <a:lstStyle/>
          <a:p>
            <a:pPr indent="0" marL="0">
              <a:buNone/>
            </a:pPr>
            <a:r>
              <a:rPr lang="en-US" sz="950" dirty="0">
                <a:solidFill>
                  <a:srgbClr val="15252E"/>
                </a:solidFill>
                <a:latin typeface="Consolas" pitchFamily="34" charset="0"/>
                <a:ea typeface="Consolas" pitchFamily="34" charset="-122"/>
                <a:cs typeface="Consolas" pitchFamily="34" charset="-120"/>
              </a:rPr>
              <a:t>$79 a month</a:t>
            </a:r>
            <a:endParaRPr lang="en-US" sz="950" dirty="0"/>
          </a:p>
        </p:txBody>
      </p:sp>
      <p:sp>
        <p:nvSpPr>
          <p:cNvPr id="39" name="Text 36"/>
          <p:cNvSpPr txBox="1"/>
          <p:nvPr/>
        </p:nvSpPr>
        <p:spPr>
          <a:xfrm>
            <a:off x="548640" y="3950208"/>
            <a:ext cx="2423160" cy="201168"/>
          </a:xfrm>
          <a:prstGeom prst="rect">
            <a:avLst/>
          </a:prstGeom>
          <a:noFill/>
          <a:ln/>
        </p:spPr>
        <p:txBody>
          <a:bodyPr wrap="square" lIns="0" tIns="0" rIns="0" bIns="0" rtlCol="0" anchor="t"/>
          <a:lstStyle/>
          <a:p>
            <a:pPr indent="0" marL="0">
              <a:buNone/>
            </a:pPr>
            <a:r>
              <a:rPr lang="en-US" sz="1100" b="1" dirty="0">
                <a:solidFill>
                  <a:srgbClr val="15252E"/>
                </a:solidFill>
                <a:latin typeface="Calibri" pitchFamily="34" charset="0"/>
                <a:ea typeface="Calibri" pitchFamily="34" charset="-122"/>
                <a:cs typeface="Calibri" pitchFamily="34" charset="-120"/>
              </a:rPr>
              <a:t>AlphaSense</a:t>
            </a:r>
            <a:endParaRPr lang="en-US" sz="1100" dirty="0"/>
          </a:p>
        </p:txBody>
      </p:sp>
      <p:sp>
        <p:nvSpPr>
          <p:cNvPr id="40" name="Text 37"/>
          <p:cNvSpPr txBox="1"/>
          <p:nvPr/>
        </p:nvSpPr>
        <p:spPr>
          <a:xfrm>
            <a:off x="548640" y="4133088"/>
            <a:ext cx="2423160" cy="182880"/>
          </a:xfrm>
          <a:prstGeom prst="rect">
            <a:avLst/>
          </a:prstGeom>
          <a:noFill/>
          <a:ln/>
        </p:spPr>
        <p:txBody>
          <a:bodyPr wrap="square" lIns="0" tIns="0" rIns="0" bIns="0" rtlCol="0" anchor="t"/>
          <a:lstStyle/>
          <a:p>
            <a:pPr indent="0" marL="0">
              <a:buNone/>
            </a:pPr>
            <a:r>
              <a:rPr lang="en-US" sz="850" dirty="0">
                <a:solidFill>
                  <a:srgbClr val="5B6D75"/>
                </a:solidFill>
                <a:latin typeface="Calibri" pitchFamily="34" charset="0"/>
                <a:ea typeface="Calibri" pitchFamily="34" charset="-122"/>
                <a:cs typeface="Calibri" pitchFamily="34" charset="-120"/>
              </a:rPr>
              <a:t>AI market intelligence</a:t>
            </a:r>
            <a:endParaRPr lang="en-US" sz="850" dirty="0"/>
          </a:p>
        </p:txBody>
      </p:sp>
      <p:sp>
        <p:nvSpPr>
          <p:cNvPr id="41" name="Shape 38"/>
          <p:cNvSpPr/>
          <p:nvPr/>
        </p:nvSpPr>
        <p:spPr>
          <a:xfrm>
            <a:off x="3063240" y="4023360"/>
            <a:ext cx="4302708" cy="219456"/>
          </a:xfrm>
          <a:prstGeom prst="rect">
            <a:avLst/>
          </a:prstGeom>
          <a:solidFill>
            <a:srgbClr val="B86E00"/>
          </a:solidFill>
          <a:ln/>
        </p:spPr>
      </p:sp>
      <p:sp>
        <p:nvSpPr>
          <p:cNvPr id="42" name="Shape 39"/>
          <p:cNvSpPr/>
          <p:nvPr/>
        </p:nvSpPr>
        <p:spPr>
          <a:xfrm>
            <a:off x="7365948" y="4023360"/>
            <a:ext cx="1295244" cy="219456"/>
          </a:xfrm>
          <a:prstGeom prst="rect">
            <a:avLst/>
          </a:prstGeom>
          <a:solidFill>
            <a:srgbClr val="B86E00">
              <a:alpha val="40000"/>
            </a:srgbClr>
          </a:solidFill>
          <a:ln/>
        </p:spPr>
      </p:sp>
      <p:sp>
        <p:nvSpPr>
          <p:cNvPr id="43" name="Text 40"/>
          <p:cNvSpPr txBox="1"/>
          <p:nvPr/>
        </p:nvSpPr>
        <p:spPr>
          <a:xfrm>
            <a:off x="9006840" y="4023360"/>
            <a:ext cx="2633472" cy="219456"/>
          </a:xfrm>
          <a:prstGeom prst="rect">
            <a:avLst/>
          </a:prstGeom>
          <a:noFill/>
          <a:ln/>
        </p:spPr>
        <p:txBody>
          <a:bodyPr wrap="square" lIns="0" tIns="0" rIns="0" bIns="0" rtlCol="0" anchor="ctr"/>
          <a:lstStyle/>
          <a:p>
            <a:pPr indent="0" marL="0">
              <a:buNone/>
            </a:pPr>
            <a:r>
              <a:rPr lang="en-US" sz="950" dirty="0">
                <a:solidFill>
                  <a:srgbClr val="15252E"/>
                </a:solidFill>
                <a:latin typeface="Consolas" pitchFamily="34" charset="0"/>
                <a:ea typeface="Consolas" pitchFamily="34" charset="-122"/>
                <a:cs typeface="Consolas" pitchFamily="34" charset="-120"/>
              </a:rPr>
              <a:t>~$10,000–$40,000+ a seat</a:t>
            </a:r>
            <a:endParaRPr lang="en-US" sz="950" dirty="0"/>
          </a:p>
        </p:txBody>
      </p:sp>
      <p:sp>
        <p:nvSpPr>
          <p:cNvPr id="44" name="Text 41"/>
          <p:cNvSpPr txBox="1"/>
          <p:nvPr/>
        </p:nvSpPr>
        <p:spPr>
          <a:xfrm>
            <a:off x="548640" y="4370832"/>
            <a:ext cx="2423160" cy="201168"/>
          </a:xfrm>
          <a:prstGeom prst="rect">
            <a:avLst/>
          </a:prstGeom>
          <a:noFill/>
          <a:ln/>
        </p:spPr>
        <p:txBody>
          <a:bodyPr wrap="square" lIns="0" tIns="0" rIns="0" bIns="0" rtlCol="0" anchor="t"/>
          <a:lstStyle/>
          <a:p>
            <a:pPr indent="0" marL="0">
              <a:buNone/>
            </a:pPr>
            <a:r>
              <a:rPr lang="en-US" sz="1100" b="1" dirty="0">
                <a:solidFill>
                  <a:srgbClr val="15252E"/>
                </a:solidFill>
                <a:latin typeface="Calibri" pitchFamily="34" charset="0"/>
                <a:ea typeface="Calibri" pitchFamily="34" charset="-122"/>
                <a:cs typeface="Calibri" pitchFamily="34" charset="-120"/>
              </a:rPr>
              <a:t>Bloomberg Terminal</a:t>
            </a:r>
            <a:endParaRPr lang="en-US" sz="1100" dirty="0"/>
          </a:p>
        </p:txBody>
      </p:sp>
      <p:sp>
        <p:nvSpPr>
          <p:cNvPr id="45" name="Text 42"/>
          <p:cNvSpPr txBox="1"/>
          <p:nvPr/>
        </p:nvSpPr>
        <p:spPr>
          <a:xfrm>
            <a:off x="548640" y="4553712"/>
            <a:ext cx="2423160" cy="182880"/>
          </a:xfrm>
          <a:prstGeom prst="rect">
            <a:avLst/>
          </a:prstGeom>
          <a:noFill/>
          <a:ln/>
        </p:spPr>
        <p:txBody>
          <a:bodyPr wrap="square" lIns="0" tIns="0" rIns="0" bIns="0" rtlCol="0" anchor="t"/>
          <a:lstStyle/>
          <a:p>
            <a:pPr indent="0" marL="0">
              <a:buNone/>
            </a:pPr>
            <a:r>
              <a:rPr lang="en-US" sz="850" dirty="0">
                <a:solidFill>
                  <a:srgbClr val="5B6D75"/>
                </a:solidFill>
                <a:latin typeface="Calibri" pitchFamily="34" charset="0"/>
                <a:ea typeface="Calibri" pitchFamily="34" charset="-122"/>
                <a:cs typeface="Calibri" pitchFamily="34" charset="-120"/>
              </a:rPr>
              <a:t>The professional terminal</a:t>
            </a:r>
            <a:endParaRPr lang="en-US" sz="850" dirty="0"/>
          </a:p>
        </p:txBody>
      </p:sp>
      <p:sp>
        <p:nvSpPr>
          <p:cNvPr id="46" name="Shape 43"/>
          <p:cNvSpPr/>
          <p:nvPr/>
        </p:nvSpPr>
        <p:spPr>
          <a:xfrm>
            <a:off x="3063240" y="4443984"/>
            <a:ext cx="5388880" cy="219456"/>
          </a:xfrm>
          <a:prstGeom prst="rect">
            <a:avLst/>
          </a:prstGeom>
          <a:solidFill>
            <a:srgbClr val="B86E00"/>
          </a:solidFill>
          <a:ln/>
        </p:spPr>
      </p:sp>
      <p:sp>
        <p:nvSpPr>
          <p:cNvPr id="47" name="Text 44"/>
          <p:cNvSpPr txBox="1"/>
          <p:nvPr/>
        </p:nvSpPr>
        <p:spPr>
          <a:xfrm>
            <a:off x="9006840" y="4443984"/>
            <a:ext cx="2633472" cy="219456"/>
          </a:xfrm>
          <a:prstGeom prst="rect">
            <a:avLst/>
          </a:prstGeom>
          <a:noFill/>
          <a:ln/>
        </p:spPr>
        <p:txBody>
          <a:bodyPr wrap="square" lIns="0" tIns="0" rIns="0" bIns="0" rtlCol="0" anchor="ctr"/>
          <a:lstStyle/>
          <a:p>
            <a:pPr indent="0" marL="0">
              <a:buNone/>
            </a:pPr>
            <a:r>
              <a:rPr lang="en-US" sz="950" dirty="0">
                <a:solidFill>
                  <a:srgbClr val="15252E"/>
                </a:solidFill>
                <a:latin typeface="Consolas" pitchFamily="34" charset="0"/>
                <a:ea typeface="Consolas" pitchFamily="34" charset="-122"/>
                <a:cs typeface="Consolas" pitchFamily="34" charset="-120"/>
              </a:rPr>
              <a:t>$31,980 a year</a:t>
            </a:r>
            <a:endParaRPr lang="en-US" sz="950" dirty="0"/>
          </a:p>
        </p:txBody>
      </p:sp>
      <p:sp>
        <p:nvSpPr>
          <p:cNvPr id="48" name="Shape 45"/>
          <p:cNvSpPr/>
          <p:nvPr/>
        </p:nvSpPr>
        <p:spPr>
          <a:xfrm>
            <a:off x="7223760" y="1481328"/>
            <a:ext cx="201168" cy="146304"/>
          </a:xfrm>
          <a:prstGeom prst="rect">
            <a:avLst/>
          </a:prstGeom>
          <a:solidFill>
            <a:srgbClr val="00879B"/>
          </a:solidFill>
          <a:ln/>
        </p:spPr>
      </p:sp>
      <p:sp>
        <p:nvSpPr>
          <p:cNvPr id="49" name="Text 46"/>
          <p:cNvSpPr txBox="1"/>
          <p:nvPr/>
        </p:nvSpPr>
        <p:spPr>
          <a:xfrm>
            <a:off x="7498080" y="1435608"/>
            <a:ext cx="1920240" cy="237744"/>
          </a:xfrm>
          <a:prstGeom prst="rect">
            <a:avLst/>
          </a:prstGeom>
          <a:noFill/>
          <a:ln/>
        </p:spPr>
        <p:txBody>
          <a:bodyPr wrap="square" lIns="0" tIns="0" rIns="0" bIns="0" rtlCol="0" anchor="t"/>
          <a:lstStyle/>
          <a:p>
            <a:pPr indent="0" marL="0">
              <a:buNone/>
            </a:pPr>
            <a:r>
              <a:rPr lang="en-US" sz="950" dirty="0">
                <a:solidFill>
                  <a:srgbClr val="52656E"/>
                </a:solidFill>
                <a:latin typeface="Calibri" pitchFamily="34" charset="0"/>
                <a:ea typeface="Calibri" pitchFamily="34" charset="-122"/>
                <a:cs typeface="Calibri" pitchFamily="34" charset="-120"/>
              </a:rPr>
              <a:t>Built for individuals</a:t>
            </a:r>
            <a:endParaRPr lang="en-US" sz="950" dirty="0"/>
          </a:p>
        </p:txBody>
      </p:sp>
      <p:sp>
        <p:nvSpPr>
          <p:cNvPr id="50" name="Shape 47"/>
          <p:cNvSpPr/>
          <p:nvPr/>
        </p:nvSpPr>
        <p:spPr>
          <a:xfrm>
            <a:off x="9464040" y="1481328"/>
            <a:ext cx="201168" cy="146304"/>
          </a:xfrm>
          <a:prstGeom prst="rect">
            <a:avLst/>
          </a:prstGeom>
          <a:solidFill>
            <a:srgbClr val="B86E00"/>
          </a:solidFill>
          <a:ln/>
        </p:spPr>
      </p:sp>
      <p:sp>
        <p:nvSpPr>
          <p:cNvPr id="51" name="Text 48"/>
          <p:cNvSpPr txBox="1"/>
          <p:nvPr/>
        </p:nvSpPr>
        <p:spPr>
          <a:xfrm>
            <a:off x="9738360" y="1435608"/>
            <a:ext cx="1920240" cy="237744"/>
          </a:xfrm>
          <a:prstGeom prst="rect">
            <a:avLst/>
          </a:prstGeom>
          <a:noFill/>
          <a:ln/>
        </p:spPr>
        <p:txBody>
          <a:bodyPr wrap="square" lIns="0" tIns="0" rIns="0" bIns="0" rtlCol="0" anchor="t"/>
          <a:lstStyle/>
          <a:p>
            <a:pPr indent="0" marL="0">
              <a:buNone/>
            </a:pPr>
            <a:r>
              <a:rPr lang="en-US" sz="950" dirty="0">
                <a:solidFill>
                  <a:srgbClr val="52656E"/>
                </a:solidFill>
                <a:latin typeface="Calibri" pitchFamily="34" charset="0"/>
                <a:ea typeface="Calibri" pitchFamily="34" charset="-122"/>
                <a:cs typeface="Calibri" pitchFamily="34" charset="-120"/>
              </a:rPr>
              <a:t>Built for institutions</a:t>
            </a:r>
            <a:endParaRPr lang="en-US" sz="950" dirty="0"/>
          </a:p>
        </p:txBody>
      </p:sp>
      <p:sp>
        <p:nvSpPr>
          <p:cNvPr id="52" name="Shape 49"/>
          <p:cNvSpPr/>
          <p:nvPr/>
        </p:nvSpPr>
        <p:spPr>
          <a:xfrm>
            <a:off x="548640" y="5074920"/>
            <a:ext cx="6675120" cy="1005840"/>
          </a:xfrm>
          <a:prstGeom prst="roundRect">
            <a:avLst>
              <a:gd name="adj" fmla="val 4545"/>
            </a:avLst>
          </a:prstGeom>
          <a:solidFill>
            <a:srgbClr val="FFFFFF"/>
          </a:solidFill>
          <a:ln w="9525">
            <a:solidFill>
              <a:srgbClr val="CDD8DC"/>
            </a:solidFill>
            <a:prstDash val="solid"/>
          </a:ln>
        </p:spPr>
      </p:sp>
      <p:sp>
        <p:nvSpPr>
          <p:cNvPr id="53" name="Text 50"/>
          <p:cNvSpPr txBox="1"/>
          <p:nvPr/>
        </p:nvSpPr>
        <p:spPr>
          <a:xfrm>
            <a:off x="731520" y="5193792"/>
            <a:ext cx="6309360" cy="822960"/>
          </a:xfrm>
          <a:prstGeom prst="rect">
            <a:avLst/>
          </a:prstGeom>
          <a:noFill/>
          <a:ln/>
        </p:spPr>
        <p:txBody>
          <a:bodyPr wrap="square" lIns="0" tIns="0" rIns="0" bIns="0" rtlCol="0" anchor="t"/>
          <a:lstStyle/>
          <a:p>
            <a:pPr indent="0" marL="0">
              <a:buNone/>
            </a:pPr>
            <a:r>
              <a:rPr lang="en-US" sz="1100" b="1" dirty="0">
                <a:solidFill>
                  <a:srgbClr val="15252E"/>
                </a:solidFill>
                <a:latin typeface="Calibri" pitchFamily="34" charset="0"/>
                <a:ea typeface="Calibri" pitchFamily="34" charset="-122"/>
                <a:cs typeface="Calibri" pitchFamily="34" charset="-120"/>
              </a:rPr>
              <a:t>Our reading: </a:t>
            </a:r>
            <a:r>
              <a:rPr lang="en-US" sz="1100" dirty="0">
                <a:solidFill>
                  <a:srgbClr val="52656E"/>
                </a:solidFill>
                <a:latin typeface="Calibri" pitchFamily="34" charset="0"/>
                <a:ea typeface="Calibri" pitchFamily="34" charset="-122"/>
                <a:cs typeface="Calibri" pitchFamily="34" charset="-120"/>
              </a:rPr>
              <a:t>between a $20-a-month chatbot and a $32,000-a-year terminal we have not found a product that gives an individual research whose every figure, the valuation included, resolves to a formula or a filing.</a:t>
            </a:r>
            <a:endParaRPr lang="en-US" sz="1100" dirty="0"/>
          </a:p>
        </p:txBody>
      </p:sp>
      <p:sp>
        <p:nvSpPr>
          <p:cNvPr id="54" name="Shape 51"/>
          <p:cNvSpPr/>
          <p:nvPr/>
        </p:nvSpPr>
        <p:spPr>
          <a:xfrm>
            <a:off x="7406640" y="5074920"/>
            <a:ext cx="4233672" cy="1005840"/>
          </a:xfrm>
          <a:prstGeom prst="roundRect">
            <a:avLst>
              <a:gd name="adj" fmla="val 4545"/>
            </a:avLst>
          </a:prstGeom>
          <a:solidFill>
            <a:srgbClr val="FFF3D6"/>
          </a:solidFill>
          <a:ln w="9525">
            <a:solidFill>
              <a:srgbClr val="7A4B00"/>
            </a:solidFill>
            <a:prstDash val="solid"/>
          </a:ln>
        </p:spPr>
      </p:sp>
      <p:sp>
        <p:nvSpPr>
          <p:cNvPr id="55" name="Text 52"/>
          <p:cNvSpPr txBox="1"/>
          <p:nvPr/>
        </p:nvSpPr>
        <p:spPr>
          <a:xfrm>
            <a:off x="7534656" y="5202936"/>
            <a:ext cx="3977640"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PLACEHOLDER</a:t>
            </a:r>
            <a:endParaRPr lang="en-US" sz="800" dirty="0"/>
          </a:p>
        </p:txBody>
      </p:sp>
      <p:sp>
        <p:nvSpPr>
          <p:cNvPr id="56" name="Text 53"/>
          <p:cNvSpPr txBox="1"/>
          <p:nvPr/>
        </p:nvSpPr>
        <p:spPr>
          <a:xfrm>
            <a:off x="7534656" y="5431536"/>
            <a:ext cx="3977640" cy="572414"/>
          </a:xfrm>
          <a:prstGeom prst="rect">
            <a:avLst/>
          </a:prstGeom>
          <a:noFill/>
          <a:ln/>
        </p:spPr>
        <p:txBody>
          <a:bodyPr wrap="square" lIns="0" tIns="0" rIns="0" bIns="0" rtlCol="0" anchor="t"/>
          <a:lstStyle/>
          <a:p>
            <a:pPr algn="l" indent="0" marL="0">
              <a:buNone/>
            </a:pPr>
            <a:r>
              <a:rPr lang="en-US" sz="1050" dirty="0">
                <a:solidFill>
                  <a:srgbClr val="5D3900"/>
                </a:solidFill>
                <a:latin typeface="Calibri" pitchFamily="34" charset="0"/>
                <a:ea typeface="Calibri" pitchFamily="34" charset="-122"/>
                <a:cs typeface="Calibri" pitchFamily="34" charset="-120"/>
              </a:rPr>
              <a:t>Tracework’s price: [£ ___ ]. Measured cost of one full report: £7.19 of model spend.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02 · THE PROBLEM</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Nobody keeps the record of why you bought</a:t>
            </a:r>
            <a:endParaRPr lang="en-US" sz="2800" dirty="0"/>
          </a:p>
        </p:txBody>
      </p:sp>
      <p:sp>
        <p:nvSpPr>
          <p:cNvPr id="5" name="Shape 3"/>
          <p:cNvSpPr/>
          <p:nvPr/>
        </p:nvSpPr>
        <p:spPr>
          <a:xfrm>
            <a:off x="10624414" y="384048"/>
            <a:ext cx="1018642" cy="219456"/>
          </a:xfrm>
          <a:prstGeom prst="roundRect">
            <a:avLst>
              <a:gd name="adj" fmla="val 50000"/>
            </a:avLst>
          </a:prstGeom>
          <a:solidFill>
            <a:srgbClr val="7A4B00"/>
          </a:solidFill>
          <a:ln/>
        </p:spPr>
      </p:sp>
      <p:sp>
        <p:nvSpPr>
          <p:cNvPr id="6" name="Text 4"/>
          <p:cNvSpPr txBox="1"/>
          <p:nvPr/>
        </p:nvSpPr>
        <p:spPr>
          <a:xfrm>
            <a:off x="10624414" y="38404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7" name="Shape 5"/>
          <p:cNvSpPr/>
          <p:nvPr/>
        </p:nvSpPr>
        <p:spPr>
          <a:xfrm>
            <a:off x="9379001" y="384048"/>
            <a:ext cx="1153973" cy="219456"/>
          </a:xfrm>
          <a:prstGeom prst="roundRect">
            <a:avLst>
              <a:gd name="adj" fmla="val 50000"/>
            </a:avLst>
          </a:prstGeom>
          <a:solidFill>
            <a:srgbClr val="F4F7F8"/>
          </a:solidFill>
          <a:ln w="12700">
            <a:solidFill>
              <a:srgbClr val="15252E"/>
            </a:solidFill>
            <a:prstDash val="solid"/>
          </a:ln>
        </p:spPr>
      </p:sp>
      <p:sp>
        <p:nvSpPr>
          <p:cNvPr id="8" name="Text 6"/>
          <p:cNvSpPr txBox="1"/>
          <p:nvPr/>
        </p:nvSpPr>
        <p:spPr>
          <a:xfrm>
            <a:off x="9379001" y="384048"/>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06</a:t>
            </a:r>
            <a:endParaRPr lang="en-US" sz="800" dirty="0"/>
          </a:p>
        </p:txBody>
      </p:sp>
      <p:sp>
        <p:nvSpPr>
          <p:cNvPr id="12" name="Text 9"/>
          <p:cNvSpPr txBox="1"/>
          <p:nvPr/>
        </p:nvSpPr>
        <p:spPr>
          <a:xfrm>
            <a:off x="548640" y="1417320"/>
            <a:ext cx="11094415" cy="685800"/>
          </a:xfrm>
          <a:prstGeom prst="rect">
            <a:avLst/>
          </a:prstGeom>
          <a:noFill/>
          <a:ln/>
        </p:spPr>
        <p:txBody>
          <a:bodyPr wrap="square" lIns="0" tIns="0" rIns="0" bIns="0" rtlCol="0" anchor="t"/>
          <a:lstStyle/>
          <a:p>
            <a:pPr indent="0" marL="0">
              <a:buNone/>
            </a:pPr>
            <a:r>
              <a:rPr lang="en-US" sz="3000" b="1" i="1" dirty="0">
                <a:solidFill>
                  <a:srgbClr val="0F6673"/>
                </a:solidFill>
                <a:latin typeface="Calibri" pitchFamily="34" charset="0"/>
                <a:ea typeface="Calibri" pitchFamily="34" charset="-122"/>
                <a:cs typeface="Calibri" pitchFamily="34" charset="-120"/>
              </a:rPr>
              <a:t>“Are the reasons I bought still standing?”</a:t>
            </a:r>
            <a:endParaRPr lang="en-US" sz="3000" dirty="0"/>
          </a:p>
        </p:txBody>
      </p:sp>
      <p:sp>
        <p:nvSpPr>
          <p:cNvPr id="13" name="Text 10"/>
          <p:cNvSpPr txBox="1"/>
          <p:nvPr/>
        </p:nvSpPr>
        <p:spPr>
          <a:xfrm>
            <a:off x="548640" y="2148840"/>
            <a:ext cx="10241280" cy="731520"/>
          </a:xfrm>
          <a:prstGeom prst="rect">
            <a:avLst/>
          </a:prstGeom>
          <a:noFill/>
          <a:ln/>
        </p:spPr>
        <p:txBody>
          <a:bodyPr wrap="square" lIns="0" tIns="0" rIns="0" bIns="0" rtlCol="0" anchor="t"/>
          <a:lstStyle/>
          <a:p>
            <a:pPr indent="0" marL="0">
              <a:buNone/>
            </a:pPr>
            <a:r>
              <a:rPr lang="en-US" sz="1350" dirty="0">
                <a:solidFill>
                  <a:srgbClr val="52656E"/>
                </a:solidFill>
                <a:latin typeface="Calibri" pitchFamily="34" charset="0"/>
                <a:ea typeface="Calibri" pitchFamily="34" charset="-122"/>
                <a:cs typeface="Calibri" pitchFamily="34" charset="-120"/>
              </a:rPr>
              <a:t>A broker shows what you hold and what it is worth, in real time, for nothing. Nothing tells you whether the reasoning behind each position still holds, because the reasoning was never written down in a form anything could test.</a:t>
            </a:r>
            <a:endParaRPr lang="en-US" sz="1350" dirty="0"/>
          </a:p>
        </p:txBody>
      </p:sp>
      <p:sp>
        <p:nvSpPr>
          <p:cNvPr id="14" name="Shape 11"/>
          <p:cNvSpPr/>
          <p:nvPr/>
        </p:nvSpPr>
        <p:spPr>
          <a:xfrm>
            <a:off x="548640" y="3017520"/>
            <a:ext cx="3545738" cy="1783080"/>
          </a:xfrm>
          <a:prstGeom prst="roundRect">
            <a:avLst>
              <a:gd name="adj" fmla="val 2564"/>
            </a:avLst>
          </a:prstGeom>
          <a:solidFill>
            <a:srgbClr val="FFFFFF"/>
          </a:solidFill>
          <a:ln w="9525">
            <a:solidFill>
              <a:srgbClr val="CDD8DC"/>
            </a:solidFill>
            <a:prstDash val="solid"/>
          </a:ln>
        </p:spPr>
      </p:sp>
      <p:sp>
        <p:nvSpPr>
          <p:cNvPr id="15" name="Text 12"/>
          <p:cNvSpPr txBox="1"/>
          <p:nvPr/>
        </p:nvSpPr>
        <p:spPr>
          <a:xfrm>
            <a:off x="749808" y="3200400"/>
            <a:ext cx="3143402"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BEFORE YOU BUY</a:t>
            </a:r>
            <a:endParaRPr lang="en-US" sz="900" dirty="0"/>
          </a:p>
        </p:txBody>
      </p:sp>
      <p:sp>
        <p:nvSpPr>
          <p:cNvPr id="16" name="Text 13"/>
          <p:cNvSpPr txBox="1"/>
          <p:nvPr/>
        </p:nvSpPr>
        <p:spPr>
          <a:xfrm>
            <a:off x="749808" y="3502152"/>
            <a:ext cx="3143402" cy="1234440"/>
          </a:xfrm>
          <a:prstGeom prst="rect">
            <a:avLst/>
          </a:prstGeom>
          <a:noFill/>
          <a:ln/>
        </p:spPr>
        <p:txBody>
          <a:bodyPr wrap="square" lIns="0" tIns="0" rIns="0" bIns="0" rtlCol="0" anchor="t"/>
          <a:lstStyle/>
          <a:p>
            <a:pPr indent="0" marL="0">
              <a:buNone/>
            </a:pPr>
            <a:r>
              <a:rPr lang="en-US" sz="1350" dirty="0">
                <a:solidFill>
                  <a:srgbClr val="15252E"/>
                </a:solidFill>
                <a:latin typeface="Calibri" pitchFamily="34" charset="0"/>
                <a:ea typeface="Calibri" pitchFamily="34" charset="-122"/>
                <a:cs typeface="Calibri" pitchFamily="34" charset="-120"/>
              </a:rPr>
              <a:t>The thesis lives in your head, or in a note nothing can read. What would prove it wrong is rarely written down at all.</a:t>
            </a:r>
            <a:endParaRPr lang="en-US" sz="1350" dirty="0"/>
          </a:p>
        </p:txBody>
      </p:sp>
      <p:sp>
        <p:nvSpPr>
          <p:cNvPr id="17" name="Shape 14"/>
          <p:cNvSpPr/>
          <p:nvPr/>
        </p:nvSpPr>
        <p:spPr>
          <a:xfrm>
            <a:off x="4322978" y="3017520"/>
            <a:ext cx="3545738" cy="1783080"/>
          </a:xfrm>
          <a:prstGeom prst="roundRect">
            <a:avLst>
              <a:gd name="adj" fmla="val 2564"/>
            </a:avLst>
          </a:prstGeom>
          <a:solidFill>
            <a:srgbClr val="FFFFFF"/>
          </a:solidFill>
          <a:ln w="9525">
            <a:solidFill>
              <a:srgbClr val="CDD8DC"/>
            </a:solidFill>
            <a:prstDash val="solid"/>
          </a:ln>
        </p:spPr>
      </p:sp>
      <p:sp>
        <p:nvSpPr>
          <p:cNvPr id="18" name="Text 15"/>
          <p:cNvSpPr txBox="1"/>
          <p:nvPr/>
        </p:nvSpPr>
        <p:spPr>
          <a:xfrm>
            <a:off x="4524146" y="3200400"/>
            <a:ext cx="3143402"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WHILE YOU HOLD</a:t>
            </a:r>
            <a:endParaRPr lang="en-US" sz="900" dirty="0"/>
          </a:p>
        </p:txBody>
      </p:sp>
      <p:sp>
        <p:nvSpPr>
          <p:cNvPr id="19" name="Text 16"/>
          <p:cNvSpPr txBox="1"/>
          <p:nvPr/>
        </p:nvSpPr>
        <p:spPr>
          <a:xfrm>
            <a:off x="4524146" y="3502152"/>
            <a:ext cx="3143402" cy="1234440"/>
          </a:xfrm>
          <a:prstGeom prst="rect">
            <a:avLst/>
          </a:prstGeom>
          <a:noFill/>
          <a:ln/>
        </p:spPr>
        <p:txBody>
          <a:bodyPr wrap="square" lIns="0" tIns="0" rIns="0" bIns="0" rtlCol="0" anchor="t"/>
          <a:lstStyle/>
          <a:p>
            <a:pPr indent="0" marL="0">
              <a:buNone/>
            </a:pPr>
            <a:r>
              <a:rPr lang="en-US" sz="1350" dirty="0">
                <a:solidFill>
                  <a:srgbClr val="15252E"/>
                </a:solidFill>
                <a:latin typeface="Calibri" pitchFamily="34" charset="0"/>
                <a:ea typeface="Calibri" pitchFamily="34" charset="-122"/>
                <a:cs typeface="Calibri" pitchFamily="34" charset="-120"/>
              </a:rPr>
              <a:t>New filings arrive every quarter. Nothing reads them against what you believed, so a broken premise is found late, usually by the price.</a:t>
            </a:r>
            <a:endParaRPr lang="en-US" sz="1350" dirty="0"/>
          </a:p>
        </p:txBody>
      </p:sp>
      <p:sp>
        <p:nvSpPr>
          <p:cNvPr id="20" name="Shape 17"/>
          <p:cNvSpPr/>
          <p:nvPr/>
        </p:nvSpPr>
        <p:spPr>
          <a:xfrm>
            <a:off x="8097317" y="3017520"/>
            <a:ext cx="3545738" cy="1783080"/>
          </a:xfrm>
          <a:prstGeom prst="roundRect">
            <a:avLst>
              <a:gd name="adj" fmla="val 2564"/>
            </a:avLst>
          </a:prstGeom>
          <a:solidFill>
            <a:srgbClr val="FFFFFF"/>
          </a:solidFill>
          <a:ln w="9525">
            <a:solidFill>
              <a:srgbClr val="CDD8DC"/>
            </a:solidFill>
            <a:prstDash val="solid"/>
          </a:ln>
        </p:spPr>
      </p:sp>
      <p:sp>
        <p:nvSpPr>
          <p:cNvPr id="21" name="Text 18"/>
          <p:cNvSpPr txBox="1"/>
          <p:nvPr/>
        </p:nvSpPr>
        <p:spPr>
          <a:xfrm>
            <a:off x="8298485" y="3200400"/>
            <a:ext cx="3143402"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AFTER YOU SELL</a:t>
            </a:r>
            <a:endParaRPr lang="en-US" sz="900" dirty="0"/>
          </a:p>
        </p:txBody>
      </p:sp>
      <p:sp>
        <p:nvSpPr>
          <p:cNvPr id="22" name="Text 19"/>
          <p:cNvSpPr txBox="1"/>
          <p:nvPr/>
        </p:nvSpPr>
        <p:spPr>
          <a:xfrm>
            <a:off x="8298485" y="3502152"/>
            <a:ext cx="3143402" cy="1234440"/>
          </a:xfrm>
          <a:prstGeom prst="rect">
            <a:avLst/>
          </a:prstGeom>
          <a:noFill/>
          <a:ln/>
        </p:spPr>
        <p:txBody>
          <a:bodyPr wrap="square" lIns="0" tIns="0" rIns="0" bIns="0" rtlCol="0" anchor="t"/>
          <a:lstStyle/>
          <a:p>
            <a:pPr indent="0" marL="0">
              <a:buNone/>
            </a:pPr>
            <a:r>
              <a:rPr lang="en-US" sz="1350" dirty="0">
                <a:solidFill>
                  <a:srgbClr val="15252E"/>
                </a:solidFill>
                <a:latin typeface="Calibri" pitchFamily="34" charset="0"/>
                <a:ea typeface="Calibri" pitchFamily="34" charset="-122"/>
                <a:cs typeface="Calibri" pitchFamily="34" charset="-120"/>
              </a:rPr>
              <a:t>A profitable trade on a broken thesis looks like skill. Without the record, luck and judgement are indistinguishable, and the lesson is lost.</a:t>
            </a:r>
            <a:endParaRPr lang="en-US" sz="1350" dirty="0"/>
          </a:p>
        </p:txBody>
      </p:sp>
      <p:sp>
        <p:nvSpPr>
          <p:cNvPr id="23" name="Shape 20"/>
          <p:cNvSpPr/>
          <p:nvPr/>
        </p:nvSpPr>
        <p:spPr>
          <a:xfrm>
            <a:off x="548640" y="4983480"/>
            <a:ext cx="11094415" cy="1097280"/>
          </a:xfrm>
          <a:prstGeom prst="roundRect">
            <a:avLst>
              <a:gd name="adj" fmla="val 4167"/>
            </a:avLst>
          </a:prstGeom>
          <a:solidFill>
            <a:srgbClr val="FFF3D6"/>
          </a:solidFill>
          <a:ln w="9525">
            <a:solidFill>
              <a:srgbClr val="7A4B00"/>
            </a:solidFill>
            <a:prstDash val="solid"/>
          </a:ln>
        </p:spPr>
      </p:sp>
      <p:sp>
        <p:nvSpPr>
          <p:cNvPr id="24" name="Text 21"/>
          <p:cNvSpPr txBox="1"/>
          <p:nvPr/>
        </p:nvSpPr>
        <p:spPr>
          <a:xfrm>
            <a:off x="676656" y="5111496"/>
            <a:ext cx="10838383"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PLACEHOLDER</a:t>
            </a:r>
            <a:endParaRPr lang="en-US" sz="800" dirty="0"/>
          </a:p>
        </p:txBody>
      </p:sp>
      <p:sp>
        <p:nvSpPr>
          <p:cNvPr id="25" name="Text 22"/>
          <p:cNvSpPr txBox="1"/>
          <p:nvPr/>
        </p:nvSpPr>
        <p:spPr>
          <a:xfrm>
            <a:off x="676656" y="5340096"/>
            <a:ext cx="10838383" cy="663854"/>
          </a:xfrm>
          <a:prstGeom prst="rect">
            <a:avLst/>
          </a:prstGeom>
          <a:noFill/>
          <a:ln/>
        </p:spPr>
        <p:txBody>
          <a:bodyPr wrap="square" lIns="0" tIns="0" rIns="0" bIns="0" rtlCol="0" anchor="t"/>
          <a:lstStyle/>
          <a:p>
            <a:pPr algn="l" indent="0" marL="0">
              <a:buNone/>
            </a:pPr>
            <a:r>
              <a:rPr lang="en-US" sz="1200" dirty="0">
                <a:solidFill>
                  <a:srgbClr val="5D3900"/>
                </a:solidFill>
                <a:latin typeface="Calibri" pitchFamily="34" charset="0"/>
                <a:ea typeface="Calibri" pitchFamily="34" charset="-122"/>
                <a:cs typeface="Calibri" pitchFamily="34" charset="-120"/>
              </a:rPr>
              <a:t>Evidence that investors feel this: [interview quotes]  ·  [survey result]  ·  [waitlist or pilot numbers]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03 · THE SOLUTION</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One loop, and every stage leaves a record the next one reads</a:t>
            </a:r>
            <a:endParaRPr lang="en-US" sz="2800" dirty="0"/>
          </a:p>
        </p:txBody>
      </p:sp>
      <p:sp>
        <p:nvSpPr>
          <p:cNvPr id="5" name="Shape 3"/>
          <p:cNvSpPr/>
          <p:nvPr/>
        </p:nvSpPr>
        <p:spPr>
          <a:xfrm>
            <a:off x="10286086" y="384048"/>
            <a:ext cx="1356970" cy="219456"/>
          </a:xfrm>
          <a:prstGeom prst="roundRect">
            <a:avLst>
              <a:gd name="adj" fmla="val 50000"/>
            </a:avLst>
          </a:prstGeom>
          <a:solidFill>
            <a:srgbClr val="14613F"/>
          </a:solidFill>
          <a:ln/>
        </p:spPr>
      </p:sp>
      <p:sp>
        <p:nvSpPr>
          <p:cNvPr id="6" name="Text 4"/>
          <p:cNvSpPr txBox="1"/>
          <p:nvPr/>
        </p:nvSpPr>
        <p:spPr>
          <a:xfrm>
            <a:off x="10286086"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7" name="Text 5"/>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8" name="Text 6"/>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07</a:t>
            </a:r>
            <a:endParaRPr lang="en-US" sz="800" dirty="0"/>
          </a:p>
        </p:txBody>
      </p:sp>
      <p:sp>
        <p:nvSpPr>
          <p:cNvPr id="10" name="Shape 7"/>
          <p:cNvSpPr/>
          <p:nvPr/>
        </p:nvSpPr>
        <p:spPr>
          <a:xfrm>
            <a:off x="548640" y="1508760"/>
            <a:ext cx="2485568" cy="3017520"/>
          </a:xfrm>
          <a:prstGeom prst="roundRect">
            <a:avLst>
              <a:gd name="adj" fmla="val 1839"/>
            </a:avLst>
          </a:prstGeom>
          <a:solidFill>
            <a:srgbClr val="FFFFFF"/>
          </a:solidFill>
          <a:ln w="9525">
            <a:solidFill>
              <a:srgbClr val="CDD8DC"/>
            </a:solidFill>
            <a:prstDash val="solid"/>
          </a:ln>
        </p:spPr>
      </p:sp>
      <p:sp>
        <p:nvSpPr>
          <p:cNvPr id="11" name="Shape 8"/>
          <p:cNvSpPr/>
          <p:nvPr/>
        </p:nvSpPr>
        <p:spPr>
          <a:xfrm>
            <a:off x="749808" y="1691640"/>
            <a:ext cx="365760" cy="365760"/>
          </a:xfrm>
          <a:prstGeom prst="ellipse">
            <a:avLst/>
          </a:prstGeom>
          <a:solidFill>
            <a:srgbClr val="0F6673"/>
          </a:solidFill>
          <a:ln/>
        </p:spPr>
      </p:sp>
      <p:sp>
        <p:nvSpPr>
          <p:cNvPr id="12" name="Text 9"/>
          <p:cNvSpPr txBox="1"/>
          <p:nvPr/>
        </p:nvSpPr>
        <p:spPr>
          <a:xfrm>
            <a:off x="749808" y="1691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1</a:t>
            </a:r>
            <a:endParaRPr lang="en-US" sz="1300" dirty="0"/>
          </a:p>
        </p:txBody>
      </p:sp>
      <p:sp>
        <p:nvSpPr>
          <p:cNvPr id="13" name="Text 10"/>
          <p:cNvSpPr txBox="1"/>
          <p:nvPr/>
        </p:nvSpPr>
        <p:spPr>
          <a:xfrm>
            <a:off x="1234440" y="1700784"/>
            <a:ext cx="1662608" cy="365760"/>
          </a:xfrm>
          <a:prstGeom prst="rect">
            <a:avLst/>
          </a:prstGeom>
          <a:noFill/>
          <a:ln/>
        </p:spPr>
        <p:txBody>
          <a:bodyPr wrap="square" lIns="0" tIns="0" rIns="0" bIns="0" rtlCol="0" anchor="ctr"/>
          <a:lstStyle/>
          <a:p>
            <a:pPr indent="0" marL="0">
              <a:buNone/>
            </a:pPr>
            <a:r>
              <a:rPr lang="en-US" sz="1800" b="1" dirty="0">
                <a:solidFill>
                  <a:srgbClr val="0F6673"/>
                </a:solidFill>
                <a:latin typeface="Calibri" pitchFamily="34" charset="0"/>
                <a:ea typeface="Calibri" pitchFamily="34" charset="-122"/>
                <a:cs typeface="Calibri" pitchFamily="34" charset="-120"/>
              </a:rPr>
              <a:t>Research</a:t>
            </a:r>
            <a:endParaRPr lang="en-US" sz="1800" dirty="0"/>
          </a:p>
        </p:txBody>
      </p:sp>
      <p:sp>
        <p:nvSpPr>
          <p:cNvPr id="14" name="Text 11"/>
          <p:cNvSpPr txBox="1"/>
          <p:nvPr/>
        </p:nvSpPr>
        <p:spPr>
          <a:xfrm>
            <a:off x="749808" y="2267712"/>
            <a:ext cx="914400" cy="182880"/>
          </a:xfrm>
          <a:prstGeom prst="rect">
            <a:avLst/>
          </a:prstGeom>
          <a:noFill/>
          <a:ln/>
        </p:spPr>
        <p:txBody>
          <a:bodyPr wrap="square" lIns="0" tIns="0" rIns="0" bIns="0" rtlCol="0" anchor="t"/>
          <a:lstStyle/>
          <a:p>
            <a:pPr indent="0" marL="0">
              <a:buNone/>
            </a:pPr>
            <a:r>
              <a:rPr lang="en-US" sz="800" b="1" spc="100" kern="0" dirty="0">
                <a:solidFill>
                  <a:srgbClr val="52656E"/>
                </a:solidFill>
                <a:latin typeface="Consolas" pitchFamily="34" charset="0"/>
                <a:ea typeface="Consolas" pitchFamily="34" charset="-122"/>
                <a:cs typeface="Consolas" pitchFamily="34" charset="-120"/>
              </a:rPr>
              <a:t>YOU</a:t>
            </a:r>
            <a:endParaRPr lang="en-US" sz="800" dirty="0"/>
          </a:p>
        </p:txBody>
      </p:sp>
      <p:sp>
        <p:nvSpPr>
          <p:cNvPr id="15" name="Text 12"/>
          <p:cNvSpPr txBox="1"/>
          <p:nvPr/>
        </p:nvSpPr>
        <p:spPr>
          <a:xfrm>
            <a:off x="749808" y="2487168"/>
            <a:ext cx="2083232" cy="731520"/>
          </a:xfrm>
          <a:prstGeom prst="rect">
            <a:avLst/>
          </a:prstGeom>
          <a:noFill/>
          <a:ln/>
        </p:spPr>
        <p:txBody>
          <a:bodyPr wrap="square" lIns="0" tIns="0" rIns="0" bIns="0" rtlCol="0" anchor="t"/>
          <a:lstStyle/>
          <a:p>
            <a:pPr indent="0" marL="0">
              <a:buNone/>
            </a:pPr>
            <a:r>
              <a:rPr lang="en-US" sz="1100" dirty="0">
                <a:solidFill>
                  <a:srgbClr val="15252E"/>
                </a:solidFill>
                <a:latin typeface="Calibri" pitchFamily="34" charset="0"/>
                <a:ea typeface="Calibri" pitchFamily="34" charset="-122"/>
                <a:cs typeface="Calibri" pitchFamily="34" charset="-120"/>
              </a:rPr>
              <a:t>Commission a report, read it, ask follow-up questions.</a:t>
            </a:r>
            <a:endParaRPr lang="en-US" sz="1100" dirty="0"/>
          </a:p>
        </p:txBody>
      </p:sp>
      <p:sp>
        <p:nvSpPr>
          <p:cNvPr id="16" name="Text 13"/>
          <p:cNvSpPr txBox="1"/>
          <p:nvPr/>
        </p:nvSpPr>
        <p:spPr>
          <a:xfrm>
            <a:off x="749808" y="3246120"/>
            <a:ext cx="1371600" cy="182880"/>
          </a:xfrm>
          <a:prstGeom prst="rect">
            <a:avLst/>
          </a:prstGeom>
          <a:noFill/>
          <a:ln/>
        </p:spPr>
        <p:txBody>
          <a:bodyPr wrap="square" lIns="0" tIns="0" rIns="0" bIns="0" rtlCol="0" anchor="t"/>
          <a:lstStyle/>
          <a:p>
            <a:pPr indent="0" marL="0">
              <a:buNone/>
            </a:pPr>
            <a:r>
              <a:rPr lang="en-US" sz="800" b="1" spc="100" kern="0" dirty="0">
                <a:solidFill>
                  <a:srgbClr val="52656E"/>
                </a:solidFill>
                <a:latin typeface="Consolas" pitchFamily="34" charset="0"/>
                <a:ea typeface="Consolas" pitchFamily="34" charset="-122"/>
                <a:cs typeface="Consolas" pitchFamily="34" charset="-120"/>
              </a:rPr>
              <a:t>IT KEEPS</a:t>
            </a:r>
            <a:endParaRPr lang="en-US" sz="800" dirty="0"/>
          </a:p>
        </p:txBody>
      </p:sp>
      <p:sp>
        <p:nvSpPr>
          <p:cNvPr id="17" name="Text 14"/>
          <p:cNvSpPr txBox="1"/>
          <p:nvPr/>
        </p:nvSpPr>
        <p:spPr>
          <a:xfrm>
            <a:off x="749808" y="3465576"/>
            <a:ext cx="2083232" cy="1005840"/>
          </a:xfrm>
          <a:prstGeom prst="rect">
            <a:avLst/>
          </a:prstGeom>
          <a:noFill/>
          <a:ln/>
        </p:spPr>
        <p:txBody>
          <a:bodyPr wrap="square" lIns="0" tIns="0" rIns="0" bIns="0" rtlCol="0" anchor="t"/>
          <a:lstStyle/>
          <a:p>
            <a:pPr indent="0" marL="0">
              <a:buNone/>
            </a:pPr>
            <a:r>
              <a:rPr lang="en-US" sz="1100" dirty="0">
                <a:solidFill>
                  <a:srgbClr val="15252E"/>
                </a:solidFill>
                <a:latin typeface="Calibri" pitchFamily="34" charset="0"/>
                <a:ea typeface="Calibri" pitchFamily="34" charset="-122"/>
                <a:cs typeface="Calibri" pitchFamily="34" charset="-120"/>
              </a:rPr>
              <a:t>A cited, immutable document and every fact and calculation beneath it.</a:t>
            </a:r>
            <a:endParaRPr lang="en-US" sz="1100" dirty="0"/>
          </a:p>
        </p:txBody>
      </p:sp>
      <p:sp>
        <p:nvSpPr>
          <p:cNvPr id="18" name="Shape 15"/>
          <p:cNvSpPr/>
          <p:nvPr/>
        </p:nvSpPr>
        <p:spPr>
          <a:xfrm>
            <a:off x="3089072" y="3017520"/>
            <a:ext cx="274320" cy="0"/>
          </a:xfrm>
          <a:prstGeom prst="line">
            <a:avLst/>
          </a:prstGeom>
          <a:noFill/>
          <a:ln w="22225">
            <a:solidFill>
              <a:srgbClr val="0F6673"/>
            </a:solidFill>
            <a:prstDash val="solid"/>
            <a:tailEnd type="triangle"/>
          </a:ln>
        </p:spPr>
      </p:sp>
      <p:sp>
        <p:nvSpPr>
          <p:cNvPr id="19" name="Shape 16"/>
          <p:cNvSpPr/>
          <p:nvPr/>
        </p:nvSpPr>
        <p:spPr>
          <a:xfrm>
            <a:off x="3418256" y="1508760"/>
            <a:ext cx="2485568" cy="3017520"/>
          </a:xfrm>
          <a:prstGeom prst="roundRect">
            <a:avLst>
              <a:gd name="adj" fmla="val 1839"/>
            </a:avLst>
          </a:prstGeom>
          <a:solidFill>
            <a:srgbClr val="FFFFFF"/>
          </a:solidFill>
          <a:ln w="9525">
            <a:solidFill>
              <a:srgbClr val="CDD8DC"/>
            </a:solidFill>
            <a:prstDash val="solid"/>
          </a:ln>
        </p:spPr>
      </p:sp>
      <p:sp>
        <p:nvSpPr>
          <p:cNvPr id="20" name="Shape 17"/>
          <p:cNvSpPr/>
          <p:nvPr/>
        </p:nvSpPr>
        <p:spPr>
          <a:xfrm>
            <a:off x="3619424" y="1691640"/>
            <a:ext cx="365760" cy="365760"/>
          </a:xfrm>
          <a:prstGeom prst="ellipse">
            <a:avLst/>
          </a:prstGeom>
          <a:solidFill>
            <a:srgbClr val="0F6673"/>
          </a:solidFill>
          <a:ln/>
        </p:spPr>
      </p:sp>
      <p:sp>
        <p:nvSpPr>
          <p:cNvPr id="21" name="Text 18"/>
          <p:cNvSpPr txBox="1"/>
          <p:nvPr/>
        </p:nvSpPr>
        <p:spPr>
          <a:xfrm>
            <a:off x="3619424" y="1691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2</a:t>
            </a:r>
            <a:endParaRPr lang="en-US" sz="1300" dirty="0"/>
          </a:p>
        </p:txBody>
      </p:sp>
      <p:sp>
        <p:nvSpPr>
          <p:cNvPr id="22" name="Text 19"/>
          <p:cNvSpPr txBox="1"/>
          <p:nvPr/>
        </p:nvSpPr>
        <p:spPr>
          <a:xfrm>
            <a:off x="4104056" y="1700784"/>
            <a:ext cx="1662608" cy="365760"/>
          </a:xfrm>
          <a:prstGeom prst="rect">
            <a:avLst/>
          </a:prstGeom>
          <a:noFill/>
          <a:ln/>
        </p:spPr>
        <p:txBody>
          <a:bodyPr wrap="square" lIns="0" tIns="0" rIns="0" bIns="0" rtlCol="0" anchor="ctr"/>
          <a:lstStyle/>
          <a:p>
            <a:pPr indent="0" marL="0">
              <a:buNone/>
            </a:pPr>
            <a:r>
              <a:rPr lang="en-US" sz="1800" b="1" dirty="0">
                <a:solidFill>
                  <a:srgbClr val="0F6673"/>
                </a:solidFill>
                <a:latin typeface="Calibri" pitchFamily="34" charset="0"/>
                <a:ea typeface="Calibri" pitchFamily="34" charset="-122"/>
                <a:cs typeface="Calibri" pitchFamily="34" charset="-120"/>
              </a:rPr>
              <a:t>Decide</a:t>
            </a:r>
            <a:endParaRPr lang="en-US" sz="1800" dirty="0"/>
          </a:p>
        </p:txBody>
      </p:sp>
      <p:sp>
        <p:nvSpPr>
          <p:cNvPr id="23" name="Text 20"/>
          <p:cNvSpPr txBox="1"/>
          <p:nvPr/>
        </p:nvSpPr>
        <p:spPr>
          <a:xfrm>
            <a:off x="3619424" y="2267712"/>
            <a:ext cx="914400" cy="182880"/>
          </a:xfrm>
          <a:prstGeom prst="rect">
            <a:avLst/>
          </a:prstGeom>
          <a:noFill/>
          <a:ln/>
        </p:spPr>
        <p:txBody>
          <a:bodyPr wrap="square" lIns="0" tIns="0" rIns="0" bIns="0" rtlCol="0" anchor="t"/>
          <a:lstStyle/>
          <a:p>
            <a:pPr indent="0" marL="0">
              <a:buNone/>
            </a:pPr>
            <a:r>
              <a:rPr lang="en-US" sz="800" b="1" spc="100" kern="0" dirty="0">
                <a:solidFill>
                  <a:srgbClr val="52656E"/>
                </a:solidFill>
                <a:latin typeface="Consolas" pitchFamily="34" charset="0"/>
                <a:ea typeface="Consolas" pitchFamily="34" charset="-122"/>
                <a:cs typeface="Consolas" pitchFamily="34" charset="-120"/>
              </a:rPr>
              <a:t>YOU</a:t>
            </a:r>
            <a:endParaRPr lang="en-US" sz="800" dirty="0"/>
          </a:p>
        </p:txBody>
      </p:sp>
      <p:sp>
        <p:nvSpPr>
          <p:cNvPr id="24" name="Text 21"/>
          <p:cNvSpPr txBox="1"/>
          <p:nvPr/>
        </p:nvSpPr>
        <p:spPr>
          <a:xfrm>
            <a:off x="3619424" y="2487168"/>
            <a:ext cx="2083232" cy="731520"/>
          </a:xfrm>
          <a:prstGeom prst="rect">
            <a:avLst/>
          </a:prstGeom>
          <a:noFill/>
          <a:ln/>
        </p:spPr>
        <p:txBody>
          <a:bodyPr wrap="square" lIns="0" tIns="0" rIns="0" bIns="0" rtlCol="0" anchor="t"/>
          <a:lstStyle/>
          <a:p>
            <a:pPr indent="0" marL="0">
              <a:buNone/>
            </a:pPr>
            <a:r>
              <a:rPr lang="en-US" sz="1100" dirty="0">
                <a:solidFill>
                  <a:srgbClr val="15252E"/>
                </a:solidFill>
                <a:latin typeface="Calibri" pitchFamily="34" charset="0"/>
                <a:ea typeface="Calibri" pitchFamily="34" charset="-122"/>
                <a:cs typeface="Calibri" pitchFamily="34" charset="-120"/>
              </a:rPr>
              <a:t>Write the thesis as premises with tests; record the decision, or the pass.</a:t>
            </a:r>
            <a:endParaRPr lang="en-US" sz="1100" dirty="0"/>
          </a:p>
        </p:txBody>
      </p:sp>
      <p:sp>
        <p:nvSpPr>
          <p:cNvPr id="25" name="Text 22"/>
          <p:cNvSpPr txBox="1"/>
          <p:nvPr/>
        </p:nvSpPr>
        <p:spPr>
          <a:xfrm>
            <a:off x="3619424" y="3246120"/>
            <a:ext cx="1371600" cy="182880"/>
          </a:xfrm>
          <a:prstGeom prst="rect">
            <a:avLst/>
          </a:prstGeom>
          <a:noFill/>
          <a:ln/>
        </p:spPr>
        <p:txBody>
          <a:bodyPr wrap="square" lIns="0" tIns="0" rIns="0" bIns="0" rtlCol="0" anchor="t"/>
          <a:lstStyle/>
          <a:p>
            <a:pPr indent="0" marL="0">
              <a:buNone/>
            </a:pPr>
            <a:r>
              <a:rPr lang="en-US" sz="800" b="1" spc="100" kern="0" dirty="0">
                <a:solidFill>
                  <a:srgbClr val="52656E"/>
                </a:solidFill>
                <a:latin typeface="Consolas" pitchFamily="34" charset="0"/>
                <a:ea typeface="Consolas" pitchFamily="34" charset="-122"/>
                <a:cs typeface="Consolas" pitchFamily="34" charset="-120"/>
              </a:rPr>
              <a:t>IT KEEPS</a:t>
            </a:r>
            <a:endParaRPr lang="en-US" sz="800" dirty="0"/>
          </a:p>
        </p:txBody>
      </p:sp>
      <p:sp>
        <p:nvSpPr>
          <p:cNvPr id="26" name="Text 23"/>
          <p:cNvSpPr txBox="1"/>
          <p:nvPr/>
        </p:nvSpPr>
        <p:spPr>
          <a:xfrm>
            <a:off x="3619424" y="3465576"/>
            <a:ext cx="2083232" cy="1005840"/>
          </a:xfrm>
          <a:prstGeom prst="rect">
            <a:avLst/>
          </a:prstGeom>
          <a:noFill/>
          <a:ln/>
        </p:spPr>
        <p:txBody>
          <a:bodyPr wrap="square" lIns="0" tIns="0" rIns="0" bIns="0" rtlCol="0" anchor="t"/>
          <a:lstStyle/>
          <a:p>
            <a:pPr indent="0" marL="0">
              <a:buNone/>
            </a:pPr>
            <a:r>
              <a:rPr lang="en-US" sz="1100" dirty="0">
                <a:solidFill>
                  <a:srgbClr val="15252E"/>
                </a:solidFill>
                <a:latin typeface="Calibri" pitchFamily="34" charset="0"/>
                <a:ea typeface="Calibri" pitchFamily="34" charset="-122"/>
                <a:cs typeface="Calibri" pitchFamily="34" charset="-120"/>
              </a:rPr>
              <a:t>A thesis of testable premises, and a decision with its reasons and size.</a:t>
            </a:r>
            <a:endParaRPr lang="en-US" sz="1100" dirty="0"/>
          </a:p>
        </p:txBody>
      </p:sp>
      <p:sp>
        <p:nvSpPr>
          <p:cNvPr id="27" name="Shape 24"/>
          <p:cNvSpPr/>
          <p:nvPr/>
        </p:nvSpPr>
        <p:spPr>
          <a:xfrm>
            <a:off x="5958688" y="3017520"/>
            <a:ext cx="274320" cy="0"/>
          </a:xfrm>
          <a:prstGeom prst="line">
            <a:avLst/>
          </a:prstGeom>
          <a:noFill/>
          <a:ln w="22225">
            <a:solidFill>
              <a:srgbClr val="0F6673"/>
            </a:solidFill>
            <a:prstDash val="solid"/>
            <a:tailEnd type="triangle"/>
          </a:ln>
        </p:spPr>
      </p:sp>
      <p:sp>
        <p:nvSpPr>
          <p:cNvPr id="28" name="Shape 25"/>
          <p:cNvSpPr/>
          <p:nvPr/>
        </p:nvSpPr>
        <p:spPr>
          <a:xfrm>
            <a:off x="6287872" y="1508760"/>
            <a:ext cx="2485568" cy="3017520"/>
          </a:xfrm>
          <a:prstGeom prst="roundRect">
            <a:avLst>
              <a:gd name="adj" fmla="val 1839"/>
            </a:avLst>
          </a:prstGeom>
          <a:solidFill>
            <a:srgbClr val="FFFFFF"/>
          </a:solidFill>
          <a:ln w="9525">
            <a:solidFill>
              <a:srgbClr val="CDD8DC"/>
            </a:solidFill>
            <a:prstDash val="solid"/>
          </a:ln>
        </p:spPr>
      </p:sp>
      <p:sp>
        <p:nvSpPr>
          <p:cNvPr id="29" name="Shape 26"/>
          <p:cNvSpPr/>
          <p:nvPr/>
        </p:nvSpPr>
        <p:spPr>
          <a:xfrm>
            <a:off x="6489040" y="1691640"/>
            <a:ext cx="365760" cy="365760"/>
          </a:xfrm>
          <a:prstGeom prst="ellipse">
            <a:avLst/>
          </a:prstGeom>
          <a:solidFill>
            <a:srgbClr val="0F6673"/>
          </a:solidFill>
          <a:ln/>
        </p:spPr>
      </p:sp>
      <p:sp>
        <p:nvSpPr>
          <p:cNvPr id="30" name="Text 27"/>
          <p:cNvSpPr txBox="1"/>
          <p:nvPr/>
        </p:nvSpPr>
        <p:spPr>
          <a:xfrm>
            <a:off x="6489040" y="1691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3</a:t>
            </a:r>
            <a:endParaRPr lang="en-US" sz="1300" dirty="0"/>
          </a:p>
        </p:txBody>
      </p:sp>
      <p:sp>
        <p:nvSpPr>
          <p:cNvPr id="31" name="Text 28"/>
          <p:cNvSpPr txBox="1"/>
          <p:nvPr/>
        </p:nvSpPr>
        <p:spPr>
          <a:xfrm>
            <a:off x="6973672" y="1700784"/>
            <a:ext cx="1662608" cy="365760"/>
          </a:xfrm>
          <a:prstGeom prst="rect">
            <a:avLst/>
          </a:prstGeom>
          <a:noFill/>
          <a:ln/>
        </p:spPr>
        <p:txBody>
          <a:bodyPr wrap="square" lIns="0" tIns="0" rIns="0" bIns="0" rtlCol="0" anchor="ctr"/>
          <a:lstStyle/>
          <a:p>
            <a:pPr indent="0" marL="0">
              <a:buNone/>
            </a:pPr>
            <a:r>
              <a:rPr lang="en-US" sz="1800" b="1" dirty="0">
                <a:solidFill>
                  <a:srgbClr val="0F6673"/>
                </a:solidFill>
                <a:latin typeface="Calibri" pitchFamily="34" charset="0"/>
                <a:ea typeface="Calibri" pitchFamily="34" charset="-122"/>
                <a:cs typeface="Calibri" pitchFamily="34" charset="-120"/>
              </a:rPr>
              <a:t>Hold</a:t>
            </a:r>
            <a:endParaRPr lang="en-US" sz="1800" dirty="0"/>
          </a:p>
        </p:txBody>
      </p:sp>
      <p:sp>
        <p:nvSpPr>
          <p:cNvPr id="32" name="Text 29"/>
          <p:cNvSpPr txBox="1"/>
          <p:nvPr/>
        </p:nvSpPr>
        <p:spPr>
          <a:xfrm>
            <a:off x="6489040" y="2267712"/>
            <a:ext cx="914400" cy="182880"/>
          </a:xfrm>
          <a:prstGeom prst="rect">
            <a:avLst/>
          </a:prstGeom>
          <a:noFill/>
          <a:ln/>
        </p:spPr>
        <p:txBody>
          <a:bodyPr wrap="square" lIns="0" tIns="0" rIns="0" bIns="0" rtlCol="0" anchor="t"/>
          <a:lstStyle/>
          <a:p>
            <a:pPr indent="0" marL="0">
              <a:buNone/>
            </a:pPr>
            <a:r>
              <a:rPr lang="en-US" sz="800" b="1" spc="100" kern="0" dirty="0">
                <a:solidFill>
                  <a:srgbClr val="52656E"/>
                </a:solidFill>
                <a:latin typeface="Consolas" pitchFamily="34" charset="0"/>
                <a:ea typeface="Consolas" pitchFamily="34" charset="-122"/>
                <a:cs typeface="Consolas" pitchFamily="34" charset="-120"/>
              </a:rPr>
              <a:t>YOU</a:t>
            </a:r>
            <a:endParaRPr lang="en-US" sz="800" dirty="0"/>
          </a:p>
        </p:txBody>
      </p:sp>
      <p:sp>
        <p:nvSpPr>
          <p:cNvPr id="33" name="Text 30"/>
          <p:cNvSpPr txBox="1"/>
          <p:nvPr/>
        </p:nvSpPr>
        <p:spPr>
          <a:xfrm>
            <a:off x="6489040" y="2487168"/>
            <a:ext cx="2083232" cy="731520"/>
          </a:xfrm>
          <a:prstGeom prst="rect">
            <a:avLst/>
          </a:prstGeom>
          <a:noFill/>
          <a:ln/>
        </p:spPr>
        <p:txBody>
          <a:bodyPr wrap="square" lIns="0" tIns="0" rIns="0" bIns="0" rtlCol="0" anchor="t"/>
          <a:lstStyle/>
          <a:p>
            <a:pPr indent="0" marL="0">
              <a:buNone/>
            </a:pPr>
            <a:r>
              <a:rPr lang="en-US" sz="1100" dirty="0">
                <a:solidFill>
                  <a:srgbClr val="15252E"/>
                </a:solidFill>
                <a:latin typeface="Calibri" pitchFamily="34" charset="0"/>
                <a:ea typeface="Calibri" pitchFamily="34" charset="-122"/>
                <a:cs typeface="Calibri" pitchFamily="34" charset="-120"/>
              </a:rPr>
              <a:t>Own the position and watch it.</a:t>
            </a:r>
            <a:endParaRPr lang="en-US" sz="1100" dirty="0"/>
          </a:p>
        </p:txBody>
      </p:sp>
      <p:sp>
        <p:nvSpPr>
          <p:cNvPr id="34" name="Text 31"/>
          <p:cNvSpPr txBox="1"/>
          <p:nvPr/>
        </p:nvSpPr>
        <p:spPr>
          <a:xfrm>
            <a:off x="6489040" y="3246120"/>
            <a:ext cx="1371600" cy="182880"/>
          </a:xfrm>
          <a:prstGeom prst="rect">
            <a:avLst/>
          </a:prstGeom>
          <a:noFill/>
          <a:ln/>
        </p:spPr>
        <p:txBody>
          <a:bodyPr wrap="square" lIns="0" tIns="0" rIns="0" bIns="0" rtlCol="0" anchor="t"/>
          <a:lstStyle/>
          <a:p>
            <a:pPr indent="0" marL="0">
              <a:buNone/>
            </a:pPr>
            <a:r>
              <a:rPr lang="en-US" sz="800" b="1" spc="100" kern="0" dirty="0">
                <a:solidFill>
                  <a:srgbClr val="52656E"/>
                </a:solidFill>
                <a:latin typeface="Consolas" pitchFamily="34" charset="0"/>
                <a:ea typeface="Consolas" pitchFamily="34" charset="-122"/>
                <a:cs typeface="Consolas" pitchFamily="34" charset="-120"/>
              </a:rPr>
              <a:t>IT KEEPS</a:t>
            </a:r>
            <a:endParaRPr lang="en-US" sz="800" dirty="0"/>
          </a:p>
        </p:txBody>
      </p:sp>
      <p:sp>
        <p:nvSpPr>
          <p:cNvPr id="35" name="Text 32"/>
          <p:cNvSpPr txBox="1"/>
          <p:nvPr/>
        </p:nvSpPr>
        <p:spPr>
          <a:xfrm>
            <a:off x="6489040" y="3465576"/>
            <a:ext cx="2083232" cy="1005840"/>
          </a:xfrm>
          <a:prstGeom prst="rect">
            <a:avLst/>
          </a:prstGeom>
          <a:noFill/>
          <a:ln/>
        </p:spPr>
        <p:txBody>
          <a:bodyPr wrap="square" lIns="0" tIns="0" rIns="0" bIns="0" rtlCol="0" anchor="t"/>
          <a:lstStyle/>
          <a:p>
            <a:pPr indent="0" marL="0">
              <a:buNone/>
            </a:pPr>
            <a:r>
              <a:rPr lang="en-US" sz="1100" dirty="0">
                <a:solidFill>
                  <a:srgbClr val="15252E"/>
                </a:solidFill>
                <a:latin typeface="Calibri" pitchFamily="34" charset="0"/>
                <a:ea typeface="Calibri" pitchFamily="34" charset="-122"/>
                <a:cs typeface="Calibri" pitchFamily="34" charset="-120"/>
              </a:rPr>
              <a:t>Holdings valued daily, and a monitor testing each premise against every new filing.</a:t>
            </a:r>
            <a:endParaRPr lang="en-US" sz="1100" dirty="0"/>
          </a:p>
        </p:txBody>
      </p:sp>
      <p:sp>
        <p:nvSpPr>
          <p:cNvPr id="36" name="Shape 33"/>
          <p:cNvSpPr/>
          <p:nvPr/>
        </p:nvSpPr>
        <p:spPr>
          <a:xfrm>
            <a:off x="8828303" y="3017520"/>
            <a:ext cx="274320" cy="0"/>
          </a:xfrm>
          <a:prstGeom prst="line">
            <a:avLst/>
          </a:prstGeom>
          <a:noFill/>
          <a:ln w="22225">
            <a:solidFill>
              <a:srgbClr val="0F6673"/>
            </a:solidFill>
            <a:prstDash val="solid"/>
            <a:tailEnd type="triangle"/>
          </a:ln>
        </p:spPr>
      </p:sp>
      <p:sp>
        <p:nvSpPr>
          <p:cNvPr id="37" name="Shape 34"/>
          <p:cNvSpPr/>
          <p:nvPr/>
        </p:nvSpPr>
        <p:spPr>
          <a:xfrm>
            <a:off x="9157487" y="1508760"/>
            <a:ext cx="2485568" cy="3017520"/>
          </a:xfrm>
          <a:prstGeom prst="roundRect">
            <a:avLst>
              <a:gd name="adj" fmla="val 1839"/>
            </a:avLst>
          </a:prstGeom>
          <a:solidFill>
            <a:srgbClr val="FFFFFF"/>
          </a:solidFill>
          <a:ln w="9525">
            <a:solidFill>
              <a:srgbClr val="CDD8DC"/>
            </a:solidFill>
            <a:prstDash val="solid"/>
          </a:ln>
        </p:spPr>
      </p:sp>
      <p:sp>
        <p:nvSpPr>
          <p:cNvPr id="38" name="Shape 35"/>
          <p:cNvSpPr/>
          <p:nvPr/>
        </p:nvSpPr>
        <p:spPr>
          <a:xfrm>
            <a:off x="9358655" y="1691640"/>
            <a:ext cx="365760" cy="365760"/>
          </a:xfrm>
          <a:prstGeom prst="ellipse">
            <a:avLst/>
          </a:prstGeom>
          <a:solidFill>
            <a:srgbClr val="0F6673"/>
          </a:solidFill>
          <a:ln/>
        </p:spPr>
      </p:sp>
      <p:sp>
        <p:nvSpPr>
          <p:cNvPr id="39" name="Text 36"/>
          <p:cNvSpPr txBox="1"/>
          <p:nvPr/>
        </p:nvSpPr>
        <p:spPr>
          <a:xfrm>
            <a:off x="9358655" y="1691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4</a:t>
            </a:r>
            <a:endParaRPr lang="en-US" sz="1300" dirty="0"/>
          </a:p>
        </p:txBody>
      </p:sp>
      <p:sp>
        <p:nvSpPr>
          <p:cNvPr id="40" name="Text 37"/>
          <p:cNvSpPr txBox="1"/>
          <p:nvPr/>
        </p:nvSpPr>
        <p:spPr>
          <a:xfrm>
            <a:off x="9843287" y="1700784"/>
            <a:ext cx="1662608" cy="365760"/>
          </a:xfrm>
          <a:prstGeom prst="rect">
            <a:avLst/>
          </a:prstGeom>
          <a:noFill/>
          <a:ln/>
        </p:spPr>
        <p:txBody>
          <a:bodyPr wrap="square" lIns="0" tIns="0" rIns="0" bIns="0" rtlCol="0" anchor="ctr"/>
          <a:lstStyle/>
          <a:p>
            <a:pPr indent="0" marL="0">
              <a:buNone/>
            </a:pPr>
            <a:r>
              <a:rPr lang="en-US" sz="1800" b="1" dirty="0">
                <a:solidFill>
                  <a:srgbClr val="0F6673"/>
                </a:solidFill>
                <a:latin typeface="Calibri" pitchFamily="34" charset="0"/>
                <a:ea typeface="Calibri" pitchFamily="34" charset="-122"/>
                <a:cs typeface="Calibri" pitchFamily="34" charset="-120"/>
              </a:rPr>
              <a:t>Review</a:t>
            </a:r>
            <a:endParaRPr lang="en-US" sz="1800" dirty="0"/>
          </a:p>
        </p:txBody>
      </p:sp>
      <p:sp>
        <p:nvSpPr>
          <p:cNvPr id="41" name="Text 38"/>
          <p:cNvSpPr txBox="1"/>
          <p:nvPr/>
        </p:nvSpPr>
        <p:spPr>
          <a:xfrm>
            <a:off x="9358655" y="2267712"/>
            <a:ext cx="914400" cy="182880"/>
          </a:xfrm>
          <a:prstGeom prst="rect">
            <a:avLst/>
          </a:prstGeom>
          <a:noFill/>
          <a:ln/>
        </p:spPr>
        <p:txBody>
          <a:bodyPr wrap="square" lIns="0" tIns="0" rIns="0" bIns="0" rtlCol="0" anchor="t"/>
          <a:lstStyle/>
          <a:p>
            <a:pPr indent="0" marL="0">
              <a:buNone/>
            </a:pPr>
            <a:r>
              <a:rPr lang="en-US" sz="800" b="1" spc="100" kern="0" dirty="0">
                <a:solidFill>
                  <a:srgbClr val="52656E"/>
                </a:solidFill>
                <a:latin typeface="Consolas" pitchFamily="34" charset="0"/>
                <a:ea typeface="Consolas" pitchFamily="34" charset="-122"/>
                <a:cs typeface="Consolas" pitchFamily="34" charset="-120"/>
              </a:rPr>
              <a:t>YOU</a:t>
            </a:r>
            <a:endParaRPr lang="en-US" sz="800" dirty="0"/>
          </a:p>
        </p:txBody>
      </p:sp>
      <p:sp>
        <p:nvSpPr>
          <p:cNvPr id="42" name="Text 39"/>
          <p:cNvSpPr txBox="1"/>
          <p:nvPr/>
        </p:nvSpPr>
        <p:spPr>
          <a:xfrm>
            <a:off x="9358655" y="2487168"/>
            <a:ext cx="2083232" cy="731520"/>
          </a:xfrm>
          <a:prstGeom prst="rect">
            <a:avLst/>
          </a:prstGeom>
          <a:noFill/>
          <a:ln/>
        </p:spPr>
        <p:txBody>
          <a:bodyPr wrap="square" lIns="0" tIns="0" rIns="0" bIns="0" rtlCol="0" anchor="t"/>
          <a:lstStyle/>
          <a:p>
            <a:pPr indent="0" marL="0">
              <a:buNone/>
            </a:pPr>
            <a:r>
              <a:rPr lang="en-US" sz="1100" dirty="0">
                <a:solidFill>
                  <a:srgbClr val="15252E"/>
                </a:solidFill>
                <a:latin typeface="Calibri" pitchFamily="34" charset="0"/>
                <a:ea typeface="Calibri" pitchFamily="34" charset="-122"/>
                <a:cs typeface="Calibri" pitchFamily="34" charset="-120"/>
              </a:rPr>
              <a:t>Close the position and learn from it.</a:t>
            </a:r>
            <a:endParaRPr lang="en-US" sz="1100" dirty="0"/>
          </a:p>
        </p:txBody>
      </p:sp>
      <p:sp>
        <p:nvSpPr>
          <p:cNvPr id="43" name="Text 40"/>
          <p:cNvSpPr txBox="1"/>
          <p:nvPr/>
        </p:nvSpPr>
        <p:spPr>
          <a:xfrm>
            <a:off x="9358655" y="3246120"/>
            <a:ext cx="1371600" cy="182880"/>
          </a:xfrm>
          <a:prstGeom prst="rect">
            <a:avLst/>
          </a:prstGeom>
          <a:noFill/>
          <a:ln/>
        </p:spPr>
        <p:txBody>
          <a:bodyPr wrap="square" lIns="0" tIns="0" rIns="0" bIns="0" rtlCol="0" anchor="t"/>
          <a:lstStyle/>
          <a:p>
            <a:pPr indent="0" marL="0">
              <a:buNone/>
            </a:pPr>
            <a:r>
              <a:rPr lang="en-US" sz="800" b="1" spc="100" kern="0" dirty="0">
                <a:solidFill>
                  <a:srgbClr val="52656E"/>
                </a:solidFill>
                <a:latin typeface="Consolas" pitchFamily="34" charset="0"/>
                <a:ea typeface="Consolas" pitchFamily="34" charset="-122"/>
                <a:cs typeface="Consolas" pitchFamily="34" charset="-120"/>
              </a:rPr>
              <a:t>IT KEEPS</a:t>
            </a:r>
            <a:endParaRPr lang="en-US" sz="800" dirty="0"/>
          </a:p>
        </p:txBody>
      </p:sp>
      <p:sp>
        <p:nvSpPr>
          <p:cNvPr id="44" name="Text 41"/>
          <p:cNvSpPr txBox="1"/>
          <p:nvPr/>
        </p:nvSpPr>
        <p:spPr>
          <a:xfrm>
            <a:off x="9358655" y="3465576"/>
            <a:ext cx="2083232" cy="1005840"/>
          </a:xfrm>
          <a:prstGeom prst="rect">
            <a:avLst/>
          </a:prstGeom>
          <a:noFill/>
          <a:ln/>
        </p:spPr>
        <p:txBody>
          <a:bodyPr wrap="square" lIns="0" tIns="0" rIns="0" bIns="0" rtlCol="0" anchor="t"/>
          <a:lstStyle/>
          <a:p>
            <a:pPr indent="0" marL="0">
              <a:buNone/>
            </a:pPr>
            <a:r>
              <a:rPr lang="en-US" sz="1100" dirty="0">
                <a:solidFill>
                  <a:srgbClr val="15252E"/>
                </a:solidFill>
                <a:latin typeface="Calibri" pitchFamily="34" charset="0"/>
                <a:ea typeface="Calibri" pitchFamily="34" charset="-122"/>
                <a:cs typeface="Calibri" pitchFamily="34" charset="-120"/>
              </a:rPr>
              <a:t>Whether the thesis was right, whether the decision was good, and what many decisions say about you.</a:t>
            </a:r>
            <a:endParaRPr lang="en-US" sz="1100" dirty="0"/>
          </a:p>
        </p:txBody>
      </p:sp>
      <p:sp>
        <p:nvSpPr>
          <p:cNvPr id="45" name="Shape 42"/>
          <p:cNvSpPr/>
          <p:nvPr/>
        </p:nvSpPr>
        <p:spPr>
          <a:xfrm>
            <a:off x="10400271" y="4526280"/>
            <a:ext cx="0" cy="320040"/>
          </a:xfrm>
          <a:prstGeom prst="line">
            <a:avLst/>
          </a:prstGeom>
          <a:noFill/>
          <a:ln w="19050">
            <a:solidFill>
              <a:srgbClr val="0F6673"/>
            </a:solidFill>
            <a:prstDash val="solid"/>
          </a:ln>
        </p:spPr>
      </p:sp>
      <p:sp>
        <p:nvSpPr>
          <p:cNvPr id="46" name="Shape 43"/>
          <p:cNvSpPr/>
          <p:nvPr/>
        </p:nvSpPr>
        <p:spPr>
          <a:xfrm>
            <a:off x="1791424" y="4846320"/>
            <a:ext cx="8608847" cy="0"/>
          </a:xfrm>
          <a:prstGeom prst="line">
            <a:avLst/>
          </a:prstGeom>
          <a:noFill/>
          <a:ln w="19050">
            <a:solidFill>
              <a:srgbClr val="0F6673"/>
            </a:solidFill>
            <a:prstDash val="solid"/>
          </a:ln>
        </p:spPr>
      </p:sp>
      <p:sp>
        <p:nvSpPr>
          <p:cNvPr id="47" name="Shape 44"/>
          <p:cNvSpPr/>
          <p:nvPr/>
        </p:nvSpPr>
        <p:spPr>
          <a:xfrm flipV="1">
            <a:off x="1791424" y="4553712"/>
            <a:ext cx="0" cy="292608"/>
          </a:xfrm>
          <a:prstGeom prst="line">
            <a:avLst/>
          </a:prstGeom>
          <a:noFill/>
          <a:ln w="19050">
            <a:solidFill>
              <a:srgbClr val="0F6673"/>
            </a:solidFill>
            <a:prstDash val="solid"/>
            <a:tailEnd type="triangle"/>
          </a:ln>
        </p:spPr>
      </p:sp>
      <p:sp>
        <p:nvSpPr>
          <p:cNvPr id="48" name="Text 45"/>
          <p:cNvSpPr txBox="1"/>
          <p:nvPr/>
        </p:nvSpPr>
        <p:spPr>
          <a:xfrm>
            <a:off x="4077424" y="4617720"/>
            <a:ext cx="3840480" cy="201168"/>
          </a:xfrm>
          <a:prstGeom prst="rect">
            <a:avLst/>
          </a:prstGeom>
          <a:noFill/>
          <a:ln/>
        </p:spPr>
        <p:txBody>
          <a:bodyPr wrap="square" lIns="0" tIns="0" rIns="0" bIns="0" rtlCol="0" anchor="t"/>
          <a:lstStyle/>
          <a:p>
            <a:pPr algn="ctr" indent="0" marL="0">
              <a:buNone/>
            </a:pPr>
            <a:r>
              <a:rPr lang="en-US" sz="950" i="1" dirty="0">
                <a:solidFill>
                  <a:srgbClr val="0F6673"/>
                </a:solidFill>
                <a:latin typeface="Calibri" pitchFamily="34" charset="0"/>
                <a:ea typeface="Calibri" pitchFamily="34" charset="-122"/>
                <a:cs typeface="Calibri" pitchFamily="34" charset="-120"/>
              </a:rPr>
              <a:t>each stage reads the record the last one wrote</a:t>
            </a:r>
            <a:endParaRPr lang="en-US" sz="950" dirty="0"/>
          </a:p>
        </p:txBody>
      </p:sp>
      <p:sp>
        <p:nvSpPr>
          <p:cNvPr id="49" name="Shape 46"/>
          <p:cNvSpPr/>
          <p:nvPr/>
        </p:nvSpPr>
        <p:spPr>
          <a:xfrm>
            <a:off x="548640" y="5120640"/>
            <a:ext cx="11094415" cy="960120"/>
          </a:xfrm>
          <a:prstGeom prst="roundRect">
            <a:avLst>
              <a:gd name="adj" fmla="val 4762"/>
            </a:avLst>
          </a:prstGeom>
          <a:solidFill>
            <a:srgbClr val="E2F3F4"/>
          </a:solidFill>
          <a:ln w="9525">
            <a:solidFill>
              <a:srgbClr val="0F6673"/>
            </a:solidFill>
            <a:prstDash val="solid"/>
          </a:ln>
        </p:spPr>
      </p:sp>
      <p:sp>
        <p:nvSpPr>
          <p:cNvPr id="50" name="Text 47"/>
          <p:cNvSpPr txBox="1"/>
          <p:nvPr/>
        </p:nvSpPr>
        <p:spPr>
          <a:xfrm>
            <a:off x="777240" y="5230368"/>
            <a:ext cx="10637215" cy="777240"/>
          </a:xfrm>
          <a:prstGeom prst="rect">
            <a:avLst/>
          </a:prstGeom>
          <a:noFill/>
          <a:ln/>
        </p:spPr>
        <p:txBody>
          <a:bodyPr wrap="square" lIns="0" tIns="0" rIns="0" bIns="0" rtlCol="0" anchor="ctr"/>
          <a:lstStyle/>
          <a:p>
            <a:pPr indent="0" marL="0">
              <a:buNone/>
            </a:pPr>
            <a:r>
              <a:rPr lang="en-US" sz="1250" b="1" dirty="0">
                <a:solidFill>
                  <a:srgbClr val="15252E"/>
                </a:solidFill>
                <a:latin typeface="Calibri" pitchFamily="34" charset="0"/>
                <a:ea typeface="Calibri" pitchFamily="34" charset="-122"/>
                <a:cs typeface="Calibri" pitchFamily="34" charset="-120"/>
              </a:rPr>
              <a:t>A decision not to act is a first-class decision. </a:t>
            </a:r>
            <a:r>
              <a:rPr lang="en-US" sz="1250" dirty="0">
                <a:solidFill>
                  <a:srgbClr val="15252E"/>
                </a:solidFill>
                <a:latin typeface="Calibri" pitchFamily="34" charset="0"/>
                <a:ea typeface="Calibri" pitchFamily="34" charset="-122"/>
                <a:cs typeface="Calibri" pitchFamily="34" charset="-120"/>
              </a:rPr>
              <a:t>“You passed at $80 because Y, and Y is now false” is the most valuable thing the system can tell you, and no chat can say it, because no chat remembers what you believed.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03 · THE SOLUTION</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The rule everything else follows from</a:t>
            </a:r>
            <a:endParaRPr lang="en-US" sz="2800" dirty="0"/>
          </a:p>
        </p:txBody>
      </p:sp>
      <p:sp>
        <p:nvSpPr>
          <p:cNvPr id="5" name="Shape 3"/>
          <p:cNvSpPr/>
          <p:nvPr/>
        </p:nvSpPr>
        <p:spPr>
          <a:xfrm>
            <a:off x="10286086" y="384048"/>
            <a:ext cx="1356970" cy="219456"/>
          </a:xfrm>
          <a:prstGeom prst="roundRect">
            <a:avLst>
              <a:gd name="adj" fmla="val 50000"/>
            </a:avLst>
          </a:prstGeom>
          <a:solidFill>
            <a:srgbClr val="14613F"/>
          </a:solidFill>
          <a:ln/>
        </p:spPr>
      </p:sp>
      <p:sp>
        <p:nvSpPr>
          <p:cNvPr id="6" name="Text 4"/>
          <p:cNvSpPr txBox="1"/>
          <p:nvPr/>
        </p:nvSpPr>
        <p:spPr>
          <a:xfrm>
            <a:off x="10286086"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7" name="Text 5"/>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8" name="Text 6"/>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08</a:t>
            </a:r>
            <a:endParaRPr lang="en-US" sz="800" dirty="0"/>
          </a:p>
        </p:txBody>
      </p:sp>
      <p:sp>
        <p:nvSpPr>
          <p:cNvPr id="10" name="Shape 7"/>
          <p:cNvSpPr/>
          <p:nvPr/>
        </p:nvSpPr>
        <p:spPr>
          <a:xfrm>
            <a:off x="548640" y="1463040"/>
            <a:ext cx="11094415" cy="1188720"/>
          </a:xfrm>
          <a:prstGeom prst="roundRect">
            <a:avLst>
              <a:gd name="adj" fmla="val 3846"/>
            </a:avLst>
          </a:prstGeom>
          <a:solidFill>
            <a:srgbClr val="07171D"/>
          </a:solidFill>
          <a:ln/>
        </p:spPr>
      </p:sp>
      <p:sp>
        <p:nvSpPr>
          <p:cNvPr id="11" name="Text 8"/>
          <p:cNvSpPr txBox="1"/>
          <p:nvPr/>
        </p:nvSpPr>
        <p:spPr>
          <a:xfrm>
            <a:off x="868680" y="1572768"/>
            <a:ext cx="10454335" cy="969264"/>
          </a:xfrm>
          <a:prstGeom prst="rect">
            <a:avLst/>
          </a:prstGeom>
          <a:noFill/>
          <a:ln/>
        </p:spPr>
        <p:txBody>
          <a:bodyPr wrap="square" lIns="0" tIns="0" rIns="0" bIns="0" rtlCol="0" anchor="ctr"/>
          <a:lstStyle/>
          <a:p>
            <a:pPr indent="0" marL="0">
              <a:buNone/>
            </a:pPr>
            <a:r>
              <a:rPr lang="en-US" sz="2100" dirty="0">
                <a:solidFill>
                  <a:srgbClr val="EDF6F7"/>
                </a:solidFill>
                <a:latin typeface="Calibri" pitchFamily="34" charset="0"/>
                <a:ea typeface="Calibri" pitchFamily="34" charset="-122"/>
                <a:cs typeface="Calibri" pitchFamily="34" charset="-120"/>
              </a:rPr>
              <a:t>Deterministic code owns </a:t>
            </a:r>
            <a:r>
              <a:rPr lang="en-US" sz="2100" b="1" dirty="0">
                <a:solidFill>
                  <a:srgbClr val="B5ECF0"/>
                </a:solidFill>
                <a:latin typeface="Calibri" pitchFamily="34" charset="0"/>
                <a:ea typeface="Calibri" pitchFamily="34" charset="-122"/>
                <a:cs typeface="Calibri" pitchFamily="34" charset="-120"/>
              </a:rPr>
              <a:t>every number and every fact</a:t>
            </a:r>
            <a:r>
              <a:rPr lang="en-US" sz="2100" dirty="0">
                <a:solidFill>
                  <a:srgbClr val="EDF6F7"/>
                </a:solidFill>
                <a:latin typeface="Calibri" pitchFamily="34" charset="0"/>
                <a:ea typeface="Calibri" pitchFamily="34" charset="-122"/>
                <a:cs typeface="Calibri" pitchFamily="34" charset="-120"/>
              </a:rPr>
              <a:t>. The language model owns planning, interpretation, argument and writing.</a:t>
            </a:r>
            <a:endParaRPr lang="en-US" sz="2100" dirty="0"/>
          </a:p>
        </p:txBody>
      </p:sp>
      <p:sp>
        <p:nvSpPr>
          <p:cNvPr id="12" name="Shape 9"/>
          <p:cNvSpPr/>
          <p:nvPr/>
        </p:nvSpPr>
        <p:spPr>
          <a:xfrm>
            <a:off x="548640" y="2880360"/>
            <a:ext cx="5410048" cy="2514600"/>
          </a:xfrm>
          <a:prstGeom prst="roundRect">
            <a:avLst>
              <a:gd name="adj" fmla="val 1818"/>
            </a:avLst>
          </a:prstGeom>
          <a:solidFill>
            <a:srgbClr val="FFFFFF"/>
          </a:solidFill>
          <a:ln w="9525">
            <a:solidFill>
              <a:srgbClr val="CDD8DC"/>
            </a:solidFill>
            <a:prstDash val="solid"/>
          </a:ln>
        </p:spPr>
      </p:sp>
      <p:sp>
        <p:nvSpPr>
          <p:cNvPr id="13" name="Text 10"/>
          <p:cNvSpPr txBox="1"/>
          <p:nvPr/>
        </p:nvSpPr>
        <p:spPr>
          <a:xfrm>
            <a:off x="777240" y="3044952"/>
            <a:ext cx="4952848"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CODE DOES THIS</a:t>
            </a:r>
            <a:endParaRPr lang="en-US" sz="900" dirty="0"/>
          </a:p>
        </p:txBody>
      </p:sp>
      <p:sp>
        <p:nvSpPr>
          <p:cNvPr id="14" name="Text 11"/>
          <p:cNvSpPr txBox="1"/>
          <p:nvPr/>
        </p:nvSpPr>
        <p:spPr>
          <a:xfrm>
            <a:off x="777240" y="3364992"/>
            <a:ext cx="4952848" cy="196596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5252E"/>
                </a:solidFill>
                <a:latin typeface="Calibri" pitchFamily="34" charset="0"/>
                <a:ea typeface="Calibri" pitchFamily="34" charset="-122"/>
                <a:cs typeface="Calibri" pitchFamily="34" charset="-120"/>
              </a:rPr>
              <a:t>Fetching, hashing, archiving and parsing every source</a:t>
            </a:r>
            <a:endParaRPr lang="en-US" sz="1200" dirty="0"/>
          </a:p>
          <a:p>
            <a:pPr marL="177800" indent="-177800">
              <a:spcAft>
                <a:spcPts val="500"/>
              </a:spcAft>
              <a:buSzPct val="100000"/>
              <a:buChar char="•"/>
            </a:pPr>
            <a:r>
              <a:rPr lang="en-US" sz="1200" dirty="0">
                <a:solidFill>
                  <a:srgbClr val="15252E"/>
                </a:solidFill>
                <a:latin typeface="Calibri" pitchFamily="34" charset="0"/>
                <a:ea typeface="Calibri" pitchFamily="34" charset="-122"/>
                <a:cs typeface="Calibri" pitchFamily="34" charset="-120"/>
              </a:rPr>
              <a:t>All arithmetic: ratios, growth, cost of capital, discounted cash flow, comparables, scenarios</a:t>
            </a:r>
            <a:endParaRPr lang="en-US" sz="1200" dirty="0"/>
          </a:p>
          <a:p>
            <a:pPr marL="177800" indent="-177800">
              <a:spcAft>
                <a:spcPts val="500"/>
              </a:spcAft>
              <a:buSzPct val="100000"/>
              <a:buChar char="•"/>
            </a:pPr>
            <a:r>
              <a:rPr lang="en-US" sz="1200" dirty="0">
                <a:solidFill>
                  <a:srgbClr val="15252E"/>
                </a:solidFill>
                <a:latin typeface="Calibri" pitchFamily="34" charset="0"/>
                <a:ea typeface="Calibri" pitchFamily="34" charset="-122"/>
                <a:cs typeface="Calibri" pitchFamily="34" charset="-120"/>
              </a:rPr>
              <a:t>Units and currencies. A mismatch raises; it never coerces</a:t>
            </a:r>
            <a:endParaRPr lang="en-US" sz="1200" dirty="0"/>
          </a:p>
          <a:p>
            <a:pPr marL="177800" indent="-177800">
              <a:spcAft>
                <a:spcPts val="500"/>
              </a:spcAft>
              <a:buSzPct val="100000"/>
              <a:buChar char="•"/>
            </a:pPr>
            <a:r>
              <a:rPr lang="en-US" sz="1200" dirty="0">
                <a:solidFill>
                  <a:srgbClr val="15252E"/>
                </a:solidFill>
                <a:latin typeface="Calibri" pitchFamily="34" charset="0"/>
                <a:ea typeface="Calibri" pitchFamily="34" charset="-122"/>
                <a:cs typeface="Calibri" pitchFamily="34" charset="-120"/>
              </a:rPr>
              <a:t>Deciding which filing’s word stands for each period</a:t>
            </a:r>
            <a:endParaRPr lang="en-US" sz="1200" dirty="0"/>
          </a:p>
          <a:p>
            <a:pPr marL="177800" indent="-177800">
              <a:spcAft>
                <a:spcPts val="500"/>
              </a:spcAft>
              <a:buSzPct val="100000"/>
              <a:buChar char="•"/>
            </a:pPr>
            <a:r>
              <a:rPr lang="en-US" sz="1200" dirty="0">
                <a:solidFill>
                  <a:srgbClr val="15252E"/>
                </a:solidFill>
                <a:latin typeface="Calibri" pitchFamily="34" charset="0"/>
                <a:ea typeface="Calibri" pitchFamily="34" charset="-122"/>
                <a:cs typeface="Calibri" pitchFamily="34" charset="-120"/>
              </a:rPr>
              <a:t>Resolving and verifying every citation</a:t>
            </a:r>
            <a:endParaRPr lang="en-US" sz="1200" dirty="0"/>
          </a:p>
          <a:p>
            <a:pPr marL="177800" indent="-177800">
              <a:spcAft>
                <a:spcPts val="500"/>
              </a:spcAft>
              <a:buSzPct val="100000"/>
              <a:buChar char="•"/>
            </a:pPr>
            <a:r>
              <a:rPr lang="en-US" sz="1200" dirty="0">
                <a:solidFill>
                  <a:srgbClr val="15252E"/>
                </a:solidFill>
                <a:latin typeface="Calibri" pitchFamily="34" charset="0"/>
                <a:ea typeface="Calibri" pitchFamily="34" charset="-122"/>
                <a:cs typeface="Calibri" pitchFamily="34" charset="-120"/>
              </a:rPr>
              <a:t>Storage, rendering and metering every penny spent</a:t>
            </a:r>
            <a:endParaRPr lang="en-US" sz="1200" dirty="0"/>
          </a:p>
        </p:txBody>
      </p:sp>
      <p:sp>
        <p:nvSpPr>
          <p:cNvPr id="15" name="Shape 12"/>
          <p:cNvSpPr/>
          <p:nvPr/>
        </p:nvSpPr>
        <p:spPr>
          <a:xfrm>
            <a:off x="6233008" y="2880360"/>
            <a:ext cx="5410048" cy="2514600"/>
          </a:xfrm>
          <a:prstGeom prst="roundRect">
            <a:avLst>
              <a:gd name="adj" fmla="val 1818"/>
            </a:avLst>
          </a:prstGeom>
          <a:solidFill>
            <a:srgbClr val="FFFFFF"/>
          </a:solidFill>
          <a:ln w="9525">
            <a:solidFill>
              <a:srgbClr val="CDD8DC"/>
            </a:solidFill>
            <a:prstDash val="solid"/>
          </a:ln>
        </p:spPr>
      </p:sp>
      <p:sp>
        <p:nvSpPr>
          <p:cNvPr id="16" name="Text 13"/>
          <p:cNvSpPr txBox="1"/>
          <p:nvPr/>
        </p:nvSpPr>
        <p:spPr>
          <a:xfrm>
            <a:off x="6461608" y="3044952"/>
            <a:ext cx="4952848" cy="201168"/>
          </a:xfrm>
          <a:prstGeom prst="rect">
            <a:avLst/>
          </a:prstGeom>
          <a:noFill/>
          <a:ln/>
        </p:spPr>
        <p:txBody>
          <a:bodyPr wrap="square" lIns="0" tIns="0" rIns="0" bIns="0" rtlCol="0" anchor="t"/>
          <a:lstStyle/>
          <a:p>
            <a:pPr indent="0" marL="0">
              <a:buNone/>
            </a:pPr>
            <a:r>
              <a:rPr lang="en-US" sz="900" b="1" spc="100" kern="0" dirty="0">
                <a:solidFill>
                  <a:srgbClr val="6B3F60"/>
                </a:solidFill>
                <a:latin typeface="Consolas" pitchFamily="34" charset="0"/>
                <a:ea typeface="Consolas" pitchFamily="34" charset="-122"/>
                <a:cs typeface="Consolas" pitchFamily="34" charset="-120"/>
              </a:rPr>
              <a:t>THE MODEL DOES THIS</a:t>
            </a:r>
            <a:endParaRPr lang="en-US" sz="900" dirty="0"/>
          </a:p>
        </p:txBody>
      </p:sp>
      <p:sp>
        <p:nvSpPr>
          <p:cNvPr id="17" name="Text 14"/>
          <p:cNvSpPr txBox="1"/>
          <p:nvPr/>
        </p:nvSpPr>
        <p:spPr>
          <a:xfrm>
            <a:off x="6461608" y="3364992"/>
            <a:ext cx="4952848" cy="196596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5252E"/>
                </a:solidFill>
                <a:latin typeface="Calibri" pitchFamily="34" charset="0"/>
                <a:ea typeface="Calibri" pitchFamily="34" charset="-122"/>
                <a:cs typeface="Calibri" pitchFamily="34" charset="-120"/>
              </a:rPr>
              <a:t>Deciding what is worth researching</a:t>
            </a:r>
            <a:endParaRPr lang="en-US" sz="1200" dirty="0"/>
          </a:p>
          <a:p>
            <a:pPr marL="177800" indent="-177800">
              <a:spcAft>
                <a:spcPts val="500"/>
              </a:spcAft>
              <a:buSzPct val="100000"/>
              <a:buChar char="•"/>
            </a:pPr>
            <a:r>
              <a:rPr lang="en-US" sz="1200" dirty="0">
                <a:solidFill>
                  <a:srgbClr val="15252E"/>
                </a:solidFill>
                <a:latin typeface="Calibri" pitchFamily="34" charset="0"/>
                <a:ea typeface="Calibri" pitchFamily="34" charset="-122"/>
                <a:cs typeface="Calibri" pitchFamily="34" charset="-120"/>
              </a:rPr>
              <a:t>Proposing an assumption, with its justification</a:t>
            </a:r>
            <a:endParaRPr lang="en-US" sz="1200" dirty="0"/>
          </a:p>
          <a:p>
            <a:pPr marL="177800" indent="-177800">
              <a:spcAft>
                <a:spcPts val="500"/>
              </a:spcAft>
              <a:buSzPct val="100000"/>
              <a:buChar char="•"/>
            </a:pPr>
            <a:r>
              <a:rPr lang="en-US" sz="1200" dirty="0">
                <a:solidFill>
                  <a:srgbClr val="15252E"/>
                </a:solidFill>
                <a:latin typeface="Calibri" pitchFamily="34" charset="0"/>
                <a:ea typeface="Calibri" pitchFamily="34" charset="-122"/>
                <a:cs typeface="Calibri" pitchFamily="34" charset="-120"/>
              </a:rPr>
              <a:t>Judging whether a source is relevant</a:t>
            </a:r>
            <a:endParaRPr lang="en-US" sz="1200" dirty="0"/>
          </a:p>
          <a:p>
            <a:pPr marL="177800" indent="-177800">
              <a:spcAft>
                <a:spcPts val="500"/>
              </a:spcAft>
              <a:buSzPct val="100000"/>
              <a:buChar char="•"/>
            </a:pPr>
            <a:r>
              <a:rPr lang="en-US" sz="1200" dirty="0">
                <a:solidFill>
                  <a:srgbClr val="15252E"/>
                </a:solidFill>
                <a:latin typeface="Calibri" pitchFamily="34" charset="0"/>
                <a:ea typeface="Calibri" pitchFamily="34" charset="-122"/>
                <a:cs typeface="Calibri" pitchFamily="34" charset="-120"/>
              </a:rPr>
              <a:t>Writing a section from facts it was handed</a:t>
            </a:r>
            <a:endParaRPr lang="en-US" sz="1200" dirty="0"/>
          </a:p>
          <a:p>
            <a:pPr marL="177800" indent="-177800">
              <a:spcAft>
                <a:spcPts val="500"/>
              </a:spcAft>
              <a:buSzPct val="100000"/>
              <a:buChar char="•"/>
            </a:pPr>
            <a:r>
              <a:rPr lang="en-US" sz="1200" dirty="0">
                <a:solidFill>
                  <a:srgbClr val="15252E"/>
                </a:solidFill>
                <a:latin typeface="Calibri" pitchFamily="34" charset="0"/>
                <a:ea typeface="Calibri" pitchFamily="34" charset="-122"/>
                <a:cs typeface="Calibri" pitchFamily="34" charset="-120"/>
              </a:rPr>
              <a:t>Arguing the other side of your view</a:t>
            </a:r>
            <a:endParaRPr lang="en-US" sz="1200" dirty="0"/>
          </a:p>
          <a:p>
            <a:pPr marL="177800" indent="-177800">
              <a:spcAft>
                <a:spcPts val="500"/>
              </a:spcAft>
              <a:buSzPct val="100000"/>
              <a:buChar char="•"/>
            </a:pPr>
            <a:r>
              <a:rPr lang="en-US" sz="1200" dirty="0">
                <a:solidFill>
                  <a:srgbClr val="15252E"/>
                </a:solidFill>
                <a:latin typeface="Calibri" pitchFamily="34" charset="0"/>
                <a:ea typeface="Calibri" pitchFamily="34" charset="-122"/>
                <a:cs typeface="Calibri" pitchFamily="34" charset="-120"/>
              </a:rPr>
              <a:t>Plain-English prose</a:t>
            </a:r>
            <a:endParaRPr lang="en-US" sz="1200" dirty="0"/>
          </a:p>
        </p:txBody>
      </p:sp>
      <p:sp>
        <p:nvSpPr>
          <p:cNvPr id="18" name="Text 15"/>
          <p:cNvSpPr txBox="1"/>
          <p:nvPr/>
        </p:nvSpPr>
        <p:spPr>
          <a:xfrm>
            <a:off x="548640" y="5577840"/>
            <a:ext cx="11094415" cy="502920"/>
          </a:xfrm>
          <a:prstGeom prst="rect">
            <a:avLst/>
          </a:prstGeom>
          <a:noFill/>
          <a:ln/>
        </p:spPr>
        <p:txBody>
          <a:bodyPr wrap="square" lIns="0" tIns="0" rIns="0" bIns="0" rtlCol="0" anchor="t"/>
          <a:lstStyle/>
          <a:p>
            <a:pPr indent="0" marL="0">
              <a:buNone/>
            </a:pPr>
            <a:r>
              <a:rPr lang="en-US" sz="1200" dirty="0">
                <a:solidFill>
                  <a:srgbClr val="52656E"/>
                </a:solidFill>
                <a:latin typeface="Calibri" pitchFamily="34" charset="0"/>
                <a:ea typeface="Calibri" pitchFamily="34" charset="-122"/>
                <a:cs typeface="Calibri" pitchFamily="34" charset="-120"/>
              </a:rPr>
              <a:t>A discounted cash flow here is forty lines of tested Python, not a reasoning task. The model is never asked for a number, and a figure with no chain behind it cannot reach a page.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03 · THE SOLUTION</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A report in five stages, and you hold the gates</a:t>
            </a:r>
            <a:endParaRPr lang="en-US" sz="2800" dirty="0"/>
          </a:p>
        </p:txBody>
      </p:sp>
      <p:sp>
        <p:nvSpPr>
          <p:cNvPr id="5" name="Shape 3"/>
          <p:cNvSpPr/>
          <p:nvPr/>
        </p:nvSpPr>
        <p:spPr>
          <a:xfrm>
            <a:off x="10827410" y="384048"/>
            <a:ext cx="815645" cy="219456"/>
          </a:xfrm>
          <a:prstGeom prst="roundRect">
            <a:avLst>
              <a:gd name="adj" fmla="val 50000"/>
            </a:avLst>
          </a:prstGeom>
          <a:solidFill>
            <a:srgbClr val="0F6673"/>
          </a:solidFill>
          <a:ln/>
        </p:spPr>
      </p:sp>
      <p:sp>
        <p:nvSpPr>
          <p:cNvPr id="6" name="Text 4"/>
          <p:cNvSpPr txBox="1"/>
          <p:nvPr/>
        </p:nvSpPr>
        <p:spPr>
          <a:xfrm>
            <a:off x="10827410"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7" name="Shape 5"/>
          <p:cNvSpPr/>
          <p:nvPr/>
        </p:nvSpPr>
        <p:spPr>
          <a:xfrm>
            <a:off x="9379001" y="384048"/>
            <a:ext cx="1356970" cy="219456"/>
          </a:xfrm>
          <a:prstGeom prst="roundRect">
            <a:avLst>
              <a:gd name="adj" fmla="val 50000"/>
            </a:avLst>
          </a:prstGeom>
          <a:solidFill>
            <a:srgbClr val="14613F"/>
          </a:solidFill>
          <a:ln/>
        </p:spPr>
      </p:sp>
      <p:sp>
        <p:nvSpPr>
          <p:cNvPr id="8" name="Text 6"/>
          <p:cNvSpPr txBox="1"/>
          <p:nvPr/>
        </p:nvSpPr>
        <p:spPr>
          <a:xfrm>
            <a:off x="9379001"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9" name="Text 7"/>
          <p:cNvSpPr txBox="1"/>
          <p:nvPr/>
        </p:nvSpPr>
        <p:spPr>
          <a:xfrm>
            <a:off x="548640" y="6217920"/>
            <a:ext cx="11094415"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Readiness audit, 11–12 Sep 2026, five full runs. Machine time as corrected in the V1.0 delivery plan (the audit’s step times summed a parallel wave).</a:t>
            </a:r>
            <a:endParaRPr lang="en-US" sz="900" dirty="0"/>
          </a:p>
        </p:txBody>
      </p:sp>
      <p:sp>
        <p:nvSpPr>
          <p:cNvPr id="10" name="Text 8"/>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1" name="Text 9"/>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09</a:t>
            </a:r>
            <a:endParaRPr lang="en-US" sz="800" dirty="0"/>
          </a:p>
        </p:txBody>
      </p:sp>
      <p:sp>
        <p:nvSpPr>
          <p:cNvPr id="13" name="Shape 10"/>
          <p:cNvSpPr/>
          <p:nvPr/>
        </p:nvSpPr>
        <p:spPr>
          <a:xfrm>
            <a:off x="1584930" y="2011680"/>
            <a:ext cx="9021836" cy="0"/>
          </a:xfrm>
          <a:prstGeom prst="line">
            <a:avLst/>
          </a:prstGeom>
          <a:noFill/>
          <a:ln w="19050">
            <a:solidFill>
              <a:srgbClr val="0F6673"/>
            </a:solidFill>
            <a:prstDash val="solid"/>
          </a:ln>
        </p:spPr>
      </p:sp>
      <p:sp>
        <p:nvSpPr>
          <p:cNvPr id="14" name="Shape 11"/>
          <p:cNvSpPr/>
          <p:nvPr/>
        </p:nvSpPr>
        <p:spPr>
          <a:xfrm>
            <a:off x="1365474" y="1792224"/>
            <a:ext cx="438912" cy="438912"/>
          </a:xfrm>
          <a:prstGeom prst="ellipse">
            <a:avLst/>
          </a:prstGeom>
          <a:solidFill>
            <a:srgbClr val="0F6673"/>
          </a:solidFill>
          <a:ln/>
        </p:spPr>
      </p:sp>
      <p:sp>
        <p:nvSpPr>
          <p:cNvPr id="15" name="Text 12"/>
          <p:cNvSpPr txBox="1"/>
          <p:nvPr/>
        </p:nvSpPr>
        <p:spPr>
          <a:xfrm>
            <a:off x="1365474" y="179222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1</a:t>
            </a:r>
            <a:endParaRPr lang="en-US" sz="1400" dirty="0"/>
          </a:p>
        </p:txBody>
      </p:sp>
      <p:sp>
        <p:nvSpPr>
          <p:cNvPr id="16" name="Shape 13"/>
          <p:cNvSpPr/>
          <p:nvPr/>
        </p:nvSpPr>
        <p:spPr>
          <a:xfrm>
            <a:off x="1018002" y="1417320"/>
            <a:ext cx="1133856" cy="237744"/>
          </a:xfrm>
          <a:prstGeom prst="roundRect">
            <a:avLst>
              <a:gd name="adj" fmla="val 46154"/>
            </a:avLst>
          </a:prstGeom>
          <a:solidFill>
            <a:srgbClr val="7A4B00"/>
          </a:solidFill>
          <a:ln/>
        </p:spPr>
      </p:sp>
      <p:sp>
        <p:nvSpPr>
          <p:cNvPr id="17" name="Text 14"/>
          <p:cNvSpPr txBox="1"/>
          <p:nvPr/>
        </p:nvSpPr>
        <p:spPr>
          <a:xfrm>
            <a:off x="1018002" y="1417320"/>
            <a:ext cx="1133856" cy="237744"/>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YOU APPROVE</a:t>
            </a:r>
            <a:endParaRPr lang="en-US" sz="750" dirty="0"/>
          </a:p>
        </p:txBody>
      </p:sp>
      <p:sp>
        <p:nvSpPr>
          <p:cNvPr id="18" name="Text 15"/>
          <p:cNvSpPr txBox="1"/>
          <p:nvPr/>
        </p:nvSpPr>
        <p:spPr>
          <a:xfrm>
            <a:off x="548640" y="2377440"/>
            <a:ext cx="2072579" cy="320040"/>
          </a:xfrm>
          <a:prstGeom prst="rect">
            <a:avLst/>
          </a:prstGeom>
          <a:noFill/>
          <a:ln/>
        </p:spPr>
        <p:txBody>
          <a:bodyPr wrap="square" lIns="0" tIns="0" rIns="0" bIns="0" rtlCol="0" anchor="t"/>
          <a:lstStyle/>
          <a:p>
            <a:pPr algn="ctr" indent="0" marL="0">
              <a:buNone/>
            </a:pPr>
            <a:r>
              <a:rPr lang="en-US" sz="1500" b="1" dirty="0">
                <a:solidFill>
                  <a:srgbClr val="15252E"/>
                </a:solidFill>
                <a:latin typeface="Calibri" pitchFamily="34" charset="0"/>
                <a:ea typeface="Calibri" pitchFamily="34" charset="-122"/>
                <a:cs typeface="Calibri" pitchFamily="34" charset="-120"/>
              </a:rPr>
              <a:t>Plan</a:t>
            </a:r>
            <a:endParaRPr lang="en-US" sz="1500" dirty="0"/>
          </a:p>
        </p:txBody>
      </p:sp>
      <p:sp>
        <p:nvSpPr>
          <p:cNvPr id="19" name="Text 16"/>
          <p:cNvSpPr txBox="1"/>
          <p:nvPr/>
        </p:nvSpPr>
        <p:spPr>
          <a:xfrm>
            <a:off x="594360" y="2743200"/>
            <a:ext cx="1981139" cy="1371600"/>
          </a:xfrm>
          <a:prstGeom prst="rect">
            <a:avLst/>
          </a:prstGeom>
          <a:noFill/>
          <a:ln/>
        </p:spPr>
        <p:txBody>
          <a:bodyPr wrap="square" lIns="0" tIns="0" rIns="0" bIns="0" rtlCol="0" anchor="t"/>
          <a:lstStyle/>
          <a:p>
            <a:pPr algn="ctr" indent="0" marL="0">
              <a:buNone/>
            </a:pPr>
            <a:r>
              <a:rPr lang="en-US" sz="1100" dirty="0">
                <a:solidFill>
                  <a:srgbClr val="52656E"/>
                </a:solidFill>
                <a:latin typeface="Calibri" pitchFamily="34" charset="0"/>
                <a:ea typeface="Calibri" pitchFamily="34" charset="-122"/>
                <a:cs typeface="Calibri" pitchFamily="34" charset="-120"/>
              </a:rPr>
              <a:t>Proposes the sections, sources, cost in pounds, time and known risks. A critic attacks the plan first. Nothing is spent until you approve.</a:t>
            </a:r>
            <a:endParaRPr lang="en-US" sz="1100" dirty="0"/>
          </a:p>
        </p:txBody>
      </p:sp>
      <p:sp>
        <p:nvSpPr>
          <p:cNvPr id="20" name="Shape 17"/>
          <p:cNvSpPr/>
          <p:nvPr/>
        </p:nvSpPr>
        <p:spPr>
          <a:xfrm>
            <a:off x="3620933" y="1792224"/>
            <a:ext cx="438912" cy="438912"/>
          </a:xfrm>
          <a:prstGeom prst="ellipse">
            <a:avLst/>
          </a:prstGeom>
          <a:solidFill>
            <a:srgbClr val="0F6673"/>
          </a:solidFill>
          <a:ln/>
        </p:spPr>
      </p:sp>
      <p:sp>
        <p:nvSpPr>
          <p:cNvPr id="21" name="Text 18"/>
          <p:cNvSpPr txBox="1"/>
          <p:nvPr/>
        </p:nvSpPr>
        <p:spPr>
          <a:xfrm>
            <a:off x="3620933" y="179222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2</a:t>
            </a:r>
            <a:endParaRPr lang="en-US" sz="1400" dirty="0"/>
          </a:p>
        </p:txBody>
      </p:sp>
      <p:sp>
        <p:nvSpPr>
          <p:cNvPr id="22" name="Text 19"/>
          <p:cNvSpPr txBox="1"/>
          <p:nvPr/>
        </p:nvSpPr>
        <p:spPr>
          <a:xfrm>
            <a:off x="2804099" y="2377440"/>
            <a:ext cx="2072579" cy="320040"/>
          </a:xfrm>
          <a:prstGeom prst="rect">
            <a:avLst/>
          </a:prstGeom>
          <a:noFill/>
          <a:ln/>
        </p:spPr>
        <p:txBody>
          <a:bodyPr wrap="square" lIns="0" tIns="0" rIns="0" bIns="0" rtlCol="0" anchor="t"/>
          <a:lstStyle/>
          <a:p>
            <a:pPr algn="ctr" indent="0" marL="0">
              <a:buNone/>
            </a:pPr>
            <a:r>
              <a:rPr lang="en-US" sz="1500" b="1" dirty="0">
                <a:solidFill>
                  <a:srgbClr val="15252E"/>
                </a:solidFill>
                <a:latin typeface="Calibri" pitchFamily="34" charset="0"/>
                <a:ea typeface="Calibri" pitchFamily="34" charset="-122"/>
                <a:cs typeface="Calibri" pitchFamily="34" charset="-120"/>
              </a:rPr>
              <a:t>Acquire</a:t>
            </a:r>
            <a:endParaRPr lang="en-US" sz="1500" dirty="0"/>
          </a:p>
        </p:txBody>
      </p:sp>
      <p:sp>
        <p:nvSpPr>
          <p:cNvPr id="23" name="Text 20"/>
          <p:cNvSpPr txBox="1"/>
          <p:nvPr/>
        </p:nvSpPr>
        <p:spPr>
          <a:xfrm>
            <a:off x="2849819" y="2743200"/>
            <a:ext cx="1981139" cy="1371600"/>
          </a:xfrm>
          <a:prstGeom prst="rect">
            <a:avLst/>
          </a:prstGeom>
          <a:noFill/>
          <a:ln/>
        </p:spPr>
        <p:txBody>
          <a:bodyPr wrap="square" lIns="0" tIns="0" rIns="0" bIns="0" rtlCol="0" anchor="t"/>
          <a:lstStyle/>
          <a:p>
            <a:pPr algn="ctr" indent="0" marL="0">
              <a:buNone/>
            </a:pPr>
            <a:r>
              <a:rPr lang="en-US" sz="1100" dirty="0">
                <a:solidFill>
                  <a:srgbClr val="52656E"/>
                </a:solidFill>
                <a:latin typeface="Calibri" pitchFamily="34" charset="0"/>
                <a:ea typeface="Calibri" pitchFamily="34" charset="-122"/>
                <a:cs typeface="Calibri" pitchFamily="34" charset="-120"/>
              </a:rPr>
              <a:t>Fetches filings, prices and official statistics through one guarded door. Every byte is hashed and archived.</a:t>
            </a:r>
            <a:endParaRPr lang="en-US" sz="1100" dirty="0"/>
          </a:p>
        </p:txBody>
      </p:sp>
      <p:sp>
        <p:nvSpPr>
          <p:cNvPr id="24" name="Shape 21"/>
          <p:cNvSpPr/>
          <p:nvPr/>
        </p:nvSpPr>
        <p:spPr>
          <a:xfrm>
            <a:off x="5876392" y="1792224"/>
            <a:ext cx="438912" cy="438912"/>
          </a:xfrm>
          <a:prstGeom prst="ellipse">
            <a:avLst/>
          </a:prstGeom>
          <a:solidFill>
            <a:srgbClr val="0F6673"/>
          </a:solidFill>
          <a:ln/>
        </p:spPr>
      </p:sp>
      <p:sp>
        <p:nvSpPr>
          <p:cNvPr id="25" name="Text 22"/>
          <p:cNvSpPr txBox="1"/>
          <p:nvPr/>
        </p:nvSpPr>
        <p:spPr>
          <a:xfrm>
            <a:off x="5876392" y="179222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3</a:t>
            </a:r>
            <a:endParaRPr lang="en-US" sz="1400" dirty="0"/>
          </a:p>
        </p:txBody>
      </p:sp>
      <p:sp>
        <p:nvSpPr>
          <p:cNvPr id="26" name="Text 23"/>
          <p:cNvSpPr txBox="1"/>
          <p:nvPr/>
        </p:nvSpPr>
        <p:spPr>
          <a:xfrm>
            <a:off x="5059558" y="2377440"/>
            <a:ext cx="2072579" cy="320040"/>
          </a:xfrm>
          <a:prstGeom prst="rect">
            <a:avLst/>
          </a:prstGeom>
          <a:noFill/>
          <a:ln/>
        </p:spPr>
        <p:txBody>
          <a:bodyPr wrap="square" lIns="0" tIns="0" rIns="0" bIns="0" rtlCol="0" anchor="t"/>
          <a:lstStyle/>
          <a:p>
            <a:pPr algn="ctr" indent="0" marL="0">
              <a:buNone/>
            </a:pPr>
            <a:r>
              <a:rPr lang="en-US" sz="1500" b="1" dirty="0">
                <a:solidFill>
                  <a:srgbClr val="15252E"/>
                </a:solidFill>
                <a:latin typeface="Calibri" pitchFamily="34" charset="0"/>
                <a:ea typeface="Calibri" pitchFamily="34" charset="-122"/>
                <a:cs typeface="Calibri" pitchFamily="34" charset="-120"/>
              </a:rPr>
              <a:t>Compute</a:t>
            </a:r>
            <a:endParaRPr lang="en-US" sz="1500" dirty="0"/>
          </a:p>
        </p:txBody>
      </p:sp>
      <p:sp>
        <p:nvSpPr>
          <p:cNvPr id="27" name="Text 24"/>
          <p:cNvSpPr txBox="1"/>
          <p:nvPr/>
        </p:nvSpPr>
        <p:spPr>
          <a:xfrm>
            <a:off x="5105278" y="2743200"/>
            <a:ext cx="1981139" cy="1371600"/>
          </a:xfrm>
          <a:prstGeom prst="rect">
            <a:avLst/>
          </a:prstGeom>
          <a:noFill/>
          <a:ln/>
        </p:spPr>
        <p:txBody>
          <a:bodyPr wrap="square" lIns="0" tIns="0" rIns="0" bIns="0" rtlCol="0" anchor="t"/>
          <a:lstStyle/>
          <a:p>
            <a:pPr algn="ctr" indent="0" marL="0">
              <a:buNone/>
            </a:pPr>
            <a:r>
              <a:rPr lang="en-US" sz="1100" dirty="0">
                <a:solidFill>
                  <a:srgbClr val="52656E"/>
                </a:solidFill>
                <a:latin typeface="Calibri" pitchFamily="34" charset="0"/>
                <a:ea typeface="Calibri" pitchFamily="34" charset="-122"/>
                <a:cs typeface="Calibri" pitchFamily="34" charset="-120"/>
              </a:rPr>
              <a:t>Statements, ratios, earnings quality, cost of capital, DCF, bank models, comparables and scenarios, all traced.</a:t>
            </a:r>
            <a:endParaRPr lang="en-US" sz="1100" dirty="0"/>
          </a:p>
        </p:txBody>
      </p:sp>
      <p:sp>
        <p:nvSpPr>
          <p:cNvPr id="28" name="Shape 25"/>
          <p:cNvSpPr/>
          <p:nvPr/>
        </p:nvSpPr>
        <p:spPr>
          <a:xfrm>
            <a:off x="8131851" y="1792224"/>
            <a:ext cx="438912" cy="438912"/>
          </a:xfrm>
          <a:prstGeom prst="ellipse">
            <a:avLst/>
          </a:prstGeom>
          <a:solidFill>
            <a:srgbClr val="0F6673"/>
          </a:solidFill>
          <a:ln/>
        </p:spPr>
      </p:sp>
      <p:sp>
        <p:nvSpPr>
          <p:cNvPr id="29" name="Text 26"/>
          <p:cNvSpPr txBox="1"/>
          <p:nvPr/>
        </p:nvSpPr>
        <p:spPr>
          <a:xfrm>
            <a:off x="8131851" y="179222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4</a:t>
            </a:r>
            <a:endParaRPr lang="en-US" sz="1400" dirty="0"/>
          </a:p>
        </p:txBody>
      </p:sp>
      <p:sp>
        <p:nvSpPr>
          <p:cNvPr id="30" name="Text 27"/>
          <p:cNvSpPr txBox="1"/>
          <p:nvPr/>
        </p:nvSpPr>
        <p:spPr>
          <a:xfrm>
            <a:off x="7315017" y="2377440"/>
            <a:ext cx="2072579" cy="320040"/>
          </a:xfrm>
          <a:prstGeom prst="rect">
            <a:avLst/>
          </a:prstGeom>
          <a:noFill/>
          <a:ln/>
        </p:spPr>
        <p:txBody>
          <a:bodyPr wrap="square" lIns="0" tIns="0" rIns="0" bIns="0" rtlCol="0" anchor="t"/>
          <a:lstStyle/>
          <a:p>
            <a:pPr algn="ctr" indent="0" marL="0">
              <a:buNone/>
            </a:pPr>
            <a:r>
              <a:rPr lang="en-US" sz="1500" b="1" dirty="0">
                <a:solidFill>
                  <a:srgbClr val="15252E"/>
                </a:solidFill>
                <a:latin typeface="Calibri" pitchFamily="34" charset="0"/>
                <a:ea typeface="Calibri" pitchFamily="34" charset="-122"/>
                <a:cs typeface="Calibri" pitchFamily="34" charset="-120"/>
              </a:rPr>
              <a:t>Write</a:t>
            </a:r>
            <a:endParaRPr lang="en-US" sz="1500" dirty="0"/>
          </a:p>
        </p:txBody>
      </p:sp>
      <p:sp>
        <p:nvSpPr>
          <p:cNvPr id="31" name="Text 28"/>
          <p:cNvSpPr txBox="1"/>
          <p:nvPr/>
        </p:nvSpPr>
        <p:spPr>
          <a:xfrm>
            <a:off x="7360737" y="2743200"/>
            <a:ext cx="1981139" cy="1371600"/>
          </a:xfrm>
          <a:prstGeom prst="rect">
            <a:avLst/>
          </a:prstGeom>
          <a:noFill/>
          <a:ln/>
        </p:spPr>
        <p:txBody>
          <a:bodyPr wrap="square" lIns="0" tIns="0" rIns="0" bIns="0" rtlCol="0" anchor="t"/>
          <a:lstStyle/>
          <a:p>
            <a:pPr algn="ctr" indent="0" marL="0">
              <a:buNone/>
            </a:pPr>
            <a:r>
              <a:rPr lang="en-US" sz="1100" dirty="0">
                <a:solidFill>
                  <a:srgbClr val="52656E"/>
                </a:solidFill>
                <a:latin typeface="Calibri" pitchFamily="34" charset="0"/>
                <a:ea typeface="Calibri" pitchFamily="34" charset="-122"/>
                <a:cs typeface="Calibri" pitchFamily="34" charset="-120"/>
              </a:rPr>
              <a:t>The model drafts each section from structured facts; an adversary argues the other side; code checks every citation and figure.</a:t>
            </a:r>
            <a:endParaRPr lang="en-US" sz="1100" dirty="0"/>
          </a:p>
        </p:txBody>
      </p:sp>
      <p:sp>
        <p:nvSpPr>
          <p:cNvPr id="32" name="Shape 29"/>
          <p:cNvSpPr/>
          <p:nvPr/>
        </p:nvSpPr>
        <p:spPr>
          <a:xfrm>
            <a:off x="10387310" y="1792224"/>
            <a:ext cx="438912" cy="438912"/>
          </a:xfrm>
          <a:prstGeom prst="ellipse">
            <a:avLst/>
          </a:prstGeom>
          <a:solidFill>
            <a:srgbClr val="0F6673"/>
          </a:solidFill>
          <a:ln/>
        </p:spPr>
      </p:sp>
      <p:sp>
        <p:nvSpPr>
          <p:cNvPr id="33" name="Text 30"/>
          <p:cNvSpPr txBox="1"/>
          <p:nvPr/>
        </p:nvSpPr>
        <p:spPr>
          <a:xfrm>
            <a:off x="10387310" y="179222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5</a:t>
            </a:r>
            <a:endParaRPr lang="en-US" sz="1400" dirty="0"/>
          </a:p>
        </p:txBody>
      </p:sp>
      <p:sp>
        <p:nvSpPr>
          <p:cNvPr id="34" name="Shape 31"/>
          <p:cNvSpPr/>
          <p:nvPr/>
        </p:nvSpPr>
        <p:spPr>
          <a:xfrm>
            <a:off x="10039838" y="1417320"/>
            <a:ext cx="1133856" cy="237744"/>
          </a:xfrm>
          <a:prstGeom prst="roundRect">
            <a:avLst>
              <a:gd name="adj" fmla="val 46154"/>
            </a:avLst>
          </a:prstGeom>
          <a:solidFill>
            <a:srgbClr val="7A4B00"/>
          </a:solidFill>
          <a:ln/>
        </p:spPr>
      </p:sp>
      <p:sp>
        <p:nvSpPr>
          <p:cNvPr id="35" name="Text 32"/>
          <p:cNvSpPr txBox="1"/>
          <p:nvPr/>
        </p:nvSpPr>
        <p:spPr>
          <a:xfrm>
            <a:off x="10039838" y="1417320"/>
            <a:ext cx="1133856" cy="237744"/>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YOU APPROVE</a:t>
            </a:r>
            <a:endParaRPr lang="en-US" sz="750" dirty="0"/>
          </a:p>
        </p:txBody>
      </p:sp>
      <p:sp>
        <p:nvSpPr>
          <p:cNvPr id="36" name="Text 33"/>
          <p:cNvSpPr txBox="1"/>
          <p:nvPr/>
        </p:nvSpPr>
        <p:spPr>
          <a:xfrm>
            <a:off x="9570476" y="2377440"/>
            <a:ext cx="2072579" cy="320040"/>
          </a:xfrm>
          <a:prstGeom prst="rect">
            <a:avLst/>
          </a:prstGeom>
          <a:noFill/>
          <a:ln/>
        </p:spPr>
        <p:txBody>
          <a:bodyPr wrap="square" lIns="0" tIns="0" rIns="0" bIns="0" rtlCol="0" anchor="t"/>
          <a:lstStyle/>
          <a:p>
            <a:pPr algn="ctr" indent="0" marL="0">
              <a:buNone/>
            </a:pPr>
            <a:r>
              <a:rPr lang="en-US" sz="1500" b="1" dirty="0">
                <a:solidFill>
                  <a:srgbClr val="15252E"/>
                </a:solidFill>
                <a:latin typeface="Calibri" pitchFamily="34" charset="0"/>
                <a:ea typeface="Calibri" pitchFamily="34" charset="-122"/>
                <a:cs typeface="Calibri" pitchFamily="34" charset="-120"/>
              </a:rPr>
              <a:t>Approve</a:t>
            </a:r>
            <a:endParaRPr lang="en-US" sz="1500" dirty="0"/>
          </a:p>
        </p:txBody>
      </p:sp>
      <p:sp>
        <p:nvSpPr>
          <p:cNvPr id="37" name="Text 34"/>
          <p:cNvSpPr txBox="1"/>
          <p:nvPr/>
        </p:nvSpPr>
        <p:spPr>
          <a:xfrm>
            <a:off x="9616196" y="2743200"/>
            <a:ext cx="1981139" cy="1371600"/>
          </a:xfrm>
          <a:prstGeom prst="rect">
            <a:avLst/>
          </a:prstGeom>
          <a:noFill/>
          <a:ln/>
        </p:spPr>
        <p:txBody>
          <a:bodyPr wrap="square" lIns="0" tIns="0" rIns="0" bIns="0" rtlCol="0" anchor="t"/>
          <a:lstStyle/>
          <a:p>
            <a:pPr algn="ctr" indent="0" marL="0">
              <a:buNone/>
            </a:pPr>
            <a:r>
              <a:rPr lang="en-US" sz="1100" dirty="0">
                <a:solidFill>
                  <a:srgbClr val="52656E"/>
                </a:solidFill>
                <a:latin typeface="Calibri" pitchFamily="34" charset="0"/>
                <a:ea typeface="Calibri" pitchFamily="34" charset="-122"/>
                <a:cs typeface="Calibri" pitchFamily="34" charset="-120"/>
              </a:rPr>
              <a:t>You approve the draft. It is frozen and hashed, as Markdown, HTML and PDF, with a live model workbook beside it.</a:t>
            </a:r>
            <a:endParaRPr lang="en-US" sz="1100" dirty="0"/>
          </a:p>
        </p:txBody>
      </p:sp>
      <p:sp>
        <p:nvSpPr>
          <p:cNvPr id="38" name="Text 35"/>
          <p:cNvSpPr txBox="1"/>
          <p:nvPr/>
        </p:nvSpPr>
        <p:spPr>
          <a:xfrm>
            <a:off x="548640" y="4069080"/>
            <a:ext cx="11094415" cy="274320"/>
          </a:xfrm>
          <a:prstGeom prst="rect">
            <a:avLst/>
          </a:prstGeom>
          <a:noFill/>
          <a:ln/>
        </p:spPr>
        <p:txBody>
          <a:bodyPr wrap="square" lIns="0" tIns="0" rIns="0" bIns="0" rtlCol="0" anchor="t"/>
          <a:lstStyle/>
          <a:p>
            <a:pPr algn="ctr" indent="0" marL="0">
              <a:buNone/>
            </a:pPr>
            <a:r>
              <a:rPr lang="en-US" sz="1100" i="1" dirty="0">
                <a:solidFill>
                  <a:srgbClr val="7A4B00"/>
                </a:solidFill>
                <a:latin typeface="Calibri" pitchFamily="34" charset="0"/>
                <a:ea typeface="Calibri" pitchFamily="34" charset="-122"/>
                <a:cs typeface="Calibri" pitchFamily="34" charset="-120"/>
              </a:rPr>
              <a:t>Between them, further gates: the sector, the peer set, themes, unmapped accounting concepts and the valuation assumptions.</a:t>
            </a:r>
            <a:endParaRPr lang="en-US" sz="1100" dirty="0"/>
          </a:p>
        </p:txBody>
      </p:sp>
      <p:sp>
        <p:nvSpPr>
          <p:cNvPr id="39" name="Shape 36"/>
          <p:cNvSpPr/>
          <p:nvPr/>
        </p:nvSpPr>
        <p:spPr>
          <a:xfrm>
            <a:off x="548640" y="4526280"/>
            <a:ext cx="2636444" cy="1463040"/>
          </a:xfrm>
          <a:prstGeom prst="roundRect">
            <a:avLst>
              <a:gd name="adj" fmla="val 3125"/>
            </a:avLst>
          </a:prstGeom>
          <a:solidFill>
            <a:srgbClr val="FFFFFF"/>
          </a:solidFill>
          <a:ln w="9525">
            <a:solidFill>
              <a:srgbClr val="CDD8DC"/>
            </a:solidFill>
            <a:prstDash val="solid"/>
          </a:ln>
        </p:spPr>
      </p:sp>
      <p:sp>
        <p:nvSpPr>
          <p:cNvPr id="40" name="Text 37"/>
          <p:cNvSpPr txBox="1"/>
          <p:nvPr/>
        </p:nvSpPr>
        <p:spPr>
          <a:xfrm>
            <a:off x="731520" y="4672584"/>
            <a:ext cx="2270684" cy="457200"/>
          </a:xfrm>
          <a:prstGeom prst="rect">
            <a:avLst/>
          </a:prstGeom>
          <a:noFill/>
          <a:ln/>
        </p:spPr>
        <p:txBody>
          <a:bodyPr wrap="square" lIns="0" tIns="0" rIns="0" bIns="0" rtlCol="0" anchor="t"/>
          <a:lstStyle/>
          <a:p>
            <a:pPr indent="0" marL="0">
              <a:buNone/>
            </a:pPr>
            <a:r>
              <a:rPr lang="en-US" sz="2000" b="1" dirty="0">
                <a:solidFill>
                  <a:srgbClr val="0F6673"/>
                </a:solidFill>
                <a:latin typeface="Consolas" pitchFamily="34" charset="0"/>
                <a:ea typeface="Consolas" pitchFamily="34" charset="-122"/>
                <a:cs typeface="Consolas" pitchFamily="34" charset="-120"/>
              </a:rPr>
              <a:t>£7.19</a:t>
            </a:r>
            <a:endParaRPr lang="en-US" sz="2000" dirty="0"/>
          </a:p>
        </p:txBody>
      </p:sp>
      <p:sp>
        <p:nvSpPr>
          <p:cNvPr id="41" name="Text 38"/>
          <p:cNvSpPr txBox="1"/>
          <p:nvPr/>
        </p:nvSpPr>
        <p:spPr>
          <a:xfrm>
            <a:off x="731520" y="5184648"/>
            <a:ext cx="2270684" cy="713232"/>
          </a:xfrm>
          <a:prstGeom prst="rect">
            <a:avLst/>
          </a:prstGeom>
          <a:noFill/>
          <a:ln/>
        </p:spPr>
        <p:txBody>
          <a:bodyPr wrap="square" lIns="0" tIns="0" rIns="0" bIns="0" rtlCol="0" anchor="t"/>
          <a:lstStyle/>
          <a:p>
            <a:pPr indent="0" marL="0">
              <a:buNone/>
            </a:pPr>
            <a:r>
              <a:rPr lang="en-US" sz="1100" dirty="0">
                <a:solidFill>
                  <a:srgbClr val="52656E"/>
                </a:solidFill>
                <a:latin typeface="Calibri" pitchFamily="34" charset="0"/>
                <a:ea typeface="Calibri" pitchFamily="34" charset="-122"/>
                <a:cs typeface="Calibri" pitchFamily="34" charset="-120"/>
              </a:rPr>
              <a:t>average model spend per full report; five runs from £6.80 to £7.61</a:t>
            </a:r>
            <a:endParaRPr lang="en-US" sz="1100" dirty="0"/>
          </a:p>
        </p:txBody>
      </p:sp>
      <p:sp>
        <p:nvSpPr>
          <p:cNvPr id="42" name="Shape 39"/>
          <p:cNvSpPr/>
          <p:nvPr/>
        </p:nvSpPr>
        <p:spPr>
          <a:xfrm>
            <a:off x="3367964" y="4526280"/>
            <a:ext cx="2636444" cy="1463040"/>
          </a:xfrm>
          <a:prstGeom prst="roundRect">
            <a:avLst>
              <a:gd name="adj" fmla="val 3125"/>
            </a:avLst>
          </a:prstGeom>
          <a:solidFill>
            <a:srgbClr val="FFFFFF"/>
          </a:solidFill>
          <a:ln w="9525">
            <a:solidFill>
              <a:srgbClr val="CDD8DC"/>
            </a:solidFill>
            <a:prstDash val="solid"/>
          </a:ln>
        </p:spPr>
      </p:sp>
      <p:sp>
        <p:nvSpPr>
          <p:cNvPr id="43" name="Text 40"/>
          <p:cNvSpPr txBox="1"/>
          <p:nvPr/>
        </p:nvSpPr>
        <p:spPr>
          <a:xfrm>
            <a:off x="3550844" y="4672584"/>
            <a:ext cx="2270684" cy="457200"/>
          </a:xfrm>
          <a:prstGeom prst="rect">
            <a:avLst/>
          </a:prstGeom>
          <a:noFill/>
          <a:ln/>
        </p:spPr>
        <p:txBody>
          <a:bodyPr wrap="square" lIns="0" tIns="0" rIns="0" bIns="0" rtlCol="0" anchor="t"/>
          <a:lstStyle/>
          <a:p>
            <a:pPr indent="0" marL="0">
              <a:buNone/>
            </a:pPr>
            <a:r>
              <a:rPr lang="en-US" sz="2000" b="1" dirty="0">
                <a:solidFill>
                  <a:srgbClr val="0F6673"/>
                </a:solidFill>
                <a:latin typeface="Consolas" pitchFamily="34" charset="0"/>
                <a:ea typeface="Consolas" pitchFamily="34" charset="-122"/>
                <a:cs typeface="Consolas" pitchFamily="34" charset="-120"/>
              </a:rPr>
              <a:t>26.5–36.8 min</a:t>
            </a:r>
            <a:endParaRPr lang="en-US" sz="2000" dirty="0"/>
          </a:p>
        </p:txBody>
      </p:sp>
      <p:sp>
        <p:nvSpPr>
          <p:cNvPr id="44" name="Text 41"/>
          <p:cNvSpPr txBox="1"/>
          <p:nvPr/>
        </p:nvSpPr>
        <p:spPr>
          <a:xfrm>
            <a:off x="3550844" y="5184648"/>
            <a:ext cx="2270684" cy="713232"/>
          </a:xfrm>
          <a:prstGeom prst="rect">
            <a:avLst/>
          </a:prstGeom>
          <a:noFill/>
          <a:ln/>
        </p:spPr>
        <p:txBody>
          <a:bodyPr wrap="square" lIns="0" tIns="0" rIns="0" bIns="0" rtlCol="0" anchor="t"/>
          <a:lstStyle/>
          <a:p>
            <a:pPr indent="0" marL="0">
              <a:buNone/>
            </a:pPr>
            <a:r>
              <a:rPr lang="en-US" sz="1100" dirty="0">
                <a:solidFill>
                  <a:srgbClr val="52656E"/>
                </a:solidFill>
                <a:latin typeface="Calibri" pitchFamily="34" charset="0"/>
                <a:ea typeface="Calibri" pitchFamily="34" charset="-122"/>
                <a:cs typeface="Calibri" pitchFamily="34" charset="-120"/>
              </a:rPr>
              <a:t>machine time per run, plus your decisions at the gates</a:t>
            </a:r>
            <a:endParaRPr lang="en-US" sz="1100" dirty="0"/>
          </a:p>
        </p:txBody>
      </p:sp>
      <p:sp>
        <p:nvSpPr>
          <p:cNvPr id="45" name="Shape 42"/>
          <p:cNvSpPr/>
          <p:nvPr/>
        </p:nvSpPr>
        <p:spPr>
          <a:xfrm>
            <a:off x="6187288" y="4526280"/>
            <a:ext cx="2636444" cy="1463040"/>
          </a:xfrm>
          <a:prstGeom prst="roundRect">
            <a:avLst>
              <a:gd name="adj" fmla="val 3125"/>
            </a:avLst>
          </a:prstGeom>
          <a:solidFill>
            <a:srgbClr val="FFFFFF"/>
          </a:solidFill>
          <a:ln w="9525">
            <a:solidFill>
              <a:srgbClr val="CDD8DC"/>
            </a:solidFill>
            <a:prstDash val="solid"/>
          </a:ln>
        </p:spPr>
      </p:sp>
      <p:sp>
        <p:nvSpPr>
          <p:cNvPr id="46" name="Text 43"/>
          <p:cNvSpPr txBox="1"/>
          <p:nvPr/>
        </p:nvSpPr>
        <p:spPr>
          <a:xfrm>
            <a:off x="6370168" y="4672584"/>
            <a:ext cx="2270684" cy="457200"/>
          </a:xfrm>
          <a:prstGeom prst="rect">
            <a:avLst/>
          </a:prstGeom>
          <a:noFill/>
          <a:ln/>
        </p:spPr>
        <p:txBody>
          <a:bodyPr wrap="square" lIns="0" tIns="0" rIns="0" bIns="0" rtlCol="0" anchor="t"/>
          <a:lstStyle/>
          <a:p>
            <a:pPr indent="0" marL="0">
              <a:buNone/>
            </a:pPr>
            <a:r>
              <a:rPr lang="en-US" sz="2000" b="1" dirty="0">
                <a:solidFill>
                  <a:srgbClr val="0F6673"/>
                </a:solidFill>
                <a:latin typeface="Consolas" pitchFamily="34" charset="0"/>
                <a:ea typeface="Consolas" pitchFamily="34" charset="-122"/>
                <a:cs typeface="Consolas" pitchFamily="34" charset="-120"/>
              </a:rPr>
              <a:t>6 gates</a:t>
            </a:r>
            <a:endParaRPr lang="en-US" sz="2000" dirty="0"/>
          </a:p>
        </p:txBody>
      </p:sp>
      <p:sp>
        <p:nvSpPr>
          <p:cNvPr id="47" name="Text 44"/>
          <p:cNvSpPr txBox="1"/>
          <p:nvPr/>
        </p:nvSpPr>
        <p:spPr>
          <a:xfrm>
            <a:off x="6370168" y="5184648"/>
            <a:ext cx="2270684" cy="713232"/>
          </a:xfrm>
          <a:prstGeom prst="rect">
            <a:avLst/>
          </a:prstGeom>
          <a:noFill/>
          <a:ln/>
        </p:spPr>
        <p:txBody>
          <a:bodyPr wrap="square" lIns="0" tIns="0" rIns="0" bIns="0" rtlCol="0" anchor="t"/>
          <a:lstStyle/>
          <a:p>
            <a:pPr indent="0" marL="0">
              <a:buNone/>
            </a:pPr>
            <a:r>
              <a:rPr lang="en-US" sz="1100" dirty="0">
                <a:solidFill>
                  <a:srgbClr val="52656E"/>
                </a:solidFill>
                <a:latin typeface="Calibri" pitchFamily="34" charset="0"/>
                <a:ea typeface="Calibri" pitchFamily="34" charset="-122"/>
                <a:cs typeface="Calibri" pitchFamily="34" charset="-120"/>
              </a:rPr>
              <a:t>for an ordinary company, 7 for a bank; each one a labelled decision</a:t>
            </a:r>
            <a:endParaRPr lang="en-US" sz="1100" dirty="0"/>
          </a:p>
        </p:txBody>
      </p:sp>
      <p:sp>
        <p:nvSpPr>
          <p:cNvPr id="48" name="Shape 45"/>
          <p:cNvSpPr/>
          <p:nvPr/>
        </p:nvSpPr>
        <p:spPr>
          <a:xfrm>
            <a:off x="9006611" y="4526280"/>
            <a:ext cx="2636444" cy="1463040"/>
          </a:xfrm>
          <a:prstGeom prst="roundRect">
            <a:avLst>
              <a:gd name="adj" fmla="val 3125"/>
            </a:avLst>
          </a:prstGeom>
          <a:solidFill>
            <a:srgbClr val="FFFFFF"/>
          </a:solidFill>
          <a:ln w="9525">
            <a:solidFill>
              <a:srgbClr val="CDD8DC"/>
            </a:solidFill>
            <a:prstDash val="solid"/>
          </a:ln>
        </p:spPr>
      </p:sp>
      <p:sp>
        <p:nvSpPr>
          <p:cNvPr id="49" name="Text 46"/>
          <p:cNvSpPr txBox="1"/>
          <p:nvPr/>
        </p:nvSpPr>
        <p:spPr>
          <a:xfrm>
            <a:off x="9189491" y="4672584"/>
            <a:ext cx="2270684" cy="457200"/>
          </a:xfrm>
          <a:prstGeom prst="rect">
            <a:avLst/>
          </a:prstGeom>
          <a:noFill/>
          <a:ln/>
        </p:spPr>
        <p:txBody>
          <a:bodyPr wrap="square" lIns="0" tIns="0" rIns="0" bIns="0" rtlCol="0" anchor="t"/>
          <a:lstStyle/>
          <a:p>
            <a:pPr indent="0" marL="0">
              <a:buNone/>
            </a:pPr>
            <a:r>
              <a:rPr lang="en-US" sz="2000" b="1" dirty="0">
                <a:solidFill>
                  <a:srgbClr val="0F6673"/>
                </a:solidFill>
                <a:latin typeface="Consolas" pitchFamily="34" charset="0"/>
                <a:ea typeface="Consolas" pitchFamily="34" charset="-122"/>
                <a:cs typeface="Consolas" pitchFamily="34" charset="-120"/>
              </a:rPr>
              <a:t>18 sections</a:t>
            </a:r>
            <a:endParaRPr lang="en-US" sz="2000" dirty="0"/>
          </a:p>
        </p:txBody>
      </p:sp>
      <p:sp>
        <p:nvSpPr>
          <p:cNvPr id="50" name="Text 47"/>
          <p:cNvSpPr txBox="1"/>
          <p:nvPr/>
        </p:nvSpPr>
        <p:spPr>
          <a:xfrm>
            <a:off x="9189491" y="5184648"/>
            <a:ext cx="2270684" cy="713232"/>
          </a:xfrm>
          <a:prstGeom prst="rect">
            <a:avLst/>
          </a:prstGeom>
          <a:noFill/>
          <a:ln/>
        </p:spPr>
        <p:txBody>
          <a:bodyPr wrap="square" lIns="0" tIns="0" rIns="0" bIns="0" rtlCol="0" anchor="t"/>
          <a:lstStyle/>
          <a:p>
            <a:pPr indent="0" marL="0">
              <a:buNone/>
            </a:pPr>
            <a:r>
              <a:rPr lang="en-US" sz="1100" dirty="0">
                <a:solidFill>
                  <a:srgbClr val="52656E"/>
                </a:solidFill>
                <a:latin typeface="Calibri" pitchFamily="34" charset="0"/>
                <a:ea typeface="Calibri" pitchFamily="34" charset="-122"/>
                <a:cs typeface="Calibri" pitchFamily="34" charset="-120"/>
              </a:rPr>
              <a:t>and 114–148 footnotes per report, 12,500 to 15,900 words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03 · THE SOLUTION</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Click any number. Walk it back to the filing.</a:t>
            </a:r>
            <a:endParaRPr lang="en-US" sz="2800" dirty="0"/>
          </a:p>
        </p:txBody>
      </p:sp>
      <p:sp>
        <p:nvSpPr>
          <p:cNvPr id="5" name="Shape 3"/>
          <p:cNvSpPr/>
          <p:nvPr/>
        </p:nvSpPr>
        <p:spPr>
          <a:xfrm>
            <a:off x="10083089" y="384048"/>
            <a:ext cx="1559966" cy="219456"/>
          </a:xfrm>
          <a:prstGeom prst="roundRect">
            <a:avLst>
              <a:gd name="adj" fmla="val 50000"/>
            </a:avLst>
          </a:prstGeom>
          <a:solidFill>
            <a:srgbClr val="F4F7F8"/>
          </a:solidFill>
          <a:ln w="12700">
            <a:solidFill>
              <a:srgbClr val="0F6673"/>
            </a:solidFill>
            <a:prstDash val="solid"/>
          </a:ln>
        </p:spPr>
      </p:sp>
      <p:sp>
        <p:nvSpPr>
          <p:cNvPr id="6" name="Text 4"/>
          <p:cNvSpPr txBox="1"/>
          <p:nvPr/>
        </p:nvSpPr>
        <p:spPr>
          <a:xfrm>
            <a:off x="10083089" y="384048"/>
            <a:ext cx="1559966" cy="219456"/>
          </a:xfrm>
          <a:prstGeom prst="rect">
            <a:avLst/>
          </a:prstGeom>
          <a:noFill/>
          <a:ln/>
        </p:spPr>
        <p:txBody>
          <a:bodyPr wrap="square" lIns="0" tIns="0" rIns="0" bIns="0" rtlCol="0" anchor="ctr"/>
          <a:lstStyle/>
          <a:p>
            <a:pPr algn="ctr" indent="0" marL="0">
              <a:buNone/>
            </a:pPr>
            <a:r>
              <a:rPr lang="en-US" sz="750" b="1" spc="80" kern="0" dirty="0">
                <a:solidFill>
                  <a:srgbClr val="0F6673"/>
                </a:solidFill>
                <a:latin typeface="Consolas" pitchFamily="34" charset="0"/>
                <a:ea typeface="Consolas" pitchFamily="34" charset="-122"/>
                <a:cs typeface="Consolas" pitchFamily="34" charset="-120"/>
              </a:rPr>
              <a:t>DESIGN ILLUSTRATION</a:t>
            </a:r>
            <a:endParaRPr lang="en-US" sz="750" dirty="0"/>
          </a:p>
        </p:txBody>
      </p:sp>
      <p:sp>
        <p:nvSpPr>
          <p:cNvPr id="7" name="Shape 5"/>
          <p:cNvSpPr/>
          <p:nvPr/>
        </p:nvSpPr>
        <p:spPr>
          <a:xfrm>
            <a:off x="8634679" y="384048"/>
            <a:ext cx="1356970" cy="219456"/>
          </a:xfrm>
          <a:prstGeom prst="roundRect">
            <a:avLst>
              <a:gd name="adj" fmla="val 50000"/>
            </a:avLst>
          </a:prstGeom>
          <a:solidFill>
            <a:srgbClr val="14613F"/>
          </a:solidFill>
          <a:ln/>
        </p:spPr>
      </p:sp>
      <p:sp>
        <p:nvSpPr>
          <p:cNvPr id="8" name="Text 6"/>
          <p:cNvSpPr txBox="1"/>
          <p:nvPr/>
        </p:nvSpPr>
        <p:spPr>
          <a:xfrm>
            <a:off x="8634679"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10</a:t>
            </a:r>
            <a:endParaRPr lang="en-US" sz="800" dirty="0"/>
          </a:p>
        </p:txBody>
      </p:sp>
      <p:sp>
        <p:nvSpPr>
          <p:cNvPr id="12" name="Shape 9"/>
          <p:cNvSpPr/>
          <p:nvPr/>
        </p:nvSpPr>
        <p:spPr>
          <a:xfrm>
            <a:off x="658368" y="1691640"/>
            <a:ext cx="0" cy="3017520"/>
          </a:xfrm>
          <a:prstGeom prst="line">
            <a:avLst/>
          </a:prstGeom>
          <a:noFill/>
          <a:ln w="15875">
            <a:solidFill>
              <a:srgbClr val="0F6673"/>
            </a:solidFill>
            <a:prstDash val="solid"/>
          </a:ln>
        </p:spPr>
      </p:sp>
      <p:sp>
        <p:nvSpPr>
          <p:cNvPr id="13" name="Shape 10"/>
          <p:cNvSpPr/>
          <p:nvPr/>
        </p:nvSpPr>
        <p:spPr>
          <a:xfrm>
            <a:off x="566928" y="1591056"/>
            <a:ext cx="182880" cy="182880"/>
          </a:xfrm>
          <a:prstGeom prst="ellipse">
            <a:avLst/>
          </a:prstGeom>
          <a:solidFill>
            <a:srgbClr val="F4F7F8"/>
          </a:solidFill>
          <a:ln w="25400">
            <a:solidFill>
              <a:srgbClr val="0F6673"/>
            </a:solidFill>
            <a:prstDash val="solid"/>
          </a:ln>
        </p:spPr>
      </p:sp>
      <p:sp>
        <p:nvSpPr>
          <p:cNvPr id="14" name="Text 11"/>
          <p:cNvSpPr txBox="1"/>
          <p:nvPr/>
        </p:nvSpPr>
        <p:spPr>
          <a:xfrm>
            <a:off x="914400" y="1554480"/>
            <a:ext cx="4114800" cy="237744"/>
          </a:xfrm>
          <a:prstGeom prst="rect">
            <a:avLst/>
          </a:prstGeom>
          <a:noFill/>
          <a:ln/>
        </p:spPr>
        <p:txBody>
          <a:bodyPr wrap="square" lIns="0" tIns="0" rIns="0" bIns="0" rtlCol="0" anchor="t"/>
          <a:lstStyle/>
          <a:p>
            <a:pPr indent="0" marL="0">
              <a:buNone/>
            </a:pPr>
            <a:r>
              <a:rPr lang="en-US" sz="1250" b="1" dirty="0">
                <a:solidFill>
                  <a:srgbClr val="15252E"/>
                </a:solidFill>
                <a:latin typeface="Calibri" pitchFamily="34" charset="0"/>
                <a:ea typeface="Calibri" pitchFamily="34" charset="-122"/>
                <a:cs typeface="Calibri" pitchFamily="34" charset="-120"/>
              </a:rPr>
              <a:t>The figure</a:t>
            </a:r>
            <a:endParaRPr lang="en-US" sz="1250" dirty="0"/>
          </a:p>
        </p:txBody>
      </p:sp>
      <p:sp>
        <p:nvSpPr>
          <p:cNvPr id="15" name="Text 12"/>
          <p:cNvSpPr txBox="1"/>
          <p:nvPr/>
        </p:nvSpPr>
        <p:spPr>
          <a:xfrm>
            <a:off x="914400" y="1792224"/>
            <a:ext cx="4114800" cy="237744"/>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in a section of the report</a:t>
            </a:r>
            <a:endParaRPr lang="en-US" sz="1050" dirty="0"/>
          </a:p>
        </p:txBody>
      </p:sp>
      <p:sp>
        <p:nvSpPr>
          <p:cNvPr id="16" name="Shape 13"/>
          <p:cNvSpPr/>
          <p:nvPr/>
        </p:nvSpPr>
        <p:spPr>
          <a:xfrm>
            <a:off x="566928" y="2194560"/>
            <a:ext cx="182880" cy="182880"/>
          </a:xfrm>
          <a:prstGeom prst="ellipse">
            <a:avLst/>
          </a:prstGeom>
          <a:solidFill>
            <a:srgbClr val="F4F7F8"/>
          </a:solidFill>
          <a:ln w="25400">
            <a:solidFill>
              <a:srgbClr val="0F6673"/>
            </a:solidFill>
            <a:prstDash val="solid"/>
          </a:ln>
        </p:spPr>
      </p:sp>
      <p:sp>
        <p:nvSpPr>
          <p:cNvPr id="17" name="Text 14"/>
          <p:cNvSpPr txBox="1"/>
          <p:nvPr/>
        </p:nvSpPr>
        <p:spPr>
          <a:xfrm>
            <a:off x="914400" y="2157984"/>
            <a:ext cx="4114800" cy="237744"/>
          </a:xfrm>
          <a:prstGeom prst="rect">
            <a:avLst/>
          </a:prstGeom>
          <a:noFill/>
          <a:ln/>
        </p:spPr>
        <p:txBody>
          <a:bodyPr wrap="square" lIns="0" tIns="0" rIns="0" bIns="0" rtlCol="0" anchor="t"/>
          <a:lstStyle/>
          <a:p>
            <a:pPr indent="0" marL="0">
              <a:buNone/>
            </a:pPr>
            <a:r>
              <a:rPr lang="en-US" sz="1250" b="1" dirty="0">
                <a:solidFill>
                  <a:srgbClr val="15252E"/>
                </a:solidFill>
                <a:latin typeface="Calibri" pitchFamily="34" charset="0"/>
                <a:ea typeface="Calibri" pitchFamily="34" charset="-122"/>
                <a:cs typeface="Calibri" pitchFamily="34" charset="-120"/>
              </a:rPr>
              <a:t>The claim</a:t>
            </a:r>
            <a:endParaRPr lang="en-US" sz="1250" dirty="0"/>
          </a:p>
        </p:txBody>
      </p:sp>
      <p:sp>
        <p:nvSpPr>
          <p:cNvPr id="18" name="Text 15"/>
          <p:cNvSpPr txBox="1"/>
          <p:nvPr/>
        </p:nvSpPr>
        <p:spPr>
          <a:xfrm>
            <a:off x="914400" y="2395728"/>
            <a:ext cx="4114800" cy="237744"/>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names exactly one fact or calculation</a:t>
            </a:r>
            <a:endParaRPr lang="en-US" sz="1050" dirty="0"/>
          </a:p>
        </p:txBody>
      </p:sp>
      <p:sp>
        <p:nvSpPr>
          <p:cNvPr id="19" name="Shape 16"/>
          <p:cNvSpPr/>
          <p:nvPr/>
        </p:nvSpPr>
        <p:spPr>
          <a:xfrm>
            <a:off x="566928" y="2798064"/>
            <a:ext cx="182880" cy="182880"/>
          </a:xfrm>
          <a:prstGeom prst="ellipse">
            <a:avLst/>
          </a:prstGeom>
          <a:solidFill>
            <a:srgbClr val="F4F7F8"/>
          </a:solidFill>
          <a:ln w="25400">
            <a:solidFill>
              <a:srgbClr val="0F6673"/>
            </a:solidFill>
            <a:prstDash val="solid"/>
          </a:ln>
        </p:spPr>
      </p:sp>
      <p:sp>
        <p:nvSpPr>
          <p:cNvPr id="20" name="Text 17"/>
          <p:cNvSpPr txBox="1"/>
          <p:nvPr/>
        </p:nvSpPr>
        <p:spPr>
          <a:xfrm>
            <a:off x="914400" y="2761488"/>
            <a:ext cx="4114800" cy="237744"/>
          </a:xfrm>
          <a:prstGeom prst="rect">
            <a:avLst/>
          </a:prstGeom>
          <a:noFill/>
          <a:ln/>
        </p:spPr>
        <p:txBody>
          <a:bodyPr wrap="square" lIns="0" tIns="0" rIns="0" bIns="0" rtlCol="0" anchor="t"/>
          <a:lstStyle/>
          <a:p>
            <a:pPr indent="0" marL="0">
              <a:buNone/>
            </a:pPr>
            <a:r>
              <a:rPr lang="en-US" sz="1250" b="1" dirty="0">
                <a:solidFill>
                  <a:srgbClr val="15252E"/>
                </a:solidFill>
                <a:latin typeface="Calibri" pitchFamily="34" charset="0"/>
                <a:ea typeface="Calibri" pitchFamily="34" charset="-122"/>
                <a:cs typeface="Calibri" pitchFamily="34" charset="-120"/>
              </a:rPr>
              <a:t>The citation</a:t>
            </a:r>
            <a:endParaRPr lang="en-US" sz="1250" dirty="0"/>
          </a:p>
        </p:txBody>
      </p:sp>
      <p:sp>
        <p:nvSpPr>
          <p:cNvPr id="21" name="Text 18"/>
          <p:cNvSpPr txBox="1"/>
          <p:nvPr/>
        </p:nvSpPr>
        <p:spPr>
          <a:xfrm>
            <a:off x="914400" y="2999232"/>
            <a:ext cx="4114800" cy="237744"/>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confirmed by code re-reading the document, never by the model</a:t>
            </a:r>
            <a:endParaRPr lang="en-US" sz="1050" dirty="0"/>
          </a:p>
        </p:txBody>
      </p:sp>
      <p:sp>
        <p:nvSpPr>
          <p:cNvPr id="22" name="Shape 19"/>
          <p:cNvSpPr/>
          <p:nvPr/>
        </p:nvSpPr>
        <p:spPr>
          <a:xfrm>
            <a:off x="566928" y="3401568"/>
            <a:ext cx="182880" cy="182880"/>
          </a:xfrm>
          <a:prstGeom prst="ellipse">
            <a:avLst/>
          </a:prstGeom>
          <a:solidFill>
            <a:srgbClr val="F4F7F8"/>
          </a:solidFill>
          <a:ln w="25400">
            <a:solidFill>
              <a:srgbClr val="0F6673"/>
            </a:solidFill>
            <a:prstDash val="solid"/>
          </a:ln>
        </p:spPr>
      </p:sp>
      <p:sp>
        <p:nvSpPr>
          <p:cNvPr id="23" name="Text 20"/>
          <p:cNvSpPr txBox="1"/>
          <p:nvPr/>
        </p:nvSpPr>
        <p:spPr>
          <a:xfrm>
            <a:off x="914400" y="3364992"/>
            <a:ext cx="4114800" cy="237744"/>
          </a:xfrm>
          <a:prstGeom prst="rect">
            <a:avLst/>
          </a:prstGeom>
          <a:noFill/>
          <a:ln/>
        </p:spPr>
        <p:txBody>
          <a:bodyPr wrap="square" lIns="0" tIns="0" rIns="0" bIns="0" rtlCol="0" anchor="t"/>
          <a:lstStyle/>
          <a:p>
            <a:pPr indent="0" marL="0">
              <a:buNone/>
            </a:pPr>
            <a:r>
              <a:rPr lang="en-US" sz="1250" b="1" dirty="0">
                <a:solidFill>
                  <a:srgbClr val="15252E"/>
                </a:solidFill>
                <a:latin typeface="Calibri" pitchFamily="34" charset="0"/>
                <a:ea typeface="Calibri" pitchFamily="34" charset="-122"/>
                <a:cs typeface="Calibri" pitchFamily="34" charset="-120"/>
              </a:rPr>
              <a:t>The extraction</a:t>
            </a:r>
            <a:endParaRPr lang="en-US" sz="1250" dirty="0"/>
          </a:p>
        </p:txBody>
      </p:sp>
      <p:sp>
        <p:nvSpPr>
          <p:cNvPr id="24" name="Text 21"/>
          <p:cNvSpPr txBox="1"/>
          <p:nvPr/>
        </p:nvSpPr>
        <p:spPr>
          <a:xfrm>
            <a:off x="914400" y="3602736"/>
            <a:ext cx="4114800" cy="237744"/>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text with locators into the original</a:t>
            </a:r>
            <a:endParaRPr lang="en-US" sz="1050" dirty="0"/>
          </a:p>
        </p:txBody>
      </p:sp>
      <p:sp>
        <p:nvSpPr>
          <p:cNvPr id="25" name="Shape 22"/>
          <p:cNvSpPr/>
          <p:nvPr/>
        </p:nvSpPr>
        <p:spPr>
          <a:xfrm>
            <a:off x="566928" y="4005072"/>
            <a:ext cx="182880" cy="182880"/>
          </a:xfrm>
          <a:prstGeom prst="ellipse">
            <a:avLst/>
          </a:prstGeom>
          <a:solidFill>
            <a:srgbClr val="F4F7F8"/>
          </a:solidFill>
          <a:ln w="25400">
            <a:solidFill>
              <a:srgbClr val="0F6673"/>
            </a:solidFill>
            <a:prstDash val="solid"/>
          </a:ln>
        </p:spPr>
      </p:sp>
      <p:sp>
        <p:nvSpPr>
          <p:cNvPr id="26" name="Text 23"/>
          <p:cNvSpPr txBox="1"/>
          <p:nvPr/>
        </p:nvSpPr>
        <p:spPr>
          <a:xfrm>
            <a:off x="914400" y="3968496"/>
            <a:ext cx="4114800" cy="237744"/>
          </a:xfrm>
          <a:prstGeom prst="rect">
            <a:avLst/>
          </a:prstGeom>
          <a:noFill/>
          <a:ln/>
        </p:spPr>
        <p:txBody>
          <a:bodyPr wrap="square" lIns="0" tIns="0" rIns="0" bIns="0" rtlCol="0" anchor="t"/>
          <a:lstStyle/>
          <a:p>
            <a:pPr indent="0" marL="0">
              <a:buNone/>
            </a:pPr>
            <a:r>
              <a:rPr lang="en-US" sz="1250" b="1" dirty="0">
                <a:solidFill>
                  <a:srgbClr val="15252E"/>
                </a:solidFill>
                <a:latin typeface="Calibri" pitchFamily="34" charset="0"/>
                <a:ea typeface="Calibri" pitchFamily="34" charset="-122"/>
                <a:cs typeface="Calibri" pitchFamily="34" charset="-120"/>
              </a:rPr>
              <a:t>The artefact</a:t>
            </a:r>
            <a:endParaRPr lang="en-US" sz="1250" dirty="0"/>
          </a:p>
        </p:txBody>
      </p:sp>
      <p:sp>
        <p:nvSpPr>
          <p:cNvPr id="27" name="Text 24"/>
          <p:cNvSpPr txBox="1"/>
          <p:nvPr/>
        </p:nvSpPr>
        <p:spPr>
          <a:xfrm>
            <a:off x="914400" y="4206240"/>
            <a:ext cx="4114800" cy="237744"/>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content-addressed by its SHA-256 hash</a:t>
            </a:r>
            <a:endParaRPr lang="en-US" sz="1050" dirty="0"/>
          </a:p>
        </p:txBody>
      </p:sp>
      <p:sp>
        <p:nvSpPr>
          <p:cNvPr id="28" name="Shape 25"/>
          <p:cNvSpPr/>
          <p:nvPr/>
        </p:nvSpPr>
        <p:spPr>
          <a:xfrm>
            <a:off x="566928" y="4608576"/>
            <a:ext cx="182880" cy="182880"/>
          </a:xfrm>
          <a:prstGeom prst="ellipse">
            <a:avLst/>
          </a:prstGeom>
          <a:solidFill>
            <a:srgbClr val="F4F7F8"/>
          </a:solidFill>
          <a:ln w="25400">
            <a:solidFill>
              <a:srgbClr val="0F6673"/>
            </a:solidFill>
            <a:prstDash val="solid"/>
          </a:ln>
        </p:spPr>
      </p:sp>
      <p:sp>
        <p:nvSpPr>
          <p:cNvPr id="29" name="Text 26"/>
          <p:cNvSpPr txBox="1"/>
          <p:nvPr/>
        </p:nvSpPr>
        <p:spPr>
          <a:xfrm>
            <a:off x="914400" y="4572000"/>
            <a:ext cx="4114800" cy="237744"/>
          </a:xfrm>
          <a:prstGeom prst="rect">
            <a:avLst/>
          </a:prstGeom>
          <a:noFill/>
          <a:ln/>
        </p:spPr>
        <p:txBody>
          <a:bodyPr wrap="square" lIns="0" tIns="0" rIns="0" bIns="0" rtlCol="0" anchor="t"/>
          <a:lstStyle/>
          <a:p>
            <a:pPr indent="0" marL="0">
              <a:buNone/>
            </a:pPr>
            <a:r>
              <a:rPr lang="en-US" sz="1250" b="1" dirty="0">
                <a:solidFill>
                  <a:srgbClr val="15252E"/>
                </a:solidFill>
                <a:latin typeface="Calibri" pitchFamily="34" charset="0"/>
                <a:ea typeface="Calibri" pitchFamily="34" charset="-122"/>
                <a:cs typeface="Calibri" pitchFamily="34" charset="-120"/>
              </a:rPr>
              <a:t>The archived bytes</a:t>
            </a:r>
            <a:endParaRPr lang="en-US" sz="1250" dirty="0"/>
          </a:p>
        </p:txBody>
      </p:sp>
      <p:sp>
        <p:nvSpPr>
          <p:cNvPr id="30" name="Text 27"/>
          <p:cNvSpPr txBox="1"/>
          <p:nvPr/>
        </p:nvSpPr>
        <p:spPr>
          <a:xfrm>
            <a:off x="914400" y="4809744"/>
            <a:ext cx="4114800" cy="237744"/>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exactly as fetched, with the retrieval date</a:t>
            </a:r>
            <a:endParaRPr lang="en-US" sz="1050" dirty="0"/>
          </a:p>
        </p:txBody>
      </p:sp>
      <p:sp>
        <p:nvSpPr>
          <p:cNvPr id="31" name="Shape 28"/>
          <p:cNvSpPr/>
          <p:nvPr/>
        </p:nvSpPr>
        <p:spPr>
          <a:xfrm>
            <a:off x="548640" y="5303520"/>
            <a:ext cx="4526280" cy="804672"/>
          </a:xfrm>
          <a:prstGeom prst="roundRect">
            <a:avLst>
              <a:gd name="adj" fmla="val 5682"/>
            </a:avLst>
          </a:prstGeom>
          <a:solidFill>
            <a:srgbClr val="E2F3F4"/>
          </a:solidFill>
          <a:ln w="9525">
            <a:solidFill>
              <a:srgbClr val="0F6673"/>
            </a:solidFill>
            <a:prstDash val="solid"/>
          </a:ln>
        </p:spPr>
      </p:sp>
      <p:sp>
        <p:nvSpPr>
          <p:cNvPr id="32" name="Text 29"/>
          <p:cNvSpPr txBox="1"/>
          <p:nvPr/>
        </p:nvSpPr>
        <p:spPr>
          <a:xfrm>
            <a:off x="713232" y="5376672"/>
            <a:ext cx="4206240" cy="658368"/>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A calculation stores its formula, its inputs (each with a unit and a source) and the code version, so any stored figure re-derives from its own record.</a:t>
            </a:r>
            <a:endParaRPr lang="en-US" sz="1050" dirty="0"/>
          </a:p>
        </p:txBody>
      </p:sp>
      <p:sp>
        <p:nvSpPr>
          <p:cNvPr id="33" name="Shape 30"/>
          <p:cNvSpPr/>
          <p:nvPr/>
        </p:nvSpPr>
        <p:spPr>
          <a:xfrm>
            <a:off x="5303520" y="1545336"/>
            <a:ext cx="6364224" cy="4261104"/>
          </a:xfrm>
          <a:prstGeom prst="rect">
            <a:avLst/>
          </a:prstGeom>
          <a:solidFill>
            <a:srgbClr val="FFFFFF"/>
          </a:solidFill>
          <a:ln w="9525">
            <a:solidFill>
              <a:srgbClr val="9AAEB5"/>
            </a:solidFill>
            <a:prstDash val="solid"/>
          </a:ln>
        </p:spPr>
      </p:sp>
      <p:pic>
        <p:nvPicPr>
          <p:cNvPr id="34" name="Image 0" descr="/home/user/AgeanticInvestmentPlatform/docs/product/investor-deck/screens/report.jpg">    </p:cNvPr>
          <p:cNvPicPr>
            <a:picLocks noChangeAspect="1"/>
          </p:cNvPicPr>
          <p:nvPr/>
        </p:nvPicPr>
        <p:blipFill>
          <a:blip r:embed="rId1"/>
          <a:stretch>
            <a:fillRect/>
          </a:stretch>
        </p:blipFill>
        <p:spPr>
          <a:xfrm>
            <a:off x="5330952" y="1572768"/>
            <a:ext cx="6309360" cy="4206240"/>
          </a:xfrm>
          <a:prstGeom prst="rect">
            <a:avLst/>
          </a:prstGeom>
        </p:spPr>
      </p:pic>
      <p:sp>
        <p:nvSpPr>
          <p:cNvPr id="35" name="Text 31"/>
          <p:cNvSpPr txBox="1"/>
          <p:nvPr/>
        </p:nvSpPr>
        <p:spPr>
          <a:xfrm>
            <a:off x="5330952" y="5870448"/>
            <a:ext cx="6309360"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Design illustration: the report reader with its evidence drawer open. Company, figures and hashes are invented.</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03 · THE SOLUTION</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The refusals are part of the product</a:t>
            </a:r>
            <a:endParaRPr lang="en-US" sz="2800" dirty="0"/>
          </a:p>
        </p:txBody>
      </p:sp>
      <p:sp>
        <p:nvSpPr>
          <p:cNvPr id="5" name="Shape 3"/>
          <p:cNvSpPr/>
          <p:nvPr/>
        </p:nvSpPr>
        <p:spPr>
          <a:xfrm>
            <a:off x="10286086" y="384048"/>
            <a:ext cx="1356970" cy="219456"/>
          </a:xfrm>
          <a:prstGeom prst="roundRect">
            <a:avLst>
              <a:gd name="adj" fmla="val 50000"/>
            </a:avLst>
          </a:prstGeom>
          <a:solidFill>
            <a:srgbClr val="14613F"/>
          </a:solidFill>
          <a:ln/>
        </p:spPr>
      </p:sp>
      <p:sp>
        <p:nvSpPr>
          <p:cNvPr id="6" name="Text 4"/>
          <p:cNvSpPr txBox="1"/>
          <p:nvPr/>
        </p:nvSpPr>
        <p:spPr>
          <a:xfrm>
            <a:off x="10286086"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7" name="Text 5"/>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8" name="Text 6"/>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11</a:t>
            </a:r>
            <a:endParaRPr lang="en-US" sz="800" dirty="0"/>
          </a:p>
        </p:txBody>
      </p:sp>
      <p:sp>
        <p:nvSpPr>
          <p:cNvPr id="10" name="Shape 7"/>
          <p:cNvSpPr/>
          <p:nvPr/>
        </p:nvSpPr>
        <p:spPr>
          <a:xfrm>
            <a:off x="548640" y="1463040"/>
            <a:ext cx="3545738" cy="1874520"/>
          </a:xfrm>
          <a:prstGeom prst="roundRect">
            <a:avLst>
              <a:gd name="adj" fmla="val 2439"/>
            </a:avLst>
          </a:prstGeom>
          <a:solidFill>
            <a:srgbClr val="FFFFFF"/>
          </a:solidFill>
          <a:ln w="9525">
            <a:solidFill>
              <a:srgbClr val="CDD8DC"/>
            </a:solidFill>
            <a:prstDash val="solid"/>
          </a:ln>
        </p:spPr>
      </p:sp>
      <p:sp>
        <p:nvSpPr>
          <p:cNvPr id="11" name="Shape 8"/>
          <p:cNvSpPr/>
          <p:nvPr/>
        </p:nvSpPr>
        <p:spPr>
          <a:xfrm>
            <a:off x="749808" y="1664208"/>
            <a:ext cx="868680" cy="219456"/>
          </a:xfrm>
          <a:prstGeom prst="roundRect">
            <a:avLst>
              <a:gd name="adj" fmla="val 50000"/>
            </a:avLst>
          </a:prstGeom>
          <a:solidFill>
            <a:srgbClr val="F6EAF2"/>
          </a:solidFill>
          <a:ln w="9525">
            <a:solidFill>
              <a:srgbClr val="6B3F60"/>
            </a:solidFill>
            <a:prstDash val="solid"/>
          </a:ln>
        </p:spPr>
      </p:sp>
      <p:sp>
        <p:nvSpPr>
          <p:cNvPr id="12" name="Text 9"/>
          <p:cNvSpPr txBox="1"/>
          <p:nvPr/>
        </p:nvSpPr>
        <p:spPr>
          <a:xfrm>
            <a:off x="749808" y="1664208"/>
            <a:ext cx="868680" cy="219456"/>
          </a:xfrm>
          <a:prstGeom prst="rect">
            <a:avLst/>
          </a:prstGeom>
          <a:noFill/>
          <a:ln/>
        </p:spPr>
        <p:txBody>
          <a:bodyPr wrap="square" lIns="0" tIns="0" rIns="0" bIns="0" rtlCol="0" anchor="ctr"/>
          <a:lstStyle/>
          <a:p>
            <a:pPr algn="ctr" indent="0" marL="0">
              <a:buNone/>
            </a:pPr>
            <a:r>
              <a:rPr lang="en-US" sz="750" b="1" spc="100" kern="0" dirty="0">
                <a:solidFill>
                  <a:srgbClr val="6B3F60"/>
                </a:solidFill>
                <a:latin typeface="Consolas" pitchFamily="34" charset="0"/>
                <a:ea typeface="Consolas" pitchFamily="34" charset="-122"/>
                <a:cs typeface="Consolas" pitchFamily="34" charset="-120"/>
              </a:rPr>
              <a:t>REFUSES</a:t>
            </a:r>
            <a:endParaRPr lang="en-US" sz="750" dirty="0"/>
          </a:p>
        </p:txBody>
      </p:sp>
      <p:sp>
        <p:nvSpPr>
          <p:cNvPr id="13" name="Text 10"/>
          <p:cNvSpPr txBox="1"/>
          <p:nvPr/>
        </p:nvSpPr>
        <p:spPr>
          <a:xfrm>
            <a:off x="749808" y="1993392"/>
            <a:ext cx="3143402" cy="320040"/>
          </a:xfrm>
          <a:prstGeom prst="rect">
            <a:avLst/>
          </a:prstGeom>
          <a:noFill/>
          <a:ln/>
        </p:spPr>
        <p:txBody>
          <a:bodyPr wrap="square" lIns="0" tIns="0" rIns="0" bIns="0" rtlCol="0" anchor="t"/>
          <a:lstStyle/>
          <a:p>
            <a:pPr indent="0" marL="0">
              <a:buNone/>
            </a:pPr>
            <a:r>
              <a:rPr lang="en-US" sz="1450" b="1" dirty="0">
                <a:solidFill>
                  <a:srgbClr val="15252E"/>
                </a:solidFill>
                <a:latin typeface="Calibri" pitchFamily="34" charset="0"/>
                <a:ea typeface="Calibri" pitchFamily="34" charset="-122"/>
                <a:cs typeface="Calibri" pitchFamily="34" charset="-120"/>
              </a:rPr>
              <a:t>A number it cannot source</a:t>
            </a:r>
            <a:endParaRPr lang="en-US" sz="1450" dirty="0"/>
          </a:p>
        </p:txBody>
      </p:sp>
      <p:sp>
        <p:nvSpPr>
          <p:cNvPr id="14" name="Text 11"/>
          <p:cNvSpPr txBox="1"/>
          <p:nvPr/>
        </p:nvSpPr>
        <p:spPr>
          <a:xfrm>
            <a:off x="749808" y="2377440"/>
            <a:ext cx="3143402" cy="868680"/>
          </a:xfrm>
          <a:prstGeom prst="rect">
            <a:avLst/>
          </a:prstGeom>
          <a:noFill/>
          <a:ln/>
        </p:spPr>
        <p:txBody>
          <a:bodyPr wrap="square" lIns="0" tIns="0" rIns="0" bIns="0" rtlCol="0" anchor="t"/>
          <a:lstStyle/>
          <a:p>
            <a:pPr indent="0" marL="0">
              <a:buNone/>
            </a:pPr>
            <a:r>
              <a:rPr lang="en-US" sz="1250" dirty="0">
                <a:solidFill>
                  <a:srgbClr val="52656E"/>
                </a:solidFill>
                <a:latin typeface="Calibri" pitchFamily="34" charset="0"/>
                <a:ea typeface="Calibri" pitchFamily="34" charset="-122"/>
                <a:cs typeface="Calibri" pitchFamily="34" charset="-120"/>
              </a:rPr>
              <a:t>A figure with no chain behind it does not render. The page says it is withheld, and why.</a:t>
            </a:r>
            <a:endParaRPr lang="en-US" sz="1250" dirty="0"/>
          </a:p>
        </p:txBody>
      </p:sp>
      <p:sp>
        <p:nvSpPr>
          <p:cNvPr id="15" name="Shape 12"/>
          <p:cNvSpPr/>
          <p:nvPr/>
        </p:nvSpPr>
        <p:spPr>
          <a:xfrm>
            <a:off x="4322978" y="1463040"/>
            <a:ext cx="3545738" cy="1874520"/>
          </a:xfrm>
          <a:prstGeom prst="roundRect">
            <a:avLst>
              <a:gd name="adj" fmla="val 2439"/>
            </a:avLst>
          </a:prstGeom>
          <a:solidFill>
            <a:srgbClr val="FFFFFF"/>
          </a:solidFill>
          <a:ln w="9525">
            <a:solidFill>
              <a:srgbClr val="CDD8DC"/>
            </a:solidFill>
            <a:prstDash val="solid"/>
          </a:ln>
        </p:spPr>
      </p:sp>
      <p:sp>
        <p:nvSpPr>
          <p:cNvPr id="16" name="Shape 13"/>
          <p:cNvSpPr/>
          <p:nvPr/>
        </p:nvSpPr>
        <p:spPr>
          <a:xfrm>
            <a:off x="4524146" y="1664208"/>
            <a:ext cx="868680" cy="219456"/>
          </a:xfrm>
          <a:prstGeom prst="roundRect">
            <a:avLst>
              <a:gd name="adj" fmla="val 50000"/>
            </a:avLst>
          </a:prstGeom>
          <a:solidFill>
            <a:srgbClr val="F6EAF2"/>
          </a:solidFill>
          <a:ln w="9525">
            <a:solidFill>
              <a:srgbClr val="6B3F60"/>
            </a:solidFill>
            <a:prstDash val="solid"/>
          </a:ln>
        </p:spPr>
      </p:sp>
      <p:sp>
        <p:nvSpPr>
          <p:cNvPr id="17" name="Text 14"/>
          <p:cNvSpPr txBox="1"/>
          <p:nvPr/>
        </p:nvSpPr>
        <p:spPr>
          <a:xfrm>
            <a:off x="4524146" y="1664208"/>
            <a:ext cx="868680" cy="219456"/>
          </a:xfrm>
          <a:prstGeom prst="rect">
            <a:avLst/>
          </a:prstGeom>
          <a:noFill/>
          <a:ln/>
        </p:spPr>
        <p:txBody>
          <a:bodyPr wrap="square" lIns="0" tIns="0" rIns="0" bIns="0" rtlCol="0" anchor="ctr"/>
          <a:lstStyle/>
          <a:p>
            <a:pPr algn="ctr" indent="0" marL="0">
              <a:buNone/>
            </a:pPr>
            <a:r>
              <a:rPr lang="en-US" sz="750" b="1" spc="100" kern="0" dirty="0">
                <a:solidFill>
                  <a:srgbClr val="6B3F60"/>
                </a:solidFill>
                <a:latin typeface="Consolas" pitchFamily="34" charset="0"/>
                <a:ea typeface="Consolas" pitchFamily="34" charset="-122"/>
                <a:cs typeface="Consolas" pitchFamily="34" charset="-120"/>
              </a:rPr>
              <a:t>REFUSES</a:t>
            </a:r>
            <a:endParaRPr lang="en-US" sz="750" dirty="0"/>
          </a:p>
        </p:txBody>
      </p:sp>
      <p:sp>
        <p:nvSpPr>
          <p:cNvPr id="18" name="Text 15"/>
          <p:cNvSpPr txBox="1"/>
          <p:nvPr/>
        </p:nvSpPr>
        <p:spPr>
          <a:xfrm>
            <a:off x="4524146" y="1993392"/>
            <a:ext cx="3143402" cy="320040"/>
          </a:xfrm>
          <a:prstGeom prst="rect">
            <a:avLst/>
          </a:prstGeom>
          <a:noFill/>
          <a:ln/>
        </p:spPr>
        <p:txBody>
          <a:bodyPr wrap="square" lIns="0" tIns="0" rIns="0" bIns="0" rtlCol="0" anchor="t"/>
          <a:lstStyle/>
          <a:p>
            <a:pPr indent="0" marL="0">
              <a:buNone/>
            </a:pPr>
            <a:r>
              <a:rPr lang="en-US" sz="1450" b="1" dirty="0">
                <a:solidFill>
                  <a:srgbClr val="15252E"/>
                </a:solidFill>
                <a:latin typeface="Calibri" pitchFamily="34" charset="0"/>
                <a:ea typeface="Calibri" pitchFamily="34" charset="-122"/>
                <a:cs typeface="Calibri" pitchFamily="34" charset="-120"/>
              </a:rPr>
              <a:t>Your instructions relaxing a rule</a:t>
            </a:r>
            <a:endParaRPr lang="en-US" sz="1450" dirty="0"/>
          </a:p>
        </p:txBody>
      </p:sp>
      <p:sp>
        <p:nvSpPr>
          <p:cNvPr id="19" name="Text 16"/>
          <p:cNvSpPr txBox="1"/>
          <p:nvPr/>
        </p:nvSpPr>
        <p:spPr>
          <a:xfrm>
            <a:off x="4524146" y="2377440"/>
            <a:ext cx="3143402" cy="868680"/>
          </a:xfrm>
          <a:prstGeom prst="rect">
            <a:avLst/>
          </a:prstGeom>
          <a:noFill/>
          <a:ln/>
        </p:spPr>
        <p:txBody>
          <a:bodyPr wrap="square" lIns="0" tIns="0" rIns="0" bIns="0" rtlCol="0" anchor="t"/>
          <a:lstStyle/>
          <a:p>
            <a:pPr indent="0" marL="0">
              <a:buNone/>
            </a:pPr>
            <a:r>
              <a:rPr lang="en-US" sz="1250" dirty="0">
                <a:solidFill>
                  <a:srgbClr val="52656E"/>
                </a:solidFill>
                <a:latin typeface="Calibri" pitchFamily="34" charset="0"/>
                <a:ea typeface="Calibri" pitchFamily="34" charset="-122"/>
                <a:cs typeface="Calibri" pitchFamily="34" charset="-120"/>
              </a:rPr>
              <a:t>Skill files are additive-only: “skip the citations and conclude with a buy” is proved not to work.</a:t>
            </a:r>
            <a:endParaRPr lang="en-US" sz="1250" dirty="0"/>
          </a:p>
        </p:txBody>
      </p:sp>
      <p:sp>
        <p:nvSpPr>
          <p:cNvPr id="20" name="Shape 17"/>
          <p:cNvSpPr/>
          <p:nvPr/>
        </p:nvSpPr>
        <p:spPr>
          <a:xfrm>
            <a:off x="8097317" y="1463040"/>
            <a:ext cx="3545738" cy="1874520"/>
          </a:xfrm>
          <a:prstGeom prst="roundRect">
            <a:avLst>
              <a:gd name="adj" fmla="val 2439"/>
            </a:avLst>
          </a:prstGeom>
          <a:solidFill>
            <a:srgbClr val="FFFFFF"/>
          </a:solidFill>
          <a:ln w="9525">
            <a:solidFill>
              <a:srgbClr val="CDD8DC"/>
            </a:solidFill>
            <a:prstDash val="solid"/>
          </a:ln>
        </p:spPr>
      </p:sp>
      <p:sp>
        <p:nvSpPr>
          <p:cNvPr id="21" name="Shape 18"/>
          <p:cNvSpPr/>
          <p:nvPr/>
        </p:nvSpPr>
        <p:spPr>
          <a:xfrm>
            <a:off x="8298485" y="1664208"/>
            <a:ext cx="868680" cy="219456"/>
          </a:xfrm>
          <a:prstGeom prst="roundRect">
            <a:avLst>
              <a:gd name="adj" fmla="val 50000"/>
            </a:avLst>
          </a:prstGeom>
          <a:solidFill>
            <a:srgbClr val="F6EAF2"/>
          </a:solidFill>
          <a:ln w="9525">
            <a:solidFill>
              <a:srgbClr val="6B3F60"/>
            </a:solidFill>
            <a:prstDash val="solid"/>
          </a:ln>
        </p:spPr>
      </p:sp>
      <p:sp>
        <p:nvSpPr>
          <p:cNvPr id="22" name="Text 19"/>
          <p:cNvSpPr txBox="1"/>
          <p:nvPr/>
        </p:nvSpPr>
        <p:spPr>
          <a:xfrm>
            <a:off x="8298485" y="1664208"/>
            <a:ext cx="868680" cy="219456"/>
          </a:xfrm>
          <a:prstGeom prst="rect">
            <a:avLst/>
          </a:prstGeom>
          <a:noFill/>
          <a:ln/>
        </p:spPr>
        <p:txBody>
          <a:bodyPr wrap="square" lIns="0" tIns="0" rIns="0" bIns="0" rtlCol="0" anchor="ctr"/>
          <a:lstStyle/>
          <a:p>
            <a:pPr algn="ctr" indent="0" marL="0">
              <a:buNone/>
            </a:pPr>
            <a:r>
              <a:rPr lang="en-US" sz="750" b="1" spc="100" kern="0" dirty="0">
                <a:solidFill>
                  <a:srgbClr val="6B3F60"/>
                </a:solidFill>
                <a:latin typeface="Consolas" pitchFamily="34" charset="0"/>
                <a:ea typeface="Consolas" pitchFamily="34" charset="-122"/>
                <a:cs typeface="Consolas" pitchFamily="34" charset="-120"/>
              </a:rPr>
              <a:t>REFUSES</a:t>
            </a:r>
            <a:endParaRPr lang="en-US" sz="750" dirty="0"/>
          </a:p>
        </p:txBody>
      </p:sp>
      <p:sp>
        <p:nvSpPr>
          <p:cNvPr id="23" name="Text 20"/>
          <p:cNvSpPr txBox="1"/>
          <p:nvPr/>
        </p:nvSpPr>
        <p:spPr>
          <a:xfrm>
            <a:off x="8298485" y="1993392"/>
            <a:ext cx="3143402" cy="320040"/>
          </a:xfrm>
          <a:prstGeom prst="rect">
            <a:avLst/>
          </a:prstGeom>
          <a:noFill/>
          <a:ln/>
        </p:spPr>
        <p:txBody>
          <a:bodyPr wrap="square" lIns="0" tIns="0" rIns="0" bIns="0" rtlCol="0" anchor="t"/>
          <a:lstStyle/>
          <a:p>
            <a:pPr indent="0" marL="0">
              <a:buNone/>
            </a:pPr>
            <a:r>
              <a:rPr lang="en-US" sz="1450" b="1" dirty="0">
                <a:solidFill>
                  <a:srgbClr val="15252E"/>
                </a:solidFill>
                <a:latin typeface="Calibri" pitchFamily="34" charset="0"/>
                <a:ea typeface="Calibri" pitchFamily="34" charset="-122"/>
                <a:cs typeface="Calibri" pitchFamily="34" charset="-120"/>
              </a:rPr>
              <a:t>Fetched text as instructions</a:t>
            </a:r>
            <a:endParaRPr lang="en-US" sz="1450" dirty="0"/>
          </a:p>
        </p:txBody>
      </p:sp>
      <p:sp>
        <p:nvSpPr>
          <p:cNvPr id="24" name="Text 21"/>
          <p:cNvSpPr txBox="1"/>
          <p:nvPr/>
        </p:nvSpPr>
        <p:spPr>
          <a:xfrm>
            <a:off x="8298485" y="2377440"/>
            <a:ext cx="3143402" cy="868680"/>
          </a:xfrm>
          <a:prstGeom prst="rect">
            <a:avLst/>
          </a:prstGeom>
          <a:noFill/>
          <a:ln/>
        </p:spPr>
        <p:txBody>
          <a:bodyPr wrap="square" lIns="0" tIns="0" rIns="0" bIns="0" rtlCol="0" anchor="t"/>
          <a:lstStyle/>
          <a:p>
            <a:pPr indent="0" marL="0">
              <a:buNone/>
            </a:pPr>
            <a:r>
              <a:rPr lang="en-US" sz="1250" dirty="0">
                <a:solidFill>
                  <a:srgbClr val="52656E"/>
                </a:solidFill>
                <a:latin typeface="Calibri" pitchFamily="34" charset="0"/>
                <a:ea typeface="Calibri" pitchFamily="34" charset="-122"/>
                <a:cs typeface="Calibri" pitchFamily="34" charset="-120"/>
              </a:rPr>
              <a:t>Documents are wrapped and labelled as data; what a model may do is enforced in code.</a:t>
            </a:r>
            <a:endParaRPr lang="en-US" sz="1250" dirty="0"/>
          </a:p>
        </p:txBody>
      </p:sp>
      <p:sp>
        <p:nvSpPr>
          <p:cNvPr id="25" name="Shape 22"/>
          <p:cNvSpPr/>
          <p:nvPr/>
        </p:nvSpPr>
        <p:spPr>
          <a:xfrm>
            <a:off x="548640" y="3520440"/>
            <a:ext cx="3545738" cy="1874520"/>
          </a:xfrm>
          <a:prstGeom prst="roundRect">
            <a:avLst>
              <a:gd name="adj" fmla="val 2439"/>
            </a:avLst>
          </a:prstGeom>
          <a:solidFill>
            <a:srgbClr val="FFFFFF"/>
          </a:solidFill>
          <a:ln w="9525">
            <a:solidFill>
              <a:srgbClr val="CDD8DC"/>
            </a:solidFill>
            <a:prstDash val="solid"/>
          </a:ln>
        </p:spPr>
      </p:sp>
      <p:sp>
        <p:nvSpPr>
          <p:cNvPr id="26" name="Shape 23"/>
          <p:cNvSpPr/>
          <p:nvPr/>
        </p:nvSpPr>
        <p:spPr>
          <a:xfrm>
            <a:off x="749808" y="3721608"/>
            <a:ext cx="868680" cy="219456"/>
          </a:xfrm>
          <a:prstGeom prst="roundRect">
            <a:avLst>
              <a:gd name="adj" fmla="val 50000"/>
            </a:avLst>
          </a:prstGeom>
          <a:solidFill>
            <a:srgbClr val="F6EAF2"/>
          </a:solidFill>
          <a:ln w="9525">
            <a:solidFill>
              <a:srgbClr val="6B3F60"/>
            </a:solidFill>
            <a:prstDash val="solid"/>
          </a:ln>
        </p:spPr>
      </p:sp>
      <p:sp>
        <p:nvSpPr>
          <p:cNvPr id="27" name="Text 24"/>
          <p:cNvSpPr txBox="1"/>
          <p:nvPr/>
        </p:nvSpPr>
        <p:spPr>
          <a:xfrm>
            <a:off x="749808" y="3721608"/>
            <a:ext cx="868680" cy="219456"/>
          </a:xfrm>
          <a:prstGeom prst="rect">
            <a:avLst/>
          </a:prstGeom>
          <a:noFill/>
          <a:ln/>
        </p:spPr>
        <p:txBody>
          <a:bodyPr wrap="square" lIns="0" tIns="0" rIns="0" bIns="0" rtlCol="0" anchor="ctr"/>
          <a:lstStyle/>
          <a:p>
            <a:pPr algn="ctr" indent="0" marL="0">
              <a:buNone/>
            </a:pPr>
            <a:r>
              <a:rPr lang="en-US" sz="750" b="1" spc="100" kern="0" dirty="0">
                <a:solidFill>
                  <a:srgbClr val="6B3F60"/>
                </a:solidFill>
                <a:latin typeface="Consolas" pitchFamily="34" charset="0"/>
                <a:ea typeface="Consolas" pitchFamily="34" charset="-122"/>
                <a:cs typeface="Consolas" pitchFamily="34" charset="-120"/>
              </a:rPr>
              <a:t>REFUSES</a:t>
            </a:r>
            <a:endParaRPr lang="en-US" sz="750" dirty="0"/>
          </a:p>
        </p:txBody>
      </p:sp>
      <p:sp>
        <p:nvSpPr>
          <p:cNvPr id="28" name="Text 25"/>
          <p:cNvSpPr txBox="1"/>
          <p:nvPr/>
        </p:nvSpPr>
        <p:spPr>
          <a:xfrm>
            <a:off x="749808" y="4050792"/>
            <a:ext cx="3143402" cy="320040"/>
          </a:xfrm>
          <a:prstGeom prst="rect">
            <a:avLst/>
          </a:prstGeom>
          <a:noFill/>
          <a:ln/>
        </p:spPr>
        <p:txBody>
          <a:bodyPr wrap="square" lIns="0" tIns="0" rIns="0" bIns="0" rtlCol="0" anchor="t"/>
          <a:lstStyle/>
          <a:p>
            <a:pPr indent="0" marL="0">
              <a:buNone/>
            </a:pPr>
            <a:r>
              <a:rPr lang="en-US" sz="1450" b="1" dirty="0">
                <a:solidFill>
                  <a:srgbClr val="15252E"/>
                </a:solidFill>
                <a:latin typeface="Calibri" pitchFamily="34" charset="0"/>
                <a:ea typeface="Calibri" pitchFamily="34" charset="-122"/>
                <a:cs typeface="Calibri" pitchFamily="34" charset="-120"/>
              </a:rPr>
              <a:t>Spending past a ceiling</a:t>
            </a:r>
            <a:endParaRPr lang="en-US" sz="1450" dirty="0"/>
          </a:p>
        </p:txBody>
      </p:sp>
      <p:sp>
        <p:nvSpPr>
          <p:cNvPr id="29" name="Text 26"/>
          <p:cNvSpPr txBox="1"/>
          <p:nvPr/>
        </p:nvSpPr>
        <p:spPr>
          <a:xfrm>
            <a:off x="749808" y="4434840"/>
            <a:ext cx="3143402" cy="868680"/>
          </a:xfrm>
          <a:prstGeom prst="rect">
            <a:avLst/>
          </a:prstGeom>
          <a:noFill/>
          <a:ln/>
        </p:spPr>
        <p:txBody>
          <a:bodyPr wrap="square" lIns="0" tIns="0" rIns="0" bIns="0" rtlCol="0" anchor="t"/>
          <a:lstStyle/>
          <a:p>
            <a:pPr indent="0" marL="0">
              <a:buNone/>
            </a:pPr>
            <a:r>
              <a:rPr lang="en-US" sz="1250" dirty="0">
                <a:solidFill>
                  <a:srgbClr val="52656E"/>
                </a:solidFill>
                <a:latin typeface="Calibri" pitchFamily="34" charset="0"/>
                <a:ea typeface="Calibri" pitchFamily="34" charset="-122"/>
                <a:cs typeface="Calibri" pitchFamily="34" charset="-120"/>
              </a:rPr>
              <a:t>Every model call is priced in pounds and checked against the run’s cap and the month’s before it runs.</a:t>
            </a:r>
            <a:endParaRPr lang="en-US" sz="1250" dirty="0"/>
          </a:p>
        </p:txBody>
      </p:sp>
      <p:sp>
        <p:nvSpPr>
          <p:cNvPr id="30" name="Shape 27"/>
          <p:cNvSpPr/>
          <p:nvPr/>
        </p:nvSpPr>
        <p:spPr>
          <a:xfrm>
            <a:off x="4322978" y="3520440"/>
            <a:ext cx="3545738" cy="1874520"/>
          </a:xfrm>
          <a:prstGeom prst="roundRect">
            <a:avLst>
              <a:gd name="adj" fmla="val 2439"/>
            </a:avLst>
          </a:prstGeom>
          <a:solidFill>
            <a:srgbClr val="FFFFFF"/>
          </a:solidFill>
          <a:ln w="9525">
            <a:solidFill>
              <a:srgbClr val="CDD8DC"/>
            </a:solidFill>
            <a:prstDash val="solid"/>
          </a:ln>
        </p:spPr>
      </p:sp>
      <p:sp>
        <p:nvSpPr>
          <p:cNvPr id="31" name="Shape 28"/>
          <p:cNvSpPr/>
          <p:nvPr/>
        </p:nvSpPr>
        <p:spPr>
          <a:xfrm>
            <a:off x="4524146" y="3721608"/>
            <a:ext cx="868680" cy="219456"/>
          </a:xfrm>
          <a:prstGeom prst="roundRect">
            <a:avLst>
              <a:gd name="adj" fmla="val 50000"/>
            </a:avLst>
          </a:prstGeom>
          <a:solidFill>
            <a:srgbClr val="F6EAF2"/>
          </a:solidFill>
          <a:ln w="9525">
            <a:solidFill>
              <a:srgbClr val="6B3F60"/>
            </a:solidFill>
            <a:prstDash val="solid"/>
          </a:ln>
        </p:spPr>
      </p:sp>
      <p:sp>
        <p:nvSpPr>
          <p:cNvPr id="32" name="Text 29"/>
          <p:cNvSpPr txBox="1"/>
          <p:nvPr/>
        </p:nvSpPr>
        <p:spPr>
          <a:xfrm>
            <a:off x="4524146" y="3721608"/>
            <a:ext cx="868680" cy="219456"/>
          </a:xfrm>
          <a:prstGeom prst="rect">
            <a:avLst/>
          </a:prstGeom>
          <a:noFill/>
          <a:ln/>
        </p:spPr>
        <p:txBody>
          <a:bodyPr wrap="square" lIns="0" tIns="0" rIns="0" bIns="0" rtlCol="0" anchor="ctr"/>
          <a:lstStyle/>
          <a:p>
            <a:pPr algn="ctr" indent="0" marL="0">
              <a:buNone/>
            </a:pPr>
            <a:r>
              <a:rPr lang="en-US" sz="750" b="1" spc="100" kern="0" dirty="0">
                <a:solidFill>
                  <a:srgbClr val="6B3F60"/>
                </a:solidFill>
                <a:latin typeface="Consolas" pitchFamily="34" charset="0"/>
                <a:ea typeface="Consolas" pitchFamily="34" charset="-122"/>
                <a:cs typeface="Consolas" pitchFamily="34" charset="-120"/>
              </a:rPr>
              <a:t>REFUSES</a:t>
            </a:r>
            <a:endParaRPr lang="en-US" sz="750" dirty="0"/>
          </a:p>
        </p:txBody>
      </p:sp>
      <p:sp>
        <p:nvSpPr>
          <p:cNvPr id="33" name="Text 30"/>
          <p:cNvSpPr txBox="1"/>
          <p:nvPr/>
        </p:nvSpPr>
        <p:spPr>
          <a:xfrm>
            <a:off x="4524146" y="4050792"/>
            <a:ext cx="3143402" cy="320040"/>
          </a:xfrm>
          <a:prstGeom prst="rect">
            <a:avLst/>
          </a:prstGeom>
          <a:noFill/>
          <a:ln/>
        </p:spPr>
        <p:txBody>
          <a:bodyPr wrap="square" lIns="0" tIns="0" rIns="0" bIns="0" rtlCol="0" anchor="t"/>
          <a:lstStyle/>
          <a:p>
            <a:pPr indent="0" marL="0">
              <a:buNone/>
            </a:pPr>
            <a:r>
              <a:rPr lang="en-US" sz="1450" b="1" dirty="0">
                <a:solidFill>
                  <a:srgbClr val="15252E"/>
                </a:solidFill>
                <a:latin typeface="Calibri" pitchFamily="34" charset="0"/>
                <a:ea typeface="Calibri" pitchFamily="34" charset="-122"/>
                <a:cs typeface="Calibri" pitchFamily="34" charset="-120"/>
              </a:rPr>
              <a:t>Valuing a bank with a DCF</a:t>
            </a:r>
            <a:endParaRPr lang="en-US" sz="1450" dirty="0"/>
          </a:p>
        </p:txBody>
      </p:sp>
      <p:sp>
        <p:nvSpPr>
          <p:cNvPr id="34" name="Text 31"/>
          <p:cNvSpPr txBox="1"/>
          <p:nvPr/>
        </p:nvSpPr>
        <p:spPr>
          <a:xfrm>
            <a:off x="4524146" y="4434840"/>
            <a:ext cx="3143402" cy="868680"/>
          </a:xfrm>
          <a:prstGeom prst="rect">
            <a:avLst/>
          </a:prstGeom>
          <a:noFill/>
          <a:ln/>
        </p:spPr>
        <p:txBody>
          <a:bodyPr wrap="square" lIns="0" tIns="0" rIns="0" bIns="0" rtlCol="0" anchor="t"/>
          <a:lstStyle/>
          <a:p>
            <a:pPr indent="0" marL="0">
              <a:buNone/>
            </a:pPr>
            <a:r>
              <a:rPr lang="en-US" sz="1250" dirty="0">
                <a:solidFill>
                  <a:srgbClr val="52656E"/>
                </a:solidFill>
                <a:latin typeface="Calibri" pitchFamily="34" charset="0"/>
                <a:ea typeface="Calibri" pitchFamily="34" charset="-122"/>
                <a:cs typeface="Calibri" pitchFamily="34" charset="-120"/>
              </a:rPr>
              <a:t>Sector rules block rather than footnote, and the page says which model it used instead.</a:t>
            </a:r>
            <a:endParaRPr lang="en-US" sz="1250" dirty="0"/>
          </a:p>
        </p:txBody>
      </p:sp>
      <p:sp>
        <p:nvSpPr>
          <p:cNvPr id="35" name="Shape 32"/>
          <p:cNvSpPr/>
          <p:nvPr/>
        </p:nvSpPr>
        <p:spPr>
          <a:xfrm>
            <a:off x="8097317" y="3520440"/>
            <a:ext cx="3545738" cy="1874520"/>
          </a:xfrm>
          <a:prstGeom prst="roundRect">
            <a:avLst>
              <a:gd name="adj" fmla="val 2439"/>
            </a:avLst>
          </a:prstGeom>
          <a:solidFill>
            <a:srgbClr val="FFFFFF"/>
          </a:solidFill>
          <a:ln w="9525">
            <a:solidFill>
              <a:srgbClr val="CDD8DC"/>
            </a:solidFill>
            <a:prstDash val="solid"/>
          </a:ln>
        </p:spPr>
      </p:sp>
      <p:sp>
        <p:nvSpPr>
          <p:cNvPr id="36" name="Shape 33"/>
          <p:cNvSpPr/>
          <p:nvPr/>
        </p:nvSpPr>
        <p:spPr>
          <a:xfrm>
            <a:off x="8298485" y="3721608"/>
            <a:ext cx="868680" cy="219456"/>
          </a:xfrm>
          <a:prstGeom prst="roundRect">
            <a:avLst>
              <a:gd name="adj" fmla="val 50000"/>
            </a:avLst>
          </a:prstGeom>
          <a:solidFill>
            <a:srgbClr val="F6EAF2"/>
          </a:solidFill>
          <a:ln w="9525">
            <a:solidFill>
              <a:srgbClr val="6B3F60"/>
            </a:solidFill>
            <a:prstDash val="solid"/>
          </a:ln>
        </p:spPr>
      </p:sp>
      <p:sp>
        <p:nvSpPr>
          <p:cNvPr id="37" name="Text 34"/>
          <p:cNvSpPr txBox="1"/>
          <p:nvPr/>
        </p:nvSpPr>
        <p:spPr>
          <a:xfrm>
            <a:off x="8298485" y="3721608"/>
            <a:ext cx="868680" cy="219456"/>
          </a:xfrm>
          <a:prstGeom prst="rect">
            <a:avLst/>
          </a:prstGeom>
          <a:noFill/>
          <a:ln/>
        </p:spPr>
        <p:txBody>
          <a:bodyPr wrap="square" lIns="0" tIns="0" rIns="0" bIns="0" rtlCol="0" anchor="ctr"/>
          <a:lstStyle/>
          <a:p>
            <a:pPr algn="ctr" indent="0" marL="0">
              <a:buNone/>
            </a:pPr>
            <a:r>
              <a:rPr lang="en-US" sz="750" b="1" spc="100" kern="0" dirty="0">
                <a:solidFill>
                  <a:srgbClr val="6B3F60"/>
                </a:solidFill>
                <a:latin typeface="Consolas" pitchFamily="34" charset="0"/>
                <a:ea typeface="Consolas" pitchFamily="34" charset="-122"/>
                <a:cs typeface="Consolas" pitchFamily="34" charset="-120"/>
              </a:rPr>
              <a:t>REFUSES</a:t>
            </a:r>
            <a:endParaRPr lang="en-US" sz="750" dirty="0"/>
          </a:p>
        </p:txBody>
      </p:sp>
      <p:sp>
        <p:nvSpPr>
          <p:cNvPr id="38" name="Text 35"/>
          <p:cNvSpPr txBox="1"/>
          <p:nvPr/>
        </p:nvSpPr>
        <p:spPr>
          <a:xfrm>
            <a:off x="8298485" y="4050792"/>
            <a:ext cx="3143402" cy="320040"/>
          </a:xfrm>
          <a:prstGeom prst="rect">
            <a:avLst/>
          </a:prstGeom>
          <a:noFill/>
          <a:ln/>
        </p:spPr>
        <p:txBody>
          <a:bodyPr wrap="square" lIns="0" tIns="0" rIns="0" bIns="0" rtlCol="0" anchor="t"/>
          <a:lstStyle/>
          <a:p>
            <a:pPr indent="0" marL="0">
              <a:buNone/>
            </a:pPr>
            <a:r>
              <a:rPr lang="en-US" sz="1450" b="1" dirty="0">
                <a:solidFill>
                  <a:srgbClr val="15252E"/>
                </a:solidFill>
                <a:latin typeface="Calibri" pitchFamily="34" charset="0"/>
                <a:ea typeface="Calibri" pitchFamily="34" charset="-122"/>
                <a:cs typeface="Calibri" pitchFamily="34" charset="-120"/>
              </a:rPr>
              <a:t>Going round a publisher’s rules</a:t>
            </a:r>
            <a:endParaRPr lang="en-US" sz="1450" dirty="0"/>
          </a:p>
        </p:txBody>
      </p:sp>
      <p:sp>
        <p:nvSpPr>
          <p:cNvPr id="39" name="Text 36"/>
          <p:cNvSpPr txBox="1"/>
          <p:nvPr/>
        </p:nvSpPr>
        <p:spPr>
          <a:xfrm>
            <a:off x="8298485" y="4434840"/>
            <a:ext cx="3143402" cy="868680"/>
          </a:xfrm>
          <a:prstGeom prst="rect">
            <a:avLst/>
          </a:prstGeom>
          <a:noFill/>
          <a:ln/>
        </p:spPr>
        <p:txBody>
          <a:bodyPr wrap="square" lIns="0" tIns="0" rIns="0" bIns="0" rtlCol="0" anchor="t"/>
          <a:lstStyle/>
          <a:p>
            <a:pPr indent="0" marL="0">
              <a:buNone/>
            </a:pPr>
            <a:r>
              <a:rPr lang="en-US" sz="1250" dirty="0">
                <a:solidFill>
                  <a:srgbClr val="52656E"/>
                </a:solidFill>
                <a:latin typeface="Calibri" pitchFamily="34" charset="0"/>
                <a:ea typeface="Calibri" pitchFamily="34" charset="-122"/>
                <a:cs typeface="Calibri" pitchFamily="34" charset="-120"/>
              </a:rPr>
              <a:t>Terms and robots.txt are honoured; two sources were declined and stay declined.</a:t>
            </a:r>
            <a:endParaRPr lang="en-US" sz="1250" dirty="0"/>
          </a:p>
        </p:txBody>
      </p:sp>
      <p:sp>
        <p:nvSpPr>
          <p:cNvPr id="40" name="Text 37"/>
          <p:cNvSpPr txBox="1"/>
          <p:nvPr/>
        </p:nvSpPr>
        <p:spPr>
          <a:xfrm>
            <a:off x="548640" y="5623560"/>
            <a:ext cx="11094415" cy="365760"/>
          </a:xfrm>
          <a:prstGeom prst="rect">
            <a:avLst/>
          </a:prstGeom>
          <a:noFill/>
          <a:ln/>
        </p:spPr>
        <p:txBody>
          <a:bodyPr wrap="square" lIns="0" tIns="0" rIns="0" bIns="0" rtlCol="0" anchor="t"/>
          <a:lstStyle/>
          <a:p>
            <a:pPr indent="0" marL="0">
              <a:buNone/>
            </a:pPr>
            <a:r>
              <a:rPr lang="en-US" sz="1250" b="1" dirty="0">
                <a:solidFill>
                  <a:srgbClr val="6B3F60"/>
                </a:solidFill>
                <a:latin typeface="Calibri" pitchFamily="34" charset="0"/>
                <a:ea typeface="Calibri" pitchFamily="34" charset="-122"/>
                <a:cs typeface="Calibri" pitchFamily="34" charset="-120"/>
              </a:rPr>
              <a:t>Out of scope by design: trade execution, broker connections, a portfolio optimiser, and investment advice.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04 · THE PRODUCT · READY NOW</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Six destinations, and one question: what needs me today?</a:t>
            </a:r>
            <a:endParaRPr lang="en-US" sz="2800" dirty="0"/>
          </a:p>
        </p:txBody>
      </p:sp>
      <p:sp>
        <p:nvSpPr>
          <p:cNvPr id="5" name="Shape 3"/>
          <p:cNvSpPr/>
          <p:nvPr/>
        </p:nvSpPr>
        <p:spPr>
          <a:xfrm>
            <a:off x="10083089" y="384048"/>
            <a:ext cx="1559966" cy="219456"/>
          </a:xfrm>
          <a:prstGeom prst="roundRect">
            <a:avLst>
              <a:gd name="adj" fmla="val 50000"/>
            </a:avLst>
          </a:prstGeom>
          <a:solidFill>
            <a:srgbClr val="F4F7F8"/>
          </a:solidFill>
          <a:ln w="12700">
            <a:solidFill>
              <a:srgbClr val="0F6673"/>
            </a:solidFill>
            <a:prstDash val="solid"/>
          </a:ln>
        </p:spPr>
      </p:sp>
      <p:sp>
        <p:nvSpPr>
          <p:cNvPr id="6" name="Text 4"/>
          <p:cNvSpPr txBox="1"/>
          <p:nvPr/>
        </p:nvSpPr>
        <p:spPr>
          <a:xfrm>
            <a:off x="10083089" y="384048"/>
            <a:ext cx="1559966" cy="219456"/>
          </a:xfrm>
          <a:prstGeom prst="rect">
            <a:avLst/>
          </a:prstGeom>
          <a:noFill/>
          <a:ln/>
        </p:spPr>
        <p:txBody>
          <a:bodyPr wrap="square" lIns="0" tIns="0" rIns="0" bIns="0" rtlCol="0" anchor="ctr"/>
          <a:lstStyle/>
          <a:p>
            <a:pPr algn="ctr" indent="0" marL="0">
              <a:buNone/>
            </a:pPr>
            <a:r>
              <a:rPr lang="en-US" sz="750" b="1" spc="80" kern="0" dirty="0">
                <a:solidFill>
                  <a:srgbClr val="0F6673"/>
                </a:solidFill>
                <a:latin typeface="Consolas" pitchFamily="34" charset="0"/>
                <a:ea typeface="Consolas" pitchFamily="34" charset="-122"/>
                <a:cs typeface="Consolas" pitchFamily="34" charset="-120"/>
              </a:rPr>
              <a:t>DESIGN ILLUSTRATION</a:t>
            </a:r>
            <a:endParaRPr lang="en-US" sz="750" dirty="0"/>
          </a:p>
        </p:txBody>
      </p:sp>
      <p:sp>
        <p:nvSpPr>
          <p:cNvPr id="7" name="Shape 5"/>
          <p:cNvSpPr/>
          <p:nvPr/>
        </p:nvSpPr>
        <p:spPr>
          <a:xfrm>
            <a:off x="8634679" y="384048"/>
            <a:ext cx="1356970" cy="219456"/>
          </a:xfrm>
          <a:prstGeom prst="roundRect">
            <a:avLst>
              <a:gd name="adj" fmla="val 50000"/>
            </a:avLst>
          </a:prstGeom>
          <a:solidFill>
            <a:srgbClr val="14613F"/>
          </a:solidFill>
          <a:ln/>
        </p:spPr>
      </p:sp>
      <p:sp>
        <p:nvSpPr>
          <p:cNvPr id="8" name="Text 6"/>
          <p:cNvSpPr txBox="1"/>
          <p:nvPr/>
        </p:nvSpPr>
        <p:spPr>
          <a:xfrm>
            <a:off x="8634679"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12</a:t>
            </a:r>
            <a:endParaRPr lang="en-US" sz="800" dirty="0"/>
          </a:p>
        </p:txBody>
      </p:sp>
      <p:sp>
        <p:nvSpPr>
          <p:cNvPr id="12" name="Shape 9"/>
          <p:cNvSpPr/>
          <p:nvPr/>
        </p:nvSpPr>
        <p:spPr>
          <a:xfrm>
            <a:off x="521208" y="1481328"/>
            <a:ext cx="6821424" cy="4283964"/>
          </a:xfrm>
          <a:prstGeom prst="rect">
            <a:avLst/>
          </a:prstGeom>
          <a:solidFill>
            <a:srgbClr val="FFFFFF"/>
          </a:solidFill>
          <a:ln w="9525">
            <a:solidFill>
              <a:srgbClr val="9AAEB5"/>
            </a:solidFill>
            <a:prstDash val="solid"/>
          </a:ln>
        </p:spPr>
      </p:sp>
      <p:pic>
        <p:nvPicPr>
          <p:cNvPr id="13" name="Image 0" descr="/home/user/AgeanticInvestmentPlatform/docs/product/investor-deck/screens/today.jpg">    </p:cNvPr>
          <p:cNvPicPr>
            <a:picLocks noChangeAspect="1"/>
          </p:cNvPicPr>
          <p:nvPr/>
        </p:nvPicPr>
        <p:blipFill>
          <a:blip r:embed="rId1"/>
          <a:stretch>
            <a:fillRect/>
          </a:stretch>
        </p:blipFill>
        <p:spPr>
          <a:xfrm>
            <a:off x="548640" y="1508760"/>
            <a:ext cx="6766560" cy="4229100"/>
          </a:xfrm>
          <a:prstGeom prst="rect">
            <a:avLst/>
          </a:prstGeom>
        </p:spPr>
      </p:pic>
      <p:sp>
        <p:nvSpPr>
          <p:cNvPr id="14" name="Text 10"/>
          <p:cNvSpPr txBox="1"/>
          <p:nvPr/>
        </p:nvSpPr>
        <p:spPr>
          <a:xfrm>
            <a:off x="548640" y="5829300"/>
            <a:ext cx="6766560"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Design illustration from the V1.0 specification. Every company, name and figure is invented.</a:t>
            </a:r>
            <a:endParaRPr lang="en-US" sz="900" dirty="0"/>
          </a:p>
        </p:txBody>
      </p:sp>
      <p:sp>
        <p:nvSpPr>
          <p:cNvPr id="15" name="Shape 11"/>
          <p:cNvSpPr/>
          <p:nvPr/>
        </p:nvSpPr>
        <p:spPr>
          <a:xfrm>
            <a:off x="7680960" y="1545336"/>
            <a:ext cx="274320" cy="274320"/>
          </a:xfrm>
          <a:prstGeom prst="ellipse">
            <a:avLst/>
          </a:prstGeom>
          <a:solidFill>
            <a:srgbClr val="0F6673"/>
          </a:solidFill>
          <a:ln/>
        </p:spPr>
      </p:sp>
      <p:sp>
        <p:nvSpPr>
          <p:cNvPr id="16" name="Text 12"/>
          <p:cNvSpPr txBox="1"/>
          <p:nvPr/>
        </p:nvSpPr>
        <p:spPr>
          <a:xfrm>
            <a:off x="7680960" y="1545336"/>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1</a:t>
            </a:r>
            <a:endParaRPr lang="en-US" sz="950" dirty="0"/>
          </a:p>
        </p:txBody>
      </p:sp>
      <p:sp>
        <p:nvSpPr>
          <p:cNvPr id="17" name="Text 13"/>
          <p:cNvSpPr txBox="1"/>
          <p:nvPr/>
        </p:nvSpPr>
        <p:spPr>
          <a:xfrm>
            <a:off x="8092440" y="1508760"/>
            <a:ext cx="3547872" cy="256032"/>
          </a:xfrm>
          <a:prstGeom prst="rect">
            <a:avLst/>
          </a:prstGeom>
          <a:noFill/>
          <a:ln/>
        </p:spPr>
        <p:txBody>
          <a:bodyPr wrap="square" lIns="0" tIns="0" rIns="0" bIns="0" rtlCol="0" anchor="t"/>
          <a:lstStyle/>
          <a:p>
            <a:pPr indent="0" marL="0">
              <a:buNone/>
            </a:pPr>
            <a:r>
              <a:rPr lang="en-US" sz="1300" b="1" dirty="0">
                <a:solidFill>
                  <a:srgbClr val="15252E"/>
                </a:solidFill>
                <a:latin typeface="Calibri" pitchFamily="34" charset="0"/>
                <a:ea typeface="Calibri" pitchFamily="34" charset="-122"/>
                <a:cs typeface="Calibri" pitchFamily="34" charset="-120"/>
              </a:rPr>
              <a:t>Today</a:t>
            </a:r>
            <a:endParaRPr lang="en-US" sz="1300" dirty="0"/>
          </a:p>
        </p:txBody>
      </p:sp>
      <p:sp>
        <p:nvSpPr>
          <p:cNvPr id="18" name="Text 14"/>
          <p:cNvSpPr txBox="1"/>
          <p:nvPr/>
        </p:nvSpPr>
        <p:spPr>
          <a:xfrm>
            <a:off x="8092440" y="1773936"/>
            <a:ext cx="3547872" cy="34747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what needs you, and what is worth doing next</a:t>
            </a:r>
            <a:endParaRPr lang="en-US" sz="1050" dirty="0"/>
          </a:p>
        </p:txBody>
      </p:sp>
      <p:sp>
        <p:nvSpPr>
          <p:cNvPr id="19" name="Shape 15"/>
          <p:cNvSpPr/>
          <p:nvPr/>
        </p:nvSpPr>
        <p:spPr>
          <a:xfrm>
            <a:off x="7680960" y="2203704"/>
            <a:ext cx="274320" cy="274320"/>
          </a:xfrm>
          <a:prstGeom prst="ellipse">
            <a:avLst/>
          </a:prstGeom>
          <a:solidFill>
            <a:srgbClr val="0F6673"/>
          </a:solidFill>
          <a:ln/>
        </p:spPr>
      </p:sp>
      <p:sp>
        <p:nvSpPr>
          <p:cNvPr id="20" name="Text 16"/>
          <p:cNvSpPr txBox="1"/>
          <p:nvPr/>
        </p:nvSpPr>
        <p:spPr>
          <a:xfrm>
            <a:off x="7680960" y="2203704"/>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2</a:t>
            </a:r>
            <a:endParaRPr lang="en-US" sz="950" dirty="0"/>
          </a:p>
        </p:txBody>
      </p:sp>
      <p:sp>
        <p:nvSpPr>
          <p:cNvPr id="21" name="Text 17"/>
          <p:cNvSpPr txBox="1"/>
          <p:nvPr/>
        </p:nvSpPr>
        <p:spPr>
          <a:xfrm>
            <a:off x="8092440" y="2167128"/>
            <a:ext cx="3547872" cy="256032"/>
          </a:xfrm>
          <a:prstGeom prst="rect">
            <a:avLst/>
          </a:prstGeom>
          <a:noFill/>
          <a:ln/>
        </p:spPr>
        <p:txBody>
          <a:bodyPr wrap="square" lIns="0" tIns="0" rIns="0" bIns="0" rtlCol="0" anchor="t"/>
          <a:lstStyle/>
          <a:p>
            <a:pPr indent="0" marL="0">
              <a:buNone/>
            </a:pPr>
            <a:r>
              <a:rPr lang="en-US" sz="1300" b="1" dirty="0">
                <a:solidFill>
                  <a:srgbClr val="15252E"/>
                </a:solidFill>
                <a:latin typeface="Calibri" pitchFamily="34" charset="0"/>
                <a:ea typeface="Calibri" pitchFamily="34" charset="-122"/>
                <a:cs typeface="Calibri" pitchFamily="34" charset="-120"/>
              </a:rPr>
              <a:t>Portfolio</a:t>
            </a:r>
            <a:endParaRPr lang="en-US" sz="1300" dirty="0"/>
          </a:p>
        </p:txBody>
      </p:sp>
      <p:sp>
        <p:nvSpPr>
          <p:cNvPr id="22" name="Text 18"/>
          <p:cNvSpPr txBox="1"/>
          <p:nvPr/>
        </p:nvSpPr>
        <p:spPr>
          <a:xfrm>
            <a:off x="8092440" y="2432304"/>
            <a:ext cx="3547872" cy="34747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the book as a validity dashboard: conviction before profit</a:t>
            </a:r>
            <a:endParaRPr lang="en-US" sz="1050" dirty="0"/>
          </a:p>
        </p:txBody>
      </p:sp>
      <p:sp>
        <p:nvSpPr>
          <p:cNvPr id="23" name="Shape 19"/>
          <p:cNvSpPr/>
          <p:nvPr/>
        </p:nvSpPr>
        <p:spPr>
          <a:xfrm>
            <a:off x="7680960" y="2862072"/>
            <a:ext cx="274320" cy="274320"/>
          </a:xfrm>
          <a:prstGeom prst="ellipse">
            <a:avLst/>
          </a:prstGeom>
          <a:solidFill>
            <a:srgbClr val="0F6673"/>
          </a:solidFill>
          <a:ln/>
        </p:spPr>
      </p:sp>
      <p:sp>
        <p:nvSpPr>
          <p:cNvPr id="24" name="Text 20"/>
          <p:cNvSpPr txBox="1"/>
          <p:nvPr/>
        </p:nvSpPr>
        <p:spPr>
          <a:xfrm>
            <a:off x="7680960" y="2862072"/>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3</a:t>
            </a:r>
            <a:endParaRPr lang="en-US" sz="950" dirty="0"/>
          </a:p>
        </p:txBody>
      </p:sp>
      <p:sp>
        <p:nvSpPr>
          <p:cNvPr id="25" name="Text 21"/>
          <p:cNvSpPr txBox="1"/>
          <p:nvPr/>
        </p:nvSpPr>
        <p:spPr>
          <a:xfrm>
            <a:off x="8092440" y="2825496"/>
            <a:ext cx="3547872" cy="256032"/>
          </a:xfrm>
          <a:prstGeom prst="rect">
            <a:avLst/>
          </a:prstGeom>
          <a:noFill/>
          <a:ln/>
        </p:spPr>
        <p:txBody>
          <a:bodyPr wrap="square" lIns="0" tIns="0" rIns="0" bIns="0" rtlCol="0" anchor="t"/>
          <a:lstStyle/>
          <a:p>
            <a:pPr indent="0" marL="0">
              <a:buNone/>
            </a:pPr>
            <a:r>
              <a:rPr lang="en-US" sz="1300" b="1" dirty="0">
                <a:solidFill>
                  <a:srgbClr val="15252E"/>
                </a:solidFill>
                <a:latin typeface="Calibri" pitchFamily="34" charset="0"/>
                <a:ea typeface="Calibri" pitchFamily="34" charset="-122"/>
                <a:cs typeface="Calibri" pitchFamily="34" charset="-120"/>
              </a:rPr>
              <a:t>Companies</a:t>
            </a:r>
            <a:endParaRPr lang="en-US" sz="1300" dirty="0"/>
          </a:p>
        </p:txBody>
      </p:sp>
      <p:sp>
        <p:nvSpPr>
          <p:cNvPr id="26" name="Text 22"/>
          <p:cNvSpPr txBox="1"/>
          <p:nvPr/>
        </p:nvSpPr>
        <p:spPr>
          <a:xfrm>
            <a:off x="8092440" y="3090672"/>
            <a:ext cx="3547872" cy="34747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everything the account knows, and why each is there</a:t>
            </a:r>
            <a:endParaRPr lang="en-US" sz="1050" dirty="0"/>
          </a:p>
        </p:txBody>
      </p:sp>
      <p:sp>
        <p:nvSpPr>
          <p:cNvPr id="27" name="Shape 23"/>
          <p:cNvSpPr/>
          <p:nvPr/>
        </p:nvSpPr>
        <p:spPr>
          <a:xfrm>
            <a:off x="7680960" y="3520440"/>
            <a:ext cx="274320" cy="274320"/>
          </a:xfrm>
          <a:prstGeom prst="ellipse">
            <a:avLst/>
          </a:prstGeom>
          <a:solidFill>
            <a:srgbClr val="0F6673"/>
          </a:solidFill>
          <a:ln/>
        </p:spPr>
      </p:sp>
      <p:sp>
        <p:nvSpPr>
          <p:cNvPr id="28" name="Text 24"/>
          <p:cNvSpPr txBox="1"/>
          <p:nvPr/>
        </p:nvSpPr>
        <p:spPr>
          <a:xfrm>
            <a:off x="7680960" y="3520440"/>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4</a:t>
            </a:r>
            <a:endParaRPr lang="en-US" sz="950" dirty="0"/>
          </a:p>
        </p:txBody>
      </p:sp>
      <p:sp>
        <p:nvSpPr>
          <p:cNvPr id="29" name="Text 25"/>
          <p:cNvSpPr txBox="1"/>
          <p:nvPr/>
        </p:nvSpPr>
        <p:spPr>
          <a:xfrm>
            <a:off x="8092440" y="3483864"/>
            <a:ext cx="3547872" cy="256032"/>
          </a:xfrm>
          <a:prstGeom prst="rect">
            <a:avLst/>
          </a:prstGeom>
          <a:noFill/>
          <a:ln/>
        </p:spPr>
        <p:txBody>
          <a:bodyPr wrap="square" lIns="0" tIns="0" rIns="0" bIns="0" rtlCol="0" anchor="t"/>
          <a:lstStyle/>
          <a:p>
            <a:pPr indent="0" marL="0">
              <a:buNone/>
            </a:pPr>
            <a:r>
              <a:rPr lang="en-US" sz="1300" b="1" dirty="0">
                <a:solidFill>
                  <a:srgbClr val="15252E"/>
                </a:solidFill>
                <a:latin typeface="Calibri" pitchFamily="34" charset="0"/>
                <a:ea typeface="Calibri" pitchFamily="34" charset="-122"/>
                <a:cs typeface="Calibri" pitchFamily="34" charset="-120"/>
              </a:rPr>
              <a:t>Research</a:t>
            </a:r>
            <a:endParaRPr lang="en-US" sz="1300" dirty="0"/>
          </a:p>
        </p:txBody>
      </p:sp>
      <p:sp>
        <p:nvSpPr>
          <p:cNvPr id="30" name="Text 26"/>
          <p:cNvSpPr txBox="1"/>
          <p:nvPr/>
        </p:nvSpPr>
        <p:spPr>
          <a:xfrm>
            <a:off x="8092440" y="3749040"/>
            <a:ext cx="3547872" cy="34747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requests, live runs, reports, your methods, knowledge</a:t>
            </a:r>
            <a:endParaRPr lang="en-US" sz="1050" dirty="0"/>
          </a:p>
        </p:txBody>
      </p:sp>
      <p:sp>
        <p:nvSpPr>
          <p:cNvPr id="31" name="Shape 27"/>
          <p:cNvSpPr/>
          <p:nvPr/>
        </p:nvSpPr>
        <p:spPr>
          <a:xfrm>
            <a:off x="7680960" y="4178808"/>
            <a:ext cx="274320" cy="274320"/>
          </a:xfrm>
          <a:prstGeom prst="ellipse">
            <a:avLst/>
          </a:prstGeom>
          <a:solidFill>
            <a:srgbClr val="0F6673"/>
          </a:solidFill>
          <a:ln/>
        </p:spPr>
      </p:sp>
      <p:sp>
        <p:nvSpPr>
          <p:cNvPr id="32" name="Text 28"/>
          <p:cNvSpPr txBox="1"/>
          <p:nvPr/>
        </p:nvSpPr>
        <p:spPr>
          <a:xfrm>
            <a:off x="7680960" y="4178808"/>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5</a:t>
            </a:r>
            <a:endParaRPr lang="en-US" sz="950" dirty="0"/>
          </a:p>
        </p:txBody>
      </p:sp>
      <p:sp>
        <p:nvSpPr>
          <p:cNvPr id="33" name="Text 29"/>
          <p:cNvSpPr txBox="1"/>
          <p:nvPr/>
        </p:nvSpPr>
        <p:spPr>
          <a:xfrm>
            <a:off x="8092440" y="4142232"/>
            <a:ext cx="3547872" cy="256032"/>
          </a:xfrm>
          <a:prstGeom prst="rect">
            <a:avLst/>
          </a:prstGeom>
          <a:noFill/>
          <a:ln/>
        </p:spPr>
        <p:txBody>
          <a:bodyPr wrap="square" lIns="0" tIns="0" rIns="0" bIns="0" rtlCol="0" anchor="t"/>
          <a:lstStyle/>
          <a:p>
            <a:pPr indent="0" marL="0">
              <a:buNone/>
            </a:pPr>
            <a:r>
              <a:rPr lang="en-US" sz="1300" b="1" dirty="0">
                <a:solidFill>
                  <a:srgbClr val="15252E"/>
                </a:solidFill>
                <a:latin typeface="Calibri" pitchFamily="34" charset="0"/>
                <a:ea typeface="Calibri" pitchFamily="34" charset="-122"/>
                <a:cs typeface="Calibri" pitchFamily="34" charset="-120"/>
              </a:rPr>
              <a:t>Review</a:t>
            </a:r>
            <a:endParaRPr lang="en-US" sz="1300" dirty="0"/>
          </a:p>
        </p:txBody>
      </p:sp>
      <p:sp>
        <p:nvSpPr>
          <p:cNvPr id="34" name="Text 30"/>
          <p:cNvSpPr txBox="1"/>
          <p:nvPr/>
        </p:nvSpPr>
        <p:spPr>
          <a:xfrm>
            <a:off x="8092440" y="4407408"/>
            <a:ext cx="3547872" cy="34747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closed positions, and what many decisions say about you</a:t>
            </a:r>
            <a:endParaRPr lang="en-US" sz="1050" dirty="0"/>
          </a:p>
        </p:txBody>
      </p:sp>
      <p:sp>
        <p:nvSpPr>
          <p:cNvPr id="35" name="Shape 31"/>
          <p:cNvSpPr/>
          <p:nvPr/>
        </p:nvSpPr>
        <p:spPr>
          <a:xfrm>
            <a:off x="7680960" y="4837176"/>
            <a:ext cx="274320" cy="274320"/>
          </a:xfrm>
          <a:prstGeom prst="ellipse">
            <a:avLst/>
          </a:prstGeom>
          <a:solidFill>
            <a:srgbClr val="0F6673"/>
          </a:solidFill>
          <a:ln/>
        </p:spPr>
      </p:sp>
      <p:sp>
        <p:nvSpPr>
          <p:cNvPr id="36" name="Text 32"/>
          <p:cNvSpPr txBox="1"/>
          <p:nvPr/>
        </p:nvSpPr>
        <p:spPr>
          <a:xfrm>
            <a:off x="7680960" y="4837176"/>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6</a:t>
            </a:r>
            <a:endParaRPr lang="en-US" sz="950" dirty="0"/>
          </a:p>
        </p:txBody>
      </p:sp>
      <p:sp>
        <p:nvSpPr>
          <p:cNvPr id="37" name="Text 33"/>
          <p:cNvSpPr txBox="1"/>
          <p:nvPr/>
        </p:nvSpPr>
        <p:spPr>
          <a:xfrm>
            <a:off x="8092440" y="4800600"/>
            <a:ext cx="3547872" cy="256032"/>
          </a:xfrm>
          <a:prstGeom prst="rect">
            <a:avLst/>
          </a:prstGeom>
          <a:noFill/>
          <a:ln/>
        </p:spPr>
        <p:txBody>
          <a:bodyPr wrap="square" lIns="0" tIns="0" rIns="0" bIns="0" rtlCol="0" anchor="t"/>
          <a:lstStyle/>
          <a:p>
            <a:pPr indent="0" marL="0">
              <a:buNone/>
            </a:pPr>
            <a:r>
              <a:rPr lang="en-US" sz="1300" b="1" dirty="0">
                <a:solidFill>
                  <a:srgbClr val="15252E"/>
                </a:solidFill>
                <a:latin typeface="Calibri" pitchFamily="34" charset="0"/>
                <a:ea typeface="Calibri" pitchFamily="34" charset="-122"/>
                <a:cs typeface="Calibri" pitchFamily="34" charset="-120"/>
              </a:rPr>
              <a:t>Platform</a:t>
            </a:r>
            <a:endParaRPr lang="en-US" sz="1300" dirty="0"/>
          </a:p>
        </p:txBody>
      </p:sp>
      <p:sp>
        <p:nvSpPr>
          <p:cNvPr id="38" name="Text 34"/>
          <p:cNvSpPr txBox="1"/>
          <p:nvPr/>
        </p:nvSpPr>
        <p:spPr>
          <a:xfrm>
            <a:off x="8092440" y="5065776"/>
            <a:ext cx="3547872" cy="34747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costs, health, backups and settings</a:t>
            </a:r>
            <a:endParaRPr lang="en-US" sz="1050" dirty="0"/>
          </a:p>
        </p:txBody>
      </p:sp>
      <p:sp>
        <p:nvSpPr>
          <p:cNvPr id="39" name="Shape 35"/>
          <p:cNvSpPr/>
          <p:nvPr/>
        </p:nvSpPr>
        <p:spPr>
          <a:xfrm>
            <a:off x="7680960" y="5504688"/>
            <a:ext cx="3959352" cy="566928"/>
          </a:xfrm>
          <a:prstGeom prst="roundRect">
            <a:avLst>
              <a:gd name="adj" fmla="val 8065"/>
            </a:avLst>
          </a:prstGeom>
          <a:solidFill>
            <a:srgbClr val="E2F3F4"/>
          </a:solidFill>
          <a:ln w="9525">
            <a:solidFill>
              <a:srgbClr val="0F6673"/>
            </a:solidFill>
            <a:prstDash val="solid"/>
          </a:ln>
        </p:spPr>
      </p:sp>
      <p:sp>
        <p:nvSpPr>
          <p:cNvPr id="40" name="Text 36"/>
          <p:cNvSpPr txBox="1"/>
          <p:nvPr/>
        </p:nvSpPr>
        <p:spPr>
          <a:xfrm>
            <a:off x="7818120" y="5550408"/>
            <a:ext cx="3703320" cy="475488"/>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A command bar jumps to any company or starts a request from anywhere.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04 · THE PRODUCT · RESEARCH</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Research: a costed plan before anything is spent</a:t>
            </a:r>
            <a:endParaRPr lang="en-US" sz="2800" dirty="0"/>
          </a:p>
        </p:txBody>
      </p:sp>
      <p:sp>
        <p:nvSpPr>
          <p:cNvPr id="5" name="Shape 3"/>
          <p:cNvSpPr/>
          <p:nvPr/>
        </p:nvSpPr>
        <p:spPr>
          <a:xfrm>
            <a:off x="10083089" y="384048"/>
            <a:ext cx="1559966" cy="219456"/>
          </a:xfrm>
          <a:prstGeom prst="roundRect">
            <a:avLst>
              <a:gd name="adj" fmla="val 50000"/>
            </a:avLst>
          </a:prstGeom>
          <a:solidFill>
            <a:srgbClr val="F4F7F8"/>
          </a:solidFill>
          <a:ln w="12700">
            <a:solidFill>
              <a:srgbClr val="0F6673"/>
            </a:solidFill>
            <a:prstDash val="solid"/>
          </a:ln>
        </p:spPr>
      </p:sp>
      <p:sp>
        <p:nvSpPr>
          <p:cNvPr id="6" name="Text 4"/>
          <p:cNvSpPr txBox="1"/>
          <p:nvPr/>
        </p:nvSpPr>
        <p:spPr>
          <a:xfrm>
            <a:off x="10083089" y="384048"/>
            <a:ext cx="1559966" cy="219456"/>
          </a:xfrm>
          <a:prstGeom prst="rect">
            <a:avLst/>
          </a:prstGeom>
          <a:noFill/>
          <a:ln/>
        </p:spPr>
        <p:txBody>
          <a:bodyPr wrap="square" lIns="0" tIns="0" rIns="0" bIns="0" rtlCol="0" anchor="ctr"/>
          <a:lstStyle/>
          <a:p>
            <a:pPr algn="ctr" indent="0" marL="0">
              <a:buNone/>
            </a:pPr>
            <a:r>
              <a:rPr lang="en-US" sz="750" b="1" spc="80" kern="0" dirty="0">
                <a:solidFill>
                  <a:srgbClr val="0F6673"/>
                </a:solidFill>
                <a:latin typeface="Consolas" pitchFamily="34" charset="0"/>
                <a:ea typeface="Consolas" pitchFamily="34" charset="-122"/>
                <a:cs typeface="Consolas" pitchFamily="34" charset="-120"/>
              </a:rPr>
              <a:t>DESIGN ILLUSTRATION</a:t>
            </a:r>
            <a:endParaRPr lang="en-US" sz="750" dirty="0"/>
          </a:p>
        </p:txBody>
      </p:sp>
      <p:sp>
        <p:nvSpPr>
          <p:cNvPr id="7" name="Shape 5"/>
          <p:cNvSpPr/>
          <p:nvPr/>
        </p:nvSpPr>
        <p:spPr>
          <a:xfrm>
            <a:off x="8634679" y="384048"/>
            <a:ext cx="1356970" cy="219456"/>
          </a:xfrm>
          <a:prstGeom prst="roundRect">
            <a:avLst>
              <a:gd name="adj" fmla="val 50000"/>
            </a:avLst>
          </a:prstGeom>
          <a:solidFill>
            <a:srgbClr val="14613F"/>
          </a:solidFill>
          <a:ln/>
        </p:spPr>
      </p:sp>
      <p:sp>
        <p:nvSpPr>
          <p:cNvPr id="8" name="Text 6"/>
          <p:cNvSpPr txBox="1"/>
          <p:nvPr/>
        </p:nvSpPr>
        <p:spPr>
          <a:xfrm>
            <a:off x="8634679"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13</a:t>
            </a:r>
            <a:endParaRPr lang="en-US" sz="800" dirty="0"/>
          </a:p>
        </p:txBody>
      </p:sp>
      <p:sp>
        <p:nvSpPr>
          <p:cNvPr id="12" name="Text 9"/>
          <p:cNvSpPr txBox="1"/>
          <p:nvPr/>
        </p:nvSpPr>
        <p:spPr>
          <a:xfrm>
            <a:off x="548640" y="1600200"/>
            <a:ext cx="4343400" cy="4206240"/>
          </a:xfrm>
          <a:prstGeom prst="rect">
            <a:avLst/>
          </a:prstGeom>
          <a:noFill/>
          <a:ln/>
        </p:spPr>
        <p:txBody>
          <a:bodyPr wrap="square" lIns="0" tIns="0" rIns="0" bIns="0" rtlCol="0" anchor="t"/>
          <a:lstStyle/>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A costed plan first.</a:t>
            </a:r>
            <a:r>
              <a:rPr lang="en-US" sz="1200" dirty="0">
                <a:solidFill>
                  <a:srgbClr val="52656E"/>
                </a:solidFill>
                <a:latin typeface="Calibri" pitchFamily="34" charset="0"/>
                <a:ea typeface="Calibri" pitchFamily="34" charset="-122"/>
                <a:cs typeface="Calibri" pitchFamily="34" charset="-120"/>
              </a:rPr>
              <a:t> Sections, sources, cost, machine time and your attention, stated before a penny is spent.</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Standard or Quick.</a:t>
            </a:r>
            <a:r>
              <a:rPr lang="en-US" sz="1200" dirty="0">
                <a:solidFill>
                  <a:srgbClr val="52656E"/>
                </a:solidFill>
                <a:latin typeface="Calibri" pitchFamily="34" charset="0"/>
                <a:ea typeface="Calibri" pitchFamily="34" charset="-122"/>
                <a:cs typeface="Calibri" pitchFamily="34" charset="-120"/>
              </a:rPr>
              <a:t> 18 sections with full valuation, comparables and scenarios, or 9 sections, measured at £4.95.</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One queue of gates.</a:t>
            </a:r>
            <a:r>
              <a:rPr lang="en-US" sz="1200" dirty="0">
                <a:solidFill>
                  <a:srgbClr val="52656E"/>
                </a:solidFill>
                <a:latin typeface="Calibri" pitchFamily="34" charset="0"/>
                <a:ea typeface="Calibri" pitchFamily="34" charset="-122"/>
                <a:cs typeface="Calibri" pitchFamily="34" charset="-120"/>
              </a:rPr>
              <a:t> Plan, sector, peers, themes, unmapped concepts, assumptions, the final draft.</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Your context in the brief.</a:t>
            </a:r>
            <a:r>
              <a:rPr lang="en-US" sz="1200" dirty="0">
                <a:solidFill>
                  <a:srgbClr val="52656E"/>
                </a:solidFill>
                <a:latin typeface="Calibri" pitchFamily="34" charset="0"/>
                <a:ea typeface="Calibri" pitchFamily="34" charset="-122"/>
                <a:cs typeface="Calibri" pitchFamily="34" charset="-120"/>
              </a:rPr>
              <a:t> Planned weight, horizon and purpose feed a closing section on what the position does to your book.</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Your own methods.</a:t>
            </a:r>
            <a:r>
              <a:rPr lang="en-US" sz="1200" dirty="0">
                <a:solidFill>
                  <a:srgbClr val="52656E"/>
                </a:solidFill>
                <a:latin typeface="Calibri" pitchFamily="34" charset="0"/>
                <a:ea typeface="Calibri" pitchFamily="34" charset="-122"/>
                <a:cs typeface="Calibri" pitchFamily="34" charset="-120"/>
              </a:rPr>
              <a:t> Report sections written in plain language, additive-only and attack-tested.</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Depth in primary sources.</a:t>
            </a:r>
            <a:r>
              <a:rPr lang="en-US" sz="1200" dirty="0">
                <a:solidFill>
                  <a:srgbClr val="52656E"/>
                </a:solidFill>
                <a:latin typeface="Calibri" pitchFamily="34" charset="0"/>
                <a:ea typeface="Calibri" pitchFamily="34" charset="-122"/>
                <a:cs typeface="Calibri" pitchFamily="34" charset="-120"/>
              </a:rPr>
              <a:t> Exhibits, prepared remarks furnished on 8-Ks and rivals’ filings, not licensed commentary.</a:t>
            </a:r>
            <a:endParaRPr lang="en-US" sz="1200" dirty="0"/>
          </a:p>
        </p:txBody>
      </p:sp>
      <p:sp>
        <p:nvSpPr>
          <p:cNvPr id="13" name="Shape 10"/>
          <p:cNvSpPr/>
          <p:nvPr/>
        </p:nvSpPr>
        <p:spPr>
          <a:xfrm>
            <a:off x="5303520" y="1527048"/>
            <a:ext cx="6364224" cy="4261104"/>
          </a:xfrm>
          <a:prstGeom prst="rect">
            <a:avLst/>
          </a:prstGeom>
          <a:solidFill>
            <a:srgbClr val="FFFFFF"/>
          </a:solidFill>
          <a:ln w="9525">
            <a:solidFill>
              <a:srgbClr val="9AAEB5"/>
            </a:solidFill>
            <a:prstDash val="solid"/>
          </a:ln>
        </p:spPr>
      </p:sp>
      <p:pic>
        <p:nvPicPr>
          <p:cNvPr id="14" name="Image 0" descr="/home/user/AgeanticInvestmentPlatform/docs/product/investor-deck/screens/request.jpg">    </p:cNvPr>
          <p:cNvPicPr>
            <a:picLocks noChangeAspect="1"/>
          </p:cNvPicPr>
          <p:nvPr/>
        </p:nvPicPr>
        <p:blipFill>
          <a:blip r:embed="rId1"/>
          <a:stretch>
            <a:fillRect/>
          </a:stretch>
        </p:blipFill>
        <p:spPr>
          <a:xfrm>
            <a:off x="5330952" y="1554480"/>
            <a:ext cx="6309360" cy="4206240"/>
          </a:xfrm>
          <a:prstGeom prst="rect">
            <a:avLst/>
          </a:prstGeom>
        </p:spPr>
      </p:pic>
      <p:sp>
        <p:nvSpPr>
          <p:cNvPr id="15" name="Text 11"/>
          <p:cNvSpPr txBox="1"/>
          <p:nvPr/>
        </p:nvSpPr>
        <p:spPr>
          <a:xfrm>
            <a:off x="5330952" y="5852160"/>
            <a:ext cx="6309360"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Design illustration from the V1.0 specification. Every company, name and figure in it is invented.</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04 · THE PRODUCT · RESEARCH</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Ask, refresh, workbook: the record keeps working</a:t>
            </a:r>
            <a:endParaRPr lang="en-US" sz="2800" dirty="0"/>
          </a:p>
        </p:txBody>
      </p:sp>
      <p:sp>
        <p:nvSpPr>
          <p:cNvPr id="5" name="Shape 3"/>
          <p:cNvSpPr/>
          <p:nvPr/>
        </p:nvSpPr>
        <p:spPr>
          <a:xfrm>
            <a:off x="10083089" y="384048"/>
            <a:ext cx="1559966" cy="219456"/>
          </a:xfrm>
          <a:prstGeom prst="roundRect">
            <a:avLst>
              <a:gd name="adj" fmla="val 50000"/>
            </a:avLst>
          </a:prstGeom>
          <a:solidFill>
            <a:srgbClr val="F4F7F8"/>
          </a:solidFill>
          <a:ln w="12700">
            <a:solidFill>
              <a:srgbClr val="0F6673"/>
            </a:solidFill>
            <a:prstDash val="solid"/>
          </a:ln>
        </p:spPr>
      </p:sp>
      <p:sp>
        <p:nvSpPr>
          <p:cNvPr id="6" name="Text 4"/>
          <p:cNvSpPr txBox="1"/>
          <p:nvPr/>
        </p:nvSpPr>
        <p:spPr>
          <a:xfrm>
            <a:off x="10083089" y="384048"/>
            <a:ext cx="1559966" cy="219456"/>
          </a:xfrm>
          <a:prstGeom prst="rect">
            <a:avLst/>
          </a:prstGeom>
          <a:noFill/>
          <a:ln/>
        </p:spPr>
        <p:txBody>
          <a:bodyPr wrap="square" lIns="0" tIns="0" rIns="0" bIns="0" rtlCol="0" anchor="ctr"/>
          <a:lstStyle/>
          <a:p>
            <a:pPr algn="ctr" indent="0" marL="0">
              <a:buNone/>
            </a:pPr>
            <a:r>
              <a:rPr lang="en-US" sz="750" b="1" spc="80" kern="0" dirty="0">
                <a:solidFill>
                  <a:srgbClr val="0F6673"/>
                </a:solidFill>
                <a:latin typeface="Consolas" pitchFamily="34" charset="0"/>
                <a:ea typeface="Consolas" pitchFamily="34" charset="-122"/>
                <a:cs typeface="Consolas" pitchFamily="34" charset="-120"/>
              </a:rPr>
              <a:t>DESIGN ILLUSTRATION</a:t>
            </a:r>
            <a:endParaRPr lang="en-US" sz="750" dirty="0"/>
          </a:p>
        </p:txBody>
      </p:sp>
      <p:sp>
        <p:nvSpPr>
          <p:cNvPr id="7" name="Shape 5"/>
          <p:cNvSpPr/>
          <p:nvPr/>
        </p:nvSpPr>
        <p:spPr>
          <a:xfrm>
            <a:off x="8634679" y="384048"/>
            <a:ext cx="1356970" cy="219456"/>
          </a:xfrm>
          <a:prstGeom prst="roundRect">
            <a:avLst>
              <a:gd name="adj" fmla="val 50000"/>
            </a:avLst>
          </a:prstGeom>
          <a:solidFill>
            <a:srgbClr val="14613F"/>
          </a:solidFill>
          <a:ln/>
        </p:spPr>
      </p:sp>
      <p:sp>
        <p:nvSpPr>
          <p:cNvPr id="8" name="Text 6"/>
          <p:cNvSpPr txBox="1"/>
          <p:nvPr/>
        </p:nvSpPr>
        <p:spPr>
          <a:xfrm>
            <a:off x="8634679"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14</a:t>
            </a:r>
            <a:endParaRPr lang="en-US" sz="800" dirty="0"/>
          </a:p>
        </p:txBody>
      </p:sp>
      <p:sp>
        <p:nvSpPr>
          <p:cNvPr id="12" name="Text 9"/>
          <p:cNvSpPr txBox="1"/>
          <p:nvPr/>
        </p:nvSpPr>
        <p:spPr>
          <a:xfrm>
            <a:off x="548640" y="1600200"/>
            <a:ext cx="4343400" cy="4206240"/>
          </a:xfrm>
          <a:prstGeom prst="rect">
            <a:avLst/>
          </a:prstGeom>
          <a:noFill/>
          <a:ln/>
        </p:spPr>
        <p:txBody>
          <a:bodyPr wrap="square" lIns="0" tIns="0" rIns="0" bIns="0" rtlCol="0" anchor="t"/>
          <a:lstStyle/>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Ask, in three tiers.</a:t>
            </a:r>
            <a:r>
              <a:rPr lang="en-US" sz="1200" dirty="0">
                <a:solidFill>
                  <a:srgbClr val="52656E"/>
                </a:solidFill>
                <a:latin typeface="Calibri" pitchFamily="34" charset="0"/>
                <a:ea typeface="Calibri" pitchFamily="34" charset="-122"/>
                <a:cs typeface="Calibri" pitchFamily="34" charset="-120"/>
              </a:rPr>
              <a:t> Recompute the stored model (free, instant), re-read what is archived (pennies), or research something new, priced and approved first.</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Refresh.</a:t>
            </a:r>
            <a:r>
              <a:rPr lang="en-US" sz="1200" dirty="0">
                <a:solidFill>
                  <a:srgbClr val="52656E"/>
                </a:solidFill>
                <a:latin typeface="Calibri" pitchFamily="34" charset="0"/>
                <a:ea typeface="Calibri" pitchFamily="34" charset="-122"/>
                <a:cs typeface="Calibri" pitchFamily="34" charset="-120"/>
              </a:rPr>
              <a:t> Reads only what is new, recomputes every figure, re-drafts only what moved and leads with the change. Measured once at £1.66; nothing is spent when nothing is new.</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A live workbook.</a:t>
            </a:r>
            <a:r>
              <a:rPr lang="en-US" sz="1200" dirty="0">
                <a:solidFill>
                  <a:srgbClr val="52656E"/>
                </a:solidFill>
                <a:latin typeface="Calibri" pitchFamily="34" charset="0"/>
                <a:ea typeface="Calibri" pitchFamily="34" charset="-122"/>
                <a:cs typeface="Calibri" pitchFamily="34" charset="-120"/>
              </a:rPr>
              <a:t> The valuation as real spreadsheet formulas, with a provenance tab that travels with the file.</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A calculator page.</a:t>
            </a:r>
            <a:r>
              <a:rPr lang="en-US" sz="1200" dirty="0">
                <a:solidFill>
                  <a:srgbClr val="52656E"/>
                </a:solidFill>
                <a:latin typeface="Calibri" pitchFamily="34" charset="0"/>
                <a:ea typeface="Calibri" pitchFamily="34" charset="-122"/>
                <a:cs typeface="Calibri" pitchFamily="34" charset="-120"/>
              </a:rPr>
              <a:t> Re-run the discounted cash flow by hand on the stored inputs.</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One current report per company.</a:t>
            </a:r>
            <a:r>
              <a:rPr lang="en-US" sz="1200" dirty="0">
                <a:solidFill>
                  <a:srgbClr val="52656E"/>
                </a:solidFill>
                <a:latin typeface="Calibri" pitchFamily="34" charset="0"/>
                <a:ea typeface="Calibri" pitchFamily="34" charset="-122"/>
                <a:cs typeface="Calibri" pitchFamily="34" charset="-120"/>
              </a:rPr>
              <a:t> A refresh supersedes the old report, which stays readable.</a:t>
            </a:r>
            <a:endParaRPr lang="en-US" sz="1200" dirty="0"/>
          </a:p>
        </p:txBody>
      </p:sp>
      <p:sp>
        <p:nvSpPr>
          <p:cNvPr id="13" name="Shape 10"/>
          <p:cNvSpPr/>
          <p:nvPr/>
        </p:nvSpPr>
        <p:spPr>
          <a:xfrm>
            <a:off x="5303520" y="1527048"/>
            <a:ext cx="6364224" cy="4261104"/>
          </a:xfrm>
          <a:prstGeom prst="rect">
            <a:avLst/>
          </a:prstGeom>
          <a:solidFill>
            <a:srgbClr val="FFFFFF"/>
          </a:solidFill>
          <a:ln w="9525">
            <a:solidFill>
              <a:srgbClr val="9AAEB5"/>
            </a:solidFill>
            <a:prstDash val="solid"/>
          </a:ln>
        </p:spPr>
      </p:sp>
      <p:pic>
        <p:nvPicPr>
          <p:cNvPr id="14" name="Image 0" descr="/home/user/AgeanticInvestmentPlatform/docs/product/investor-deck/screens/ask.jpg">    </p:cNvPr>
          <p:cNvPicPr>
            <a:picLocks noChangeAspect="1"/>
          </p:cNvPicPr>
          <p:nvPr/>
        </p:nvPicPr>
        <p:blipFill>
          <a:blip r:embed="rId1"/>
          <a:stretch>
            <a:fillRect/>
          </a:stretch>
        </p:blipFill>
        <p:spPr>
          <a:xfrm>
            <a:off x="5330952" y="1554480"/>
            <a:ext cx="6309360" cy="4206240"/>
          </a:xfrm>
          <a:prstGeom prst="rect">
            <a:avLst/>
          </a:prstGeom>
        </p:spPr>
      </p:pic>
      <p:sp>
        <p:nvSpPr>
          <p:cNvPr id="15" name="Text 11"/>
          <p:cNvSpPr txBox="1"/>
          <p:nvPr/>
        </p:nvSpPr>
        <p:spPr>
          <a:xfrm>
            <a:off x="5330952" y="5852160"/>
            <a:ext cx="6309360"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Design illustration from the V1.0 specification. Every company, name and figure in it is invented.</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04 · THE PRODUCT · DECIDE</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Decide: what you believe, and what would defeat it</a:t>
            </a:r>
            <a:endParaRPr lang="en-US" sz="2800" dirty="0"/>
          </a:p>
        </p:txBody>
      </p:sp>
      <p:sp>
        <p:nvSpPr>
          <p:cNvPr id="5" name="Shape 3"/>
          <p:cNvSpPr/>
          <p:nvPr/>
        </p:nvSpPr>
        <p:spPr>
          <a:xfrm>
            <a:off x="10083089" y="384048"/>
            <a:ext cx="1559966" cy="219456"/>
          </a:xfrm>
          <a:prstGeom prst="roundRect">
            <a:avLst>
              <a:gd name="adj" fmla="val 50000"/>
            </a:avLst>
          </a:prstGeom>
          <a:solidFill>
            <a:srgbClr val="F4F7F8"/>
          </a:solidFill>
          <a:ln w="12700">
            <a:solidFill>
              <a:srgbClr val="0F6673"/>
            </a:solidFill>
            <a:prstDash val="solid"/>
          </a:ln>
        </p:spPr>
      </p:sp>
      <p:sp>
        <p:nvSpPr>
          <p:cNvPr id="6" name="Text 4"/>
          <p:cNvSpPr txBox="1"/>
          <p:nvPr/>
        </p:nvSpPr>
        <p:spPr>
          <a:xfrm>
            <a:off x="10083089" y="384048"/>
            <a:ext cx="1559966" cy="219456"/>
          </a:xfrm>
          <a:prstGeom prst="rect">
            <a:avLst/>
          </a:prstGeom>
          <a:noFill/>
          <a:ln/>
        </p:spPr>
        <p:txBody>
          <a:bodyPr wrap="square" lIns="0" tIns="0" rIns="0" bIns="0" rtlCol="0" anchor="ctr"/>
          <a:lstStyle/>
          <a:p>
            <a:pPr algn="ctr" indent="0" marL="0">
              <a:buNone/>
            </a:pPr>
            <a:r>
              <a:rPr lang="en-US" sz="750" b="1" spc="80" kern="0" dirty="0">
                <a:solidFill>
                  <a:srgbClr val="0F6673"/>
                </a:solidFill>
                <a:latin typeface="Consolas" pitchFamily="34" charset="0"/>
                <a:ea typeface="Consolas" pitchFamily="34" charset="-122"/>
                <a:cs typeface="Consolas" pitchFamily="34" charset="-120"/>
              </a:rPr>
              <a:t>DESIGN ILLUSTRATION</a:t>
            </a:r>
            <a:endParaRPr lang="en-US" sz="750" dirty="0"/>
          </a:p>
        </p:txBody>
      </p:sp>
      <p:sp>
        <p:nvSpPr>
          <p:cNvPr id="7" name="Shape 5"/>
          <p:cNvSpPr/>
          <p:nvPr/>
        </p:nvSpPr>
        <p:spPr>
          <a:xfrm>
            <a:off x="8634679" y="384048"/>
            <a:ext cx="1356970" cy="219456"/>
          </a:xfrm>
          <a:prstGeom prst="roundRect">
            <a:avLst>
              <a:gd name="adj" fmla="val 50000"/>
            </a:avLst>
          </a:prstGeom>
          <a:solidFill>
            <a:srgbClr val="14613F"/>
          </a:solidFill>
          <a:ln/>
        </p:spPr>
      </p:sp>
      <p:sp>
        <p:nvSpPr>
          <p:cNvPr id="8" name="Text 6"/>
          <p:cNvSpPr txBox="1"/>
          <p:nvPr/>
        </p:nvSpPr>
        <p:spPr>
          <a:xfrm>
            <a:off x="8634679"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15</a:t>
            </a:r>
            <a:endParaRPr lang="en-US" sz="800" dirty="0"/>
          </a:p>
        </p:txBody>
      </p:sp>
      <p:sp>
        <p:nvSpPr>
          <p:cNvPr id="12" name="Text 9"/>
          <p:cNvSpPr txBox="1"/>
          <p:nvPr/>
        </p:nvSpPr>
        <p:spPr>
          <a:xfrm>
            <a:off x="548640" y="1600200"/>
            <a:ext cx="4343400" cy="4206240"/>
          </a:xfrm>
          <a:prstGeom prst="rect">
            <a:avLst/>
          </a:prstGeom>
          <a:noFill/>
          <a:ln/>
        </p:spPr>
        <p:txBody>
          <a:bodyPr wrap="square" lIns="0" tIns="0" rIns="0" bIns="0" rtlCol="0" anchor="t"/>
          <a:lstStyle/>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A thesis is a set of premises.</a:t>
            </a:r>
            <a:r>
              <a:rPr lang="en-US" sz="1200" dirty="0">
                <a:solidFill>
                  <a:srgbClr val="52656E"/>
                </a:solidFill>
                <a:latin typeface="Calibri" pitchFamily="34" charset="0"/>
                <a:ea typeface="Calibri" pitchFamily="34" charset="-122"/>
                <a:cs typeface="Calibri" pitchFamily="34" charset="-120"/>
              </a:rPr>
              <a:t> Each is a sentence you would defend.</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Each premise names its test.</a:t>
            </a:r>
            <a:r>
              <a:rPr lang="en-US" sz="1200" dirty="0">
                <a:solidFill>
                  <a:srgbClr val="52656E"/>
                </a:solidFill>
                <a:latin typeface="Calibri" pitchFamily="34" charset="0"/>
                <a:ea typeface="Calibri" pitchFamily="34" charset="-122"/>
                <a:cs typeface="Calibri" pitchFamily="34" charset="-120"/>
              </a:rPr>
              <a:t> A metric and a threshold that would defeat it, or, where nothing can test it, a date to look again.</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The monitor runs the tests.</a:t>
            </a:r>
            <a:r>
              <a:rPr lang="en-US" sz="1200" dirty="0">
                <a:solidFill>
                  <a:srgbClr val="52656E"/>
                </a:solidFill>
                <a:latin typeface="Calibri" pitchFamily="34" charset="0"/>
                <a:ea typeface="Calibri" pitchFamily="34" charset="-122"/>
                <a:cs typeface="Calibri" pitchFamily="34" charset="-120"/>
              </a:rPr>
              <a:t> Against every filing since the premise was last read. A metric check costs nothing in model spend.</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Revised, never erased.</a:t>
            </a:r>
            <a:r>
              <a:rPr lang="en-US" sz="1200" dirty="0">
                <a:solidFill>
                  <a:srgbClr val="52656E"/>
                </a:solidFill>
                <a:latin typeface="Calibri" pitchFamily="34" charset="0"/>
                <a:ea typeface="Calibri" pitchFamily="34" charset="-122"/>
                <a:cs typeface="Calibri" pitchFamily="34" charset="-120"/>
              </a:rPr>
              <a:t> A withdrawn premise stays on the record; the history reads as a story.</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Your view, argued against.</a:t>
            </a:r>
            <a:r>
              <a:rPr lang="en-US" sz="1200" dirty="0">
                <a:solidFill>
                  <a:srgbClr val="52656E"/>
                </a:solidFill>
                <a:latin typeface="Calibri" pitchFamily="34" charset="0"/>
                <a:ea typeface="Calibri" pitchFamily="34" charset="-122"/>
                <a:cs typeface="Calibri" pitchFamily="34" charset="-120"/>
              </a:rPr>
              <a:t> The platform states no view of its own. Its adversary argues the opposite of yours.</a:t>
            </a:r>
            <a:endParaRPr lang="en-US" sz="1200" dirty="0"/>
          </a:p>
        </p:txBody>
      </p:sp>
      <p:sp>
        <p:nvSpPr>
          <p:cNvPr id="13" name="Shape 10"/>
          <p:cNvSpPr/>
          <p:nvPr/>
        </p:nvSpPr>
        <p:spPr>
          <a:xfrm>
            <a:off x="5303520" y="1527048"/>
            <a:ext cx="6364224" cy="4261104"/>
          </a:xfrm>
          <a:prstGeom prst="rect">
            <a:avLst/>
          </a:prstGeom>
          <a:solidFill>
            <a:srgbClr val="FFFFFF"/>
          </a:solidFill>
          <a:ln w="9525">
            <a:solidFill>
              <a:srgbClr val="9AAEB5"/>
            </a:solidFill>
            <a:prstDash val="solid"/>
          </a:ln>
        </p:spPr>
      </p:sp>
      <p:pic>
        <p:nvPicPr>
          <p:cNvPr id="14" name="Image 0" descr="/home/user/AgeanticInvestmentPlatform/docs/product/investor-deck/screens/thesis.jpg">    </p:cNvPr>
          <p:cNvPicPr>
            <a:picLocks noChangeAspect="1"/>
          </p:cNvPicPr>
          <p:nvPr/>
        </p:nvPicPr>
        <p:blipFill>
          <a:blip r:embed="rId1"/>
          <a:stretch>
            <a:fillRect/>
          </a:stretch>
        </p:blipFill>
        <p:spPr>
          <a:xfrm>
            <a:off x="5330952" y="1554480"/>
            <a:ext cx="6309360" cy="4206240"/>
          </a:xfrm>
          <a:prstGeom prst="rect">
            <a:avLst/>
          </a:prstGeom>
        </p:spPr>
      </p:pic>
      <p:sp>
        <p:nvSpPr>
          <p:cNvPr id="15" name="Text 11"/>
          <p:cNvSpPr txBox="1"/>
          <p:nvPr/>
        </p:nvSpPr>
        <p:spPr>
          <a:xfrm>
            <a:off x="5330952" y="5852160"/>
            <a:ext cx="6309360"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Design illustration from the V1.0 specification. Every company, name and figure in it is invented.</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04 · THE PRODUCT · DECIDE</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Record the decision, including the decision not to act</a:t>
            </a:r>
            <a:endParaRPr lang="en-US" sz="2800" dirty="0"/>
          </a:p>
        </p:txBody>
      </p:sp>
      <p:sp>
        <p:nvSpPr>
          <p:cNvPr id="5" name="Shape 3"/>
          <p:cNvSpPr/>
          <p:nvPr/>
        </p:nvSpPr>
        <p:spPr>
          <a:xfrm>
            <a:off x="10083089" y="384048"/>
            <a:ext cx="1559966" cy="219456"/>
          </a:xfrm>
          <a:prstGeom prst="roundRect">
            <a:avLst>
              <a:gd name="adj" fmla="val 50000"/>
            </a:avLst>
          </a:prstGeom>
          <a:solidFill>
            <a:srgbClr val="F4F7F8"/>
          </a:solidFill>
          <a:ln w="12700">
            <a:solidFill>
              <a:srgbClr val="0F6673"/>
            </a:solidFill>
            <a:prstDash val="solid"/>
          </a:ln>
        </p:spPr>
      </p:sp>
      <p:sp>
        <p:nvSpPr>
          <p:cNvPr id="6" name="Text 4"/>
          <p:cNvSpPr txBox="1"/>
          <p:nvPr/>
        </p:nvSpPr>
        <p:spPr>
          <a:xfrm>
            <a:off x="10083089" y="384048"/>
            <a:ext cx="1559966" cy="219456"/>
          </a:xfrm>
          <a:prstGeom prst="rect">
            <a:avLst/>
          </a:prstGeom>
          <a:noFill/>
          <a:ln/>
        </p:spPr>
        <p:txBody>
          <a:bodyPr wrap="square" lIns="0" tIns="0" rIns="0" bIns="0" rtlCol="0" anchor="ctr"/>
          <a:lstStyle/>
          <a:p>
            <a:pPr algn="ctr" indent="0" marL="0">
              <a:buNone/>
            </a:pPr>
            <a:r>
              <a:rPr lang="en-US" sz="750" b="1" spc="80" kern="0" dirty="0">
                <a:solidFill>
                  <a:srgbClr val="0F6673"/>
                </a:solidFill>
                <a:latin typeface="Consolas" pitchFamily="34" charset="0"/>
                <a:ea typeface="Consolas" pitchFamily="34" charset="-122"/>
                <a:cs typeface="Consolas" pitchFamily="34" charset="-120"/>
              </a:rPr>
              <a:t>DESIGN ILLUSTRATION</a:t>
            </a:r>
            <a:endParaRPr lang="en-US" sz="750" dirty="0"/>
          </a:p>
        </p:txBody>
      </p:sp>
      <p:sp>
        <p:nvSpPr>
          <p:cNvPr id="7" name="Shape 5"/>
          <p:cNvSpPr/>
          <p:nvPr/>
        </p:nvSpPr>
        <p:spPr>
          <a:xfrm>
            <a:off x="8634679" y="384048"/>
            <a:ext cx="1356970" cy="219456"/>
          </a:xfrm>
          <a:prstGeom prst="roundRect">
            <a:avLst>
              <a:gd name="adj" fmla="val 50000"/>
            </a:avLst>
          </a:prstGeom>
          <a:solidFill>
            <a:srgbClr val="14613F"/>
          </a:solidFill>
          <a:ln/>
        </p:spPr>
      </p:sp>
      <p:sp>
        <p:nvSpPr>
          <p:cNvPr id="8" name="Text 6"/>
          <p:cNvSpPr txBox="1"/>
          <p:nvPr/>
        </p:nvSpPr>
        <p:spPr>
          <a:xfrm>
            <a:off x="8634679"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16</a:t>
            </a:r>
            <a:endParaRPr lang="en-US" sz="800" dirty="0"/>
          </a:p>
        </p:txBody>
      </p:sp>
      <p:sp>
        <p:nvSpPr>
          <p:cNvPr id="12" name="Text 9"/>
          <p:cNvSpPr txBox="1"/>
          <p:nvPr/>
        </p:nvSpPr>
        <p:spPr>
          <a:xfrm>
            <a:off x="548640" y="1600200"/>
            <a:ext cx="4343400" cy="4206240"/>
          </a:xfrm>
          <a:prstGeom prst="rect">
            <a:avLst/>
          </a:prstGeom>
          <a:noFill/>
          <a:ln/>
        </p:spPr>
        <p:txBody>
          <a:bodyPr wrap="square" lIns="0" tIns="0" rIns="0" bIns="0" rtlCol="0" anchor="t"/>
          <a:lstStyle/>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Add, open, trim, exit, or pass.</a:t>
            </a:r>
            <a:r>
              <a:rPr lang="en-US" sz="1200" dirty="0">
                <a:solidFill>
                  <a:srgbClr val="52656E"/>
                </a:solidFill>
                <a:latin typeface="Calibri" pitchFamily="34" charset="0"/>
                <a:ea typeface="Calibri" pitchFamily="34" charset="-122"/>
                <a:cs typeface="Calibri" pitchFamily="34" charset="-120"/>
              </a:rPr>
              <a:t> A pass is recorded the same way as a trade. It is the record nobody else keeps.</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Linked, or not saved.</a:t>
            </a:r>
            <a:r>
              <a:rPr lang="en-US" sz="1200" dirty="0">
                <a:solidFill>
                  <a:srgbClr val="52656E"/>
                </a:solidFill>
                <a:latin typeface="Calibri" pitchFamily="34" charset="0"/>
                <a:ea typeface="Calibri" pitchFamily="34" charset="-122"/>
                <a:cs typeface="Calibri" pitchFamily="34" charset="-120"/>
              </a:rPr>
              <a:t> Every decision points at the thesis it expresses and the report it rests on.</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The pre-trade check.</a:t>
            </a:r>
            <a:r>
              <a:rPr lang="en-US" sz="1200" dirty="0">
                <a:solidFill>
                  <a:srgbClr val="52656E"/>
                </a:solidFill>
                <a:latin typeface="Calibri" pitchFamily="34" charset="0"/>
                <a:ea typeface="Calibri" pitchFamily="34" charset="-122"/>
                <a:cs typeface="Calibri" pitchFamily="34" charset="-120"/>
              </a:rPr>
              <a:t> What the size does to concentration, sector exposure and your stated horizon, before you record it.</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It never blocks.</a:t>
            </a:r>
            <a:r>
              <a:rPr lang="en-US" sz="1200" dirty="0">
                <a:solidFill>
                  <a:srgbClr val="52656E"/>
                </a:solidFill>
                <a:latin typeface="Calibri" pitchFamily="34" charset="0"/>
                <a:ea typeface="Calibri" pitchFamily="34" charset="-122"/>
                <a:cs typeface="Calibri" pitchFamily="34" charset="-120"/>
              </a:rPr>
              <a:t> Your book is your own. The check makes sure you knew.</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What would make it wrong.</a:t>
            </a:r>
            <a:r>
              <a:rPr lang="en-US" sz="1200" dirty="0">
                <a:solidFill>
                  <a:srgbClr val="52656E"/>
                </a:solidFill>
                <a:latin typeface="Calibri" pitchFamily="34" charset="0"/>
                <a:ea typeface="Calibri" pitchFamily="34" charset="-122"/>
                <a:cs typeface="Calibri" pitchFamily="34" charset="-120"/>
              </a:rPr>
              <a:t> Anything written here becomes a testable premise on the thesis.</a:t>
            </a:r>
            <a:endParaRPr lang="en-US" sz="1200" dirty="0"/>
          </a:p>
        </p:txBody>
      </p:sp>
      <p:sp>
        <p:nvSpPr>
          <p:cNvPr id="13" name="Shape 10"/>
          <p:cNvSpPr/>
          <p:nvPr/>
        </p:nvSpPr>
        <p:spPr>
          <a:xfrm>
            <a:off x="5303520" y="1527048"/>
            <a:ext cx="6364224" cy="4261104"/>
          </a:xfrm>
          <a:prstGeom prst="rect">
            <a:avLst/>
          </a:prstGeom>
          <a:solidFill>
            <a:srgbClr val="FFFFFF"/>
          </a:solidFill>
          <a:ln w="9525">
            <a:solidFill>
              <a:srgbClr val="9AAEB5"/>
            </a:solidFill>
            <a:prstDash val="solid"/>
          </a:ln>
        </p:spPr>
      </p:sp>
      <p:pic>
        <p:nvPicPr>
          <p:cNvPr id="14" name="Image 0" descr="/home/user/AgeanticInvestmentPlatform/docs/product/investor-deck/screens/decision.jpg">    </p:cNvPr>
          <p:cNvPicPr>
            <a:picLocks noChangeAspect="1"/>
          </p:cNvPicPr>
          <p:nvPr/>
        </p:nvPicPr>
        <p:blipFill>
          <a:blip r:embed="rId1"/>
          <a:stretch>
            <a:fillRect/>
          </a:stretch>
        </p:blipFill>
        <p:spPr>
          <a:xfrm>
            <a:off x="5330952" y="1554480"/>
            <a:ext cx="6309360" cy="4206240"/>
          </a:xfrm>
          <a:prstGeom prst="rect">
            <a:avLst/>
          </a:prstGeom>
        </p:spPr>
      </p:pic>
      <p:sp>
        <p:nvSpPr>
          <p:cNvPr id="15" name="Text 11"/>
          <p:cNvSpPr txBox="1"/>
          <p:nvPr/>
        </p:nvSpPr>
        <p:spPr>
          <a:xfrm>
            <a:off x="5330952" y="5852160"/>
            <a:ext cx="6309360"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Design illustration from the V1.0 specification. Every company, name and figure in it is invented.</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04 · THE PRODUCT · HOLD</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Hold: a book sorted by whether its reasoning holds</a:t>
            </a:r>
            <a:endParaRPr lang="en-US" sz="2800" dirty="0"/>
          </a:p>
        </p:txBody>
      </p:sp>
      <p:sp>
        <p:nvSpPr>
          <p:cNvPr id="5" name="Shape 3"/>
          <p:cNvSpPr/>
          <p:nvPr/>
        </p:nvSpPr>
        <p:spPr>
          <a:xfrm>
            <a:off x="10083089" y="384048"/>
            <a:ext cx="1559966" cy="219456"/>
          </a:xfrm>
          <a:prstGeom prst="roundRect">
            <a:avLst>
              <a:gd name="adj" fmla="val 50000"/>
            </a:avLst>
          </a:prstGeom>
          <a:solidFill>
            <a:srgbClr val="F4F7F8"/>
          </a:solidFill>
          <a:ln w="12700">
            <a:solidFill>
              <a:srgbClr val="0F6673"/>
            </a:solidFill>
            <a:prstDash val="solid"/>
          </a:ln>
        </p:spPr>
      </p:sp>
      <p:sp>
        <p:nvSpPr>
          <p:cNvPr id="6" name="Text 4"/>
          <p:cNvSpPr txBox="1"/>
          <p:nvPr/>
        </p:nvSpPr>
        <p:spPr>
          <a:xfrm>
            <a:off x="10083089" y="384048"/>
            <a:ext cx="1559966" cy="219456"/>
          </a:xfrm>
          <a:prstGeom prst="rect">
            <a:avLst/>
          </a:prstGeom>
          <a:noFill/>
          <a:ln/>
        </p:spPr>
        <p:txBody>
          <a:bodyPr wrap="square" lIns="0" tIns="0" rIns="0" bIns="0" rtlCol="0" anchor="ctr"/>
          <a:lstStyle/>
          <a:p>
            <a:pPr algn="ctr" indent="0" marL="0">
              <a:buNone/>
            </a:pPr>
            <a:r>
              <a:rPr lang="en-US" sz="750" b="1" spc="80" kern="0" dirty="0">
                <a:solidFill>
                  <a:srgbClr val="0F6673"/>
                </a:solidFill>
                <a:latin typeface="Consolas" pitchFamily="34" charset="0"/>
                <a:ea typeface="Consolas" pitchFamily="34" charset="-122"/>
                <a:cs typeface="Consolas" pitchFamily="34" charset="-120"/>
              </a:rPr>
              <a:t>DESIGN ILLUSTRATION</a:t>
            </a:r>
            <a:endParaRPr lang="en-US" sz="750" dirty="0"/>
          </a:p>
        </p:txBody>
      </p:sp>
      <p:sp>
        <p:nvSpPr>
          <p:cNvPr id="7" name="Shape 5"/>
          <p:cNvSpPr/>
          <p:nvPr/>
        </p:nvSpPr>
        <p:spPr>
          <a:xfrm>
            <a:off x="8634679" y="384048"/>
            <a:ext cx="1356970" cy="219456"/>
          </a:xfrm>
          <a:prstGeom prst="roundRect">
            <a:avLst>
              <a:gd name="adj" fmla="val 50000"/>
            </a:avLst>
          </a:prstGeom>
          <a:solidFill>
            <a:srgbClr val="14613F"/>
          </a:solidFill>
          <a:ln/>
        </p:spPr>
      </p:sp>
      <p:sp>
        <p:nvSpPr>
          <p:cNvPr id="8" name="Text 6"/>
          <p:cNvSpPr txBox="1"/>
          <p:nvPr/>
        </p:nvSpPr>
        <p:spPr>
          <a:xfrm>
            <a:off x="8634679"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17</a:t>
            </a:r>
            <a:endParaRPr lang="en-US" sz="800" dirty="0"/>
          </a:p>
        </p:txBody>
      </p:sp>
      <p:sp>
        <p:nvSpPr>
          <p:cNvPr id="12" name="Text 9"/>
          <p:cNvSpPr txBox="1"/>
          <p:nvPr/>
        </p:nvSpPr>
        <p:spPr>
          <a:xfrm>
            <a:off x="548640" y="1600200"/>
            <a:ext cx="4343400" cy="4206240"/>
          </a:xfrm>
          <a:prstGeom prst="rect">
            <a:avLst/>
          </a:prstGeom>
          <a:noFill/>
          <a:ln/>
        </p:spPr>
        <p:txBody>
          <a:bodyPr wrap="square" lIns="0" tIns="0" rIns="0" bIns="0" rtlCol="0" anchor="t"/>
          <a:lstStyle/>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A validity dashboard.</a:t>
            </a:r>
            <a:r>
              <a:rPr lang="en-US" sz="1200" dirty="0">
                <a:solidFill>
                  <a:srgbClr val="52656E"/>
                </a:solidFill>
                <a:latin typeface="Calibri" pitchFamily="34" charset="0"/>
                <a:ea typeface="Calibri" pitchFamily="34" charset="-122"/>
                <a:cs typeface="Calibri" pitchFamily="34" charset="-120"/>
              </a:rPr>
              <a:t> Thesis state, last check and risk sit beside value; the book sorts by conviction risk, not profit.</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Two kinds of alert.</a:t>
            </a:r>
            <a:r>
              <a:rPr lang="en-US" sz="1200" dirty="0">
                <a:solidFill>
                  <a:srgbClr val="52656E"/>
                </a:solidFill>
                <a:latin typeface="Calibri" pitchFamily="34" charset="0"/>
                <a:ea typeface="Calibri" pitchFamily="34" charset="-122"/>
                <a:cs typeface="Calibri" pitchFamily="34" charset="-120"/>
              </a:rPr>
              <a:t> A premise broke, on a filing; or the price moved past your own threshold, on the close.</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Never a bare price move.</a:t>
            </a:r>
            <a:r>
              <a:rPr lang="en-US" sz="1200" dirty="0">
                <a:solidFill>
                  <a:srgbClr val="52656E"/>
                </a:solidFill>
                <a:latin typeface="Calibri" pitchFamily="34" charset="0"/>
                <a:ea typeface="Calibri" pitchFamily="34" charset="-122"/>
                <a:cs typeface="Calibri" pitchFamily="34" charset="-120"/>
              </a:rPr>
              <a:t> Every price alert arrives with what the record says about it.</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Risk you can trace.</a:t>
            </a:r>
            <a:r>
              <a:rPr lang="en-US" sz="1200" dirty="0">
                <a:solidFill>
                  <a:srgbClr val="52656E"/>
                </a:solidFill>
                <a:latin typeface="Calibri" pitchFamily="34" charset="0"/>
                <a:ea typeface="Calibri" pitchFamily="34" charset="-122"/>
                <a:cs typeface="Calibri" pitchFamily="34" charset="-120"/>
              </a:rPr>
              <a:t> Concentration, exposure and stated shocks, from the same arithmetic as the pre-trade check.</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Companies and a watchlist.</a:t>
            </a:r>
            <a:r>
              <a:rPr lang="en-US" sz="1200" dirty="0">
                <a:solidFill>
                  <a:srgbClr val="52656E"/>
                </a:solidFill>
                <a:latin typeface="Calibri" pitchFamily="34" charset="0"/>
                <a:ea typeface="Calibri" pitchFamily="34" charset="-122"/>
                <a:cs typeface="Calibri" pitchFamily="34" charset="-120"/>
              </a:rPr>
              <a:t> Held, researched-not-owned and closed-but-watched, each with its reason and a standing budget.</a:t>
            </a:r>
            <a:endParaRPr lang="en-US" sz="1200" dirty="0"/>
          </a:p>
        </p:txBody>
      </p:sp>
      <p:sp>
        <p:nvSpPr>
          <p:cNvPr id="13" name="Shape 10"/>
          <p:cNvSpPr/>
          <p:nvPr/>
        </p:nvSpPr>
        <p:spPr>
          <a:xfrm>
            <a:off x="5303520" y="1527048"/>
            <a:ext cx="6364224" cy="4261104"/>
          </a:xfrm>
          <a:prstGeom prst="rect">
            <a:avLst/>
          </a:prstGeom>
          <a:solidFill>
            <a:srgbClr val="FFFFFF"/>
          </a:solidFill>
          <a:ln w="9525">
            <a:solidFill>
              <a:srgbClr val="9AAEB5"/>
            </a:solidFill>
            <a:prstDash val="solid"/>
          </a:ln>
        </p:spPr>
      </p:sp>
      <p:pic>
        <p:nvPicPr>
          <p:cNvPr id="14" name="Image 0" descr="/home/user/AgeanticInvestmentPlatform/docs/product/investor-deck/screens/monitor.jpg">    </p:cNvPr>
          <p:cNvPicPr>
            <a:picLocks noChangeAspect="1"/>
          </p:cNvPicPr>
          <p:nvPr/>
        </p:nvPicPr>
        <p:blipFill>
          <a:blip r:embed="rId1"/>
          <a:stretch>
            <a:fillRect/>
          </a:stretch>
        </p:blipFill>
        <p:spPr>
          <a:xfrm>
            <a:off x="5330952" y="1554480"/>
            <a:ext cx="6309360" cy="4206240"/>
          </a:xfrm>
          <a:prstGeom prst="rect">
            <a:avLst/>
          </a:prstGeom>
        </p:spPr>
      </p:pic>
      <p:sp>
        <p:nvSpPr>
          <p:cNvPr id="15" name="Text 11"/>
          <p:cNvSpPr txBox="1"/>
          <p:nvPr/>
        </p:nvSpPr>
        <p:spPr>
          <a:xfrm>
            <a:off x="5330952" y="5852160"/>
            <a:ext cx="6309360"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Design illustration from the V1.0 specification. Every company, name and figure in it is invented.</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04 · THE PRODUCT · REVIEW</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Review: was it a good decision, or a lucky one?</a:t>
            </a:r>
            <a:endParaRPr lang="en-US" sz="2800" dirty="0"/>
          </a:p>
        </p:txBody>
      </p:sp>
      <p:sp>
        <p:nvSpPr>
          <p:cNvPr id="5" name="Shape 3"/>
          <p:cNvSpPr/>
          <p:nvPr/>
        </p:nvSpPr>
        <p:spPr>
          <a:xfrm>
            <a:off x="10083089" y="384048"/>
            <a:ext cx="1559966" cy="219456"/>
          </a:xfrm>
          <a:prstGeom prst="roundRect">
            <a:avLst>
              <a:gd name="adj" fmla="val 50000"/>
            </a:avLst>
          </a:prstGeom>
          <a:solidFill>
            <a:srgbClr val="F4F7F8"/>
          </a:solidFill>
          <a:ln w="12700">
            <a:solidFill>
              <a:srgbClr val="0F6673"/>
            </a:solidFill>
            <a:prstDash val="solid"/>
          </a:ln>
        </p:spPr>
      </p:sp>
      <p:sp>
        <p:nvSpPr>
          <p:cNvPr id="6" name="Text 4"/>
          <p:cNvSpPr txBox="1"/>
          <p:nvPr/>
        </p:nvSpPr>
        <p:spPr>
          <a:xfrm>
            <a:off x="10083089" y="384048"/>
            <a:ext cx="1559966" cy="219456"/>
          </a:xfrm>
          <a:prstGeom prst="rect">
            <a:avLst/>
          </a:prstGeom>
          <a:noFill/>
          <a:ln/>
        </p:spPr>
        <p:txBody>
          <a:bodyPr wrap="square" lIns="0" tIns="0" rIns="0" bIns="0" rtlCol="0" anchor="ctr"/>
          <a:lstStyle/>
          <a:p>
            <a:pPr algn="ctr" indent="0" marL="0">
              <a:buNone/>
            </a:pPr>
            <a:r>
              <a:rPr lang="en-US" sz="750" b="1" spc="80" kern="0" dirty="0">
                <a:solidFill>
                  <a:srgbClr val="0F6673"/>
                </a:solidFill>
                <a:latin typeface="Consolas" pitchFamily="34" charset="0"/>
                <a:ea typeface="Consolas" pitchFamily="34" charset="-122"/>
                <a:cs typeface="Consolas" pitchFamily="34" charset="-120"/>
              </a:rPr>
              <a:t>DESIGN ILLUSTRATION</a:t>
            </a:r>
            <a:endParaRPr lang="en-US" sz="750" dirty="0"/>
          </a:p>
        </p:txBody>
      </p:sp>
      <p:sp>
        <p:nvSpPr>
          <p:cNvPr id="7" name="Shape 5"/>
          <p:cNvSpPr/>
          <p:nvPr/>
        </p:nvSpPr>
        <p:spPr>
          <a:xfrm>
            <a:off x="8634679" y="384048"/>
            <a:ext cx="1356970" cy="219456"/>
          </a:xfrm>
          <a:prstGeom prst="roundRect">
            <a:avLst>
              <a:gd name="adj" fmla="val 50000"/>
            </a:avLst>
          </a:prstGeom>
          <a:solidFill>
            <a:srgbClr val="14613F"/>
          </a:solidFill>
          <a:ln/>
        </p:spPr>
      </p:sp>
      <p:sp>
        <p:nvSpPr>
          <p:cNvPr id="8" name="Text 6"/>
          <p:cNvSpPr txBox="1"/>
          <p:nvPr/>
        </p:nvSpPr>
        <p:spPr>
          <a:xfrm>
            <a:off x="8634679"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18</a:t>
            </a:r>
            <a:endParaRPr lang="en-US" sz="800" dirty="0"/>
          </a:p>
        </p:txBody>
      </p:sp>
      <p:sp>
        <p:nvSpPr>
          <p:cNvPr id="12" name="Text 9"/>
          <p:cNvSpPr txBox="1"/>
          <p:nvPr/>
        </p:nvSpPr>
        <p:spPr>
          <a:xfrm>
            <a:off x="548640" y="1600200"/>
            <a:ext cx="4343400" cy="4206240"/>
          </a:xfrm>
          <a:prstGeom prst="rect">
            <a:avLst/>
          </a:prstGeom>
          <a:noFill/>
          <a:ln/>
        </p:spPr>
        <p:txBody>
          <a:bodyPr wrap="square" lIns="0" tIns="0" rIns="0" bIns="0" rtlCol="0" anchor="t"/>
          <a:lstStyle/>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Two questions, never conflated.</a:t>
            </a:r>
            <a:r>
              <a:rPr lang="en-US" sz="1200" dirty="0">
                <a:solidFill>
                  <a:srgbClr val="52656E"/>
                </a:solidFill>
                <a:latin typeface="Calibri" pitchFamily="34" charset="0"/>
                <a:ea typeface="Calibri" pitchFamily="34" charset="-122"/>
                <a:cs typeface="Calibri" pitchFamily="34" charset="-120"/>
              </a:rPr>
              <a:t> Was the thesis right? Was the decision good?</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Four honest outcomes.</a:t>
            </a:r>
            <a:r>
              <a:rPr lang="en-US" sz="1200" dirty="0">
                <a:solidFill>
                  <a:srgbClr val="52656E"/>
                </a:solidFill>
                <a:latin typeface="Calibri" pitchFamily="34" charset="0"/>
                <a:ea typeface="Calibri" pitchFamily="34" charset="-122"/>
                <a:cs typeface="Calibri" pitchFamily="34" charset="-120"/>
              </a:rPr>
              <a:t> Right for the right reasons, right anyway, wrong for good reasons, wrong for bad ones.</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What you knew at the time.</a:t>
            </a:r>
            <a:r>
              <a:rPr lang="en-US" sz="1200" dirty="0">
                <a:solidFill>
                  <a:srgbClr val="52656E"/>
                </a:solidFill>
                <a:latin typeface="Calibri" pitchFamily="34" charset="0"/>
                <a:ea typeface="Calibri" pitchFamily="34" charset="-122"/>
                <a:cs typeface="Calibri" pitchFamily="34" charset="-120"/>
              </a:rPr>
              <a:t> Every artefact keeps its retrieval timestamp, so a review reads what was in front of you.</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Analytics with a count on everything.</a:t>
            </a:r>
            <a:r>
              <a:rPr lang="en-US" sz="1200" dirty="0">
                <a:solidFill>
                  <a:srgbClr val="52656E"/>
                </a:solidFill>
                <a:latin typeface="Calibri" pitchFamily="34" charset="0"/>
                <a:ea typeface="Calibri" pitchFamily="34" charset="-122"/>
                <a:cs typeface="Calibri" pitchFamily="34" charset="-120"/>
              </a:rPr>
              <a:t> Calibration and the premises you most often get wrong, silent until the sample supports a claim.</a:t>
            </a:r>
            <a:endParaRPr lang="en-US" sz="1200" dirty="0"/>
          </a:p>
          <a:p>
            <a:pPr marL="177800" indent="-177800">
              <a:spcAft>
                <a:spcPts val="1000"/>
              </a:spcAft>
              <a:buSzPct val="100000"/>
              <a:buChar char="•"/>
            </a:pPr>
            <a:r>
              <a:rPr lang="en-US" sz="1200" b="1" dirty="0">
                <a:solidFill>
                  <a:srgbClr val="15252E"/>
                </a:solidFill>
                <a:latin typeface="Calibri" pitchFamily="34" charset="0"/>
                <a:ea typeface="Calibri" pitchFamily="34" charset="-122"/>
                <a:cs typeface="Calibri" pitchFamily="34" charset="-120"/>
              </a:rPr>
              <a:t>A knowledge map.</a:t>
            </a:r>
            <a:r>
              <a:rPr lang="en-US" sz="1200" dirty="0">
                <a:solidFill>
                  <a:srgbClr val="52656E"/>
                </a:solidFill>
                <a:latin typeface="Calibri" pitchFamily="34" charset="0"/>
                <a:ea typeface="Calibri" pitchFamily="34" charset="-122"/>
                <a:cs typeface="Calibri" pitchFamily="34" charset="-120"/>
              </a:rPr>
              <a:t> Companies, peers, themes, theses and decisions as a graph; Ask says where a broken premise matters elsewhere.</a:t>
            </a:r>
            <a:endParaRPr lang="en-US" sz="1200" dirty="0"/>
          </a:p>
        </p:txBody>
      </p:sp>
      <p:sp>
        <p:nvSpPr>
          <p:cNvPr id="13" name="Shape 10"/>
          <p:cNvSpPr/>
          <p:nvPr/>
        </p:nvSpPr>
        <p:spPr>
          <a:xfrm>
            <a:off x="5303520" y="1527048"/>
            <a:ext cx="6364224" cy="4261104"/>
          </a:xfrm>
          <a:prstGeom prst="rect">
            <a:avLst/>
          </a:prstGeom>
          <a:solidFill>
            <a:srgbClr val="FFFFFF"/>
          </a:solidFill>
          <a:ln w="9525">
            <a:solidFill>
              <a:srgbClr val="9AAEB5"/>
            </a:solidFill>
            <a:prstDash val="solid"/>
          </a:ln>
        </p:spPr>
      </p:sp>
      <p:pic>
        <p:nvPicPr>
          <p:cNvPr id="14" name="Image 0" descr="/home/user/AgeanticInvestmentPlatform/docs/product/investor-deck/screens/review.jpg">    </p:cNvPr>
          <p:cNvPicPr>
            <a:picLocks noChangeAspect="1"/>
          </p:cNvPicPr>
          <p:nvPr/>
        </p:nvPicPr>
        <p:blipFill>
          <a:blip r:embed="rId1"/>
          <a:stretch>
            <a:fillRect/>
          </a:stretch>
        </p:blipFill>
        <p:spPr>
          <a:xfrm>
            <a:off x="5330952" y="1554480"/>
            <a:ext cx="6309360" cy="4206240"/>
          </a:xfrm>
          <a:prstGeom prst="rect">
            <a:avLst/>
          </a:prstGeom>
        </p:spPr>
      </p:pic>
      <p:sp>
        <p:nvSpPr>
          <p:cNvPr id="15" name="Text 11"/>
          <p:cNvSpPr txBox="1"/>
          <p:nvPr/>
        </p:nvSpPr>
        <p:spPr>
          <a:xfrm>
            <a:off x="5330952" y="5852160"/>
            <a:ext cx="6309360"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Design illustration from the V1.0 specification. Every company, name and figure in it is invented.</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04 · THE PRODUCT · EVERYTHING IN THE PLAN</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Everything in the plan, in one view</a:t>
            </a:r>
            <a:endParaRPr lang="en-US" sz="2800" dirty="0"/>
          </a:p>
        </p:txBody>
      </p:sp>
      <p:sp>
        <p:nvSpPr>
          <p:cNvPr id="5" name="Shape 3"/>
          <p:cNvSpPr/>
          <p:nvPr/>
        </p:nvSpPr>
        <p:spPr>
          <a:xfrm>
            <a:off x="10286086" y="384048"/>
            <a:ext cx="1356970" cy="219456"/>
          </a:xfrm>
          <a:prstGeom prst="roundRect">
            <a:avLst>
              <a:gd name="adj" fmla="val 50000"/>
            </a:avLst>
          </a:prstGeom>
          <a:solidFill>
            <a:srgbClr val="14613F"/>
          </a:solidFill>
          <a:ln/>
        </p:spPr>
      </p:sp>
      <p:sp>
        <p:nvSpPr>
          <p:cNvPr id="6" name="Text 4"/>
          <p:cNvSpPr txBox="1"/>
          <p:nvPr/>
        </p:nvSpPr>
        <p:spPr>
          <a:xfrm>
            <a:off x="10286086"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7" name="Text 5"/>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8" name="Text 6"/>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19</a:t>
            </a:r>
            <a:endParaRPr lang="en-US" sz="800" dirty="0"/>
          </a:p>
        </p:txBody>
      </p:sp>
      <p:sp>
        <p:nvSpPr>
          <p:cNvPr id="10" name="Shape 7"/>
          <p:cNvSpPr/>
          <p:nvPr/>
        </p:nvSpPr>
        <p:spPr>
          <a:xfrm>
            <a:off x="548640" y="1417320"/>
            <a:ext cx="2087209" cy="3703320"/>
          </a:xfrm>
          <a:prstGeom prst="roundRect">
            <a:avLst>
              <a:gd name="adj" fmla="val 2190"/>
            </a:avLst>
          </a:prstGeom>
          <a:solidFill>
            <a:srgbClr val="FFFFFF"/>
          </a:solidFill>
          <a:ln w="9525">
            <a:solidFill>
              <a:srgbClr val="CDD8DC"/>
            </a:solidFill>
            <a:prstDash val="solid"/>
          </a:ln>
        </p:spPr>
      </p:sp>
      <p:sp>
        <p:nvSpPr>
          <p:cNvPr id="11" name="Text 8"/>
          <p:cNvSpPr txBox="1"/>
          <p:nvPr/>
        </p:nvSpPr>
        <p:spPr>
          <a:xfrm>
            <a:off x="713232" y="1554480"/>
            <a:ext cx="1758025" cy="292608"/>
          </a:xfrm>
          <a:prstGeom prst="rect">
            <a:avLst/>
          </a:prstGeom>
          <a:noFill/>
          <a:ln/>
        </p:spPr>
        <p:txBody>
          <a:bodyPr wrap="square" lIns="0" tIns="0" rIns="0" bIns="0" rtlCol="0" anchor="t"/>
          <a:lstStyle/>
          <a:p>
            <a:pPr indent="0" marL="0">
              <a:buNone/>
            </a:pPr>
            <a:r>
              <a:rPr lang="en-US" sz="1400" b="1" dirty="0">
                <a:solidFill>
                  <a:srgbClr val="0F6673"/>
                </a:solidFill>
                <a:latin typeface="Calibri" pitchFamily="34" charset="0"/>
                <a:ea typeface="Calibri" pitchFamily="34" charset="-122"/>
                <a:cs typeface="Calibri" pitchFamily="34" charset="-120"/>
              </a:rPr>
              <a:t>Research</a:t>
            </a:r>
            <a:endParaRPr lang="en-US" sz="1400" dirty="0"/>
          </a:p>
        </p:txBody>
      </p:sp>
      <p:sp>
        <p:nvSpPr>
          <p:cNvPr id="12" name="Text 9"/>
          <p:cNvSpPr txBox="1"/>
          <p:nvPr/>
        </p:nvSpPr>
        <p:spPr>
          <a:xfrm>
            <a:off x="713232" y="1920240"/>
            <a:ext cx="1812889" cy="315468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Equity research pipeline</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Standard and Quick depth</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Refresh (F4)</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Ask, in three tiers (F6)</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Model workbook (F5)</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Calculator page</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Methodology library</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Unmapped-concept curation</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Depth in primary sources (F7)</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Print what the run computed (F8)</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Adversary argues your opposite (F2)</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UK path for tagged filers (F19)</a:t>
            </a:r>
            <a:endParaRPr lang="en-US" sz="1050" dirty="0"/>
          </a:p>
        </p:txBody>
      </p:sp>
      <p:sp>
        <p:nvSpPr>
          <p:cNvPr id="13" name="Shape 10"/>
          <p:cNvSpPr/>
          <p:nvPr/>
        </p:nvSpPr>
        <p:spPr>
          <a:xfrm>
            <a:off x="2800441" y="1417320"/>
            <a:ext cx="2087209" cy="3703320"/>
          </a:xfrm>
          <a:prstGeom prst="roundRect">
            <a:avLst>
              <a:gd name="adj" fmla="val 2190"/>
            </a:avLst>
          </a:prstGeom>
          <a:solidFill>
            <a:srgbClr val="FFFFFF"/>
          </a:solidFill>
          <a:ln w="9525">
            <a:solidFill>
              <a:srgbClr val="CDD8DC"/>
            </a:solidFill>
            <a:prstDash val="solid"/>
          </a:ln>
        </p:spPr>
      </p:sp>
      <p:sp>
        <p:nvSpPr>
          <p:cNvPr id="14" name="Text 11"/>
          <p:cNvSpPr txBox="1"/>
          <p:nvPr/>
        </p:nvSpPr>
        <p:spPr>
          <a:xfrm>
            <a:off x="2965033" y="1554480"/>
            <a:ext cx="1758025" cy="292608"/>
          </a:xfrm>
          <a:prstGeom prst="rect">
            <a:avLst/>
          </a:prstGeom>
          <a:noFill/>
          <a:ln/>
        </p:spPr>
        <p:txBody>
          <a:bodyPr wrap="square" lIns="0" tIns="0" rIns="0" bIns="0" rtlCol="0" anchor="t"/>
          <a:lstStyle/>
          <a:p>
            <a:pPr indent="0" marL="0">
              <a:buNone/>
            </a:pPr>
            <a:r>
              <a:rPr lang="en-US" sz="1400" b="1" dirty="0">
                <a:solidFill>
                  <a:srgbClr val="0F6673"/>
                </a:solidFill>
                <a:latin typeface="Calibri" pitchFamily="34" charset="0"/>
                <a:ea typeface="Calibri" pitchFamily="34" charset="-122"/>
                <a:cs typeface="Calibri" pitchFamily="34" charset="-120"/>
              </a:rPr>
              <a:t>Decide</a:t>
            </a:r>
            <a:endParaRPr lang="en-US" sz="1400" dirty="0"/>
          </a:p>
        </p:txBody>
      </p:sp>
      <p:sp>
        <p:nvSpPr>
          <p:cNvPr id="15" name="Text 12"/>
          <p:cNvSpPr txBox="1"/>
          <p:nvPr/>
        </p:nvSpPr>
        <p:spPr>
          <a:xfrm>
            <a:off x="2965033" y="1920240"/>
            <a:ext cx="1812889" cy="315468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Theses: premises with tests (F9)</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Decisions, and the pass (F10)</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Pre-trade check (F12)</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The stated view, composed and authored (F13)</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Closing section reads your book (F3)</a:t>
            </a:r>
            <a:endParaRPr lang="en-US" sz="1050" dirty="0"/>
          </a:p>
        </p:txBody>
      </p:sp>
      <p:sp>
        <p:nvSpPr>
          <p:cNvPr id="16" name="Shape 13"/>
          <p:cNvSpPr/>
          <p:nvPr/>
        </p:nvSpPr>
        <p:spPr>
          <a:xfrm>
            <a:off x="5052243" y="1417320"/>
            <a:ext cx="2087209" cy="3703320"/>
          </a:xfrm>
          <a:prstGeom prst="roundRect">
            <a:avLst>
              <a:gd name="adj" fmla="val 2190"/>
            </a:avLst>
          </a:prstGeom>
          <a:solidFill>
            <a:srgbClr val="FFFFFF"/>
          </a:solidFill>
          <a:ln w="9525">
            <a:solidFill>
              <a:srgbClr val="CDD8DC"/>
            </a:solidFill>
            <a:prstDash val="solid"/>
          </a:ln>
        </p:spPr>
      </p:sp>
      <p:sp>
        <p:nvSpPr>
          <p:cNvPr id="17" name="Text 14"/>
          <p:cNvSpPr txBox="1"/>
          <p:nvPr/>
        </p:nvSpPr>
        <p:spPr>
          <a:xfrm>
            <a:off x="5216835" y="1554480"/>
            <a:ext cx="1758025" cy="292608"/>
          </a:xfrm>
          <a:prstGeom prst="rect">
            <a:avLst/>
          </a:prstGeom>
          <a:noFill/>
          <a:ln/>
        </p:spPr>
        <p:txBody>
          <a:bodyPr wrap="square" lIns="0" tIns="0" rIns="0" bIns="0" rtlCol="0" anchor="t"/>
          <a:lstStyle/>
          <a:p>
            <a:pPr indent="0" marL="0">
              <a:buNone/>
            </a:pPr>
            <a:r>
              <a:rPr lang="en-US" sz="1400" b="1" dirty="0">
                <a:solidFill>
                  <a:srgbClr val="0F6673"/>
                </a:solidFill>
                <a:latin typeface="Calibri" pitchFamily="34" charset="0"/>
                <a:ea typeface="Calibri" pitchFamily="34" charset="-122"/>
                <a:cs typeface="Calibri" pitchFamily="34" charset="-120"/>
              </a:rPr>
              <a:t>Hold</a:t>
            </a:r>
            <a:endParaRPr lang="en-US" sz="1400" dirty="0"/>
          </a:p>
        </p:txBody>
      </p:sp>
      <p:sp>
        <p:nvSpPr>
          <p:cNvPr id="18" name="Text 15"/>
          <p:cNvSpPr txBox="1"/>
          <p:nvPr/>
        </p:nvSpPr>
        <p:spPr>
          <a:xfrm>
            <a:off x="5216835" y="1920240"/>
            <a:ext cx="1812889" cy="315468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Portfolio as a validity dashboard</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Companies and watchlist</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Monitor: premises and price (F11)</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Risk and stated shocks (F12)</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Scheduling: daily and monthly passes (F15)</a:t>
            </a:r>
            <a:endParaRPr lang="en-US" sz="1050" dirty="0"/>
          </a:p>
        </p:txBody>
      </p:sp>
      <p:sp>
        <p:nvSpPr>
          <p:cNvPr id="19" name="Shape 16"/>
          <p:cNvSpPr/>
          <p:nvPr/>
        </p:nvSpPr>
        <p:spPr>
          <a:xfrm>
            <a:off x="7304044" y="1417320"/>
            <a:ext cx="2087209" cy="3703320"/>
          </a:xfrm>
          <a:prstGeom prst="roundRect">
            <a:avLst>
              <a:gd name="adj" fmla="val 2190"/>
            </a:avLst>
          </a:prstGeom>
          <a:solidFill>
            <a:srgbClr val="FFFFFF"/>
          </a:solidFill>
          <a:ln w="9525">
            <a:solidFill>
              <a:srgbClr val="CDD8DC"/>
            </a:solidFill>
            <a:prstDash val="solid"/>
          </a:ln>
        </p:spPr>
      </p:sp>
      <p:sp>
        <p:nvSpPr>
          <p:cNvPr id="20" name="Text 17"/>
          <p:cNvSpPr txBox="1"/>
          <p:nvPr/>
        </p:nvSpPr>
        <p:spPr>
          <a:xfrm>
            <a:off x="7468636" y="1554480"/>
            <a:ext cx="1758025" cy="292608"/>
          </a:xfrm>
          <a:prstGeom prst="rect">
            <a:avLst/>
          </a:prstGeom>
          <a:noFill/>
          <a:ln/>
        </p:spPr>
        <p:txBody>
          <a:bodyPr wrap="square" lIns="0" tIns="0" rIns="0" bIns="0" rtlCol="0" anchor="t"/>
          <a:lstStyle/>
          <a:p>
            <a:pPr indent="0" marL="0">
              <a:buNone/>
            </a:pPr>
            <a:r>
              <a:rPr lang="en-US" sz="1400" b="1" dirty="0">
                <a:solidFill>
                  <a:srgbClr val="0F6673"/>
                </a:solidFill>
                <a:latin typeface="Calibri" pitchFamily="34" charset="0"/>
                <a:ea typeface="Calibri" pitchFamily="34" charset="-122"/>
                <a:cs typeface="Calibri" pitchFamily="34" charset="-120"/>
              </a:rPr>
              <a:t>Review</a:t>
            </a:r>
            <a:endParaRPr lang="en-US" sz="1400" dirty="0"/>
          </a:p>
        </p:txBody>
      </p:sp>
      <p:sp>
        <p:nvSpPr>
          <p:cNvPr id="21" name="Text 18"/>
          <p:cNvSpPr txBox="1"/>
          <p:nvPr/>
        </p:nvSpPr>
        <p:spPr>
          <a:xfrm>
            <a:off x="7468636" y="1920240"/>
            <a:ext cx="1812889" cy="315468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Post-trade review (F14)</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Decision analytics (F14)</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Knowledge map learns your decisions (F20)</a:t>
            </a:r>
            <a:endParaRPr lang="en-US" sz="1050" dirty="0"/>
          </a:p>
        </p:txBody>
      </p:sp>
      <p:sp>
        <p:nvSpPr>
          <p:cNvPr id="22" name="Shape 19"/>
          <p:cNvSpPr/>
          <p:nvPr/>
        </p:nvSpPr>
        <p:spPr>
          <a:xfrm>
            <a:off x="9555846" y="1417320"/>
            <a:ext cx="2087209" cy="3703320"/>
          </a:xfrm>
          <a:prstGeom prst="roundRect">
            <a:avLst>
              <a:gd name="adj" fmla="val 2190"/>
            </a:avLst>
          </a:prstGeom>
          <a:solidFill>
            <a:srgbClr val="FFFFFF"/>
          </a:solidFill>
          <a:ln w="9525">
            <a:solidFill>
              <a:srgbClr val="CDD8DC"/>
            </a:solidFill>
            <a:prstDash val="solid"/>
          </a:ln>
        </p:spPr>
      </p:sp>
      <p:sp>
        <p:nvSpPr>
          <p:cNvPr id="23" name="Text 20"/>
          <p:cNvSpPr txBox="1"/>
          <p:nvPr/>
        </p:nvSpPr>
        <p:spPr>
          <a:xfrm>
            <a:off x="9720438" y="1554480"/>
            <a:ext cx="1758025" cy="292608"/>
          </a:xfrm>
          <a:prstGeom prst="rect">
            <a:avLst/>
          </a:prstGeom>
          <a:noFill/>
          <a:ln/>
        </p:spPr>
        <p:txBody>
          <a:bodyPr wrap="square" lIns="0" tIns="0" rIns="0" bIns="0" rtlCol="0" anchor="t"/>
          <a:lstStyle/>
          <a:p>
            <a:pPr indent="0" marL="0">
              <a:buNone/>
            </a:pPr>
            <a:r>
              <a:rPr lang="en-US" sz="1400" b="1" dirty="0">
                <a:solidFill>
                  <a:srgbClr val="0F6673"/>
                </a:solidFill>
                <a:latin typeface="Calibri" pitchFamily="34" charset="0"/>
                <a:ea typeface="Calibri" pitchFamily="34" charset="-122"/>
                <a:cs typeface="Calibri" pitchFamily="34" charset="-120"/>
              </a:rPr>
              <a:t>Platform</a:t>
            </a:r>
            <a:endParaRPr lang="en-US" sz="1400" dirty="0"/>
          </a:p>
        </p:txBody>
      </p:sp>
      <p:sp>
        <p:nvSpPr>
          <p:cNvPr id="24" name="Text 21"/>
          <p:cNvSpPr txBox="1"/>
          <p:nvPr/>
        </p:nvSpPr>
        <p:spPr>
          <a:xfrm>
            <a:off x="9720438" y="1920240"/>
            <a:ext cx="1812889" cy="315468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Local-first: your machine, your database</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Costs, health and backups</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Model portability (F18)</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Printed excerpts stay data (F16)</a:t>
            </a:r>
            <a:endParaRPr lang="en-US" sz="1050" dirty="0"/>
          </a:p>
          <a:p>
            <a:pPr marL="152400" indent="-152400">
              <a:spcAft>
                <a:spcPts val="300"/>
              </a:spcAft>
              <a:buSzPct val="100000"/>
              <a:buChar char="•"/>
            </a:pPr>
            <a:r>
              <a:rPr lang="en-US" sz="1050" dirty="0">
                <a:solidFill>
                  <a:srgbClr val="15252E"/>
                </a:solidFill>
                <a:latin typeface="Calibri" pitchFamily="34" charset="0"/>
                <a:ea typeface="Calibri" pitchFamily="34" charset="-122"/>
                <a:cs typeface="Calibri" pitchFamily="34" charset="-120"/>
              </a:rPr>
              <a:t>Obsidian notes export</a:t>
            </a:r>
            <a:endParaRPr lang="en-US" sz="1050" dirty="0"/>
          </a:p>
        </p:txBody>
      </p:sp>
      <p:sp>
        <p:nvSpPr>
          <p:cNvPr id="25" name="Shape 22"/>
          <p:cNvSpPr/>
          <p:nvPr/>
        </p:nvSpPr>
        <p:spPr>
          <a:xfrm>
            <a:off x="548640" y="5285232"/>
            <a:ext cx="5432908" cy="804672"/>
          </a:xfrm>
          <a:prstGeom prst="roundRect">
            <a:avLst>
              <a:gd name="adj" fmla="val 5682"/>
            </a:avLst>
          </a:prstGeom>
          <a:solidFill>
            <a:srgbClr val="FFF3D6"/>
          </a:solidFill>
          <a:ln w="9525">
            <a:solidFill>
              <a:srgbClr val="7A4B00"/>
            </a:solidFill>
            <a:prstDash val="solid"/>
          </a:ln>
        </p:spPr>
      </p:sp>
      <p:sp>
        <p:nvSpPr>
          <p:cNvPr id="26" name="Text 23"/>
          <p:cNvSpPr txBox="1"/>
          <p:nvPr/>
        </p:nvSpPr>
        <p:spPr>
          <a:xfrm>
            <a:off x="676656" y="5413248"/>
            <a:ext cx="5176876"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NEXT, NOT YET IN THE PLAN</a:t>
            </a:r>
            <a:endParaRPr lang="en-US" sz="800" dirty="0"/>
          </a:p>
        </p:txBody>
      </p:sp>
      <p:sp>
        <p:nvSpPr>
          <p:cNvPr id="27" name="Text 24"/>
          <p:cNvSpPr txBox="1"/>
          <p:nvPr/>
        </p:nvSpPr>
        <p:spPr>
          <a:xfrm>
            <a:off x="676656" y="5641848"/>
            <a:ext cx="5176876" cy="371246"/>
          </a:xfrm>
          <a:prstGeom prst="rect">
            <a:avLst/>
          </a:prstGeom>
          <a:noFill/>
          <a:ln/>
        </p:spPr>
        <p:txBody>
          <a:bodyPr wrap="square" lIns="0" tIns="0" rIns="0" bIns="0" rtlCol="0" anchor="t"/>
          <a:lstStyle/>
          <a:p>
            <a:pPr algn="l" indent="0" marL="0">
              <a:buNone/>
            </a:pPr>
            <a:r>
              <a:rPr lang="en-US" sz="1000" dirty="0">
                <a:solidFill>
                  <a:srgbClr val="5D3900"/>
                </a:solidFill>
                <a:latin typeface="Calibri" pitchFamily="34" charset="0"/>
                <a:ea typeface="Calibri" pitchFamily="34" charset="-122"/>
                <a:cs typeface="Calibri" pitchFamily="34" charset="-120"/>
              </a:rPr>
              <a:t>Designed, deferred: accounts, sharing and a sealed read-only evidence pack (F17, ADR 0120), the step to a second user.</a:t>
            </a:r>
            <a:endParaRPr lang="en-US" sz="1000" dirty="0"/>
          </a:p>
        </p:txBody>
      </p:sp>
      <p:sp>
        <p:nvSpPr>
          <p:cNvPr id="28" name="Shape 25"/>
          <p:cNvSpPr/>
          <p:nvPr/>
        </p:nvSpPr>
        <p:spPr>
          <a:xfrm>
            <a:off x="6210148" y="5285232"/>
            <a:ext cx="5432908" cy="804672"/>
          </a:xfrm>
          <a:prstGeom prst="roundRect">
            <a:avLst>
              <a:gd name="adj" fmla="val 5682"/>
            </a:avLst>
          </a:prstGeom>
          <a:solidFill>
            <a:srgbClr val="F6EAF2"/>
          </a:solidFill>
          <a:ln w="9525">
            <a:solidFill>
              <a:srgbClr val="6B3F60"/>
            </a:solidFill>
            <a:prstDash val="solid"/>
          </a:ln>
        </p:spPr>
      </p:sp>
      <p:sp>
        <p:nvSpPr>
          <p:cNvPr id="29" name="Text 26"/>
          <p:cNvSpPr txBox="1"/>
          <p:nvPr/>
        </p:nvSpPr>
        <p:spPr>
          <a:xfrm>
            <a:off x="6347308" y="5394960"/>
            <a:ext cx="5158588" cy="182880"/>
          </a:xfrm>
          <a:prstGeom prst="rect">
            <a:avLst/>
          </a:prstGeom>
          <a:noFill/>
          <a:ln/>
        </p:spPr>
        <p:txBody>
          <a:bodyPr wrap="square" lIns="0" tIns="0" rIns="0" bIns="0" rtlCol="0" anchor="t"/>
          <a:lstStyle/>
          <a:p>
            <a:pPr indent="0" marL="0">
              <a:buNone/>
            </a:pPr>
            <a:r>
              <a:rPr lang="en-US" sz="800" b="1" spc="100" kern="0" dirty="0">
                <a:solidFill>
                  <a:srgbClr val="6B3F60"/>
                </a:solidFill>
                <a:latin typeface="Consolas" pitchFamily="34" charset="0"/>
                <a:ea typeface="Consolas" pitchFamily="34" charset="-122"/>
                <a:cs typeface="Consolas" pitchFamily="34" charset="-120"/>
              </a:rPr>
              <a:t>DECIDED AGAINST</a:t>
            </a:r>
            <a:endParaRPr lang="en-US" sz="800" dirty="0"/>
          </a:p>
        </p:txBody>
      </p:sp>
      <p:sp>
        <p:nvSpPr>
          <p:cNvPr id="30" name="Text 27"/>
          <p:cNvSpPr txBox="1"/>
          <p:nvPr/>
        </p:nvSpPr>
        <p:spPr>
          <a:xfrm>
            <a:off x="6347308" y="5623560"/>
            <a:ext cx="5158588" cy="411480"/>
          </a:xfrm>
          <a:prstGeom prst="rect">
            <a:avLst/>
          </a:prstGeom>
          <a:noFill/>
          <a:ln/>
        </p:spPr>
        <p:txBody>
          <a:bodyPr wrap="square" lIns="0" tIns="0" rIns="0" bIns="0" rtlCol="0" anchor="t"/>
          <a:lstStyle/>
          <a:p>
            <a:pPr indent="0" marL="0">
              <a:buNone/>
            </a:pPr>
            <a:r>
              <a:rPr lang="en-US" sz="1100" dirty="0">
                <a:solidFill>
                  <a:srgbClr val="15252E"/>
                </a:solidFill>
                <a:latin typeface="Calibri" pitchFamily="34" charset="0"/>
                <a:ea typeface="Calibri" pitchFamily="34" charset="-122"/>
                <a:cs typeface="Calibri" pitchFamily="34" charset="-120"/>
              </a:rPr>
              <a:t>Trade execution, broker connections, a portfolio optimiser, multi-user deployment, investment advice.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04 · THE PRODUCT · FOUNDATIONS</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Built like a system that expects to be audited</a:t>
            </a:r>
            <a:endParaRPr lang="en-US" sz="2800" dirty="0"/>
          </a:p>
        </p:txBody>
      </p:sp>
      <p:sp>
        <p:nvSpPr>
          <p:cNvPr id="5" name="Shape 3"/>
          <p:cNvSpPr/>
          <p:nvPr/>
        </p:nvSpPr>
        <p:spPr>
          <a:xfrm>
            <a:off x="10827410" y="384048"/>
            <a:ext cx="815645" cy="219456"/>
          </a:xfrm>
          <a:prstGeom prst="roundRect">
            <a:avLst>
              <a:gd name="adj" fmla="val 50000"/>
            </a:avLst>
          </a:prstGeom>
          <a:solidFill>
            <a:srgbClr val="0F6673"/>
          </a:solidFill>
          <a:ln/>
        </p:spPr>
      </p:sp>
      <p:sp>
        <p:nvSpPr>
          <p:cNvPr id="6" name="Text 4"/>
          <p:cNvSpPr txBox="1"/>
          <p:nvPr/>
        </p:nvSpPr>
        <p:spPr>
          <a:xfrm>
            <a:off x="10827410"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7" name="Text 5"/>
          <p:cNvSpPr txBox="1"/>
          <p:nvPr/>
        </p:nvSpPr>
        <p:spPr>
          <a:xfrm>
            <a:off x="548640" y="6217920"/>
            <a:ext cx="11094415"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Counted from the repository on 25 Sep 2026; test and artefact counts from the verdict round’s gate, 24 Sep 2026.</a:t>
            </a:r>
            <a:endParaRPr lang="en-US" sz="900" dirty="0"/>
          </a:p>
        </p:txBody>
      </p:sp>
      <p:sp>
        <p:nvSpPr>
          <p:cNvPr id="8" name="Text 6"/>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9" name="Text 7"/>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20</a:t>
            </a:r>
            <a:endParaRPr lang="en-US" sz="800" dirty="0"/>
          </a:p>
        </p:txBody>
      </p:sp>
      <p:sp>
        <p:nvSpPr>
          <p:cNvPr id="11" name="Shape 8"/>
          <p:cNvSpPr/>
          <p:nvPr/>
        </p:nvSpPr>
        <p:spPr>
          <a:xfrm>
            <a:off x="548640" y="1463040"/>
            <a:ext cx="2636444" cy="1600200"/>
          </a:xfrm>
          <a:prstGeom prst="roundRect">
            <a:avLst>
              <a:gd name="adj" fmla="val 2857"/>
            </a:avLst>
          </a:prstGeom>
          <a:solidFill>
            <a:srgbClr val="FFFFFF"/>
          </a:solidFill>
          <a:ln w="9525">
            <a:solidFill>
              <a:srgbClr val="CDD8DC"/>
            </a:solidFill>
            <a:prstDash val="solid"/>
          </a:ln>
        </p:spPr>
      </p:sp>
      <p:sp>
        <p:nvSpPr>
          <p:cNvPr id="12" name="Text 9"/>
          <p:cNvSpPr txBox="1"/>
          <p:nvPr/>
        </p:nvSpPr>
        <p:spPr>
          <a:xfrm>
            <a:off x="731520" y="1609344"/>
            <a:ext cx="2270684" cy="457200"/>
          </a:xfrm>
          <a:prstGeom prst="rect">
            <a:avLst/>
          </a:prstGeom>
          <a:noFill/>
          <a:ln/>
        </p:spPr>
        <p:txBody>
          <a:bodyPr wrap="square" lIns="0" tIns="0" rIns="0" bIns="0" rtlCol="0" anchor="t"/>
          <a:lstStyle/>
          <a:p>
            <a:pPr indent="0" marL="0">
              <a:buNone/>
            </a:pPr>
            <a:r>
              <a:rPr lang="en-US" sz="2400" b="1" dirty="0">
                <a:solidFill>
                  <a:srgbClr val="0F6673"/>
                </a:solidFill>
                <a:latin typeface="Consolas" pitchFamily="34" charset="0"/>
                <a:ea typeface="Consolas" pitchFamily="34" charset="-122"/>
                <a:cs typeface="Consolas" pitchFamily="34" charset="-120"/>
              </a:rPr>
              <a:t>8,288</a:t>
            </a:r>
            <a:endParaRPr lang="en-US" sz="2400" dirty="0"/>
          </a:p>
        </p:txBody>
      </p:sp>
      <p:sp>
        <p:nvSpPr>
          <p:cNvPr id="13" name="Text 10"/>
          <p:cNvSpPr txBox="1"/>
          <p:nvPr/>
        </p:nvSpPr>
        <p:spPr>
          <a:xfrm>
            <a:off x="731520" y="2121408"/>
            <a:ext cx="2270684" cy="85039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automated tests at the last gate: 8,054 default and 234 in a browser, run with no network and no model spend</a:t>
            </a:r>
            <a:endParaRPr lang="en-US" sz="1050" dirty="0"/>
          </a:p>
        </p:txBody>
      </p:sp>
      <p:sp>
        <p:nvSpPr>
          <p:cNvPr id="14" name="Shape 11"/>
          <p:cNvSpPr/>
          <p:nvPr/>
        </p:nvSpPr>
        <p:spPr>
          <a:xfrm>
            <a:off x="3367964" y="1463040"/>
            <a:ext cx="2636444" cy="1600200"/>
          </a:xfrm>
          <a:prstGeom prst="roundRect">
            <a:avLst>
              <a:gd name="adj" fmla="val 2857"/>
            </a:avLst>
          </a:prstGeom>
          <a:solidFill>
            <a:srgbClr val="FFFFFF"/>
          </a:solidFill>
          <a:ln w="9525">
            <a:solidFill>
              <a:srgbClr val="CDD8DC"/>
            </a:solidFill>
            <a:prstDash val="solid"/>
          </a:ln>
        </p:spPr>
      </p:sp>
      <p:sp>
        <p:nvSpPr>
          <p:cNvPr id="15" name="Text 12"/>
          <p:cNvSpPr txBox="1"/>
          <p:nvPr/>
        </p:nvSpPr>
        <p:spPr>
          <a:xfrm>
            <a:off x="3550844" y="1609344"/>
            <a:ext cx="2270684" cy="457200"/>
          </a:xfrm>
          <a:prstGeom prst="rect">
            <a:avLst/>
          </a:prstGeom>
          <a:noFill/>
          <a:ln/>
        </p:spPr>
        <p:txBody>
          <a:bodyPr wrap="square" lIns="0" tIns="0" rIns="0" bIns="0" rtlCol="0" anchor="t"/>
          <a:lstStyle/>
          <a:p>
            <a:pPr indent="0" marL="0">
              <a:buNone/>
            </a:pPr>
            <a:r>
              <a:rPr lang="en-US" sz="2400" b="1" dirty="0">
                <a:solidFill>
                  <a:srgbClr val="0F6673"/>
                </a:solidFill>
                <a:latin typeface="Consolas" pitchFamily="34" charset="0"/>
                <a:ea typeface="Consolas" pitchFamily="34" charset="-122"/>
                <a:cs typeface="Consolas" pitchFamily="34" charset="-120"/>
              </a:rPr>
              <a:t>141k</a:t>
            </a:r>
            <a:endParaRPr lang="en-US" sz="2400" dirty="0"/>
          </a:p>
        </p:txBody>
      </p:sp>
      <p:sp>
        <p:nvSpPr>
          <p:cNvPr id="16" name="Text 13"/>
          <p:cNvSpPr txBox="1"/>
          <p:nvPr/>
        </p:nvSpPr>
        <p:spPr>
          <a:xfrm>
            <a:off x="3550844" y="2121408"/>
            <a:ext cx="2270684" cy="85039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lines of application code in 415 Python modules</a:t>
            </a:r>
            <a:endParaRPr lang="en-US" sz="1050" dirty="0"/>
          </a:p>
        </p:txBody>
      </p:sp>
      <p:sp>
        <p:nvSpPr>
          <p:cNvPr id="17" name="Shape 14"/>
          <p:cNvSpPr/>
          <p:nvPr/>
        </p:nvSpPr>
        <p:spPr>
          <a:xfrm>
            <a:off x="6187288" y="1463040"/>
            <a:ext cx="2636444" cy="1600200"/>
          </a:xfrm>
          <a:prstGeom prst="roundRect">
            <a:avLst>
              <a:gd name="adj" fmla="val 2857"/>
            </a:avLst>
          </a:prstGeom>
          <a:solidFill>
            <a:srgbClr val="FFFFFF"/>
          </a:solidFill>
          <a:ln w="9525">
            <a:solidFill>
              <a:srgbClr val="CDD8DC"/>
            </a:solidFill>
            <a:prstDash val="solid"/>
          </a:ln>
        </p:spPr>
      </p:sp>
      <p:sp>
        <p:nvSpPr>
          <p:cNvPr id="18" name="Text 15"/>
          <p:cNvSpPr txBox="1"/>
          <p:nvPr/>
        </p:nvSpPr>
        <p:spPr>
          <a:xfrm>
            <a:off x="6370168" y="1609344"/>
            <a:ext cx="2270684" cy="457200"/>
          </a:xfrm>
          <a:prstGeom prst="rect">
            <a:avLst/>
          </a:prstGeom>
          <a:noFill/>
          <a:ln/>
        </p:spPr>
        <p:txBody>
          <a:bodyPr wrap="square" lIns="0" tIns="0" rIns="0" bIns="0" rtlCol="0" anchor="t"/>
          <a:lstStyle/>
          <a:p>
            <a:pPr indent="0" marL="0">
              <a:buNone/>
            </a:pPr>
            <a:r>
              <a:rPr lang="en-US" sz="2400" b="1" dirty="0">
                <a:solidFill>
                  <a:srgbClr val="0F6673"/>
                </a:solidFill>
                <a:latin typeface="Consolas" pitchFamily="34" charset="0"/>
                <a:ea typeface="Consolas" pitchFamily="34" charset="-122"/>
                <a:cs typeface="Consolas" pitchFamily="34" charset="-120"/>
              </a:rPr>
              <a:t>144k</a:t>
            </a:r>
            <a:endParaRPr lang="en-US" sz="2400" dirty="0"/>
          </a:p>
        </p:txBody>
      </p:sp>
      <p:sp>
        <p:nvSpPr>
          <p:cNvPr id="19" name="Text 16"/>
          <p:cNvSpPr txBox="1"/>
          <p:nvPr/>
        </p:nvSpPr>
        <p:spPr>
          <a:xfrm>
            <a:off x="6370168" y="2121408"/>
            <a:ext cx="2270684" cy="85039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lines of test code, in 281 test modules and their fixtures</a:t>
            </a:r>
            <a:endParaRPr lang="en-US" sz="1050" dirty="0"/>
          </a:p>
        </p:txBody>
      </p:sp>
      <p:sp>
        <p:nvSpPr>
          <p:cNvPr id="20" name="Shape 17"/>
          <p:cNvSpPr/>
          <p:nvPr/>
        </p:nvSpPr>
        <p:spPr>
          <a:xfrm>
            <a:off x="9006611" y="1463040"/>
            <a:ext cx="2636444" cy="1600200"/>
          </a:xfrm>
          <a:prstGeom prst="roundRect">
            <a:avLst>
              <a:gd name="adj" fmla="val 2857"/>
            </a:avLst>
          </a:prstGeom>
          <a:solidFill>
            <a:srgbClr val="FFFFFF"/>
          </a:solidFill>
          <a:ln w="9525">
            <a:solidFill>
              <a:srgbClr val="CDD8DC"/>
            </a:solidFill>
            <a:prstDash val="solid"/>
          </a:ln>
        </p:spPr>
      </p:sp>
      <p:sp>
        <p:nvSpPr>
          <p:cNvPr id="21" name="Text 18"/>
          <p:cNvSpPr txBox="1"/>
          <p:nvPr/>
        </p:nvSpPr>
        <p:spPr>
          <a:xfrm>
            <a:off x="9189491" y="1609344"/>
            <a:ext cx="2270684" cy="457200"/>
          </a:xfrm>
          <a:prstGeom prst="rect">
            <a:avLst/>
          </a:prstGeom>
          <a:noFill/>
          <a:ln/>
        </p:spPr>
        <p:txBody>
          <a:bodyPr wrap="square" lIns="0" tIns="0" rIns="0" bIns="0" rtlCol="0" anchor="t"/>
          <a:lstStyle/>
          <a:p>
            <a:pPr indent="0" marL="0">
              <a:buNone/>
            </a:pPr>
            <a:r>
              <a:rPr lang="en-US" sz="2400" b="1" dirty="0">
                <a:solidFill>
                  <a:srgbClr val="0F6673"/>
                </a:solidFill>
                <a:latin typeface="Consolas" pitchFamily="34" charset="0"/>
                <a:ea typeface="Consolas" pitchFamily="34" charset="-122"/>
                <a:cs typeface="Consolas" pitchFamily="34" charset="-120"/>
              </a:rPr>
              <a:t>131</a:t>
            </a:r>
            <a:endParaRPr lang="en-US" sz="2400" dirty="0"/>
          </a:p>
        </p:txBody>
      </p:sp>
      <p:sp>
        <p:nvSpPr>
          <p:cNvPr id="22" name="Text 19"/>
          <p:cNvSpPr txBox="1"/>
          <p:nvPr/>
        </p:nvSpPr>
        <p:spPr>
          <a:xfrm>
            <a:off x="9189491" y="2121408"/>
            <a:ext cx="2270684" cy="85039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architecture decision records, each a claim, immutable once accepted</a:t>
            </a:r>
            <a:endParaRPr lang="en-US" sz="1050" dirty="0"/>
          </a:p>
        </p:txBody>
      </p:sp>
      <p:sp>
        <p:nvSpPr>
          <p:cNvPr id="23" name="Shape 20"/>
          <p:cNvSpPr/>
          <p:nvPr/>
        </p:nvSpPr>
        <p:spPr>
          <a:xfrm>
            <a:off x="548640" y="3246120"/>
            <a:ext cx="2636444" cy="1600200"/>
          </a:xfrm>
          <a:prstGeom prst="roundRect">
            <a:avLst>
              <a:gd name="adj" fmla="val 2857"/>
            </a:avLst>
          </a:prstGeom>
          <a:solidFill>
            <a:srgbClr val="FFFFFF"/>
          </a:solidFill>
          <a:ln w="9525">
            <a:solidFill>
              <a:srgbClr val="CDD8DC"/>
            </a:solidFill>
            <a:prstDash val="solid"/>
          </a:ln>
        </p:spPr>
      </p:sp>
      <p:sp>
        <p:nvSpPr>
          <p:cNvPr id="24" name="Text 21"/>
          <p:cNvSpPr txBox="1"/>
          <p:nvPr/>
        </p:nvSpPr>
        <p:spPr>
          <a:xfrm>
            <a:off x="731520" y="3392424"/>
            <a:ext cx="2270684" cy="457200"/>
          </a:xfrm>
          <a:prstGeom prst="rect">
            <a:avLst/>
          </a:prstGeom>
          <a:noFill/>
          <a:ln/>
        </p:spPr>
        <p:txBody>
          <a:bodyPr wrap="square" lIns="0" tIns="0" rIns="0" bIns="0" rtlCol="0" anchor="t"/>
          <a:lstStyle/>
          <a:p>
            <a:pPr indent="0" marL="0">
              <a:buNone/>
            </a:pPr>
            <a:r>
              <a:rPr lang="en-US" sz="2400" b="1" dirty="0">
                <a:solidFill>
                  <a:srgbClr val="0F6673"/>
                </a:solidFill>
                <a:latin typeface="Consolas" pitchFamily="34" charset="0"/>
                <a:ea typeface="Consolas" pitchFamily="34" charset="-122"/>
                <a:cs typeface="Consolas" pitchFamily="34" charset="-120"/>
              </a:rPr>
              <a:t>87</a:t>
            </a:r>
            <a:endParaRPr lang="en-US" sz="2400" dirty="0"/>
          </a:p>
        </p:txBody>
      </p:sp>
      <p:sp>
        <p:nvSpPr>
          <p:cNvPr id="25" name="Text 22"/>
          <p:cNvSpPr txBox="1"/>
          <p:nvPr/>
        </p:nvSpPr>
        <p:spPr>
          <a:xfrm>
            <a:off x="731520" y="3904488"/>
            <a:ext cx="2270684" cy="85039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database migrations</a:t>
            </a:r>
            <a:endParaRPr lang="en-US" sz="1050" dirty="0"/>
          </a:p>
        </p:txBody>
      </p:sp>
      <p:sp>
        <p:nvSpPr>
          <p:cNvPr id="26" name="Shape 23"/>
          <p:cNvSpPr/>
          <p:nvPr/>
        </p:nvSpPr>
        <p:spPr>
          <a:xfrm>
            <a:off x="3367964" y="3246120"/>
            <a:ext cx="2636444" cy="1600200"/>
          </a:xfrm>
          <a:prstGeom prst="roundRect">
            <a:avLst>
              <a:gd name="adj" fmla="val 2857"/>
            </a:avLst>
          </a:prstGeom>
          <a:solidFill>
            <a:srgbClr val="FFFFFF"/>
          </a:solidFill>
          <a:ln w="9525">
            <a:solidFill>
              <a:srgbClr val="CDD8DC"/>
            </a:solidFill>
            <a:prstDash val="solid"/>
          </a:ln>
        </p:spPr>
      </p:sp>
      <p:sp>
        <p:nvSpPr>
          <p:cNvPr id="27" name="Text 24"/>
          <p:cNvSpPr txBox="1"/>
          <p:nvPr/>
        </p:nvSpPr>
        <p:spPr>
          <a:xfrm>
            <a:off x="3550844" y="3392424"/>
            <a:ext cx="2270684" cy="457200"/>
          </a:xfrm>
          <a:prstGeom prst="rect">
            <a:avLst/>
          </a:prstGeom>
          <a:noFill/>
          <a:ln/>
        </p:spPr>
        <p:txBody>
          <a:bodyPr wrap="square" lIns="0" tIns="0" rIns="0" bIns="0" rtlCol="0" anchor="t"/>
          <a:lstStyle/>
          <a:p>
            <a:pPr indent="0" marL="0">
              <a:buNone/>
            </a:pPr>
            <a:r>
              <a:rPr lang="en-US" sz="2400" b="1" dirty="0">
                <a:solidFill>
                  <a:srgbClr val="0F6673"/>
                </a:solidFill>
                <a:latin typeface="Consolas" pitchFamily="34" charset="0"/>
                <a:ea typeface="Consolas" pitchFamily="34" charset="-122"/>
                <a:cs typeface="Consolas" pitchFamily="34" charset="-120"/>
              </a:rPr>
              <a:t>7 + 1</a:t>
            </a:r>
            <a:endParaRPr lang="en-US" sz="2400" dirty="0"/>
          </a:p>
        </p:txBody>
      </p:sp>
      <p:sp>
        <p:nvSpPr>
          <p:cNvPr id="28" name="Text 25"/>
          <p:cNvSpPr txBox="1"/>
          <p:nvPr/>
        </p:nvSpPr>
        <p:spPr>
          <a:xfrm>
            <a:off x="3550844" y="3904488"/>
            <a:ext cx="2270684" cy="85039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invariants: seven live and one retired by decision record, each enforced in code and pinned by tests</a:t>
            </a:r>
            <a:endParaRPr lang="en-US" sz="1050" dirty="0"/>
          </a:p>
        </p:txBody>
      </p:sp>
      <p:sp>
        <p:nvSpPr>
          <p:cNvPr id="29" name="Shape 26"/>
          <p:cNvSpPr/>
          <p:nvPr/>
        </p:nvSpPr>
        <p:spPr>
          <a:xfrm>
            <a:off x="6187288" y="3246120"/>
            <a:ext cx="2636444" cy="1600200"/>
          </a:xfrm>
          <a:prstGeom prst="roundRect">
            <a:avLst>
              <a:gd name="adj" fmla="val 2857"/>
            </a:avLst>
          </a:prstGeom>
          <a:solidFill>
            <a:srgbClr val="FFFFFF"/>
          </a:solidFill>
          <a:ln w="9525">
            <a:solidFill>
              <a:srgbClr val="CDD8DC"/>
            </a:solidFill>
            <a:prstDash val="solid"/>
          </a:ln>
        </p:spPr>
      </p:sp>
      <p:sp>
        <p:nvSpPr>
          <p:cNvPr id="30" name="Text 27"/>
          <p:cNvSpPr txBox="1"/>
          <p:nvPr/>
        </p:nvSpPr>
        <p:spPr>
          <a:xfrm>
            <a:off x="6370168" y="3392424"/>
            <a:ext cx="2270684" cy="457200"/>
          </a:xfrm>
          <a:prstGeom prst="rect">
            <a:avLst/>
          </a:prstGeom>
          <a:noFill/>
          <a:ln/>
        </p:spPr>
        <p:txBody>
          <a:bodyPr wrap="square" lIns="0" tIns="0" rIns="0" bIns="0" rtlCol="0" anchor="t"/>
          <a:lstStyle/>
          <a:p>
            <a:pPr indent="0" marL="0">
              <a:buNone/>
            </a:pPr>
            <a:r>
              <a:rPr lang="en-US" sz="2400" b="1" dirty="0">
                <a:solidFill>
                  <a:srgbClr val="0F6673"/>
                </a:solidFill>
                <a:latin typeface="Consolas" pitchFamily="34" charset="0"/>
                <a:ea typeface="Consolas" pitchFamily="34" charset="-122"/>
                <a:cs typeface="Consolas" pitchFamily="34" charset="-120"/>
              </a:rPr>
              <a:t>772</a:t>
            </a:r>
            <a:endParaRPr lang="en-US" sz="2400" dirty="0"/>
          </a:p>
        </p:txBody>
      </p:sp>
      <p:sp>
        <p:nvSpPr>
          <p:cNvPr id="31" name="Text 28"/>
          <p:cNvSpPr txBox="1"/>
          <p:nvPr/>
        </p:nvSpPr>
        <p:spPr>
          <a:xfrm>
            <a:off x="6370168" y="3904488"/>
            <a:ext cx="2270684" cy="85039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archived artefacts re-hashed intact at the last gate, 24 Sep 2026</a:t>
            </a:r>
            <a:endParaRPr lang="en-US" sz="1050" dirty="0"/>
          </a:p>
        </p:txBody>
      </p:sp>
      <p:sp>
        <p:nvSpPr>
          <p:cNvPr id="32" name="Shape 29"/>
          <p:cNvSpPr/>
          <p:nvPr/>
        </p:nvSpPr>
        <p:spPr>
          <a:xfrm>
            <a:off x="9006611" y="3246120"/>
            <a:ext cx="2636444" cy="1600200"/>
          </a:xfrm>
          <a:prstGeom prst="roundRect">
            <a:avLst>
              <a:gd name="adj" fmla="val 2857"/>
            </a:avLst>
          </a:prstGeom>
          <a:solidFill>
            <a:srgbClr val="FFFFFF"/>
          </a:solidFill>
          <a:ln w="9525">
            <a:solidFill>
              <a:srgbClr val="CDD8DC"/>
            </a:solidFill>
            <a:prstDash val="solid"/>
          </a:ln>
        </p:spPr>
      </p:sp>
      <p:sp>
        <p:nvSpPr>
          <p:cNvPr id="33" name="Text 30"/>
          <p:cNvSpPr txBox="1"/>
          <p:nvPr/>
        </p:nvSpPr>
        <p:spPr>
          <a:xfrm>
            <a:off x="9189491" y="3392424"/>
            <a:ext cx="2270684" cy="457200"/>
          </a:xfrm>
          <a:prstGeom prst="rect">
            <a:avLst/>
          </a:prstGeom>
          <a:noFill/>
          <a:ln/>
        </p:spPr>
        <p:txBody>
          <a:bodyPr wrap="square" lIns="0" tIns="0" rIns="0" bIns="0" rtlCol="0" anchor="t"/>
          <a:lstStyle/>
          <a:p>
            <a:pPr indent="0" marL="0">
              <a:buNone/>
            </a:pPr>
            <a:r>
              <a:rPr lang="en-US" sz="2400" b="1" dirty="0">
                <a:solidFill>
                  <a:srgbClr val="0F6673"/>
                </a:solidFill>
                <a:latin typeface="Consolas" pitchFamily="34" charset="0"/>
                <a:ea typeface="Consolas" pitchFamily="34" charset="-122"/>
                <a:cs typeface="Consolas" pitchFamily="34" charset="-120"/>
              </a:rPr>
              <a:t>1 + 1</a:t>
            </a:r>
            <a:endParaRPr lang="en-US" sz="2400" dirty="0"/>
          </a:p>
        </p:txBody>
      </p:sp>
      <p:sp>
        <p:nvSpPr>
          <p:cNvPr id="34" name="Text 31"/>
          <p:cNvSpPr txBox="1"/>
          <p:nvPr/>
        </p:nvSpPr>
        <p:spPr>
          <a:xfrm>
            <a:off x="9189491" y="3904488"/>
            <a:ext cx="2270684" cy="85039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one door to the network and one to the model: nothing else may make a request or import the vendor SDK</a:t>
            </a:r>
            <a:endParaRPr lang="en-US" sz="1050" dirty="0"/>
          </a:p>
        </p:txBody>
      </p:sp>
      <p:sp>
        <p:nvSpPr>
          <p:cNvPr id="35" name="Shape 32"/>
          <p:cNvSpPr/>
          <p:nvPr/>
        </p:nvSpPr>
        <p:spPr>
          <a:xfrm>
            <a:off x="548640" y="5029200"/>
            <a:ext cx="11094415" cy="1005840"/>
          </a:xfrm>
          <a:prstGeom prst="roundRect">
            <a:avLst>
              <a:gd name="adj" fmla="val 4545"/>
            </a:avLst>
          </a:prstGeom>
          <a:solidFill>
            <a:srgbClr val="E2F3F4"/>
          </a:solidFill>
          <a:ln w="9525">
            <a:solidFill>
              <a:srgbClr val="0F6673"/>
            </a:solidFill>
            <a:prstDash val="solid"/>
          </a:ln>
        </p:spPr>
      </p:sp>
      <p:sp>
        <p:nvSpPr>
          <p:cNvPr id="36" name="Text 33"/>
          <p:cNvSpPr txBox="1"/>
          <p:nvPr/>
        </p:nvSpPr>
        <p:spPr>
          <a:xfrm>
            <a:off x="777240" y="5120640"/>
            <a:ext cx="10637215" cy="822960"/>
          </a:xfrm>
          <a:prstGeom prst="rect">
            <a:avLst/>
          </a:prstGeom>
          <a:noFill/>
          <a:ln/>
        </p:spPr>
        <p:txBody>
          <a:bodyPr wrap="square" lIns="0" tIns="0" rIns="0" bIns="0" rtlCol="0" anchor="ctr"/>
          <a:lstStyle/>
          <a:p>
            <a:pPr indent="0" marL="0">
              <a:buNone/>
            </a:pPr>
            <a:r>
              <a:rPr lang="en-US" sz="1150" dirty="0">
                <a:solidFill>
                  <a:srgbClr val="15252E"/>
                </a:solidFill>
                <a:latin typeface="Calibri" pitchFamily="34" charset="0"/>
                <a:ea typeface="Calibri" pitchFamily="34" charset="-122"/>
                <a:cs typeface="Calibri" pitchFamily="34" charset="-120"/>
              </a:rPr>
              <a:t>Local-first: Python 3.12, PostgreSQL and a background worker on the operator’s own machine. The correctness core, the arithmetic and domain types, is strictly typed and free of side effects; every model call is priced and capped in code; every figure can be replayed from its own record.</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05 · EVIDENCE</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Audited on live runs, and published either way</a:t>
            </a:r>
            <a:endParaRPr lang="en-US" sz="2800" dirty="0"/>
          </a:p>
        </p:txBody>
      </p:sp>
      <p:sp>
        <p:nvSpPr>
          <p:cNvPr id="5" name="Shape 3"/>
          <p:cNvSpPr/>
          <p:nvPr/>
        </p:nvSpPr>
        <p:spPr>
          <a:xfrm>
            <a:off x="10827410" y="384048"/>
            <a:ext cx="815645" cy="219456"/>
          </a:xfrm>
          <a:prstGeom prst="roundRect">
            <a:avLst>
              <a:gd name="adj" fmla="val 50000"/>
            </a:avLst>
          </a:prstGeom>
          <a:solidFill>
            <a:srgbClr val="0F6673"/>
          </a:solidFill>
          <a:ln/>
        </p:spPr>
      </p:sp>
      <p:sp>
        <p:nvSpPr>
          <p:cNvPr id="6" name="Text 4"/>
          <p:cNvSpPr txBox="1"/>
          <p:nvPr/>
        </p:nvSpPr>
        <p:spPr>
          <a:xfrm>
            <a:off x="10827410"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7" name="Text 5"/>
          <p:cNvSpPr txBox="1"/>
          <p:nvPr/>
        </p:nvSpPr>
        <p:spPr>
          <a:xfrm>
            <a:off x="548640" y="6217920"/>
            <a:ext cx="11094415"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Readiness audit, 11–12 Sep 2026: six live runs on Microsoft, AstraZeneca and M&amp;T Bank, three matched AI baselines, £63.32 of measured spend against a £100 ceiling.</a:t>
            </a:r>
            <a:endParaRPr lang="en-US" sz="900" dirty="0"/>
          </a:p>
        </p:txBody>
      </p:sp>
      <p:sp>
        <p:nvSpPr>
          <p:cNvPr id="8" name="Text 6"/>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9" name="Text 7"/>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21</a:t>
            </a:r>
            <a:endParaRPr lang="en-US" sz="800" dirty="0"/>
          </a:p>
        </p:txBody>
      </p:sp>
      <p:sp>
        <p:nvSpPr>
          <p:cNvPr id="11" name="Shape 8"/>
          <p:cNvSpPr/>
          <p:nvPr/>
        </p:nvSpPr>
        <p:spPr>
          <a:xfrm>
            <a:off x="548640" y="1463040"/>
            <a:ext cx="3545738" cy="1508760"/>
          </a:xfrm>
          <a:prstGeom prst="roundRect">
            <a:avLst>
              <a:gd name="adj" fmla="val 3030"/>
            </a:avLst>
          </a:prstGeom>
          <a:solidFill>
            <a:srgbClr val="FFFFFF"/>
          </a:solidFill>
          <a:ln w="9525">
            <a:solidFill>
              <a:srgbClr val="CDD8DC"/>
            </a:solidFill>
            <a:prstDash val="solid"/>
          </a:ln>
        </p:spPr>
      </p:sp>
      <p:sp>
        <p:nvSpPr>
          <p:cNvPr id="12" name="Text 9"/>
          <p:cNvSpPr txBox="1"/>
          <p:nvPr/>
        </p:nvSpPr>
        <p:spPr>
          <a:xfrm>
            <a:off x="731520" y="1609344"/>
            <a:ext cx="3179978" cy="457200"/>
          </a:xfrm>
          <a:prstGeom prst="rect">
            <a:avLst/>
          </a:prstGeom>
          <a:noFill/>
          <a:ln/>
        </p:spPr>
        <p:txBody>
          <a:bodyPr wrap="square" lIns="0" tIns="0" rIns="0" bIns="0" rtlCol="0" anchor="t"/>
          <a:lstStyle/>
          <a:p>
            <a:pPr indent="0" marL="0">
              <a:buNone/>
            </a:pPr>
            <a:r>
              <a:rPr lang="en-US" sz="2600" b="1" dirty="0">
                <a:solidFill>
                  <a:srgbClr val="0F6673"/>
                </a:solidFill>
                <a:latin typeface="Consolas" pitchFamily="34" charset="0"/>
                <a:ea typeface="Consolas" pitchFamily="34" charset="-122"/>
                <a:cs typeface="Consolas" pitchFamily="34" charset="-120"/>
              </a:rPr>
              <a:t>0 of 779</a:t>
            </a:r>
            <a:endParaRPr lang="en-US" sz="2600" dirty="0"/>
          </a:p>
        </p:txBody>
      </p:sp>
      <p:sp>
        <p:nvSpPr>
          <p:cNvPr id="13" name="Text 10"/>
          <p:cNvSpPr txBox="1"/>
          <p:nvPr/>
        </p:nvSpPr>
        <p:spPr>
          <a:xfrm>
            <a:off x="731520" y="2121408"/>
            <a:ext cx="3179978" cy="75895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checkable figures contradicted by their source, across five reports</a:t>
            </a:r>
            <a:endParaRPr lang="en-US" sz="1050" dirty="0"/>
          </a:p>
        </p:txBody>
      </p:sp>
      <p:sp>
        <p:nvSpPr>
          <p:cNvPr id="14" name="Shape 11"/>
          <p:cNvSpPr/>
          <p:nvPr/>
        </p:nvSpPr>
        <p:spPr>
          <a:xfrm>
            <a:off x="4322978" y="1463040"/>
            <a:ext cx="3545738" cy="1508760"/>
          </a:xfrm>
          <a:prstGeom prst="roundRect">
            <a:avLst>
              <a:gd name="adj" fmla="val 3030"/>
            </a:avLst>
          </a:prstGeom>
          <a:solidFill>
            <a:srgbClr val="FFFFFF"/>
          </a:solidFill>
          <a:ln w="9525">
            <a:solidFill>
              <a:srgbClr val="CDD8DC"/>
            </a:solidFill>
            <a:prstDash val="solid"/>
          </a:ln>
        </p:spPr>
      </p:sp>
      <p:sp>
        <p:nvSpPr>
          <p:cNvPr id="15" name="Text 12"/>
          <p:cNvSpPr txBox="1"/>
          <p:nvPr/>
        </p:nvSpPr>
        <p:spPr>
          <a:xfrm>
            <a:off x="4505858" y="1609344"/>
            <a:ext cx="3179978" cy="457200"/>
          </a:xfrm>
          <a:prstGeom prst="rect">
            <a:avLst/>
          </a:prstGeom>
          <a:noFill/>
          <a:ln/>
        </p:spPr>
        <p:txBody>
          <a:bodyPr wrap="square" lIns="0" tIns="0" rIns="0" bIns="0" rtlCol="0" anchor="t"/>
          <a:lstStyle/>
          <a:p>
            <a:pPr indent="0" marL="0">
              <a:buNone/>
            </a:pPr>
            <a:r>
              <a:rPr lang="en-US" sz="2600" b="1" dirty="0">
                <a:solidFill>
                  <a:srgbClr val="0F6673"/>
                </a:solidFill>
                <a:latin typeface="Consolas" pitchFamily="34" charset="0"/>
                <a:ea typeface="Consolas" pitchFamily="34" charset="-122"/>
                <a:cs typeface="Consolas" pitchFamily="34" charset="-120"/>
              </a:rPr>
              <a:t>259 / 259</a:t>
            </a:r>
            <a:endParaRPr lang="en-US" sz="2600" dirty="0"/>
          </a:p>
        </p:txBody>
      </p:sp>
      <p:sp>
        <p:nvSpPr>
          <p:cNvPr id="16" name="Text 13"/>
          <p:cNvSpPr txBox="1"/>
          <p:nvPr/>
        </p:nvSpPr>
        <p:spPr>
          <a:xfrm>
            <a:off x="4505858" y="2121408"/>
            <a:ext cx="3179978" cy="75895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citations confirmed by code re-reading the archived bytes</a:t>
            </a:r>
            <a:endParaRPr lang="en-US" sz="1050" dirty="0"/>
          </a:p>
        </p:txBody>
      </p:sp>
      <p:sp>
        <p:nvSpPr>
          <p:cNvPr id="17" name="Shape 14"/>
          <p:cNvSpPr/>
          <p:nvPr/>
        </p:nvSpPr>
        <p:spPr>
          <a:xfrm>
            <a:off x="8097317" y="1463040"/>
            <a:ext cx="3545738" cy="1508760"/>
          </a:xfrm>
          <a:prstGeom prst="roundRect">
            <a:avLst>
              <a:gd name="adj" fmla="val 3030"/>
            </a:avLst>
          </a:prstGeom>
          <a:solidFill>
            <a:srgbClr val="FFFFFF"/>
          </a:solidFill>
          <a:ln w="9525">
            <a:solidFill>
              <a:srgbClr val="CDD8DC"/>
            </a:solidFill>
            <a:prstDash val="solid"/>
          </a:ln>
        </p:spPr>
      </p:sp>
      <p:sp>
        <p:nvSpPr>
          <p:cNvPr id="18" name="Text 15"/>
          <p:cNvSpPr txBox="1"/>
          <p:nvPr/>
        </p:nvSpPr>
        <p:spPr>
          <a:xfrm>
            <a:off x="8280197" y="1609344"/>
            <a:ext cx="3179978" cy="457200"/>
          </a:xfrm>
          <a:prstGeom prst="rect">
            <a:avLst/>
          </a:prstGeom>
          <a:noFill/>
          <a:ln/>
        </p:spPr>
        <p:txBody>
          <a:bodyPr wrap="square" lIns="0" tIns="0" rIns="0" bIns="0" rtlCol="0" anchor="t"/>
          <a:lstStyle/>
          <a:p>
            <a:pPr indent="0" marL="0">
              <a:buNone/>
            </a:pPr>
            <a:r>
              <a:rPr lang="en-US" sz="2600" b="1" dirty="0">
                <a:solidFill>
                  <a:srgbClr val="0F6673"/>
                </a:solidFill>
                <a:latin typeface="Consolas" pitchFamily="34" charset="0"/>
                <a:ea typeface="Consolas" pitchFamily="34" charset="-122"/>
                <a:cs typeface="Consolas" pitchFamily="34" charset="-120"/>
              </a:rPr>
              <a:t>3,335</a:t>
            </a:r>
            <a:endParaRPr lang="en-US" sz="2600" dirty="0"/>
          </a:p>
        </p:txBody>
      </p:sp>
      <p:sp>
        <p:nvSpPr>
          <p:cNvPr id="19" name="Text 16"/>
          <p:cNvSpPr txBox="1"/>
          <p:nvPr/>
        </p:nvSpPr>
        <p:spPr>
          <a:xfrm>
            <a:off x="8280197" y="2121408"/>
            <a:ext cx="3179978" cy="75895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calculation rows re-executed from their stored inputs, with zero divergence</a:t>
            </a:r>
            <a:endParaRPr lang="en-US" sz="1050" dirty="0"/>
          </a:p>
        </p:txBody>
      </p:sp>
      <p:sp>
        <p:nvSpPr>
          <p:cNvPr id="20" name="Shape 17"/>
          <p:cNvSpPr/>
          <p:nvPr/>
        </p:nvSpPr>
        <p:spPr>
          <a:xfrm>
            <a:off x="548640" y="3154680"/>
            <a:ext cx="3545738" cy="1508760"/>
          </a:xfrm>
          <a:prstGeom prst="roundRect">
            <a:avLst>
              <a:gd name="adj" fmla="val 3030"/>
            </a:avLst>
          </a:prstGeom>
          <a:solidFill>
            <a:srgbClr val="FFFFFF"/>
          </a:solidFill>
          <a:ln w="9525">
            <a:solidFill>
              <a:srgbClr val="CDD8DC"/>
            </a:solidFill>
            <a:prstDash val="solid"/>
          </a:ln>
        </p:spPr>
      </p:sp>
      <p:sp>
        <p:nvSpPr>
          <p:cNvPr id="21" name="Text 18"/>
          <p:cNvSpPr txBox="1"/>
          <p:nvPr/>
        </p:nvSpPr>
        <p:spPr>
          <a:xfrm>
            <a:off x="731520" y="3300984"/>
            <a:ext cx="3179978" cy="457200"/>
          </a:xfrm>
          <a:prstGeom prst="rect">
            <a:avLst/>
          </a:prstGeom>
          <a:noFill/>
          <a:ln/>
        </p:spPr>
        <p:txBody>
          <a:bodyPr wrap="square" lIns="0" tIns="0" rIns="0" bIns="0" rtlCol="0" anchor="t"/>
          <a:lstStyle/>
          <a:p>
            <a:pPr indent="0" marL="0">
              <a:buNone/>
            </a:pPr>
            <a:r>
              <a:rPr lang="en-US" sz="2600" b="1" dirty="0">
                <a:solidFill>
                  <a:srgbClr val="0F6673"/>
                </a:solidFill>
                <a:latin typeface="Consolas" pitchFamily="34" charset="0"/>
                <a:ea typeface="Consolas" pitchFamily="34" charset="-122"/>
                <a:cs typeface="Consolas" pitchFamily="34" charset="-120"/>
              </a:rPr>
              <a:t>559</a:t>
            </a:r>
            <a:endParaRPr lang="en-US" sz="2600" dirty="0"/>
          </a:p>
        </p:txBody>
      </p:sp>
      <p:sp>
        <p:nvSpPr>
          <p:cNvPr id="22" name="Text 19"/>
          <p:cNvSpPr txBox="1"/>
          <p:nvPr/>
        </p:nvSpPr>
        <p:spPr>
          <a:xfrm>
            <a:off x="731520" y="3813048"/>
            <a:ext cx="3179978" cy="75895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archived artefacts re-hashed intact; a 36-event audit chain unbroken</a:t>
            </a:r>
            <a:endParaRPr lang="en-US" sz="1050" dirty="0"/>
          </a:p>
        </p:txBody>
      </p:sp>
      <p:sp>
        <p:nvSpPr>
          <p:cNvPr id="23" name="Shape 20"/>
          <p:cNvSpPr/>
          <p:nvPr/>
        </p:nvSpPr>
        <p:spPr>
          <a:xfrm>
            <a:off x="4322978" y="3154680"/>
            <a:ext cx="3545738" cy="1508760"/>
          </a:xfrm>
          <a:prstGeom prst="roundRect">
            <a:avLst>
              <a:gd name="adj" fmla="val 3030"/>
            </a:avLst>
          </a:prstGeom>
          <a:solidFill>
            <a:srgbClr val="FFFFFF"/>
          </a:solidFill>
          <a:ln w="9525">
            <a:solidFill>
              <a:srgbClr val="CDD8DC"/>
            </a:solidFill>
            <a:prstDash val="solid"/>
          </a:ln>
        </p:spPr>
      </p:sp>
      <p:sp>
        <p:nvSpPr>
          <p:cNvPr id="24" name="Text 21"/>
          <p:cNvSpPr txBox="1"/>
          <p:nvPr/>
        </p:nvSpPr>
        <p:spPr>
          <a:xfrm>
            <a:off x="4505858" y="3300984"/>
            <a:ext cx="3179978" cy="457200"/>
          </a:xfrm>
          <a:prstGeom prst="rect">
            <a:avLst/>
          </a:prstGeom>
          <a:noFill/>
          <a:ln/>
        </p:spPr>
        <p:txBody>
          <a:bodyPr wrap="square" lIns="0" tIns="0" rIns="0" bIns="0" rtlCol="0" anchor="t"/>
          <a:lstStyle/>
          <a:p>
            <a:pPr indent="0" marL="0">
              <a:buNone/>
            </a:pPr>
            <a:r>
              <a:rPr lang="en-US" sz="2600" b="1" dirty="0">
                <a:solidFill>
                  <a:srgbClr val="0F6673"/>
                </a:solidFill>
                <a:latin typeface="Consolas" pitchFamily="34" charset="0"/>
                <a:ea typeface="Consolas" pitchFamily="34" charset="-122"/>
                <a:cs typeface="Consolas" pitchFamily="34" charset="-120"/>
              </a:rPr>
              <a:t>£7.19</a:t>
            </a:r>
            <a:endParaRPr lang="en-US" sz="2600" dirty="0"/>
          </a:p>
        </p:txBody>
      </p:sp>
      <p:sp>
        <p:nvSpPr>
          <p:cNvPr id="25" name="Text 22"/>
          <p:cNvSpPr txBox="1"/>
          <p:nvPr/>
        </p:nvSpPr>
        <p:spPr>
          <a:xfrm>
            <a:off x="4505858" y="3813048"/>
            <a:ext cx="3179978" cy="75895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average per full report; five runs inside an 11% band, against 65% for the AI baseline</a:t>
            </a:r>
            <a:endParaRPr lang="en-US" sz="1050" dirty="0"/>
          </a:p>
        </p:txBody>
      </p:sp>
      <p:sp>
        <p:nvSpPr>
          <p:cNvPr id="26" name="Shape 23"/>
          <p:cNvSpPr/>
          <p:nvPr/>
        </p:nvSpPr>
        <p:spPr>
          <a:xfrm>
            <a:off x="8097317" y="3154680"/>
            <a:ext cx="3545738" cy="1508760"/>
          </a:xfrm>
          <a:prstGeom prst="roundRect">
            <a:avLst>
              <a:gd name="adj" fmla="val 3030"/>
            </a:avLst>
          </a:prstGeom>
          <a:solidFill>
            <a:srgbClr val="FFFFFF"/>
          </a:solidFill>
          <a:ln w="9525">
            <a:solidFill>
              <a:srgbClr val="CDD8DC"/>
            </a:solidFill>
            <a:prstDash val="solid"/>
          </a:ln>
        </p:spPr>
      </p:sp>
      <p:sp>
        <p:nvSpPr>
          <p:cNvPr id="27" name="Text 24"/>
          <p:cNvSpPr txBox="1"/>
          <p:nvPr/>
        </p:nvSpPr>
        <p:spPr>
          <a:xfrm>
            <a:off x="8280197" y="3300984"/>
            <a:ext cx="3179978" cy="457200"/>
          </a:xfrm>
          <a:prstGeom prst="rect">
            <a:avLst/>
          </a:prstGeom>
          <a:noFill/>
          <a:ln/>
        </p:spPr>
        <p:txBody>
          <a:bodyPr wrap="square" lIns="0" tIns="0" rIns="0" bIns="0" rtlCol="0" anchor="t"/>
          <a:lstStyle/>
          <a:p>
            <a:pPr indent="0" marL="0">
              <a:buNone/>
            </a:pPr>
            <a:r>
              <a:rPr lang="en-US" sz="2600" b="1" dirty="0">
                <a:solidFill>
                  <a:srgbClr val="0F6673"/>
                </a:solidFill>
                <a:latin typeface="Consolas" pitchFamily="34" charset="0"/>
                <a:ea typeface="Consolas" pitchFamily="34" charset="-122"/>
                <a:cs typeface="Consolas" pitchFamily="34" charset="-120"/>
              </a:rPr>
              <a:t>28 → 21</a:t>
            </a:r>
            <a:endParaRPr lang="en-US" sz="2600" dirty="0"/>
          </a:p>
        </p:txBody>
      </p:sp>
      <p:sp>
        <p:nvSpPr>
          <p:cNvPr id="28" name="Text 25"/>
          <p:cNvSpPr txBox="1"/>
          <p:nvPr/>
        </p:nvSpPr>
        <p:spPr>
          <a:xfrm>
            <a:off x="8280197" y="3813048"/>
            <a:ext cx="3179978" cy="758952"/>
          </a:xfrm>
          <a:prstGeom prst="rect">
            <a:avLst/>
          </a:prstGeom>
          <a:noFill/>
          <a:ln/>
        </p:spPr>
        <p:txBody>
          <a:bodyPr wrap="square" lIns="0" tIns="0" rIns="0" bIns="0" rtlCol="0" anchor="t"/>
          <a:lstStyle/>
          <a:p>
            <a:pPr indent="0" marL="0">
              <a:buNone/>
            </a:pPr>
            <a:r>
              <a:rPr lang="en-US" sz="1050" dirty="0">
                <a:solidFill>
                  <a:srgbClr val="52656E"/>
                </a:solidFill>
                <a:latin typeface="Calibri" pitchFamily="34" charset="0"/>
                <a:ea typeface="Calibri" pitchFamily="34" charset="-122"/>
                <a:cs typeface="Calibri" pitchFamily="34" charset="-120"/>
              </a:rPr>
              <a:t>defects the audit found → fixed, each with a regression test</a:t>
            </a:r>
            <a:endParaRPr lang="en-US" sz="1050" dirty="0"/>
          </a:p>
        </p:txBody>
      </p:sp>
      <p:sp>
        <p:nvSpPr>
          <p:cNvPr id="29" name="Shape 26"/>
          <p:cNvSpPr/>
          <p:nvPr/>
        </p:nvSpPr>
        <p:spPr>
          <a:xfrm>
            <a:off x="548640" y="4846320"/>
            <a:ext cx="11094415" cy="1188720"/>
          </a:xfrm>
          <a:prstGeom prst="roundRect">
            <a:avLst>
              <a:gd name="adj" fmla="val 3846"/>
            </a:avLst>
          </a:prstGeom>
          <a:solidFill>
            <a:srgbClr val="FFFFFF"/>
          </a:solidFill>
          <a:ln w="9525">
            <a:solidFill>
              <a:srgbClr val="CDD8DC"/>
            </a:solidFill>
            <a:prstDash val="solid"/>
          </a:ln>
        </p:spPr>
      </p:sp>
      <p:sp>
        <p:nvSpPr>
          <p:cNvPr id="30" name="Text 27"/>
          <p:cNvSpPr txBox="1"/>
          <p:nvPr/>
        </p:nvSpPr>
        <p:spPr>
          <a:xfrm>
            <a:off x="777240" y="4983480"/>
            <a:ext cx="4572000" cy="182880"/>
          </a:xfrm>
          <a:prstGeom prst="rect">
            <a:avLst/>
          </a:prstGeom>
          <a:noFill/>
          <a:ln/>
        </p:spPr>
        <p:txBody>
          <a:bodyPr wrap="square" lIns="0" tIns="0" rIns="0" bIns="0" rtlCol="0" anchor="t"/>
          <a:lstStyle/>
          <a:p>
            <a:pPr indent="0" marL="0">
              <a:buNone/>
            </a:pPr>
            <a:r>
              <a:rPr lang="en-US" sz="900" b="1" spc="100" kern="0" dirty="0">
                <a:solidFill>
                  <a:srgbClr val="52656E"/>
                </a:solidFill>
                <a:latin typeface="Consolas" pitchFamily="34" charset="0"/>
                <a:ea typeface="Consolas" pitchFamily="34" charset="-122"/>
                <a:cs typeface="Consolas" pitchFamily="34" charset="-120"/>
              </a:rPr>
              <a:t>THE AUDIT’S OWN VERDICT, 12 SEP 2026</a:t>
            </a:r>
            <a:endParaRPr lang="en-US" sz="900" dirty="0"/>
          </a:p>
        </p:txBody>
      </p:sp>
      <p:sp>
        <p:nvSpPr>
          <p:cNvPr id="31" name="Text 28"/>
          <p:cNvSpPr txBox="1"/>
          <p:nvPr/>
        </p:nvSpPr>
        <p:spPr>
          <a:xfrm>
            <a:off x="777240" y="5285232"/>
            <a:ext cx="1920240" cy="274320"/>
          </a:xfrm>
          <a:prstGeom prst="rect">
            <a:avLst/>
          </a:prstGeom>
          <a:noFill/>
          <a:ln/>
        </p:spPr>
        <p:txBody>
          <a:bodyPr wrap="square" lIns="0" tIns="0" rIns="0" bIns="0" rtlCol="0" anchor="t"/>
          <a:lstStyle/>
          <a:p>
            <a:pPr indent="0" marL="0">
              <a:buNone/>
            </a:pPr>
            <a:r>
              <a:rPr lang="en-US" sz="1250" b="1" dirty="0">
                <a:solidFill>
                  <a:srgbClr val="15252E"/>
                </a:solidFill>
                <a:latin typeface="Calibri" pitchFamily="34" charset="0"/>
                <a:ea typeface="Calibri" pitchFamily="34" charset="-122"/>
                <a:cs typeface="Calibri" pitchFamily="34" charset="-120"/>
              </a:rPr>
              <a:t>Accurate  </a:t>
            </a:r>
            <a:r>
              <a:rPr lang="en-US" sz="1250" b="1" dirty="0">
                <a:solidFill>
                  <a:srgbClr val="14613F"/>
                </a:solidFill>
                <a:latin typeface="Calibri" pitchFamily="34" charset="0"/>
                <a:ea typeface="Calibri" pitchFamily="34" charset="-122"/>
                <a:cs typeface="Calibri" pitchFamily="34" charset="-120"/>
              </a:rPr>
              <a:t>yes</a:t>
            </a:r>
            <a:endParaRPr lang="en-US" sz="1250" dirty="0"/>
          </a:p>
        </p:txBody>
      </p:sp>
      <p:sp>
        <p:nvSpPr>
          <p:cNvPr id="32" name="Text 29"/>
          <p:cNvSpPr txBox="1"/>
          <p:nvPr/>
        </p:nvSpPr>
        <p:spPr>
          <a:xfrm>
            <a:off x="2788920" y="5285232"/>
            <a:ext cx="1920240" cy="274320"/>
          </a:xfrm>
          <a:prstGeom prst="rect">
            <a:avLst/>
          </a:prstGeom>
          <a:noFill/>
          <a:ln/>
        </p:spPr>
        <p:txBody>
          <a:bodyPr wrap="square" lIns="0" tIns="0" rIns="0" bIns="0" rtlCol="0" anchor="t"/>
          <a:lstStyle/>
          <a:p>
            <a:pPr indent="0" marL="0">
              <a:buNone/>
            </a:pPr>
            <a:r>
              <a:rPr lang="en-US" sz="1250" b="1" dirty="0">
                <a:solidFill>
                  <a:srgbClr val="15252E"/>
                </a:solidFill>
                <a:latin typeface="Calibri" pitchFamily="34" charset="0"/>
                <a:ea typeface="Calibri" pitchFamily="34" charset="-122"/>
                <a:cs typeface="Calibri" pitchFamily="34" charset="-120"/>
              </a:rPr>
              <a:t>Budget-friendly  </a:t>
            </a:r>
            <a:r>
              <a:rPr lang="en-US" sz="1250" b="1" dirty="0">
                <a:solidFill>
                  <a:srgbClr val="14613F"/>
                </a:solidFill>
                <a:latin typeface="Calibri" pitchFamily="34" charset="0"/>
                <a:ea typeface="Calibri" pitchFamily="34" charset="-122"/>
                <a:cs typeface="Calibri" pitchFamily="34" charset="-120"/>
              </a:rPr>
              <a:t>yes</a:t>
            </a:r>
            <a:endParaRPr lang="en-US" sz="1250" dirty="0"/>
          </a:p>
        </p:txBody>
      </p:sp>
      <p:sp>
        <p:nvSpPr>
          <p:cNvPr id="33" name="Text 30"/>
          <p:cNvSpPr txBox="1"/>
          <p:nvPr/>
        </p:nvSpPr>
        <p:spPr>
          <a:xfrm>
            <a:off x="4800600" y="5285232"/>
            <a:ext cx="1920240" cy="274320"/>
          </a:xfrm>
          <a:prstGeom prst="rect">
            <a:avLst/>
          </a:prstGeom>
          <a:noFill/>
          <a:ln/>
        </p:spPr>
        <p:txBody>
          <a:bodyPr wrap="square" lIns="0" tIns="0" rIns="0" bIns="0" rtlCol="0" anchor="t"/>
          <a:lstStyle/>
          <a:p>
            <a:pPr indent="0" marL="0">
              <a:buNone/>
            </a:pPr>
            <a:r>
              <a:rPr lang="en-US" sz="1250" b="1" dirty="0">
                <a:solidFill>
                  <a:srgbClr val="15252E"/>
                </a:solidFill>
                <a:latin typeface="Calibri" pitchFamily="34" charset="0"/>
                <a:ea typeface="Calibri" pitchFamily="34" charset="-122"/>
                <a:cs typeface="Calibri" pitchFamily="34" charset="-120"/>
              </a:rPr>
              <a:t>Reliable  </a:t>
            </a:r>
            <a:r>
              <a:rPr lang="en-US" sz="1250" b="1" dirty="0">
                <a:solidFill>
                  <a:srgbClr val="7A4B00"/>
                </a:solidFill>
                <a:latin typeface="Calibri" pitchFamily="34" charset="0"/>
                <a:ea typeface="Calibri" pitchFamily="34" charset="-122"/>
                <a:cs typeface="Calibri" pitchFamily="34" charset="-120"/>
              </a:rPr>
              <a:t>not yet</a:t>
            </a:r>
            <a:endParaRPr lang="en-US" sz="1250" dirty="0"/>
          </a:p>
        </p:txBody>
      </p:sp>
      <p:sp>
        <p:nvSpPr>
          <p:cNvPr id="34" name="Text 31"/>
          <p:cNvSpPr txBox="1"/>
          <p:nvPr/>
        </p:nvSpPr>
        <p:spPr>
          <a:xfrm>
            <a:off x="6812280" y="5285232"/>
            <a:ext cx="1920240" cy="274320"/>
          </a:xfrm>
          <a:prstGeom prst="rect">
            <a:avLst/>
          </a:prstGeom>
          <a:noFill/>
          <a:ln/>
        </p:spPr>
        <p:txBody>
          <a:bodyPr wrap="square" lIns="0" tIns="0" rIns="0" bIns="0" rtlCol="0" anchor="t"/>
          <a:lstStyle/>
          <a:p>
            <a:pPr indent="0" marL="0">
              <a:buNone/>
            </a:pPr>
            <a:r>
              <a:rPr lang="en-US" sz="1250" b="1" dirty="0">
                <a:solidFill>
                  <a:srgbClr val="15252E"/>
                </a:solidFill>
                <a:latin typeface="Calibri" pitchFamily="34" charset="0"/>
                <a:ea typeface="Calibri" pitchFamily="34" charset="-122"/>
                <a:cs typeface="Calibri" pitchFamily="34" charset="-120"/>
              </a:rPr>
              <a:t>Complete  </a:t>
            </a:r>
            <a:r>
              <a:rPr lang="en-US" sz="1250" b="1" dirty="0">
                <a:solidFill>
                  <a:srgbClr val="9B293F"/>
                </a:solidFill>
                <a:latin typeface="Calibri" pitchFamily="34" charset="0"/>
                <a:ea typeface="Calibri" pitchFamily="34" charset="-122"/>
                <a:cs typeface="Calibri" pitchFamily="34" charset="-120"/>
              </a:rPr>
              <a:t>no</a:t>
            </a:r>
            <a:endParaRPr lang="en-US" sz="1250" dirty="0"/>
          </a:p>
        </p:txBody>
      </p:sp>
      <p:sp>
        <p:nvSpPr>
          <p:cNvPr id="35" name="Text 32"/>
          <p:cNvSpPr txBox="1"/>
          <p:nvPr/>
        </p:nvSpPr>
        <p:spPr>
          <a:xfrm>
            <a:off x="8412480" y="5029200"/>
            <a:ext cx="3063240" cy="868680"/>
          </a:xfrm>
          <a:prstGeom prst="rect">
            <a:avLst/>
          </a:prstGeom>
          <a:noFill/>
          <a:ln/>
        </p:spPr>
        <p:txBody>
          <a:bodyPr wrap="square" lIns="0" tIns="0" rIns="0" bIns="0" rtlCol="0" anchor="ctr"/>
          <a:lstStyle/>
          <a:p>
            <a:pPr indent="0" marL="0">
              <a:buNone/>
            </a:pPr>
            <a:r>
              <a:rPr lang="en-US" sz="1200" i="1" dirty="0">
                <a:solidFill>
                  <a:srgbClr val="0F6673"/>
                </a:solidFill>
                <a:latin typeface="Calibri" pitchFamily="34" charset="0"/>
                <a:ea typeface="Calibri" pitchFamily="34" charset="-122"/>
                <a:cs typeface="Calibri" pitchFamily="34" charset="-120"/>
              </a:rPr>
              <a:t>“Not ready for general use; ready for one thing, and good at it.”</a:t>
            </a:r>
            <a:endParaRPr lang="en-US" sz="1200" dirty="0"/>
          </a:p>
        </p:txBody>
      </p:sp>
      <p:sp>
        <p:nvSpPr>
          <p:cNvPr id="36" name="Text 33"/>
          <p:cNvSpPr txBox="1"/>
          <p:nvPr/>
        </p:nvSpPr>
        <p:spPr>
          <a:xfrm>
            <a:off x="777240" y="5623560"/>
            <a:ext cx="7863840" cy="274320"/>
          </a:xfrm>
          <a:prstGeom prst="rect">
            <a:avLst/>
          </a:prstGeom>
          <a:noFill/>
          <a:ln/>
        </p:spPr>
        <p:txBody>
          <a:bodyPr wrap="square" lIns="0" tIns="0" rIns="0" bIns="0" rtlCol="0" anchor="t"/>
          <a:lstStyle/>
          <a:p>
            <a:pPr indent="0" marL="0">
              <a:buNone/>
            </a:pPr>
            <a:r>
              <a:rPr lang="en-US" sz="1000" dirty="0">
                <a:solidFill>
                  <a:srgbClr val="52656E"/>
                </a:solidFill>
                <a:latin typeface="Calibri" pitchFamily="34" charset="0"/>
                <a:ea typeface="Calibri" pitchFamily="34" charset="-122"/>
                <a:cs typeface="Calibri" pitchFamily="34" charset="-120"/>
              </a:rPr>
              <a:t>Since then: the bank path reached an approved M&amp;T report on 17 Sep; reliability is the V1.0 finish line.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05 · EVIDENCE</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Where we lost, and what it told us</a:t>
            </a:r>
            <a:endParaRPr lang="en-US" sz="2800" dirty="0"/>
          </a:p>
        </p:txBody>
      </p:sp>
      <p:sp>
        <p:nvSpPr>
          <p:cNvPr id="5" name="Shape 3"/>
          <p:cNvSpPr/>
          <p:nvPr/>
        </p:nvSpPr>
        <p:spPr>
          <a:xfrm>
            <a:off x="10827410" y="384048"/>
            <a:ext cx="815645" cy="219456"/>
          </a:xfrm>
          <a:prstGeom prst="roundRect">
            <a:avLst>
              <a:gd name="adj" fmla="val 50000"/>
            </a:avLst>
          </a:prstGeom>
          <a:solidFill>
            <a:srgbClr val="0F6673"/>
          </a:solidFill>
          <a:ln/>
        </p:spPr>
      </p:sp>
      <p:sp>
        <p:nvSpPr>
          <p:cNvPr id="6" name="Text 4"/>
          <p:cNvSpPr txBox="1"/>
          <p:nvPr/>
        </p:nvSpPr>
        <p:spPr>
          <a:xfrm>
            <a:off x="10827410"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7" name="Text 5"/>
          <p:cNvSpPr txBox="1"/>
          <p:nvPr/>
        </p:nvSpPr>
        <p:spPr>
          <a:xfrm>
            <a:off x="548640" y="6217920"/>
            <a:ext cx="11094415"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Judges were language models reading under a fixed rubric. A Phase 5 test found they named our document 15 times in 15, so the panel was not blind. Baseline: Claude Opus through the API with web search.</a:t>
            </a:r>
            <a:endParaRPr lang="en-US" sz="900" dirty="0"/>
          </a:p>
        </p:txBody>
      </p:sp>
      <p:sp>
        <p:nvSpPr>
          <p:cNvPr id="8" name="Text 6"/>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9" name="Text 7"/>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22</a:t>
            </a:r>
            <a:endParaRPr lang="en-US" sz="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897880" cy="914400"/>
        </p:xfrm>
        <a:graphic>
          <a:graphicData uri="http://schemas.openxmlformats.org/drawingml/2006/table">
            <a:tbl>
              <a:tblPr/>
              <a:tblGrid>
                <a:gridCol w="1600200"/>
                <a:gridCol w="1097280"/>
                <a:gridCol w="1554480"/>
                <a:gridCol w="1645920"/>
              </a:tblGrid>
              <a:tr h="384048">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ROUND</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WHEN</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CHOSE THE AI NOTE</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VERDICTS TO US</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r>
              <a:tr h="384048">
                <a:tc>
                  <a:txBody>
                    <a:bodyPr/>
                    <a:lstStyle/>
                    <a:p>
                      <a:pPr indent="0" marL="0">
                        <a:buNone/>
                      </a:pPr>
                      <a:r>
                        <a:rPr lang="en-US" sz="1100" b="1" dirty="0">
                          <a:solidFill>
                            <a:srgbClr val="15252E"/>
                          </a:solidFill>
                          <a:latin typeface="Calibri" pitchFamily="34" charset="0"/>
                          <a:ea typeface="Calibri" pitchFamily="34" charset="-122"/>
                          <a:cs typeface="Calibri" pitchFamily="34" charset="-120"/>
                        </a:rPr>
                        <a:t>Readiness audit</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11–12 Sep</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9 of 9</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0 of 54 (3 equal)</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5252E"/>
                          </a:solidFill>
                          <a:latin typeface="Calibri" pitchFamily="34" charset="0"/>
                          <a:ea typeface="Calibri" pitchFamily="34" charset="-122"/>
                          <a:cs typeface="Calibri" pitchFamily="34" charset="-120"/>
                        </a:rPr>
                        <a:t>Phase 5 round</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19 Sep</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6 of 6</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2 of 36</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5252E"/>
                          </a:solidFill>
                          <a:latin typeface="Calibri" pitchFamily="34" charset="0"/>
                          <a:ea typeface="Calibri" pitchFamily="34" charset="-122"/>
                          <a:cs typeface="Calibri" pitchFamily="34" charset="-120"/>
                        </a:rPr>
                        <a:t>Verdict round</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24–25 Sep</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6 of 6</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0 of 36</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bl>
          </a:graphicData>
        </a:graphic>
      </p:graphicFrame>
      <p:sp>
        <p:nvSpPr>
          <p:cNvPr id="12" name="Shape 8"/>
          <p:cNvSpPr/>
          <p:nvPr/>
        </p:nvSpPr>
        <p:spPr>
          <a:xfrm>
            <a:off x="548640" y="3200400"/>
            <a:ext cx="5897880" cy="960120"/>
          </a:xfrm>
          <a:prstGeom prst="roundRect">
            <a:avLst>
              <a:gd name="adj" fmla="val 4762"/>
            </a:avLst>
          </a:prstGeom>
          <a:solidFill>
            <a:srgbClr val="F6EAF2"/>
          </a:solidFill>
          <a:ln w="9525">
            <a:solidFill>
              <a:srgbClr val="6B3F60"/>
            </a:solidFill>
            <a:prstDash val="solid"/>
          </a:ln>
        </p:spPr>
      </p:sp>
      <p:sp>
        <p:nvSpPr>
          <p:cNvPr id="13" name="Text 9"/>
          <p:cNvSpPr txBox="1"/>
          <p:nvPr/>
        </p:nvSpPr>
        <p:spPr>
          <a:xfrm>
            <a:off x="731520" y="3291840"/>
            <a:ext cx="5532120" cy="777240"/>
          </a:xfrm>
          <a:prstGeom prst="rect">
            <a:avLst/>
          </a:prstGeom>
          <a:noFill/>
          <a:ln/>
        </p:spPr>
        <p:txBody>
          <a:bodyPr wrap="square" lIns="0" tIns="0" rIns="0" bIns="0" rtlCol="0" anchor="ctr"/>
          <a:lstStyle/>
          <a:p>
            <a:pPr indent="0" marL="0">
              <a:buNone/>
            </a:pPr>
            <a:r>
              <a:rPr lang="en-US" sz="1100" b="1" dirty="0">
                <a:solidFill>
                  <a:srgbClr val="6B3F60"/>
                </a:solidFill>
                <a:latin typeface="Calibri" pitchFamily="34" charset="0"/>
                <a:ea typeface="Calibri" pitchFamily="34" charset="-122"/>
                <a:cs typeface="Calibri" pitchFamily="34" charset="-120"/>
              </a:rPr>
              <a:t>The stop rule, written before the round: </a:t>
            </a:r>
            <a:r>
              <a:rPr lang="en-US" sz="1100" dirty="0">
                <a:solidFill>
                  <a:srgbClr val="15252E"/>
                </a:solidFill>
                <a:latin typeface="Calibri" pitchFamily="34" charset="0"/>
                <a:ea typeface="Calibri" pitchFamily="34" charset="-122"/>
                <a:cs typeface="Calibri" pitchFamily="34" charset="-120"/>
              </a:rPr>
              <a:t>if nothing moves, narrow the claim. It fired on 25 Sep 2026, and the claim is now an evidence base and a checking instrument.</a:t>
            </a:r>
            <a:endParaRPr lang="en-US" sz="1100" dirty="0"/>
          </a:p>
        </p:txBody>
      </p:sp>
      <p:sp>
        <p:nvSpPr>
          <p:cNvPr id="14" name="Text 10"/>
          <p:cNvSpPr txBox="1"/>
          <p:nvPr/>
        </p:nvSpPr>
        <p:spPr>
          <a:xfrm>
            <a:off x="548640" y="4343400"/>
            <a:ext cx="3657600" cy="182880"/>
          </a:xfrm>
          <a:prstGeom prst="rect">
            <a:avLst/>
          </a:prstGeom>
          <a:noFill/>
          <a:ln/>
        </p:spPr>
        <p:txBody>
          <a:bodyPr wrap="square" lIns="0" tIns="0" rIns="0" bIns="0" rtlCol="0" anchor="t"/>
          <a:lstStyle/>
          <a:p>
            <a:pPr indent="0" marL="0">
              <a:buNone/>
            </a:pPr>
            <a:r>
              <a:rPr lang="en-US" sz="900" b="1" spc="100" kern="0" dirty="0">
                <a:solidFill>
                  <a:srgbClr val="52656E"/>
                </a:solidFill>
                <a:latin typeface="Consolas" pitchFamily="34" charset="0"/>
                <a:ea typeface="Consolas" pitchFamily="34" charset="-122"/>
                <a:cs typeface="Consolas" pitchFamily="34" charset="-120"/>
              </a:rPr>
              <a:t>WHAT IT TOLD US</a:t>
            </a:r>
            <a:endParaRPr lang="en-US" sz="900" dirty="0"/>
          </a:p>
        </p:txBody>
      </p:sp>
      <p:sp>
        <p:nvSpPr>
          <p:cNvPr id="15" name="Text 11"/>
          <p:cNvSpPr txBox="1"/>
          <p:nvPr/>
        </p:nvSpPr>
        <p:spPr>
          <a:xfrm>
            <a:off x="548640" y="4590288"/>
            <a:ext cx="5897880" cy="1554480"/>
          </a:xfrm>
          <a:prstGeom prst="rect">
            <a:avLst/>
          </a:prstGeom>
          <a:noFill/>
          <a:ln/>
        </p:spPr>
        <p:txBody>
          <a:bodyPr wrap="square" lIns="0" tIns="0" rIns="0" bIns="0" rtlCol="0" anchor="t"/>
          <a:lstStyle/>
          <a:p>
            <a:pPr marL="152400" indent="-152400">
              <a:spcAft>
                <a:spcPts val="400"/>
              </a:spcAft>
              <a:buSzPct val="100000"/>
              <a:buChar char="•"/>
            </a:pPr>
            <a:r>
              <a:rPr lang="en-US" sz="1050" b="1" dirty="0">
                <a:solidFill>
                  <a:srgbClr val="15252E"/>
                </a:solidFill>
                <a:latin typeface="Calibri" pitchFamily="34" charset="0"/>
                <a:ea typeface="Calibri" pitchFamily="34" charset="-122"/>
                <a:cs typeface="Calibri" pitchFamily="34" charset="-120"/>
              </a:rPr>
              <a:t>The essay is not our edge.</a:t>
            </a:r>
            <a:r>
              <a:rPr lang="en-US" sz="1050" dirty="0">
                <a:solidFill>
                  <a:srgbClr val="52656E"/>
                </a:solidFill>
                <a:latin typeface="Calibri" pitchFamily="34" charset="0"/>
                <a:ea typeface="Calibri" pitchFamily="34" charset="-122"/>
                <a:cs typeface="Calibri" pitchFamily="34" charset="-120"/>
              </a:rPr>
              <a:t> The evidence underneath it is.</a:t>
            </a:r>
            <a:endParaRPr lang="en-US" sz="1050" dirty="0"/>
          </a:p>
          <a:p>
            <a:pPr marL="152400" indent="-152400">
              <a:spcAft>
                <a:spcPts val="400"/>
              </a:spcAft>
              <a:buSzPct val="100000"/>
              <a:buChar char="•"/>
            </a:pPr>
            <a:r>
              <a:rPr lang="en-US" sz="1050" b="1" dirty="0">
                <a:solidFill>
                  <a:srgbClr val="15252E"/>
                </a:solidFill>
                <a:latin typeface="Calibri" pitchFamily="34" charset="0"/>
                <a:ea typeface="Calibri" pitchFamily="34" charset="-122"/>
                <a:cs typeface="Calibri" pitchFamily="34" charset="-120"/>
              </a:rPr>
              <a:t>Self-contradiction was the top complaint,</a:t>
            </a:r>
            <a:r>
              <a:rPr lang="en-US" sz="1050" dirty="0">
                <a:solidFill>
                  <a:srgbClr val="52656E"/>
                </a:solidFill>
                <a:latin typeface="Calibri" pitchFamily="34" charset="0"/>
                <a:ea typeface="Calibri" pitchFamily="34" charset="-122"/>
                <a:cs typeface="Calibri" pitchFamily="34" charset="-120"/>
              </a:rPr>
              <a:t> named first by 7 of 9 judges, and most of its fixes were small.</a:t>
            </a:r>
            <a:endParaRPr lang="en-US" sz="1050" dirty="0"/>
          </a:p>
          <a:p>
            <a:pPr marL="152400" indent="-152400">
              <a:spcAft>
                <a:spcPts val="400"/>
              </a:spcAft>
              <a:buSzPct val="100000"/>
              <a:buChar char="•"/>
            </a:pPr>
            <a:r>
              <a:rPr lang="en-US" sz="1050" b="1" dirty="0">
                <a:solidFill>
                  <a:srgbClr val="15252E"/>
                </a:solidFill>
                <a:latin typeface="Calibri" pitchFamily="34" charset="0"/>
                <a:ea typeface="Calibri" pitchFamily="34" charset="-122"/>
                <a:cs typeface="Calibri" pitchFamily="34" charset="-120"/>
              </a:rPr>
              <a:t>“State a view” was asked for by no judge.</a:t>
            </a:r>
            <a:r>
              <a:rPr lang="en-US" sz="1050" dirty="0">
                <a:solidFill>
                  <a:srgbClr val="52656E"/>
                </a:solidFill>
                <a:latin typeface="Calibri" pitchFamily="34" charset="0"/>
                <a:ea typeface="Calibri" pitchFamily="34" charset="-122"/>
                <a:cs typeface="Calibri" pitchFamily="34" charset="-120"/>
              </a:rPr>
              <a:t> Five of nine named something worth keeping: the source register, the red-team log, the primary-source trail.</a:t>
            </a:r>
            <a:endParaRPr lang="en-US" sz="1050" dirty="0"/>
          </a:p>
        </p:txBody>
      </p:sp>
      <p:sp>
        <p:nvSpPr>
          <p:cNvPr id="16" name="Text 12"/>
          <p:cNvSpPr txBox="1"/>
          <p:nvPr/>
        </p:nvSpPr>
        <p:spPr>
          <a:xfrm>
            <a:off x="6720840" y="1463040"/>
            <a:ext cx="3657600" cy="182880"/>
          </a:xfrm>
          <a:prstGeom prst="rect">
            <a:avLst/>
          </a:prstGeom>
          <a:noFill/>
          <a:ln/>
        </p:spPr>
        <p:txBody>
          <a:bodyPr wrap="square" lIns="0" tIns="0" rIns="0" bIns="0" rtlCol="0" anchor="t"/>
          <a:lstStyle/>
          <a:p>
            <a:pPr indent="0" marL="0">
              <a:buNone/>
            </a:pPr>
            <a:r>
              <a:rPr lang="en-US" sz="900" b="1" spc="100" kern="0" dirty="0">
                <a:solidFill>
                  <a:srgbClr val="52656E"/>
                </a:solidFill>
                <a:latin typeface="Consolas" pitchFamily="34" charset="0"/>
                <a:ea typeface="Consolas" pitchFamily="34" charset="-122"/>
                <a:cs typeface="Consolas" pitchFamily="34" charset="-120"/>
              </a:rPr>
              <a:t>IN THEIR WORDS</a:t>
            </a:r>
            <a:endParaRPr lang="en-US" sz="900" dirty="0"/>
          </a:p>
        </p:txBody>
      </p:sp>
      <p:sp>
        <p:nvSpPr>
          <p:cNvPr id="17" name="Shape 13"/>
          <p:cNvSpPr/>
          <p:nvPr/>
        </p:nvSpPr>
        <p:spPr>
          <a:xfrm>
            <a:off x="6720840" y="1737360"/>
            <a:ext cx="4919472" cy="1234440"/>
          </a:xfrm>
          <a:prstGeom prst="roundRect">
            <a:avLst>
              <a:gd name="adj" fmla="val 3704"/>
            </a:avLst>
          </a:prstGeom>
          <a:solidFill>
            <a:srgbClr val="FFFFFF"/>
          </a:solidFill>
          <a:ln w="9525">
            <a:solidFill>
              <a:srgbClr val="CDD8DC"/>
            </a:solidFill>
            <a:prstDash val="solid"/>
          </a:ln>
        </p:spPr>
      </p:sp>
      <p:sp>
        <p:nvSpPr>
          <p:cNvPr id="18" name="Text 14"/>
          <p:cNvSpPr txBox="1"/>
          <p:nvPr/>
        </p:nvSpPr>
        <p:spPr>
          <a:xfrm>
            <a:off x="6931152" y="1874520"/>
            <a:ext cx="4526280" cy="777240"/>
          </a:xfrm>
          <a:prstGeom prst="rect">
            <a:avLst/>
          </a:prstGeom>
          <a:noFill/>
          <a:ln/>
        </p:spPr>
        <p:txBody>
          <a:bodyPr wrap="square" lIns="0" tIns="0" rIns="0" bIns="0" rtlCol="0" anchor="t"/>
          <a:lstStyle/>
          <a:p>
            <a:pPr indent="0" marL="0">
              <a:buNone/>
            </a:pPr>
            <a:r>
              <a:rPr lang="en-US" sz="1300" i="1" dirty="0">
                <a:solidFill>
                  <a:srgbClr val="15252E"/>
                </a:solidFill>
                <a:latin typeface="Calibri" pitchFamily="34" charset="0"/>
                <a:ea typeface="Calibri" pitchFamily="34" charset="-122"/>
                <a:cs typeface="Calibri" pitchFamily="34" charset="-120"/>
              </a:rPr>
              <a:t>“Self-cancelling: it publishes two fair values 75% apart …”</a:t>
            </a:r>
            <a:endParaRPr lang="en-US" sz="1300" dirty="0"/>
          </a:p>
        </p:txBody>
      </p:sp>
      <p:sp>
        <p:nvSpPr>
          <p:cNvPr id="19" name="Text 15"/>
          <p:cNvSpPr txBox="1"/>
          <p:nvPr/>
        </p:nvSpPr>
        <p:spPr>
          <a:xfrm>
            <a:off x="6931152" y="2670048"/>
            <a:ext cx="4480560" cy="182880"/>
          </a:xfrm>
          <a:prstGeom prst="rect">
            <a:avLst/>
          </a:prstGeom>
          <a:noFill/>
          <a:ln/>
        </p:spPr>
        <p:txBody>
          <a:bodyPr wrap="square" lIns="0" tIns="0" rIns="0" bIns="0" rtlCol="0" anchor="t"/>
          <a:lstStyle/>
          <a:p>
            <a:pPr indent="0" marL="0">
              <a:buNone/>
            </a:pPr>
            <a:r>
              <a:rPr lang="en-US" sz="800" b="1" spc="100" kern="0" dirty="0">
                <a:solidFill>
                  <a:srgbClr val="5B6D75"/>
                </a:solidFill>
                <a:latin typeface="Consolas" pitchFamily="34" charset="0"/>
                <a:ea typeface="Consolas" pitchFamily="34" charset="-122"/>
                <a:cs typeface="Consolas" pitchFamily="34" charset="-120"/>
              </a:rPr>
              <a:t>A JUDGE, VERDICT ROUND, ASTRAZENECA</a:t>
            </a:r>
            <a:endParaRPr lang="en-US" sz="800" dirty="0"/>
          </a:p>
        </p:txBody>
      </p:sp>
      <p:sp>
        <p:nvSpPr>
          <p:cNvPr id="20" name="Shape 16"/>
          <p:cNvSpPr/>
          <p:nvPr/>
        </p:nvSpPr>
        <p:spPr>
          <a:xfrm>
            <a:off x="6720840" y="3154680"/>
            <a:ext cx="4919472" cy="1234440"/>
          </a:xfrm>
          <a:prstGeom prst="roundRect">
            <a:avLst>
              <a:gd name="adj" fmla="val 3704"/>
            </a:avLst>
          </a:prstGeom>
          <a:solidFill>
            <a:srgbClr val="FFFFFF"/>
          </a:solidFill>
          <a:ln w="9525">
            <a:solidFill>
              <a:srgbClr val="CDD8DC"/>
            </a:solidFill>
            <a:prstDash val="solid"/>
          </a:ln>
        </p:spPr>
      </p:sp>
      <p:sp>
        <p:nvSpPr>
          <p:cNvPr id="21" name="Text 17"/>
          <p:cNvSpPr txBox="1"/>
          <p:nvPr/>
        </p:nvSpPr>
        <p:spPr>
          <a:xfrm>
            <a:off x="6931152" y="3291840"/>
            <a:ext cx="4526280" cy="777240"/>
          </a:xfrm>
          <a:prstGeom prst="rect">
            <a:avLst/>
          </a:prstGeom>
          <a:noFill/>
          <a:ln/>
        </p:spPr>
        <p:txBody>
          <a:bodyPr wrap="square" lIns="0" tIns="0" rIns="0" bIns="0" rtlCol="0" anchor="t"/>
          <a:lstStyle/>
          <a:p>
            <a:pPr indent="0" marL="0">
              <a:buNone/>
            </a:pPr>
            <a:r>
              <a:rPr lang="en-US" sz="1300" i="1" dirty="0">
                <a:solidFill>
                  <a:srgbClr val="15252E"/>
                </a:solidFill>
                <a:latin typeface="Calibri" pitchFamily="34" charset="0"/>
                <a:ea typeface="Calibri" pitchFamily="34" charset="-122"/>
                <a:cs typeface="Calibri" pitchFamily="34" charset="-120"/>
              </a:rPr>
              <a:t>“B repeatedly denies figures it prints elsewhere.”</a:t>
            </a:r>
            <a:endParaRPr lang="en-US" sz="1300" dirty="0"/>
          </a:p>
        </p:txBody>
      </p:sp>
      <p:sp>
        <p:nvSpPr>
          <p:cNvPr id="22" name="Text 18"/>
          <p:cNvSpPr txBox="1"/>
          <p:nvPr/>
        </p:nvSpPr>
        <p:spPr>
          <a:xfrm>
            <a:off x="6931152" y="4087368"/>
            <a:ext cx="4480560" cy="182880"/>
          </a:xfrm>
          <a:prstGeom prst="rect">
            <a:avLst/>
          </a:prstGeom>
          <a:noFill/>
          <a:ln/>
        </p:spPr>
        <p:txBody>
          <a:bodyPr wrap="square" lIns="0" tIns="0" rIns="0" bIns="0" rtlCol="0" anchor="t"/>
          <a:lstStyle/>
          <a:p>
            <a:pPr indent="0" marL="0">
              <a:buNone/>
            </a:pPr>
            <a:r>
              <a:rPr lang="en-US" sz="800" b="1" spc="100" kern="0" dirty="0">
                <a:solidFill>
                  <a:srgbClr val="5B6D75"/>
                </a:solidFill>
                <a:latin typeface="Consolas" pitchFamily="34" charset="0"/>
                <a:ea typeface="Consolas" pitchFamily="34" charset="-122"/>
                <a:cs typeface="Consolas" pitchFamily="34" charset="-120"/>
              </a:rPr>
              <a:t>A JUDGE, VERDICT ROUND, AGAINST THE FRESH AI NOTE</a:t>
            </a:r>
            <a:endParaRPr lang="en-US" sz="800" dirty="0"/>
          </a:p>
        </p:txBody>
      </p:sp>
      <p:sp>
        <p:nvSpPr>
          <p:cNvPr id="23" name="Shape 19"/>
          <p:cNvSpPr/>
          <p:nvPr/>
        </p:nvSpPr>
        <p:spPr>
          <a:xfrm>
            <a:off x="6720840" y="4572000"/>
            <a:ext cx="4919472" cy="1234440"/>
          </a:xfrm>
          <a:prstGeom prst="roundRect">
            <a:avLst>
              <a:gd name="adj" fmla="val 3704"/>
            </a:avLst>
          </a:prstGeom>
          <a:solidFill>
            <a:srgbClr val="FFFFFF"/>
          </a:solidFill>
          <a:ln w="9525">
            <a:solidFill>
              <a:srgbClr val="CDD8DC"/>
            </a:solidFill>
            <a:prstDash val="solid"/>
          </a:ln>
        </p:spPr>
      </p:sp>
      <p:sp>
        <p:nvSpPr>
          <p:cNvPr id="24" name="Text 20"/>
          <p:cNvSpPr txBox="1"/>
          <p:nvPr/>
        </p:nvSpPr>
        <p:spPr>
          <a:xfrm>
            <a:off x="6931152" y="4709160"/>
            <a:ext cx="4526280" cy="777240"/>
          </a:xfrm>
          <a:prstGeom prst="rect">
            <a:avLst/>
          </a:prstGeom>
          <a:noFill/>
          <a:ln/>
        </p:spPr>
        <p:txBody>
          <a:bodyPr wrap="square" lIns="0" tIns="0" rIns="0" bIns="0" rtlCol="0" anchor="t"/>
          <a:lstStyle/>
          <a:p>
            <a:pPr indent="0" marL="0">
              <a:buNone/>
            </a:pPr>
            <a:r>
              <a:rPr lang="en-US" sz="1300" i="1" dirty="0">
                <a:solidFill>
                  <a:srgbClr val="15252E"/>
                </a:solidFill>
                <a:latin typeface="Calibri" pitchFamily="34" charset="0"/>
                <a:ea typeface="Calibri" pitchFamily="34" charset="-122"/>
                <a:cs typeface="Calibri" pitchFamily="34" charset="-120"/>
              </a:rPr>
              <a:t>“The platform’s verifiability advantage lives in the interface, not in the document it exports.”</a:t>
            </a:r>
            <a:endParaRPr lang="en-US" sz="1300" dirty="0"/>
          </a:p>
        </p:txBody>
      </p:sp>
      <p:sp>
        <p:nvSpPr>
          <p:cNvPr id="25" name="Text 21"/>
          <p:cNvSpPr txBox="1"/>
          <p:nvPr/>
        </p:nvSpPr>
        <p:spPr>
          <a:xfrm>
            <a:off x="6931152" y="5504688"/>
            <a:ext cx="4480560" cy="182880"/>
          </a:xfrm>
          <a:prstGeom prst="rect">
            <a:avLst/>
          </a:prstGeom>
          <a:noFill/>
          <a:ln/>
        </p:spPr>
        <p:txBody>
          <a:bodyPr wrap="square" lIns="0" tIns="0" rIns="0" bIns="0" rtlCol="0" anchor="t"/>
          <a:lstStyle/>
          <a:p>
            <a:pPr indent="0" marL="0">
              <a:buNone/>
            </a:pPr>
            <a:r>
              <a:rPr lang="en-US" sz="800" b="1" spc="100" kern="0" dirty="0">
                <a:solidFill>
                  <a:srgbClr val="5B6D75"/>
                </a:solidFill>
                <a:latin typeface="Consolas" pitchFamily="34" charset="0"/>
                <a:ea typeface="Consolas" pitchFamily="34" charset="-122"/>
                <a:cs typeface="Consolas" pitchFamily="34" charset="-120"/>
              </a:rPr>
              <a:t>THE READINESS AUDIT’S OWN CONCLUSION</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05 · EVIDENCE</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Against a general AI note, measured</a:t>
            </a:r>
            <a:endParaRPr lang="en-US" sz="2800" dirty="0"/>
          </a:p>
        </p:txBody>
      </p:sp>
      <p:sp>
        <p:nvSpPr>
          <p:cNvPr id="5" name="Shape 3"/>
          <p:cNvSpPr/>
          <p:nvPr/>
        </p:nvSpPr>
        <p:spPr>
          <a:xfrm>
            <a:off x="10489082" y="384048"/>
            <a:ext cx="1153973" cy="219456"/>
          </a:xfrm>
          <a:prstGeom prst="roundRect">
            <a:avLst>
              <a:gd name="adj" fmla="val 50000"/>
            </a:avLst>
          </a:prstGeom>
          <a:solidFill>
            <a:srgbClr val="F4F7F8"/>
          </a:solidFill>
          <a:ln w="12700">
            <a:solidFill>
              <a:srgbClr val="15252E"/>
            </a:solidFill>
            <a:prstDash val="solid"/>
          </a:ln>
        </p:spPr>
      </p:sp>
      <p:sp>
        <p:nvSpPr>
          <p:cNvPr id="6" name="Text 4"/>
          <p:cNvSpPr txBox="1"/>
          <p:nvPr/>
        </p:nvSpPr>
        <p:spPr>
          <a:xfrm>
            <a:off x="10489082" y="384048"/>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7" name="Shape 5"/>
          <p:cNvSpPr/>
          <p:nvPr/>
        </p:nvSpPr>
        <p:spPr>
          <a:xfrm>
            <a:off x="9581998" y="384048"/>
            <a:ext cx="815645" cy="219456"/>
          </a:xfrm>
          <a:prstGeom prst="roundRect">
            <a:avLst>
              <a:gd name="adj" fmla="val 50000"/>
            </a:avLst>
          </a:prstGeom>
          <a:solidFill>
            <a:srgbClr val="0F6673"/>
          </a:solidFill>
          <a:ln/>
        </p:spPr>
      </p:sp>
      <p:sp>
        <p:nvSpPr>
          <p:cNvPr id="8" name="Text 6"/>
          <p:cNvSpPr txBox="1"/>
          <p:nvPr/>
        </p:nvSpPr>
        <p:spPr>
          <a:xfrm>
            <a:off x="9581998"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9" name="Text 7"/>
          <p:cNvSpPr txBox="1"/>
          <p:nvPr/>
        </p:nvSpPr>
        <p:spPr>
          <a:xfrm>
            <a:off x="548640" y="6217920"/>
            <a:ext cx="11094415"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Readiness audit, 11–12 Sep 2026. ‘Memory’ is our judgement of a capability, not a measured result; every other row is measured.</a:t>
            </a:r>
            <a:endParaRPr lang="en-US" sz="900" dirty="0"/>
          </a:p>
        </p:txBody>
      </p:sp>
      <p:sp>
        <p:nvSpPr>
          <p:cNvPr id="10" name="Text 8"/>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1" name="Text 9"/>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23</a:t>
            </a:r>
            <a:endParaRPr lang="en-US" sz="800" dirty="0"/>
          </a:p>
        </p:txBody>
      </p:sp>
      <p:sp>
        <p:nvSpPr>
          <p:cNvPr id="13" name="Shape 10"/>
          <p:cNvSpPr/>
          <p:nvPr/>
        </p:nvSpPr>
        <p:spPr>
          <a:xfrm>
            <a:off x="548640" y="1463040"/>
            <a:ext cx="3545738" cy="3931920"/>
          </a:xfrm>
          <a:prstGeom prst="roundRect">
            <a:avLst>
              <a:gd name="adj" fmla="val 1289"/>
            </a:avLst>
          </a:prstGeom>
          <a:solidFill>
            <a:srgbClr val="FFFFFF"/>
          </a:solidFill>
          <a:ln w="9525">
            <a:solidFill>
              <a:srgbClr val="CDD8DC"/>
            </a:solidFill>
            <a:prstDash val="solid"/>
          </a:ln>
        </p:spPr>
      </p:sp>
      <p:sp>
        <p:nvSpPr>
          <p:cNvPr id="14" name="Shape 11"/>
          <p:cNvSpPr/>
          <p:nvPr/>
        </p:nvSpPr>
        <p:spPr>
          <a:xfrm>
            <a:off x="557784" y="1472184"/>
            <a:ext cx="3527450" cy="457200"/>
          </a:xfrm>
          <a:prstGeom prst="rect">
            <a:avLst/>
          </a:prstGeom>
          <a:solidFill>
            <a:srgbClr val="FFF3D6"/>
          </a:solidFill>
          <a:ln/>
        </p:spPr>
      </p:sp>
      <p:sp>
        <p:nvSpPr>
          <p:cNvPr id="15" name="Text 12"/>
          <p:cNvSpPr txBox="1"/>
          <p:nvPr/>
        </p:nvSpPr>
        <p:spPr>
          <a:xfrm>
            <a:off x="749808" y="1600200"/>
            <a:ext cx="3143402" cy="201168"/>
          </a:xfrm>
          <a:prstGeom prst="rect">
            <a:avLst/>
          </a:prstGeom>
          <a:noFill/>
          <a:ln/>
        </p:spPr>
        <p:txBody>
          <a:bodyPr wrap="square" lIns="0" tIns="0" rIns="0" bIns="0" rtlCol="0" anchor="t"/>
          <a:lstStyle/>
          <a:p>
            <a:pPr indent="0" marL="0">
              <a:buNone/>
            </a:pPr>
            <a:r>
              <a:rPr lang="en-US" sz="900" b="1" spc="100" kern="0" dirty="0">
                <a:solidFill>
                  <a:srgbClr val="7A4B00"/>
                </a:solidFill>
                <a:latin typeface="Consolas" pitchFamily="34" charset="0"/>
                <a:ea typeface="Consolas" pitchFamily="34" charset="-122"/>
                <a:cs typeface="Consolas" pitchFamily="34" charset="-120"/>
              </a:rPr>
              <a:t>THE AI NOTE WINS</a:t>
            </a:r>
            <a:endParaRPr lang="en-US" sz="900" dirty="0"/>
          </a:p>
        </p:txBody>
      </p:sp>
      <p:sp>
        <p:nvSpPr>
          <p:cNvPr id="16" name="Text 13"/>
          <p:cNvSpPr txBox="1"/>
          <p:nvPr/>
        </p:nvSpPr>
        <p:spPr>
          <a:xfrm>
            <a:off x="749808" y="2103120"/>
            <a:ext cx="3179978" cy="3200400"/>
          </a:xfrm>
          <a:prstGeom prst="rect">
            <a:avLst/>
          </a:prstGeom>
          <a:noFill/>
          <a:ln/>
        </p:spPr>
        <p:txBody>
          <a:bodyPr wrap="square" lIns="0" tIns="0" rIns="0" bIns="0" rtlCol="0" anchor="t"/>
          <a:lstStyle/>
          <a:p>
            <a:pPr marL="177800" indent="-177800">
              <a:spcAft>
                <a:spcPts val="1100"/>
              </a:spcAft>
              <a:buSzPct val="100000"/>
              <a:buChar char="•"/>
            </a:pPr>
            <a:r>
              <a:rPr lang="en-US" sz="1250" b="1" dirty="0">
                <a:solidFill>
                  <a:srgbClr val="15252E"/>
                </a:solidFill>
                <a:latin typeface="Calibri" pitchFamily="34" charset="0"/>
                <a:ea typeface="Calibri" pitchFamily="34" charset="-122"/>
                <a:cs typeface="Calibri" pitchFamily="34" charset="-120"/>
              </a:rPr>
              <a:t>Argument.</a:t>
            </a:r>
            <a:r>
              <a:rPr lang="en-US" sz="1250" dirty="0">
                <a:solidFill>
                  <a:srgbClr val="52656E"/>
                </a:solidFill>
                <a:latin typeface="Calibri" pitchFamily="34" charset="0"/>
                <a:ea typeface="Calibri" pitchFamily="34" charset="-122"/>
                <a:cs typeface="Calibri" pitchFamily="34" charset="-120"/>
              </a:rPr>
              <a:t> It states a rating, a target price and an expected return.</a:t>
            </a:r>
            <a:endParaRPr lang="en-US" sz="1250" dirty="0"/>
          </a:p>
          <a:p>
            <a:pPr marL="177800" indent="-177800">
              <a:spcAft>
                <a:spcPts val="1100"/>
              </a:spcAft>
              <a:buSzPct val="100000"/>
              <a:buChar char="•"/>
            </a:pPr>
            <a:r>
              <a:rPr lang="en-US" sz="1250" b="1" dirty="0">
                <a:solidFill>
                  <a:srgbClr val="15252E"/>
                </a:solidFill>
                <a:latin typeface="Calibri" pitchFamily="34" charset="0"/>
                <a:ea typeface="Calibri" pitchFamily="34" charset="-122"/>
                <a:cs typeface="Calibri" pitchFamily="34" charset="-120"/>
              </a:rPr>
              <a:t>Breadth.</a:t>
            </a:r>
            <a:r>
              <a:rPr lang="en-US" sz="1250" dirty="0">
                <a:solidFill>
                  <a:srgbClr val="52656E"/>
                </a:solidFill>
                <a:latin typeface="Calibri" pitchFamily="34" charset="0"/>
                <a:ea typeface="Calibri" pitchFamily="34" charset="-122"/>
                <a:cs typeface="Calibri" pitchFamily="34" charset="-120"/>
              </a:rPr>
              <a:t> Segment tables, guidance, named competitors.</a:t>
            </a:r>
            <a:endParaRPr lang="en-US" sz="1250" dirty="0"/>
          </a:p>
          <a:p>
            <a:pPr marL="177800" indent="-177800">
              <a:spcAft>
                <a:spcPts val="1100"/>
              </a:spcAft>
              <a:buSzPct val="100000"/>
              <a:buChar char="•"/>
            </a:pPr>
            <a:r>
              <a:rPr lang="en-US" sz="1250" b="1" dirty="0">
                <a:solidFill>
                  <a:srgbClr val="15252E"/>
                </a:solidFill>
                <a:latin typeface="Calibri" pitchFamily="34" charset="0"/>
                <a:ea typeface="Calibri" pitchFamily="34" charset="-122"/>
                <a:cs typeface="Calibri" pitchFamily="34" charset="-120"/>
              </a:rPr>
              <a:t>Speed.</a:t>
            </a:r>
            <a:r>
              <a:rPr lang="en-US" sz="1250" dirty="0">
                <a:solidFill>
                  <a:srgbClr val="52656E"/>
                </a:solidFill>
                <a:latin typeface="Calibri" pitchFamily="34" charset="0"/>
                <a:ea typeface="Calibri" pitchFamily="34" charset="-122"/>
                <a:cs typeface="Calibri" pitchFamily="34" charset="-120"/>
              </a:rPr>
              <a:t> 14–19 minutes to a note, against our 26.5–36.8 plus your gates.</a:t>
            </a:r>
            <a:endParaRPr lang="en-US" sz="1250" dirty="0"/>
          </a:p>
          <a:p>
            <a:pPr marL="177800" indent="-177800">
              <a:spcAft>
                <a:spcPts val="1100"/>
              </a:spcAft>
              <a:buSzPct val="100000"/>
              <a:buChar char="•"/>
            </a:pPr>
            <a:r>
              <a:rPr lang="en-US" sz="1250" b="1" dirty="0">
                <a:solidFill>
                  <a:srgbClr val="15252E"/>
                </a:solidFill>
                <a:latin typeface="Calibri" pitchFamily="34" charset="0"/>
                <a:ea typeface="Calibri" pitchFamily="34" charset="-122"/>
                <a:cs typeface="Calibri" pitchFamily="34" charset="-120"/>
              </a:rPr>
              <a:t>Flexibility.</a:t>
            </a:r>
            <a:r>
              <a:rPr lang="en-US" sz="1250" dirty="0">
                <a:solidFill>
                  <a:srgbClr val="52656E"/>
                </a:solidFill>
                <a:latin typeface="Calibri" pitchFamily="34" charset="0"/>
                <a:ea typeface="Calibri" pitchFamily="34" charset="-122"/>
                <a:cs typeface="Calibri" pitchFamily="34" charset="-120"/>
              </a:rPr>
              <a:t> Ask it anything, mid-sentence.</a:t>
            </a:r>
            <a:endParaRPr lang="en-US" sz="1250" dirty="0"/>
          </a:p>
        </p:txBody>
      </p:sp>
      <p:sp>
        <p:nvSpPr>
          <p:cNvPr id="17" name="Shape 14"/>
          <p:cNvSpPr/>
          <p:nvPr/>
        </p:nvSpPr>
        <p:spPr>
          <a:xfrm>
            <a:off x="4322978" y="1463040"/>
            <a:ext cx="3545738" cy="3931920"/>
          </a:xfrm>
          <a:prstGeom prst="roundRect">
            <a:avLst>
              <a:gd name="adj" fmla="val 1289"/>
            </a:avLst>
          </a:prstGeom>
          <a:solidFill>
            <a:srgbClr val="FFFFFF"/>
          </a:solidFill>
          <a:ln w="9525">
            <a:solidFill>
              <a:srgbClr val="CDD8DC"/>
            </a:solidFill>
            <a:prstDash val="solid"/>
          </a:ln>
        </p:spPr>
      </p:sp>
      <p:sp>
        <p:nvSpPr>
          <p:cNvPr id="18" name="Shape 15"/>
          <p:cNvSpPr/>
          <p:nvPr/>
        </p:nvSpPr>
        <p:spPr>
          <a:xfrm>
            <a:off x="4332122" y="1472184"/>
            <a:ext cx="3527450" cy="457200"/>
          </a:xfrm>
          <a:prstGeom prst="rect">
            <a:avLst/>
          </a:prstGeom>
          <a:solidFill>
            <a:srgbClr val="EAF0F1"/>
          </a:solidFill>
          <a:ln/>
        </p:spPr>
      </p:sp>
      <p:sp>
        <p:nvSpPr>
          <p:cNvPr id="19" name="Text 16"/>
          <p:cNvSpPr txBox="1"/>
          <p:nvPr/>
        </p:nvSpPr>
        <p:spPr>
          <a:xfrm>
            <a:off x="4524146" y="1600200"/>
            <a:ext cx="3143402" cy="201168"/>
          </a:xfrm>
          <a:prstGeom prst="rect">
            <a:avLst/>
          </a:prstGeom>
          <a:noFill/>
          <a:ln/>
        </p:spPr>
        <p:txBody>
          <a:bodyPr wrap="square" lIns="0" tIns="0" rIns="0" bIns="0" rtlCol="0" anchor="t"/>
          <a:lstStyle/>
          <a:p>
            <a:pPr indent="0" marL="0">
              <a:buNone/>
            </a:pPr>
            <a:r>
              <a:rPr lang="en-US" sz="900" b="1" spc="100" kern="0" dirty="0">
                <a:solidFill>
                  <a:srgbClr val="52656E"/>
                </a:solidFill>
                <a:latin typeface="Consolas" pitchFamily="34" charset="0"/>
                <a:ea typeface="Consolas" pitchFamily="34" charset="-122"/>
                <a:cs typeface="Consolas" pitchFamily="34" charset="-120"/>
              </a:rPr>
              <a:t>A DRAW</a:t>
            </a:r>
            <a:endParaRPr lang="en-US" sz="900" dirty="0"/>
          </a:p>
        </p:txBody>
      </p:sp>
      <p:sp>
        <p:nvSpPr>
          <p:cNvPr id="20" name="Text 17"/>
          <p:cNvSpPr txBox="1"/>
          <p:nvPr/>
        </p:nvSpPr>
        <p:spPr>
          <a:xfrm>
            <a:off x="4524146" y="2103120"/>
            <a:ext cx="3179978" cy="3200400"/>
          </a:xfrm>
          <a:prstGeom prst="rect">
            <a:avLst/>
          </a:prstGeom>
          <a:noFill/>
          <a:ln/>
        </p:spPr>
        <p:txBody>
          <a:bodyPr wrap="square" lIns="0" tIns="0" rIns="0" bIns="0" rtlCol="0" anchor="t"/>
          <a:lstStyle/>
          <a:p>
            <a:pPr marL="177800" indent="-177800">
              <a:spcAft>
                <a:spcPts val="1100"/>
              </a:spcAft>
              <a:buSzPct val="100000"/>
              <a:buChar char="•"/>
            </a:pPr>
            <a:r>
              <a:rPr lang="en-US" sz="1250" b="1" dirty="0">
                <a:solidFill>
                  <a:srgbClr val="15252E"/>
                </a:solidFill>
                <a:latin typeface="Calibri" pitchFamily="34" charset="0"/>
                <a:ea typeface="Calibri" pitchFamily="34" charset="-122"/>
                <a:cs typeface="Calibri" pitchFamily="34" charset="-120"/>
              </a:rPr>
              <a:t>Accuracy of stated figures.</a:t>
            </a:r>
            <a:r>
              <a:rPr lang="en-US" sz="1250" dirty="0">
                <a:solidFill>
                  <a:srgbClr val="52656E"/>
                </a:solidFill>
                <a:latin typeface="Calibri" pitchFamily="34" charset="0"/>
                <a:ea typeface="Calibri" pitchFamily="34" charset="-122"/>
                <a:cs typeface="Calibri" pitchFamily="34" charset="-120"/>
              </a:rPr>
              <a:t> Nothing contradicted on either side; one flagged baseline figure was a disclosed definition.</a:t>
            </a:r>
            <a:endParaRPr lang="en-US" sz="1250" dirty="0"/>
          </a:p>
          <a:p>
            <a:pPr marL="177800" indent="-177800">
              <a:spcAft>
                <a:spcPts val="1100"/>
              </a:spcAft>
              <a:buSzPct val="100000"/>
              <a:buChar char="•"/>
            </a:pPr>
            <a:r>
              <a:rPr lang="en-US" sz="1250" b="1" dirty="0">
                <a:solidFill>
                  <a:srgbClr val="15252E"/>
                </a:solidFill>
                <a:latin typeface="Calibri" pitchFamily="34" charset="0"/>
                <a:ea typeface="Calibri" pitchFamily="34" charset="-122"/>
                <a:cs typeface="Calibri" pitchFamily="34" charset="-120"/>
              </a:rPr>
              <a:t>Cost per note.</a:t>
            </a:r>
            <a:r>
              <a:rPr lang="en-US" sz="1250" dirty="0">
                <a:solidFill>
                  <a:srgbClr val="52656E"/>
                </a:solidFill>
                <a:latin typeface="Calibri" pitchFamily="34" charset="0"/>
                <a:ea typeface="Calibri" pitchFamily="34" charset="-122"/>
                <a:cs typeface="Calibri" pitchFamily="34" charset="-120"/>
              </a:rPr>
              <a:t> £6.71–£11.03 for the AI notes, £6.80–£7.61 for ours.</a:t>
            </a:r>
            <a:endParaRPr lang="en-US" sz="1250" dirty="0"/>
          </a:p>
        </p:txBody>
      </p:sp>
      <p:sp>
        <p:nvSpPr>
          <p:cNvPr id="21" name="Shape 18"/>
          <p:cNvSpPr/>
          <p:nvPr/>
        </p:nvSpPr>
        <p:spPr>
          <a:xfrm>
            <a:off x="8097317" y="1463040"/>
            <a:ext cx="3545738" cy="3931920"/>
          </a:xfrm>
          <a:prstGeom prst="roundRect">
            <a:avLst>
              <a:gd name="adj" fmla="val 1289"/>
            </a:avLst>
          </a:prstGeom>
          <a:solidFill>
            <a:srgbClr val="FFFFFF"/>
          </a:solidFill>
          <a:ln w="9525">
            <a:solidFill>
              <a:srgbClr val="CDD8DC"/>
            </a:solidFill>
            <a:prstDash val="solid"/>
          </a:ln>
        </p:spPr>
      </p:sp>
      <p:sp>
        <p:nvSpPr>
          <p:cNvPr id="22" name="Shape 19"/>
          <p:cNvSpPr/>
          <p:nvPr/>
        </p:nvSpPr>
        <p:spPr>
          <a:xfrm>
            <a:off x="8106461" y="1472184"/>
            <a:ext cx="3527450" cy="457200"/>
          </a:xfrm>
          <a:prstGeom prst="rect">
            <a:avLst/>
          </a:prstGeom>
          <a:solidFill>
            <a:srgbClr val="E2F3F4"/>
          </a:solidFill>
          <a:ln/>
        </p:spPr>
      </p:sp>
      <p:sp>
        <p:nvSpPr>
          <p:cNvPr id="23" name="Text 20"/>
          <p:cNvSpPr txBox="1"/>
          <p:nvPr/>
        </p:nvSpPr>
        <p:spPr>
          <a:xfrm>
            <a:off x="8298485" y="1600200"/>
            <a:ext cx="3143402"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WE WIN, STRUCTURALLY</a:t>
            </a:r>
            <a:endParaRPr lang="en-US" sz="900" dirty="0"/>
          </a:p>
        </p:txBody>
      </p:sp>
      <p:sp>
        <p:nvSpPr>
          <p:cNvPr id="24" name="Text 21"/>
          <p:cNvSpPr txBox="1"/>
          <p:nvPr/>
        </p:nvSpPr>
        <p:spPr>
          <a:xfrm>
            <a:off x="8298485" y="2103120"/>
            <a:ext cx="3179978" cy="3200400"/>
          </a:xfrm>
          <a:prstGeom prst="rect">
            <a:avLst/>
          </a:prstGeom>
          <a:noFill/>
          <a:ln/>
        </p:spPr>
        <p:txBody>
          <a:bodyPr wrap="square" lIns="0" tIns="0" rIns="0" bIns="0" rtlCol="0" anchor="t"/>
          <a:lstStyle/>
          <a:p>
            <a:pPr marL="177800" indent="-177800">
              <a:spcAft>
                <a:spcPts val="1100"/>
              </a:spcAft>
              <a:buSzPct val="100000"/>
              <a:buChar char="•"/>
            </a:pPr>
            <a:r>
              <a:rPr lang="en-US" sz="1250" b="1" dirty="0">
                <a:solidFill>
                  <a:srgbClr val="15252E"/>
                </a:solidFill>
                <a:latin typeface="Calibri" pitchFamily="34" charset="0"/>
                <a:ea typeface="Calibri" pitchFamily="34" charset="-122"/>
                <a:cs typeface="Calibri" pitchFamily="34" charset="-120"/>
              </a:rPr>
              <a:t>Reproducibility.</a:t>
            </a:r>
            <a:r>
              <a:rPr lang="en-US" sz="1250" dirty="0">
                <a:solidFill>
                  <a:srgbClr val="52656E"/>
                </a:solidFill>
                <a:latin typeface="Calibri" pitchFamily="34" charset="0"/>
                <a:ea typeface="Calibri" pitchFamily="34" charset="-122"/>
                <a:cs typeface="Calibri" pitchFamily="34" charset="-120"/>
              </a:rPr>
              <a:t> 3,335 calculation rows re-execute; a chat has nothing to re-run.</a:t>
            </a:r>
            <a:endParaRPr lang="en-US" sz="1250" dirty="0"/>
          </a:p>
          <a:p>
            <a:pPr marL="177800" indent="-177800">
              <a:spcAft>
                <a:spcPts val="1100"/>
              </a:spcAft>
              <a:buSzPct val="100000"/>
              <a:buChar char="•"/>
            </a:pPr>
            <a:r>
              <a:rPr lang="en-US" sz="1250" b="1" dirty="0">
                <a:solidFill>
                  <a:srgbClr val="15252E"/>
                </a:solidFill>
                <a:latin typeface="Calibri" pitchFamily="34" charset="0"/>
                <a:ea typeface="Calibri" pitchFamily="34" charset="-122"/>
                <a:cs typeface="Calibri" pitchFamily="34" charset="-120"/>
              </a:rPr>
              <a:t>Provenance.</a:t>
            </a:r>
            <a:r>
              <a:rPr lang="en-US" sz="1250" dirty="0">
                <a:solidFill>
                  <a:srgbClr val="52656E"/>
                </a:solidFill>
                <a:latin typeface="Calibri" pitchFamily="34" charset="0"/>
                <a:ea typeface="Calibri" pitchFamily="34" charset="-122"/>
                <a:cs typeface="Calibri" pitchFamily="34" charset="-120"/>
              </a:rPr>
              <a:t> Hashed bytes, against links a third of which were dead the next day.</a:t>
            </a:r>
            <a:endParaRPr lang="en-US" sz="1250" dirty="0"/>
          </a:p>
          <a:p>
            <a:pPr marL="177800" indent="-177800">
              <a:spcAft>
                <a:spcPts val="1100"/>
              </a:spcAft>
              <a:buSzPct val="100000"/>
              <a:buChar char="•"/>
            </a:pPr>
            <a:r>
              <a:rPr lang="en-US" sz="1250" b="1" dirty="0">
                <a:solidFill>
                  <a:srgbClr val="15252E"/>
                </a:solidFill>
                <a:latin typeface="Calibri" pitchFamily="34" charset="0"/>
                <a:ea typeface="Calibri" pitchFamily="34" charset="-122"/>
                <a:cs typeface="Calibri" pitchFamily="34" charset="-120"/>
              </a:rPr>
              <a:t>Predictability.</a:t>
            </a:r>
            <a:r>
              <a:rPr lang="en-US" sz="1250" dirty="0">
                <a:solidFill>
                  <a:srgbClr val="52656E"/>
                </a:solidFill>
                <a:latin typeface="Calibri" pitchFamily="34" charset="0"/>
                <a:ea typeface="Calibri" pitchFamily="34" charset="-122"/>
                <a:cs typeface="Calibri" pitchFamily="34" charset="-120"/>
              </a:rPr>
              <a:t> An 11% cost spread against 65%, and a ceiling enforced before money moves.</a:t>
            </a:r>
            <a:endParaRPr lang="en-US" sz="1250" dirty="0"/>
          </a:p>
          <a:p>
            <a:pPr marL="177800" indent="-177800">
              <a:spcAft>
                <a:spcPts val="1100"/>
              </a:spcAft>
              <a:buSzPct val="100000"/>
              <a:buChar char="•"/>
            </a:pPr>
            <a:r>
              <a:rPr lang="en-US" sz="1250" b="1" dirty="0">
                <a:solidFill>
                  <a:srgbClr val="15252E"/>
                </a:solidFill>
                <a:latin typeface="Calibri" pitchFamily="34" charset="0"/>
                <a:ea typeface="Calibri" pitchFamily="34" charset="-122"/>
                <a:cs typeface="Calibri" pitchFamily="34" charset="-120"/>
              </a:rPr>
              <a:t>Refusals.</a:t>
            </a:r>
            <a:r>
              <a:rPr lang="en-US" sz="1250" dirty="0">
                <a:solidFill>
                  <a:srgbClr val="52656E"/>
                </a:solidFill>
                <a:latin typeface="Calibri" pitchFamily="34" charset="0"/>
                <a:ea typeface="Calibri" pitchFamily="34" charset="-122"/>
                <a:cs typeface="Calibri" pitchFamily="34" charset="-120"/>
              </a:rPr>
              <a:t> It will not publish an impossible figure.</a:t>
            </a:r>
            <a:endParaRPr lang="en-US" sz="1250" dirty="0"/>
          </a:p>
          <a:p>
            <a:pPr marL="177800" indent="-177800">
              <a:spcAft>
                <a:spcPts val="1100"/>
              </a:spcAft>
              <a:buSzPct val="100000"/>
              <a:buChar char="•"/>
            </a:pPr>
            <a:r>
              <a:rPr lang="en-US" sz="1250" b="1" dirty="0">
                <a:solidFill>
                  <a:srgbClr val="15252E"/>
                </a:solidFill>
                <a:latin typeface="Calibri" pitchFamily="34" charset="0"/>
                <a:ea typeface="Calibri" pitchFamily="34" charset="-122"/>
                <a:cs typeface="Calibri" pitchFamily="34" charset="-120"/>
              </a:rPr>
              <a:t>Memory.</a:t>
            </a:r>
            <a:r>
              <a:rPr lang="en-US" sz="1250" dirty="0">
                <a:solidFill>
                  <a:srgbClr val="52656E"/>
                </a:solidFill>
                <a:latin typeface="Calibri" pitchFamily="34" charset="0"/>
                <a:ea typeface="Calibri" pitchFamily="34" charset="-122"/>
                <a:cs typeface="Calibri" pitchFamily="34" charset="-120"/>
              </a:rPr>
              <a:t> A record of what you believed, tested against every filing.</a:t>
            </a:r>
            <a:endParaRPr lang="en-US" sz="1250" dirty="0"/>
          </a:p>
        </p:txBody>
      </p:sp>
      <p:sp>
        <p:nvSpPr>
          <p:cNvPr id="25" name="Text 22"/>
          <p:cNvSpPr txBox="1"/>
          <p:nvPr/>
        </p:nvSpPr>
        <p:spPr>
          <a:xfrm>
            <a:off x="548640" y="5577840"/>
            <a:ext cx="11094415" cy="365760"/>
          </a:xfrm>
          <a:prstGeom prst="rect">
            <a:avLst/>
          </a:prstGeom>
          <a:noFill/>
          <a:ln/>
        </p:spPr>
        <p:txBody>
          <a:bodyPr wrap="square" lIns="0" tIns="0" rIns="0" bIns="0" rtlCol="0" anchor="t"/>
          <a:lstStyle/>
          <a:p>
            <a:pPr indent="0" marL="0">
              <a:buNone/>
            </a:pPr>
            <a:r>
              <a:rPr lang="en-US" sz="1350" b="1" dirty="0">
                <a:solidFill>
                  <a:srgbClr val="15252E"/>
                </a:solidFill>
                <a:latin typeface="Calibri" pitchFamily="34" charset="0"/>
                <a:ea typeface="Calibri" pitchFamily="34" charset="-122"/>
                <a:cs typeface="Calibri" pitchFamily="34" charset="-120"/>
              </a:rPr>
              <a:t>Column one is a frontier model’s home ground, and we concede it. Column three cannot be bolted onto a chat.</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05 · EVIDENCE</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We sell the evidence, not the essay</a:t>
            </a:r>
            <a:endParaRPr lang="en-US" sz="2800" dirty="0"/>
          </a:p>
        </p:txBody>
      </p:sp>
      <p:sp>
        <p:nvSpPr>
          <p:cNvPr id="5" name="Shape 3"/>
          <p:cNvSpPr/>
          <p:nvPr/>
        </p:nvSpPr>
        <p:spPr>
          <a:xfrm>
            <a:off x="10624414" y="384048"/>
            <a:ext cx="1018642" cy="219456"/>
          </a:xfrm>
          <a:prstGeom prst="roundRect">
            <a:avLst>
              <a:gd name="adj" fmla="val 50000"/>
            </a:avLst>
          </a:prstGeom>
          <a:solidFill>
            <a:srgbClr val="7A4B00"/>
          </a:solidFill>
          <a:ln/>
        </p:spPr>
      </p:sp>
      <p:sp>
        <p:nvSpPr>
          <p:cNvPr id="6" name="Text 4"/>
          <p:cNvSpPr txBox="1"/>
          <p:nvPr/>
        </p:nvSpPr>
        <p:spPr>
          <a:xfrm>
            <a:off x="10624414" y="38404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7" name="Shape 5"/>
          <p:cNvSpPr/>
          <p:nvPr/>
        </p:nvSpPr>
        <p:spPr>
          <a:xfrm>
            <a:off x="9176004" y="384048"/>
            <a:ext cx="1356970" cy="219456"/>
          </a:xfrm>
          <a:prstGeom prst="roundRect">
            <a:avLst>
              <a:gd name="adj" fmla="val 50000"/>
            </a:avLst>
          </a:prstGeom>
          <a:solidFill>
            <a:srgbClr val="14613F"/>
          </a:solidFill>
          <a:ln/>
        </p:spPr>
      </p:sp>
      <p:sp>
        <p:nvSpPr>
          <p:cNvPr id="8" name="Text 6"/>
          <p:cNvSpPr txBox="1"/>
          <p:nvPr/>
        </p:nvSpPr>
        <p:spPr>
          <a:xfrm>
            <a:off x="9176004"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24</a:t>
            </a:r>
            <a:endParaRPr lang="en-US" sz="800" dirty="0"/>
          </a:p>
        </p:txBody>
      </p:sp>
      <p:sp>
        <p:nvSpPr>
          <p:cNvPr id="12" name="Shape 9"/>
          <p:cNvSpPr/>
          <p:nvPr/>
        </p:nvSpPr>
        <p:spPr>
          <a:xfrm>
            <a:off x="548640" y="1463040"/>
            <a:ext cx="5257800" cy="3749040"/>
          </a:xfrm>
          <a:prstGeom prst="roundRect">
            <a:avLst>
              <a:gd name="adj" fmla="val 1220"/>
            </a:avLst>
          </a:prstGeom>
          <a:solidFill>
            <a:srgbClr val="FFFFFF"/>
          </a:solidFill>
          <a:ln w="9525">
            <a:solidFill>
              <a:srgbClr val="CDD8DC"/>
            </a:solidFill>
            <a:prstDash val="solid"/>
          </a:ln>
        </p:spPr>
      </p:sp>
      <p:sp>
        <p:nvSpPr>
          <p:cNvPr id="13" name="Text 10"/>
          <p:cNvSpPr txBox="1"/>
          <p:nvPr/>
        </p:nvSpPr>
        <p:spPr>
          <a:xfrm>
            <a:off x="777240" y="1645920"/>
            <a:ext cx="4846320"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THE CLAIM, NARROWED ON 25 SEP 2026</a:t>
            </a:r>
            <a:endParaRPr lang="en-US" sz="900" dirty="0"/>
          </a:p>
        </p:txBody>
      </p:sp>
      <p:sp>
        <p:nvSpPr>
          <p:cNvPr id="14" name="Text 11"/>
          <p:cNvSpPr txBox="1"/>
          <p:nvPr/>
        </p:nvSpPr>
        <p:spPr>
          <a:xfrm>
            <a:off x="777240" y="1938528"/>
            <a:ext cx="4846320" cy="365760"/>
          </a:xfrm>
          <a:prstGeom prst="rect">
            <a:avLst/>
          </a:prstGeom>
          <a:noFill/>
          <a:ln/>
        </p:spPr>
        <p:txBody>
          <a:bodyPr wrap="square" lIns="0" tIns="0" rIns="0" bIns="0" rtlCol="0" anchor="t"/>
          <a:lstStyle/>
          <a:p>
            <a:pPr indent="0" marL="0">
              <a:buNone/>
            </a:pPr>
            <a:r>
              <a:rPr lang="en-US" sz="1600" b="1" dirty="0">
                <a:solidFill>
                  <a:srgbClr val="0F6673"/>
                </a:solidFill>
                <a:latin typeface="Calibri" pitchFamily="34" charset="0"/>
                <a:ea typeface="Calibri" pitchFamily="34" charset="-122"/>
                <a:cs typeface="Calibri" pitchFamily="34" charset="-120"/>
              </a:rPr>
              <a:t>An evidence base and a checking instrument.</a:t>
            </a:r>
            <a:endParaRPr lang="en-US" sz="1600" dirty="0"/>
          </a:p>
        </p:txBody>
      </p:sp>
      <p:sp>
        <p:nvSpPr>
          <p:cNvPr id="15" name="Text 12"/>
          <p:cNvSpPr txBox="1"/>
          <p:nvPr/>
        </p:nvSpPr>
        <p:spPr>
          <a:xfrm>
            <a:off x="777240" y="2468880"/>
            <a:ext cx="4846320" cy="2651760"/>
          </a:xfrm>
          <a:prstGeom prst="rect">
            <a:avLst/>
          </a:prstGeom>
          <a:noFill/>
          <a:ln/>
        </p:spPr>
        <p:txBody>
          <a:bodyPr wrap="square" lIns="0" tIns="0" rIns="0" bIns="0" rtlCol="0" anchor="t"/>
          <a:lstStyle/>
          <a:p>
            <a:pPr marL="177800" indent="-177800">
              <a:spcAft>
                <a:spcPts val="900"/>
              </a:spcAft>
              <a:buSzPct val="100000"/>
              <a:buChar char="•"/>
            </a:pPr>
            <a:r>
              <a:rPr lang="en-US" sz="1200" b="1" dirty="0">
                <a:solidFill>
                  <a:srgbClr val="15252E"/>
                </a:solidFill>
                <a:latin typeface="Calibri" pitchFamily="34" charset="0"/>
                <a:ea typeface="Calibri" pitchFamily="34" charset="-122"/>
                <a:cs typeface="Calibri" pitchFamily="34" charset="-120"/>
              </a:rPr>
              <a:t>The view is yours.</a:t>
            </a:r>
            <a:r>
              <a:rPr lang="en-US" sz="1200" dirty="0">
                <a:solidFill>
                  <a:srgbClr val="52656E"/>
                </a:solidFill>
                <a:latin typeface="Calibri" pitchFamily="34" charset="0"/>
                <a:ea typeface="Calibri" pitchFamily="34" charset="-122"/>
                <a:cs typeface="Calibri" pitchFamily="34" charset="-120"/>
              </a:rPr>
              <a:t> The platform states none; its adversary argues against yours.</a:t>
            </a:r>
            <a:endParaRPr lang="en-US" sz="1200" dirty="0"/>
          </a:p>
          <a:p>
            <a:pPr marL="177800" indent="-177800">
              <a:spcAft>
                <a:spcPts val="900"/>
              </a:spcAft>
              <a:buSzPct val="100000"/>
              <a:buChar char="•"/>
            </a:pPr>
            <a:r>
              <a:rPr lang="en-US" sz="1200" b="1" dirty="0">
                <a:solidFill>
                  <a:srgbClr val="15252E"/>
                </a:solidFill>
                <a:latin typeface="Calibri" pitchFamily="34" charset="0"/>
                <a:ea typeface="Calibri" pitchFamily="34" charset="-122"/>
                <a:cs typeface="Calibri" pitchFamily="34" charset="-120"/>
              </a:rPr>
              <a:t>Checking is the product.</a:t>
            </a:r>
            <a:r>
              <a:rPr lang="en-US" sz="1200" dirty="0">
                <a:solidFill>
                  <a:srgbClr val="52656E"/>
                </a:solidFill>
                <a:latin typeface="Calibri" pitchFamily="34" charset="0"/>
                <a:ea typeface="Calibri" pitchFamily="34" charset="-122"/>
                <a:cs typeface="Calibri" pitchFamily="34" charset="-120"/>
              </a:rPr>
              <a:t> Any figure walked to its source in under 30 seconds; the valuation re-run by hand in the workbook and the calculator.</a:t>
            </a:r>
            <a:endParaRPr lang="en-US" sz="1200" dirty="0"/>
          </a:p>
          <a:p>
            <a:pPr marL="177800" indent="-177800">
              <a:spcAft>
                <a:spcPts val="900"/>
              </a:spcAft>
              <a:buSzPct val="100000"/>
              <a:buChar char="•"/>
            </a:pPr>
            <a:r>
              <a:rPr lang="en-US" sz="1200" b="1" dirty="0">
                <a:solidFill>
                  <a:srgbClr val="15252E"/>
                </a:solidFill>
                <a:latin typeface="Calibri" pitchFamily="34" charset="0"/>
                <a:ea typeface="Calibri" pitchFamily="34" charset="-122"/>
                <a:cs typeface="Calibri" pitchFamily="34" charset="-120"/>
              </a:rPr>
              <a:t>Depth, not breadth.</a:t>
            </a:r>
            <a:r>
              <a:rPr lang="en-US" sz="1200" dirty="0">
                <a:solidFill>
                  <a:srgbClr val="52656E"/>
                </a:solidFill>
                <a:latin typeface="Calibri" pitchFamily="34" charset="0"/>
                <a:ea typeface="Calibri" pitchFamily="34" charset="-122"/>
                <a:cs typeface="Calibri" pitchFamily="34" charset="-120"/>
              </a:rPr>
              <a:t> Primary sources read further, never licensed commentary.</a:t>
            </a:r>
            <a:endParaRPr lang="en-US" sz="1200" dirty="0"/>
          </a:p>
          <a:p>
            <a:pPr marL="177800" indent="-177800">
              <a:spcAft>
                <a:spcPts val="900"/>
              </a:spcAft>
              <a:buSzPct val="100000"/>
              <a:buChar char="•"/>
            </a:pPr>
            <a:r>
              <a:rPr lang="en-US" sz="1200" b="1" dirty="0">
                <a:solidFill>
                  <a:srgbClr val="15252E"/>
                </a:solidFill>
                <a:latin typeface="Calibri" pitchFamily="34" charset="0"/>
                <a:ea typeface="Calibri" pitchFamily="34" charset="-122"/>
                <a:cs typeface="Calibri" pitchFamily="34" charset="-120"/>
              </a:rPr>
              <a:t>The masthead says what each method gives,</a:t>
            </a:r>
            <a:r>
              <a:rPr lang="en-US" sz="1200" dirty="0">
                <a:solidFill>
                  <a:srgbClr val="52656E"/>
                </a:solidFill>
                <a:latin typeface="Calibri" pitchFamily="34" charset="0"/>
                <a:ea typeface="Calibri" pitchFamily="34" charset="-122"/>
                <a:cs typeface="Calibri" pitchFamily="34" charset="-120"/>
              </a:rPr>
              <a:t> and why two terminal methods disagree, instead of calling them a view or a range.</a:t>
            </a:r>
            <a:endParaRPr lang="en-US" sz="1200" dirty="0"/>
          </a:p>
        </p:txBody>
      </p:sp>
      <p:sp>
        <p:nvSpPr>
          <p:cNvPr id="16" name="Shape 13"/>
          <p:cNvSpPr/>
          <p:nvPr/>
        </p:nvSpPr>
        <p:spPr>
          <a:xfrm>
            <a:off x="6035040" y="1463040"/>
            <a:ext cx="5605272" cy="3749040"/>
          </a:xfrm>
          <a:prstGeom prst="roundRect">
            <a:avLst>
              <a:gd name="adj" fmla="val 1220"/>
            </a:avLst>
          </a:prstGeom>
          <a:solidFill>
            <a:srgbClr val="FFFFFF"/>
          </a:solidFill>
          <a:ln w="9525">
            <a:solidFill>
              <a:srgbClr val="CDD8DC"/>
            </a:solidFill>
            <a:prstDash val="solid"/>
          </a:ln>
        </p:spPr>
      </p:sp>
      <p:sp>
        <p:nvSpPr>
          <p:cNvPr id="17" name="Text 14"/>
          <p:cNvSpPr txBox="1"/>
          <p:nvPr/>
        </p:nvSpPr>
        <p:spPr>
          <a:xfrm>
            <a:off x="6263640" y="1645920"/>
            <a:ext cx="5212080"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V1.0’S FINISH LINE, IN THE OPERATOR’S OWN TERMS</a:t>
            </a:r>
            <a:endParaRPr lang="en-US" sz="900" dirty="0"/>
          </a:p>
        </p:txBody>
      </p:sp>
      <p:sp>
        <p:nvSpPr>
          <p:cNvPr id="18" name="Shape 15"/>
          <p:cNvSpPr/>
          <p:nvPr/>
        </p:nvSpPr>
        <p:spPr>
          <a:xfrm>
            <a:off x="6263640" y="1975104"/>
            <a:ext cx="237744" cy="237744"/>
          </a:xfrm>
          <a:prstGeom prst="ellipse">
            <a:avLst/>
          </a:prstGeom>
          <a:solidFill>
            <a:srgbClr val="0F6673"/>
          </a:solidFill>
          <a:ln/>
        </p:spPr>
      </p:sp>
      <p:sp>
        <p:nvSpPr>
          <p:cNvPr id="19" name="Text 16"/>
          <p:cNvSpPr txBox="1"/>
          <p:nvPr/>
        </p:nvSpPr>
        <p:spPr>
          <a:xfrm>
            <a:off x="6263640" y="197510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1</a:t>
            </a:r>
            <a:endParaRPr lang="en-US" sz="900" dirty="0"/>
          </a:p>
        </p:txBody>
      </p:sp>
      <p:sp>
        <p:nvSpPr>
          <p:cNvPr id="20" name="Text 17"/>
          <p:cNvSpPr txBox="1"/>
          <p:nvPr/>
        </p:nvSpPr>
        <p:spPr>
          <a:xfrm>
            <a:off x="6629400" y="1965960"/>
            <a:ext cx="4846320" cy="758952"/>
          </a:xfrm>
          <a:prstGeom prst="rect">
            <a:avLst/>
          </a:prstGeom>
          <a:noFill/>
          <a:ln/>
        </p:spPr>
        <p:txBody>
          <a:bodyPr wrap="square" lIns="0" tIns="0" rIns="0" bIns="0" rtlCol="0" anchor="t"/>
          <a:lstStyle/>
          <a:p>
            <a:pPr indent="0" marL="0">
              <a:buNone/>
            </a:pPr>
            <a:r>
              <a:rPr lang="en-US" sz="1150" dirty="0">
                <a:solidFill>
                  <a:srgbClr val="15252E"/>
                </a:solidFill>
                <a:latin typeface="Calibri" pitchFamily="34" charset="0"/>
                <a:ea typeface="Calibri" pitchFamily="34" charset="-122"/>
                <a:cs typeface="Calibri" pitchFamily="34" charset="-120"/>
              </a:rPr>
              <a:t>The verdict round’s defects are fixed, and a refused figure has a way forward other than approving against the check.</a:t>
            </a:r>
            <a:endParaRPr lang="en-US" sz="1150" dirty="0"/>
          </a:p>
        </p:txBody>
      </p:sp>
      <p:sp>
        <p:nvSpPr>
          <p:cNvPr id="21" name="Shape 18"/>
          <p:cNvSpPr/>
          <p:nvPr/>
        </p:nvSpPr>
        <p:spPr>
          <a:xfrm>
            <a:off x="6263640" y="2770632"/>
            <a:ext cx="237744" cy="237744"/>
          </a:xfrm>
          <a:prstGeom prst="ellipse">
            <a:avLst/>
          </a:prstGeom>
          <a:solidFill>
            <a:srgbClr val="0F6673"/>
          </a:solidFill>
          <a:ln/>
        </p:spPr>
      </p:sp>
      <p:sp>
        <p:nvSpPr>
          <p:cNvPr id="22" name="Text 19"/>
          <p:cNvSpPr txBox="1"/>
          <p:nvPr/>
        </p:nvSpPr>
        <p:spPr>
          <a:xfrm>
            <a:off x="6263640" y="277063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2</a:t>
            </a:r>
            <a:endParaRPr lang="en-US" sz="900" dirty="0"/>
          </a:p>
        </p:txBody>
      </p:sp>
      <p:sp>
        <p:nvSpPr>
          <p:cNvPr id="23" name="Text 20"/>
          <p:cNvSpPr txBox="1"/>
          <p:nvPr/>
        </p:nvSpPr>
        <p:spPr>
          <a:xfrm>
            <a:off x="6629400" y="2761488"/>
            <a:ext cx="4846320" cy="758952"/>
          </a:xfrm>
          <a:prstGeom prst="rect">
            <a:avLst/>
          </a:prstGeom>
          <a:noFill/>
          <a:ln/>
        </p:spPr>
        <p:txBody>
          <a:bodyPr wrap="square" lIns="0" tIns="0" rIns="0" bIns="0" rtlCol="0" anchor="t"/>
          <a:lstStyle/>
          <a:p>
            <a:pPr indent="0" marL="0">
              <a:buNone/>
            </a:pPr>
            <a:r>
              <a:rPr lang="en-US" sz="1150" dirty="0">
                <a:solidFill>
                  <a:srgbClr val="15252E"/>
                </a:solidFill>
                <a:latin typeface="Calibri" pitchFamily="34" charset="0"/>
                <a:ea typeface="Calibri" pitchFamily="34" charset="-122"/>
                <a:cs typeface="Calibri" pitchFamily="34" charset="-120"/>
              </a:rPr>
              <a:t>Three fresh runs reach an approved report with no terminal and no rescue: a US filer, AstraZeneca through its 20-F, and M&amp;T Bank. A refresh keeps its valuation.</a:t>
            </a:r>
            <a:endParaRPr lang="en-US" sz="1150" dirty="0"/>
          </a:p>
        </p:txBody>
      </p:sp>
      <p:sp>
        <p:nvSpPr>
          <p:cNvPr id="24" name="Shape 21"/>
          <p:cNvSpPr/>
          <p:nvPr/>
        </p:nvSpPr>
        <p:spPr>
          <a:xfrm>
            <a:off x="6263640" y="3566160"/>
            <a:ext cx="237744" cy="237744"/>
          </a:xfrm>
          <a:prstGeom prst="ellipse">
            <a:avLst/>
          </a:prstGeom>
          <a:solidFill>
            <a:srgbClr val="0F6673"/>
          </a:solidFill>
          <a:ln/>
        </p:spPr>
      </p:sp>
      <p:sp>
        <p:nvSpPr>
          <p:cNvPr id="25" name="Text 22"/>
          <p:cNvSpPr txBox="1"/>
          <p:nvPr/>
        </p:nvSpPr>
        <p:spPr>
          <a:xfrm>
            <a:off x="6263640" y="3566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3</a:t>
            </a:r>
            <a:endParaRPr lang="en-US" sz="900" dirty="0"/>
          </a:p>
        </p:txBody>
      </p:sp>
      <p:sp>
        <p:nvSpPr>
          <p:cNvPr id="26" name="Text 23"/>
          <p:cNvSpPr txBox="1"/>
          <p:nvPr/>
        </p:nvSpPr>
        <p:spPr>
          <a:xfrm>
            <a:off x="6629400" y="3557016"/>
            <a:ext cx="4846320" cy="758952"/>
          </a:xfrm>
          <a:prstGeom prst="rect">
            <a:avLst/>
          </a:prstGeom>
          <a:noFill/>
          <a:ln/>
        </p:spPr>
        <p:txBody>
          <a:bodyPr wrap="square" lIns="0" tIns="0" rIns="0" bIns="0" rtlCol="0" anchor="t"/>
          <a:lstStyle/>
          <a:p>
            <a:pPr indent="0" marL="0">
              <a:buNone/>
            </a:pPr>
            <a:r>
              <a:rPr lang="en-US" sz="1150" dirty="0">
                <a:solidFill>
                  <a:srgbClr val="15252E"/>
                </a:solidFill>
                <a:latin typeface="Calibri" pitchFamily="34" charset="0"/>
                <a:ea typeface="Calibri" pitchFamily="34" charset="-122"/>
                <a:cs typeface="Calibri" pitchFamily="34" charset="-120"/>
              </a:rPr>
              <a:t>The README and product pages claim the evidence base and the checking instrument, and no more.</a:t>
            </a:r>
            <a:endParaRPr lang="en-US" sz="1150" dirty="0"/>
          </a:p>
        </p:txBody>
      </p:sp>
      <p:sp>
        <p:nvSpPr>
          <p:cNvPr id="27" name="Shape 24"/>
          <p:cNvSpPr/>
          <p:nvPr/>
        </p:nvSpPr>
        <p:spPr>
          <a:xfrm>
            <a:off x="6263640" y="4361688"/>
            <a:ext cx="237744" cy="237744"/>
          </a:xfrm>
          <a:prstGeom prst="ellipse">
            <a:avLst/>
          </a:prstGeom>
          <a:solidFill>
            <a:srgbClr val="0F6673"/>
          </a:solidFill>
          <a:ln/>
        </p:spPr>
      </p:sp>
      <p:sp>
        <p:nvSpPr>
          <p:cNvPr id="28" name="Text 25"/>
          <p:cNvSpPr txBox="1"/>
          <p:nvPr/>
        </p:nvSpPr>
        <p:spPr>
          <a:xfrm>
            <a:off x="6263640" y="436168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4</a:t>
            </a:r>
            <a:endParaRPr lang="en-US" sz="900" dirty="0"/>
          </a:p>
        </p:txBody>
      </p:sp>
      <p:sp>
        <p:nvSpPr>
          <p:cNvPr id="29" name="Text 26"/>
          <p:cNvSpPr txBox="1"/>
          <p:nvPr/>
        </p:nvSpPr>
        <p:spPr>
          <a:xfrm>
            <a:off x="6629400" y="4352544"/>
            <a:ext cx="4846320" cy="758952"/>
          </a:xfrm>
          <a:prstGeom prst="rect">
            <a:avLst/>
          </a:prstGeom>
          <a:noFill/>
          <a:ln/>
        </p:spPr>
        <p:txBody>
          <a:bodyPr wrap="square" lIns="0" tIns="0" rIns="0" bIns="0" rtlCol="0" anchor="t"/>
          <a:lstStyle/>
          <a:p>
            <a:pPr indent="0" marL="0">
              <a:buNone/>
            </a:pPr>
            <a:r>
              <a:rPr lang="en-US" sz="1150" dirty="0">
                <a:solidFill>
                  <a:srgbClr val="15252E"/>
                </a:solidFill>
                <a:latin typeface="Calibri" pitchFamily="34" charset="0"/>
                <a:ea typeface="Calibri" pitchFamily="34" charset="-122"/>
                <a:cs typeface="Calibri" pitchFamily="34" charset="-120"/>
              </a:rPr>
              <a:t>On the operator’s own machine: a first report without documentation, a figure to its source in under 30 seconds, and under 15 minutes of attention per run.</a:t>
            </a:r>
            <a:endParaRPr lang="en-US" sz="1150" dirty="0"/>
          </a:p>
        </p:txBody>
      </p:sp>
      <p:sp>
        <p:nvSpPr>
          <p:cNvPr id="30" name="Shape 27"/>
          <p:cNvSpPr/>
          <p:nvPr/>
        </p:nvSpPr>
        <p:spPr>
          <a:xfrm>
            <a:off x="548640" y="5376672"/>
            <a:ext cx="11094415" cy="713232"/>
          </a:xfrm>
          <a:prstGeom prst="roundRect">
            <a:avLst>
              <a:gd name="adj" fmla="val 6410"/>
            </a:avLst>
          </a:prstGeom>
          <a:solidFill>
            <a:srgbClr val="FFF3D6"/>
          </a:solidFill>
          <a:ln w="9525">
            <a:solidFill>
              <a:srgbClr val="7A4B00"/>
            </a:solidFill>
            <a:prstDash val="solid"/>
          </a:ln>
        </p:spPr>
      </p:sp>
      <p:sp>
        <p:nvSpPr>
          <p:cNvPr id="31" name="Text 28"/>
          <p:cNvSpPr txBox="1"/>
          <p:nvPr/>
        </p:nvSpPr>
        <p:spPr>
          <a:xfrm>
            <a:off x="676656" y="5504688"/>
            <a:ext cx="10838383"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PLACEHOLDER</a:t>
            </a:r>
            <a:endParaRPr lang="en-US" sz="800" dirty="0"/>
          </a:p>
        </p:txBody>
      </p:sp>
      <p:sp>
        <p:nvSpPr>
          <p:cNvPr id="32" name="Text 29"/>
          <p:cNvSpPr txBox="1"/>
          <p:nvPr/>
        </p:nvSpPr>
        <p:spPr>
          <a:xfrm>
            <a:off x="676656" y="5733288"/>
            <a:ext cx="10838383" cy="279806"/>
          </a:xfrm>
          <a:prstGeom prst="rect">
            <a:avLst/>
          </a:prstGeom>
          <a:noFill/>
          <a:ln/>
        </p:spPr>
        <p:txBody>
          <a:bodyPr wrap="square" lIns="0" tIns="0" rIns="0" bIns="0" rtlCol="0" anchor="t"/>
          <a:lstStyle/>
          <a:p>
            <a:pPr algn="l" indent="0" marL="0">
              <a:buNone/>
            </a:pPr>
            <a:r>
              <a:rPr lang="en-US" sz="1050" dirty="0">
                <a:solidFill>
                  <a:srgbClr val="5D3900"/>
                </a:solidFill>
                <a:latin typeface="Calibri" pitchFamily="34" charset="0"/>
                <a:ea typeface="Calibri" pitchFamily="34" charset="-122"/>
                <a:cs typeface="Calibri" pitchFamily="34" charset="-120"/>
              </a:rPr>
              <a:t>Result of the re-measurement that follows the fixes (about £21, already approved): [comparisons that did not choose the AI note] · [runs approved with no rescue] · [date]</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06 · CUSTOMERS &amp; MARKET</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Who it is for</a:t>
            </a:r>
            <a:endParaRPr lang="en-US" sz="2800" dirty="0"/>
          </a:p>
        </p:txBody>
      </p:sp>
      <p:sp>
        <p:nvSpPr>
          <p:cNvPr id="5" name="Shape 3"/>
          <p:cNvSpPr/>
          <p:nvPr/>
        </p:nvSpPr>
        <p:spPr>
          <a:xfrm>
            <a:off x="10624414" y="384048"/>
            <a:ext cx="1018642" cy="219456"/>
          </a:xfrm>
          <a:prstGeom prst="roundRect">
            <a:avLst>
              <a:gd name="adj" fmla="val 50000"/>
            </a:avLst>
          </a:prstGeom>
          <a:solidFill>
            <a:srgbClr val="7A4B00"/>
          </a:solidFill>
          <a:ln/>
        </p:spPr>
      </p:sp>
      <p:sp>
        <p:nvSpPr>
          <p:cNvPr id="6" name="Text 4"/>
          <p:cNvSpPr txBox="1"/>
          <p:nvPr/>
        </p:nvSpPr>
        <p:spPr>
          <a:xfrm>
            <a:off x="10624414" y="38404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7" name="Shape 5"/>
          <p:cNvSpPr/>
          <p:nvPr/>
        </p:nvSpPr>
        <p:spPr>
          <a:xfrm>
            <a:off x="9379001" y="384048"/>
            <a:ext cx="1153973" cy="219456"/>
          </a:xfrm>
          <a:prstGeom prst="roundRect">
            <a:avLst>
              <a:gd name="adj" fmla="val 50000"/>
            </a:avLst>
          </a:prstGeom>
          <a:solidFill>
            <a:srgbClr val="F4F7F8"/>
          </a:solidFill>
          <a:ln w="12700">
            <a:solidFill>
              <a:srgbClr val="15252E"/>
            </a:solidFill>
            <a:prstDash val="solid"/>
          </a:ln>
        </p:spPr>
      </p:sp>
      <p:sp>
        <p:nvSpPr>
          <p:cNvPr id="8" name="Text 6"/>
          <p:cNvSpPr txBox="1"/>
          <p:nvPr/>
        </p:nvSpPr>
        <p:spPr>
          <a:xfrm>
            <a:off x="9379001" y="384048"/>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25</a:t>
            </a:r>
            <a:endParaRPr lang="en-US" sz="800" dirty="0"/>
          </a:p>
        </p:txBody>
      </p:sp>
      <p:sp>
        <p:nvSpPr>
          <p:cNvPr id="12" name="Shape 9"/>
          <p:cNvSpPr/>
          <p:nvPr/>
        </p:nvSpPr>
        <p:spPr>
          <a:xfrm>
            <a:off x="548640" y="1463040"/>
            <a:ext cx="3383280" cy="4617720"/>
          </a:xfrm>
          <a:prstGeom prst="roundRect">
            <a:avLst>
              <a:gd name="adj" fmla="val 1351"/>
            </a:avLst>
          </a:prstGeom>
          <a:solidFill>
            <a:srgbClr val="FFFFFF"/>
          </a:solidFill>
          <a:ln w="9525">
            <a:solidFill>
              <a:srgbClr val="CDD8DC"/>
            </a:solidFill>
            <a:prstDash val="solid"/>
          </a:ln>
        </p:spPr>
      </p:sp>
      <p:sp>
        <p:nvSpPr>
          <p:cNvPr id="13" name="Text 10"/>
          <p:cNvSpPr txBox="1"/>
          <p:nvPr/>
        </p:nvSpPr>
        <p:spPr>
          <a:xfrm>
            <a:off x="749808" y="1645920"/>
            <a:ext cx="3017520"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BUILT FOR TODAY</a:t>
            </a:r>
            <a:endParaRPr lang="en-US" sz="900" dirty="0"/>
          </a:p>
        </p:txBody>
      </p:sp>
      <p:sp>
        <p:nvSpPr>
          <p:cNvPr id="14" name="Text 11"/>
          <p:cNvSpPr txBox="1"/>
          <p:nvPr/>
        </p:nvSpPr>
        <p:spPr>
          <a:xfrm>
            <a:off x="749808" y="1938528"/>
            <a:ext cx="2980944" cy="1325880"/>
          </a:xfrm>
          <a:prstGeom prst="rect">
            <a:avLst/>
          </a:prstGeom>
          <a:noFill/>
          <a:ln/>
        </p:spPr>
        <p:txBody>
          <a:bodyPr wrap="square" lIns="0" tIns="0" rIns="0" bIns="0" rtlCol="0" anchor="t"/>
          <a:lstStyle/>
          <a:p>
            <a:pPr indent="0" marL="0">
              <a:buNone/>
            </a:pPr>
            <a:r>
              <a:rPr lang="en-US" sz="1250" dirty="0">
                <a:solidFill>
                  <a:srgbClr val="15252E"/>
                </a:solidFill>
                <a:latin typeface="Calibri" pitchFamily="34" charset="0"/>
                <a:ea typeface="Calibri" pitchFamily="34" charset="-122"/>
                <a:cs typeface="Calibri" pitchFamily="34" charset="-120"/>
              </a:rPr>
              <a:t>One operator: a financially literate private investor who researches individual companies, acts on their own conclusions and checks the work.</a:t>
            </a:r>
            <a:endParaRPr lang="en-US" sz="1250" dirty="0"/>
          </a:p>
        </p:txBody>
      </p:sp>
      <p:sp>
        <p:nvSpPr>
          <p:cNvPr id="15" name="Text 12"/>
          <p:cNvSpPr txBox="1"/>
          <p:nvPr/>
        </p:nvSpPr>
        <p:spPr>
          <a:xfrm>
            <a:off x="749808" y="3063240"/>
            <a:ext cx="2980944" cy="1005840"/>
          </a:xfrm>
          <a:prstGeom prst="rect">
            <a:avLst/>
          </a:prstGeom>
          <a:noFill/>
          <a:ln/>
        </p:spPr>
        <p:txBody>
          <a:bodyPr wrap="square" lIns="0" tIns="0" rIns="0" bIns="0" rtlCol="0" anchor="t"/>
          <a:lstStyle/>
          <a:p>
            <a:pPr indent="0" marL="0">
              <a:buNone/>
            </a:pPr>
            <a:r>
              <a:rPr lang="en-US" sz="1200" dirty="0">
                <a:solidFill>
                  <a:srgbClr val="52656E"/>
                </a:solidFill>
                <a:latin typeface="Calibri" pitchFamily="34" charset="0"/>
                <a:ea typeface="Calibri" pitchFamily="34" charset="-122"/>
                <a:cs typeface="Calibri" pitchFamily="34" charset="-120"/>
              </a:rPr>
              <a:t>It runs on their own machine against their own database, one report at a time. Nothing about it assumes a team.</a:t>
            </a:r>
            <a:endParaRPr lang="en-US" sz="1200" dirty="0"/>
          </a:p>
        </p:txBody>
      </p:sp>
      <p:sp>
        <p:nvSpPr>
          <p:cNvPr id="16" name="Shape 13"/>
          <p:cNvSpPr/>
          <p:nvPr/>
        </p:nvSpPr>
        <p:spPr>
          <a:xfrm>
            <a:off x="4114800" y="1463040"/>
            <a:ext cx="3657600" cy="4617720"/>
          </a:xfrm>
          <a:prstGeom prst="roundRect">
            <a:avLst>
              <a:gd name="adj" fmla="val 1250"/>
            </a:avLst>
          </a:prstGeom>
          <a:solidFill>
            <a:srgbClr val="FFFFFF"/>
          </a:solidFill>
          <a:ln w="9525">
            <a:solidFill>
              <a:srgbClr val="CDD8DC"/>
            </a:solidFill>
            <a:prstDash val="solid"/>
          </a:ln>
        </p:spPr>
      </p:sp>
      <p:sp>
        <p:nvSpPr>
          <p:cNvPr id="17" name="Text 14"/>
          <p:cNvSpPr txBox="1"/>
          <p:nvPr/>
        </p:nvSpPr>
        <p:spPr>
          <a:xfrm>
            <a:off x="4315968" y="1645920"/>
            <a:ext cx="3291840"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WHAT THE RECORD ALREADY SAYS</a:t>
            </a:r>
            <a:endParaRPr lang="en-US" sz="900" dirty="0"/>
          </a:p>
        </p:txBody>
      </p:sp>
      <p:sp>
        <p:nvSpPr>
          <p:cNvPr id="18" name="Text 15"/>
          <p:cNvSpPr txBox="1"/>
          <p:nvPr/>
        </p:nvSpPr>
        <p:spPr>
          <a:xfrm>
            <a:off x="4315968" y="1965960"/>
            <a:ext cx="3273552" cy="1051560"/>
          </a:xfrm>
          <a:prstGeom prst="rect">
            <a:avLst/>
          </a:prstGeom>
          <a:noFill/>
          <a:ln/>
        </p:spPr>
        <p:txBody>
          <a:bodyPr wrap="square" lIns="0" tIns="0" rIns="0" bIns="0" rtlCol="0" anchor="t"/>
          <a:lstStyle/>
          <a:p>
            <a:pPr indent="0" marL="0">
              <a:buNone/>
            </a:pPr>
            <a:r>
              <a:rPr lang="en-US" sz="1200" i="1" dirty="0">
                <a:solidFill>
                  <a:srgbClr val="15252E"/>
                </a:solidFill>
                <a:latin typeface="Calibri" pitchFamily="34" charset="0"/>
                <a:ea typeface="Calibri" pitchFamily="34" charset="-122"/>
                <a:cs typeface="Calibri" pitchFamily="34" charset="-120"/>
              </a:rPr>
              <a:t>“The buyer most likely to pay for an auditable research record is one who has to defend their research to somebody else — a committee, a client, a co-investor, a regulator.”</a:t>
            </a:r>
            <a:endParaRPr lang="en-US" sz="1200" dirty="0"/>
          </a:p>
        </p:txBody>
      </p:sp>
      <p:sp>
        <p:nvSpPr>
          <p:cNvPr id="19" name="Text 16"/>
          <p:cNvSpPr txBox="1"/>
          <p:nvPr/>
        </p:nvSpPr>
        <p:spPr>
          <a:xfrm>
            <a:off x="4315968" y="3063240"/>
            <a:ext cx="3273552" cy="164592"/>
          </a:xfrm>
          <a:prstGeom prst="rect">
            <a:avLst/>
          </a:prstGeom>
          <a:noFill/>
          <a:ln/>
        </p:spPr>
        <p:txBody>
          <a:bodyPr wrap="square" lIns="0" tIns="0" rIns="0" bIns="0" rtlCol="0" anchor="t"/>
          <a:lstStyle/>
          <a:p>
            <a:pPr indent="0" marL="0">
              <a:buNone/>
            </a:pPr>
            <a:r>
              <a:rPr lang="en-US" sz="750" b="1" spc="100" kern="0" dirty="0">
                <a:solidFill>
                  <a:srgbClr val="5B6D75"/>
                </a:solidFill>
                <a:latin typeface="Consolas" pitchFamily="34" charset="0"/>
                <a:ea typeface="Consolas" pitchFamily="34" charset="-122"/>
                <a:cs typeface="Consolas" pitchFamily="34" charset="-120"/>
              </a:rPr>
              <a:t>ADR 0120</a:t>
            </a:r>
            <a:endParaRPr lang="en-US" sz="750" dirty="0"/>
          </a:p>
        </p:txBody>
      </p:sp>
      <p:sp>
        <p:nvSpPr>
          <p:cNvPr id="20" name="Text 17"/>
          <p:cNvSpPr txBox="1"/>
          <p:nvPr/>
        </p:nvSpPr>
        <p:spPr>
          <a:xfrm>
            <a:off x="4315968" y="3520440"/>
            <a:ext cx="3273552" cy="365760"/>
          </a:xfrm>
          <a:prstGeom prst="rect">
            <a:avLst/>
          </a:prstGeom>
          <a:noFill/>
          <a:ln/>
        </p:spPr>
        <p:txBody>
          <a:bodyPr wrap="square" lIns="0" tIns="0" rIns="0" bIns="0" rtlCol="0" anchor="t"/>
          <a:lstStyle/>
          <a:p>
            <a:pPr indent="0" marL="0">
              <a:buNone/>
            </a:pPr>
            <a:r>
              <a:rPr lang="en-US" sz="1200" i="1" dirty="0">
                <a:solidFill>
                  <a:srgbClr val="15252E"/>
                </a:solidFill>
                <a:latin typeface="Calibri" pitchFamily="34" charset="0"/>
                <a:ea typeface="Calibri" pitchFamily="34" charset="-122"/>
                <a:cs typeface="Calibri" pitchFamily="34" charset="-120"/>
              </a:rPr>
              <a:t>“The target user lives in Excel.”</a:t>
            </a:r>
            <a:endParaRPr lang="en-US" sz="1200" dirty="0"/>
          </a:p>
        </p:txBody>
      </p:sp>
      <p:sp>
        <p:nvSpPr>
          <p:cNvPr id="21" name="Text 18"/>
          <p:cNvSpPr txBox="1"/>
          <p:nvPr/>
        </p:nvSpPr>
        <p:spPr>
          <a:xfrm>
            <a:off x="4315968" y="3904488"/>
            <a:ext cx="3273552" cy="164592"/>
          </a:xfrm>
          <a:prstGeom prst="rect">
            <a:avLst/>
          </a:prstGeom>
          <a:noFill/>
          <a:ln/>
        </p:spPr>
        <p:txBody>
          <a:bodyPr wrap="square" lIns="0" tIns="0" rIns="0" bIns="0" rtlCol="0" anchor="t"/>
          <a:lstStyle/>
          <a:p>
            <a:pPr indent="0" marL="0">
              <a:buNone/>
            </a:pPr>
            <a:r>
              <a:rPr lang="en-US" sz="750" b="1" spc="100" kern="0" dirty="0">
                <a:solidFill>
                  <a:srgbClr val="5B6D75"/>
                </a:solidFill>
                <a:latin typeface="Consolas" pitchFamily="34" charset="0"/>
                <a:ea typeface="Consolas" pitchFamily="34" charset="-122"/>
                <a:cs typeface="Consolas" pitchFamily="34" charset="-120"/>
              </a:rPr>
              <a:t>V1.0 WORKBOOK SPECIFICATION</a:t>
            </a:r>
            <a:endParaRPr lang="en-US" sz="750" dirty="0"/>
          </a:p>
        </p:txBody>
      </p:sp>
      <p:sp>
        <p:nvSpPr>
          <p:cNvPr id="22" name="Text 19"/>
          <p:cNvSpPr txBox="1"/>
          <p:nvPr/>
        </p:nvSpPr>
        <p:spPr>
          <a:xfrm>
            <a:off x="4315968" y="4343400"/>
            <a:ext cx="3273552" cy="685800"/>
          </a:xfrm>
          <a:prstGeom prst="rect">
            <a:avLst/>
          </a:prstGeom>
          <a:noFill/>
          <a:ln/>
        </p:spPr>
        <p:txBody>
          <a:bodyPr wrap="square" lIns="0" tIns="0" rIns="0" bIns="0" rtlCol="0" anchor="t"/>
          <a:lstStyle/>
          <a:p>
            <a:pPr indent="0" marL="0">
              <a:buNone/>
            </a:pPr>
            <a:r>
              <a:rPr lang="en-US" sz="1200" i="1" dirty="0">
                <a:solidFill>
                  <a:srgbClr val="15252E"/>
                </a:solidFill>
                <a:latin typeface="Calibri" pitchFamily="34" charset="0"/>
                <a:ea typeface="Calibri" pitchFamily="34" charset="-122"/>
                <a:cs typeface="Calibri" pitchFamily="34" charset="-120"/>
              </a:rPr>
              <a:t>“A full run at £7.19 is a purchase; a £1–2 refresh on a cadence is a relationship.”</a:t>
            </a:r>
            <a:endParaRPr lang="en-US" sz="1200" dirty="0"/>
          </a:p>
        </p:txBody>
      </p:sp>
      <p:sp>
        <p:nvSpPr>
          <p:cNvPr id="23" name="Text 20"/>
          <p:cNvSpPr txBox="1"/>
          <p:nvPr/>
        </p:nvSpPr>
        <p:spPr>
          <a:xfrm>
            <a:off x="4315968" y="5056632"/>
            <a:ext cx="3273552" cy="164592"/>
          </a:xfrm>
          <a:prstGeom prst="rect">
            <a:avLst/>
          </a:prstGeom>
          <a:noFill/>
          <a:ln/>
        </p:spPr>
        <p:txBody>
          <a:bodyPr wrap="square" lIns="0" tIns="0" rIns="0" bIns="0" rtlCol="0" anchor="t"/>
          <a:lstStyle/>
          <a:p>
            <a:pPr indent="0" marL="0">
              <a:buNone/>
            </a:pPr>
            <a:r>
              <a:rPr lang="en-US" sz="750" b="1" spc="100" kern="0" dirty="0">
                <a:solidFill>
                  <a:srgbClr val="5B6D75"/>
                </a:solidFill>
                <a:latin typeface="Consolas" pitchFamily="34" charset="0"/>
                <a:ea typeface="Consolas" pitchFamily="34" charset="-122"/>
                <a:cs typeface="Consolas" pitchFamily="34" charset="-120"/>
              </a:rPr>
              <a:t>FEATURE F4</a:t>
            </a:r>
            <a:endParaRPr lang="en-US" sz="750" dirty="0"/>
          </a:p>
        </p:txBody>
      </p:sp>
      <p:sp>
        <p:nvSpPr>
          <p:cNvPr id="24" name="Text 21"/>
          <p:cNvSpPr txBox="1"/>
          <p:nvPr/>
        </p:nvSpPr>
        <p:spPr>
          <a:xfrm>
            <a:off x="8046720" y="1481328"/>
            <a:ext cx="3566160" cy="201168"/>
          </a:xfrm>
          <a:prstGeom prst="rect">
            <a:avLst/>
          </a:prstGeom>
          <a:noFill/>
          <a:ln/>
        </p:spPr>
        <p:txBody>
          <a:bodyPr wrap="square" lIns="0" tIns="0" rIns="0" bIns="0" rtlCol="0" anchor="t"/>
          <a:lstStyle/>
          <a:p>
            <a:pPr indent="0" marL="0">
              <a:buNone/>
            </a:pPr>
            <a:r>
              <a:rPr lang="en-US" sz="900" b="1" spc="100" kern="0" dirty="0">
                <a:solidFill>
                  <a:srgbClr val="7A4B00"/>
                </a:solidFill>
                <a:latin typeface="Consolas" pitchFamily="34" charset="0"/>
                <a:ea typeface="Consolas" pitchFamily="34" charset="-122"/>
                <a:cs typeface="Consolas" pitchFamily="34" charset="-120"/>
              </a:rPr>
              <a:t>SEGMENTS TO VALIDATE</a:t>
            </a:r>
            <a:endParaRPr lang="en-US" sz="900" dirty="0"/>
          </a:p>
        </p:txBody>
      </p:sp>
      <p:sp>
        <p:nvSpPr>
          <p:cNvPr id="25" name="Shape 22"/>
          <p:cNvSpPr/>
          <p:nvPr/>
        </p:nvSpPr>
        <p:spPr>
          <a:xfrm>
            <a:off x="8046720" y="1783080"/>
            <a:ext cx="3593592" cy="1325880"/>
          </a:xfrm>
          <a:prstGeom prst="roundRect">
            <a:avLst>
              <a:gd name="adj" fmla="val 3448"/>
            </a:avLst>
          </a:prstGeom>
          <a:solidFill>
            <a:srgbClr val="FFF3D6"/>
          </a:solidFill>
          <a:ln w="9525">
            <a:solidFill>
              <a:srgbClr val="7A4B00"/>
            </a:solidFill>
            <a:prstDash val="solid"/>
          </a:ln>
        </p:spPr>
      </p:sp>
      <p:sp>
        <p:nvSpPr>
          <p:cNvPr id="26" name="Text 23"/>
          <p:cNvSpPr txBox="1"/>
          <p:nvPr/>
        </p:nvSpPr>
        <p:spPr>
          <a:xfrm>
            <a:off x="8174736" y="1911096"/>
            <a:ext cx="3337560" cy="1121054"/>
          </a:xfrm>
          <a:prstGeom prst="rect">
            <a:avLst/>
          </a:prstGeom>
          <a:noFill/>
          <a:ln/>
        </p:spPr>
        <p:txBody>
          <a:bodyPr wrap="square" lIns="0" tIns="0" rIns="0" bIns="0" rtlCol="0" anchor="t"/>
          <a:lstStyle/>
          <a:p>
            <a:pPr algn="l" indent="0" marL="0">
              <a:buNone/>
            </a:pPr>
            <a:r>
              <a:rPr lang="en-US" sz="1050" dirty="0">
                <a:solidFill>
                  <a:srgbClr val="5D3900"/>
                </a:solidFill>
                <a:latin typeface="Calibri" pitchFamily="34" charset="0"/>
                <a:ea typeface="Calibri" pitchFamily="34" charset="-122"/>
                <a:cs typeface="Calibri" pitchFamily="34" charset="-120"/>
              </a:rPr>
              <a:t>[Segment 1]</a:t>
            </a:r>
            <a:endParaRPr lang="en-US" sz="1050" dirty="0"/>
          </a:p>
          <a:p>
            <a:pPr algn="l" indent="0" marL="0">
              <a:buNone/>
            </a:pPr>
            <a:r>
              <a:rPr lang="en-US" sz="1050" dirty="0">
                <a:solidFill>
                  <a:srgbClr val="5D3900"/>
                </a:solidFill>
                <a:latin typeface="Calibri" pitchFamily="34" charset="0"/>
                <a:ea typeface="Calibri" pitchFamily="34" charset="-122"/>
                <a:cs typeface="Calibri" pitchFamily="34" charset="-120"/>
              </a:rPr>
              <a:t>Their problem: [ ]</a:t>
            </a:r>
            <a:endParaRPr lang="en-US" sz="1050" dirty="0"/>
          </a:p>
          <a:p>
            <a:pPr algn="l" indent="0" marL="0">
              <a:buNone/>
            </a:pPr>
            <a:r>
              <a:rPr lang="en-US" sz="1050" dirty="0">
                <a:solidFill>
                  <a:srgbClr val="5D3900"/>
                </a:solidFill>
                <a:latin typeface="Calibri" pitchFamily="34" charset="0"/>
                <a:ea typeface="Calibri" pitchFamily="34" charset="-122"/>
                <a:cs typeface="Calibri" pitchFamily="34" charset="-120"/>
              </a:rPr>
              <a:t>Evidence so far: [ ]</a:t>
            </a:r>
            <a:endParaRPr lang="en-US" sz="1050" dirty="0"/>
          </a:p>
          <a:p>
            <a:pPr algn="l" indent="0" marL="0">
              <a:buNone/>
            </a:pPr>
            <a:r>
              <a:rPr lang="en-US" sz="1050" dirty="0">
                <a:solidFill>
                  <a:srgbClr val="5D3900"/>
                </a:solidFill>
                <a:latin typeface="Calibri" pitchFamily="34" charset="0"/>
                <a:ea typeface="Calibri" pitchFamily="34" charset="-122"/>
                <a:cs typeface="Calibri" pitchFamily="34" charset="-120"/>
              </a:rPr>
              <a:t>Willingness to pay: [ ]</a:t>
            </a:r>
            <a:endParaRPr lang="en-US" sz="1050" dirty="0"/>
          </a:p>
        </p:txBody>
      </p:sp>
      <p:sp>
        <p:nvSpPr>
          <p:cNvPr id="27" name="Shape 24"/>
          <p:cNvSpPr/>
          <p:nvPr/>
        </p:nvSpPr>
        <p:spPr>
          <a:xfrm>
            <a:off x="8046720" y="3218688"/>
            <a:ext cx="3593592" cy="1325880"/>
          </a:xfrm>
          <a:prstGeom prst="roundRect">
            <a:avLst>
              <a:gd name="adj" fmla="val 3448"/>
            </a:avLst>
          </a:prstGeom>
          <a:solidFill>
            <a:srgbClr val="FFF3D6"/>
          </a:solidFill>
          <a:ln w="9525">
            <a:solidFill>
              <a:srgbClr val="7A4B00"/>
            </a:solidFill>
            <a:prstDash val="solid"/>
          </a:ln>
        </p:spPr>
      </p:sp>
      <p:sp>
        <p:nvSpPr>
          <p:cNvPr id="28" name="Text 25"/>
          <p:cNvSpPr txBox="1"/>
          <p:nvPr/>
        </p:nvSpPr>
        <p:spPr>
          <a:xfrm>
            <a:off x="8174736" y="3346704"/>
            <a:ext cx="3337560" cy="1121054"/>
          </a:xfrm>
          <a:prstGeom prst="rect">
            <a:avLst/>
          </a:prstGeom>
          <a:noFill/>
          <a:ln/>
        </p:spPr>
        <p:txBody>
          <a:bodyPr wrap="square" lIns="0" tIns="0" rIns="0" bIns="0" rtlCol="0" anchor="t"/>
          <a:lstStyle/>
          <a:p>
            <a:pPr algn="l" indent="0" marL="0">
              <a:buNone/>
            </a:pPr>
            <a:r>
              <a:rPr lang="en-US" sz="1050" dirty="0">
                <a:solidFill>
                  <a:srgbClr val="5D3900"/>
                </a:solidFill>
                <a:latin typeface="Calibri" pitchFamily="34" charset="0"/>
                <a:ea typeface="Calibri" pitchFamily="34" charset="-122"/>
                <a:cs typeface="Calibri" pitchFamily="34" charset="-120"/>
              </a:rPr>
              <a:t>[Segment 2]</a:t>
            </a:r>
            <a:endParaRPr lang="en-US" sz="1050" dirty="0"/>
          </a:p>
          <a:p>
            <a:pPr algn="l" indent="0" marL="0">
              <a:buNone/>
            </a:pPr>
            <a:r>
              <a:rPr lang="en-US" sz="1050" dirty="0">
                <a:solidFill>
                  <a:srgbClr val="5D3900"/>
                </a:solidFill>
                <a:latin typeface="Calibri" pitchFamily="34" charset="0"/>
                <a:ea typeface="Calibri" pitchFamily="34" charset="-122"/>
                <a:cs typeface="Calibri" pitchFamily="34" charset="-120"/>
              </a:rPr>
              <a:t>Their problem: [ ]</a:t>
            </a:r>
            <a:endParaRPr lang="en-US" sz="1050" dirty="0"/>
          </a:p>
          <a:p>
            <a:pPr algn="l" indent="0" marL="0">
              <a:buNone/>
            </a:pPr>
            <a:r>
              <a:rPr lang="en-US" sz="1050" dirty="0">
                <a:solidFill>
                  <a:srgbClr val="5D3900"/>
                </a:solidFill>
                <a:latin typeface="Calibri" pitchFamily="34" charset="0"/>
                <a:ea typeface="Calibri" pitchFamily="34" charset="-122"/>
                <a:cs typeface="Calibri" pitchFamily="34" charset="-120"/>
              </a:rPr>
              <a:t>Evidence so far: [ ]</a:t>
            </a:r>
            <a:endParaRPr lang="en-US" sz="1050" dirty="0"/>
          </a:p>
          <a:p>
            <a:pPr algn="l" indent="0" marL="0">
              <a:buNone/>
            </a:pPr>
            <a:r>
              <a:rPr lang="en-US" sz="1050" dirty="0">
                <a:solidFill>
                  <a:srgbClr val="5D3900"/>
                </a:solidFill>
                <a:latin typeface="Calibri" pitchFamily="34" charset="0"/>
                <a:ea typeface="Calibri" pitchFamily="34" charset="-122"/>
                <a:cs typeface="Calibri" pitchFamily="34" charset="-120"/>
              </a:rPr>
              <a:t>Willingness to pay: [ ]</a:t>
            </a:r>
            <a:endParaRPr lang="en-US" sz="1050" dirty="0"/>
          </a:p>
        </p:txBody>
      </p:sp>
      <p:sp>
        <p:nvSpPr>
          <p:cNvPr id="29" name="Shape 26"/>
          <p:cNvSpPr/>
          <p:nvPr/>
        </p:nvSpPr>
        <p:spPr>
          <a:xfrm>
            <a:off x="8046720" y="4654296"/>
            <a:ext cx="3593592" cy="1325880"/>
          </a:xfrm>
          <a:prstGeom prst="roundRect">
            <a:avLst>
              <a:gd name="adj" fmla="val 3448"/>
            </a:avLst>
          </a:prstGeom>
          <a:solidFill>
            <a:srgbClr val="FFF3D6"/>
          </a:solidFill>
          <a:ln w="9525">
            <a:solidFill>
              <a:srgbClr val="7A4B00"/>
            </a:solidFill>
            <a:prstDash val="solid"/>
          </a:ln>
        </p:spPr>
      </p:sp>
      <p:sp>
        <p:nvSpPr>
          <p:cNvPr id="30" name="Text 27"/>
          <p:cNvSpPr txBox="1"/>
          <p:nvPr/>
        </p:nvSpPr>
        <p:spPr>
          <a:xfrm>
            <a:off x="8174736" y="4782312"/>
            <a:ext cx="3337560" cy="1121054"/>
          </a:xfrm>
          <a:prstGeom prst="rect">
            <a:avLst/>
          </a:prstGeom>
          <a:noFill/>
          <a:ln/>
        </p:spPr>
        <p:txBody>
          <a:bodyPr wrap="square" lIns="0" tIns="0" rIns="0" bIns="0" rtlCol="0" anchor="t"/>
          <a:lstStyle/>
          <a:p>
            <a:pPr algn="l" indent="0" marL="0">
              <a:buNone/>
            </a:pPr>
            <a:r>
              <a:rPr lang="en-US" sz="1050" dirty="0">
                <a:solidFill>
                  <a:srgbClr val="5D3900"/>
                </a:solidFill>
                <a:latin typeface="Calibri" pitchFamily="34" charset="0"/>
                <a:ea typeface="Calibri" pitchFamily="34" charset="-122"/>
                <a:cs typeface="Calibri" pitchFamily="34" charset="-120"/>
              </a:rPr>
              <a:t>[Segment 3]</a:t>
            </a:r>
            <a:endParaRPr lang="en-US" sz="1050" dirty="0"/>
          </a:p>
          <a:p>
            <a:pPr algn="l" indent="0" marL="0">
              <a:buNone/>
            </a:pPr>
            <a:r>
              <a:rPr lang="en-US" sz="1050" dirty="0">
                <a:solidFill>
                  <a:srgbClr val="5D3900"/>
                </a:solidFill>
                <a:latin typeface="Calibri" pitchFamily="34" charset="0"/>
                <a:ea typeface="Calibri" pitchFamily="34" charset="-122"/>
                <a:cs typeface="Calibri" pitchFamily="34" charset="-120"/>
              </a:rPr>
              <a:t>Their problem: [ ]</a:t>
            </a:r>
            <a:endParaRPr lang="en-US" sz="1050" dirty="0"/>
          </a:p>
          <a:p>
            <a:pPr algn="l" indent="0" marL="0">
              <a:buNone/>
            </a:pPr>
            <a:r>
              <a:rPr lang="en-US" sz="1050" dirty="0">
                <a:solidFill>
                  <a:srgbClr val="5D3900"/>
                </a:solidFill>
                <a:latin typeface="Calibri" pitchFamily="34" charset="0"/>
                <a:ea typeface="Calibri" pitchFamily="34" charset="-122"/>
                <a:cs typeface="Calibri" pitchFamily="34" charset="-120"/>
              </a:rPr>
              <a:t>Evidence so far: [ ]</a:t>
            </a:r>
            <a:endParaRPr lang="en-US" sz="1050" dirty="0"/>
          </a:p>
          <a:p>
            <a:pPr algn="l" indent="0" marL="0">
              <a:buNone/>
            </a:pPr>
            <a:r>
              <a:rPr lang="en-US" sz="1050" dirty="0">
                <a:solidFill>
                  <a:srgbClr val="5D3900"/>
                </a:solidFill>
                <a:latin typeface="Calibri" pitchFamily="34" charset="0"/>
                <a:ea typeface="Calibri" pitchFamily="34" charset="-122"/>
                <a:cs typeface="Calibri" pitchFamily="34" charset="-120"/>
              </a:rPr>
              <a:t>Willingness to pay: [ ]</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06 · CUSTOMERS &amp; MARKET</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Market size</a:t>
            </a:r>
            <a:endParaRPr lang="en-US" sz="2800" dirty="0"/>
          </a:p>
        </p:txBody>
      </p:sp>
      <p:sp>
        <p:nvSpPr>
          <p:cNvPr id="5" name="Shape 3"/>
          <p:cNvSpPr/>
          <p:nvPr/>
        </p:nvSpPr>
        <p:spPr>
          <a:xfrm>
            <a:off x="10624414" y="384048"/>
            <a:ext cx="1018642" cy="219456"/>
          </a:xfrm>
          <a:prstGeom prst="roundRect">
            <a:avLst>
              <a:gd name="adj" fmla="val 50000"/>
            </a:avLst>
          </a:prstGeom>
          <a:solidFill>
            <a:srgbClr val="7A4B00"/>
          </a:solidFill>
          <a:ln/>
        </p:spPr>
      </p:sp>
      <p:sp>
        <p:nvSpPr>
          <p:cNvPr id="6" name="Text 4"/>
          <p:cNvSpPr txBox="1"/>
          <p:nvPr/>
        </p:nvSpPr>
        <p:spPr>
          <a:xfrm>
            <a:off x="10624414" y="38404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7" name="Text 5"/>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8" name="Text 6"/>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26</a:t>
            </a:r>
            <a:endParaRPr lang="en-US" sz="800" dirty="0"/>
          </a:p>
        </p:txBody>
      </p:sp>
      <p:sp>
        <p:nvSpPr>
          <p:cNvPr id="10" name="Shape 7"/>
          <p:cNvSpPr/>
          <p:nvPr/>
        </p:nvSpPr>
        <p:spPr>
          <a:xfrm>
            <a:off x="914400" y="1554480"/>
            <a:ext cx="4297680" cy="4297680"/>
          </a:xfrm>
          <a:prstGeom prst="ellipse">
            <a:avLst/>
          </a:prstGeom>
          <a:solidFill>
            <a:srgbClr val="FFF3D6"/>
          </a:solidFill>
          <a:ln w="12700">
            <a:solidFill>
              <a:srgbClr val="7A4B00"/>
            </a:solidFill>
            <a:prstDash val="solid"/>
          </a:ln>
        </p:spPr>
      </p:sp>
      <p:sp>
        <p:nvSpPr>
          <p:cNvPr id="11" name="Shape 8"/>
          <p:cNvSpPr/>
          <p:nvPr/>
        </p:nvSpPr>
        <p:spPr>
          <a:xfrm>
            <a:off x="1581912" y="2221992"/>
            <a:ext cx="2962656" cy="2962656"/>
          </a:xfrm>
          <a:prstGeom prst="ellipse">
            <a:avLst/>
          </a:prstGeom>
          <a:solidFill>
            <a:srgbClr val="FFE9B8"/>
          </a:solidFill>
          <a:ln w="12700">
            <a:solidFill>
              <a:srgbClr val="7A4B00"/>
            </a:solidFill>
            <a:prstDash val="solid"/>
          </a:ln>
        </p:spPr>
      </p:sp>
      <p:sp>
        <p:nvSpPr>
          <p:cNvPr id="12" name="Shape 9"/>
          <p:cNvSpPr/>
          <p:nvPr/>
        </p:nvSpPr>
        <p:spPr>
          <a:xfrm>
            <a:off x="2194560" y="2834640"/>
            <a:ext cx="1737360" cy="1737360"/>
          </a:xfrm>
          <a:prstGeom prst="ellipse">
            <a:avLst/>
          </a:prstGeom>
          <a:solidFill>
            <a:srgbClr val="FFDC8F"/>
          </a:solidFill>
          <a:ln w="12700">
            <a:solidFill>
              <a:srgbClr val="7A4B00"/>
            </a:solidFill>
            <a:prstDash val="solid"/>
          </a:ln>
        </p:spPr>
      </p:sp>
      <p:sp>
        <p:nvSpPr>
          <p:cNvPr id="13" name="Text 10"/>
          <p:cNvSpPr txBox="1"/>
          <p:nvPr/>
        </p:nvSpPr>
        <p:spPr>
          <a:xfrm>
            <a:off x="1874520" y="1783080"/>
            <a:ext cx="2377440" cy="274320"/>
          </a:xfrm>
          <a:prstGeom prst="rect">
            <a:avLst/>
          </a:prstGeom>
          <a:noFill/>
          <a:ln/>
        </p:spPr>
        <p:txBody>
          <a:bodyPr wrap="square" lIns="0" tIns="0" rIns="0" bIns="0" rtlCol="0" anchor="t"/>
          <a:lstStyle/>
          <a:p>
            <a:pPr algn="ctr" indent="0" marL="0">
              <a:buNone/>
            </a:pPr>
            <a:r>
              <a:rPr lang="en-US" sz="1200" b="1" dirty="0">
                <a:solidFill>
                  <a:srgbClr val="5D3900"/>
                </a:solidFill>
                <a:latin typeface="Consolas" pitchFamily="34" charset="0"/>
                <a:ea typeface="Consolas" pitchFamily="34" charset="-122"/>
                <a:cs typeface="Consolas" pitchFamily="34" charset="-120"/>
              </a:rPr>
              <a:t>TAM  [£ ___ ]</a:t>
            </a:r>
            <a:endParaRPr lang="en-US" sz="1200" dirty="0"/>
          </a:p>
        </p:txBody>
      </p:sp>
      <p:sp>
        <p:nvSpPr>
          <p:cNvPr id="14" name="Text 11"/>
          <p:cNvSpPr txBox="1"/>
          <p:nvPr/>
        </p:nvSpPr>
        <p:spPr>
          <a:xfrm>
            <a:off x="1874520" y="2487168"/>
            <a:ext cx="2377440" cy="274320"/>
          </a:xfrm>
          <a:prstGeom prst="rect">
            <a:avLst/>
          </a:prstGeom>
          <a:noFill/>
          <a:ln/>
        </p:spPr>
        <p:txBody>
          <a:bodyPr wrap="square" lIns="0" tIns="0" rIns="0" bIns="0" rtlCol="0" anchor="t"/>
          <a:lstStyle/>
          <a:p>
            <a:pPr algn="ctr" indent="0" marL="0">
              <a:buNone/>
            </a:pPr>
            <a:r>
              <a:rPr lang="en-US" sz="1200" b="1" dirty="0">
                <a:solidFill>
                  <a:srgbClr val="5D3900"/>
                </a:solidFill>
                <a:latin typeface="Consolas" pitchFamily="34" charset="0"/>
                <a:ea typeface="Consolas" pitchFamily="34" charset="-122"/>
                <a:cs typeface="Consolas" pitchFamily="34" charset="-120"/>
              </a:rPr>
              <a:t>SAM  [£ ___ ]</a:t>
            </a:r>
            <a:endParaRPr lang="en-US" sz="1200" dirty="0"/>
          </a:p>
        </p:txBody>
      </p:sp>
      <p:sp>
        <p:nvSpPr>
          <p:cNvPr id="15" name="Text 12"/>
          <p:cNvSpPr txBox="1"/>
          <p:nvPr/>
        </p:nvSpPr>
        <p:spPr>
          <a:xfrm>
            <a:off x="2331720" y="3383280"/>
            <a:ext cx="1463040" cy="640080"/>
          </a:xfrm>
          <a:prstGeom prst="rect">
            <a:avLst/>
          </a:prstGeom>
          <a:noFill/>
          <a:ln/>
        </p:spPr>
        <p:txBody>
          <a:bodyPr wrap="square" lIns="0" tIns="0" rIns="0" bIns="0" rtlCol="0" anchor="ctr"/>
          <a:lstStyle/>
          <a:p>
            <a:pPr algn="ctr" indent="0" marL="0">
              <a:buNone/>
            </a:pPr>
            <a:r>
              <a:rPr lang="en-US" sz="1200" b="1" dirty="0">
                <a:solidFill>
                  <a:srgbClr val="5D3900"/>
                </a:solidFill>
                <a:latin typeface="Consolas" pitchFamily="34" charset="0"/>
                <a:ea typeface="Consolas" pitchFamily="34" charset="-122"/>
                <a:cs typeface="Consolas" pitchFamily="34" charset="-120"/>
              </a:rPr>
              <a:t>SOM</a:t>
            </a:r>
            <a:endParaRPr lang="en-US" sz="1200" dirty="0"/>
          </a:p>
          <a:p>
            <a:pPr algn="ctr" indent="0" marL="0">
              <a:buNone/>
            </a:pPr>
            <a:r>
              <a:rPr lang="en-US" sz="1200" b="1" dirty="0">
                <a:solidFill>
                  <a:srgbClr val="5D3900"/>
                </a:solidFill>
                <a:latin typeface="Consolas" pitchFamily="34" charset="0"/>
                <a:ea typeface="Consolas" pitchFamily="34" charset="-122"/>
                <a:cs typeface="Consolas" pitchFamily="34" charset="-120"/>
              </a:rPr>
              <a:t>[£ ___ ]</a:t>
            </a:r>
            <a:endParaRPr lang="en-US" sz="1200" dirty="0"/>
          </a:p>
        </p:txBody>
      </p:sp>
      <p:sp>
        <p:nvSpPr>
          <p:cNvPr id="16" name="Shape 13"/>
          <p:cNvSpPr/>
          <p:nvPr/>
        </p:nvSpPr>
        <p:spPr>
          <a:xfrm>
            <a:off x="5806440" y="1463040"/>
            <a:ext cx="5833872" cy="1024128"/>
          </a:xfrm>
          <a:prstGeom prst="roundRect">
            <a:avLst>
              <a:gd name="adj" fmla="val 4464"/>
            </a:avLst>
          </a:prstGeom>
          <a:solidFill>
            <a:srgbClr val="FFF3D6"/>
          </a:solidFill>
          <a:ln w="9525">
            <a:solidFill>
              <a:srgbClr val="7A4B00"/>
            </a:solidFill>
            <a:prstDash val="solid"/>
          </a:ln>
        </p:spPr>
      </p:sp>
      <p:sp>
        <p:nvSpPr>
          <p:cNvPr id="17" name="Text 14"/>
          <p:cNvSpPr txBox="1"/>
          <p:nvPr/>
        </p:nvSpPr>
        <p:spPr>
          <a:xfrm>
            <a:off x="5934456" y="1591056"/>
            <a:ext cx="5577840"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TAM</a:t>
            </a:r>
            <a:endParaRPr lang="en-US" sz="800" dirty="0"/>
          </a:p>
        </p:txBody>
      </p:sp>
      <p:sp>
        <p:nvSpPr>
          <p:cNvPr id="18" name="Text 15"/>
          <p:cNvSpPr txBox="1"/>
          <p:nvPr/>
        </p:nvSpPr>
        <p:spPr>
          <a:xfrm>
            <a:off x="5934456" y="1819656"/>
            <a:ext cx="5577840" cy="590702"/>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Everyone who could use research like this: [definition] · [source]</a:t>
            </a:r>
            <a:endParaRPr lang="en-US" sz="1100" dirty="0"/>
          </a:p>
        </p:txBody>
      </p:sp>
      <p:sp>
        <p:nvSpPr>
          <p:cNvPr id="19" name="Shape 16"/>
          <p:cNvSpPr/>
          <p:nvPr/>
        </p:nvSpPr>
        <p:spPr>
          <a:xfrm>
            <a:off x="5806440" y="2624328"/>
            <a:ext cx="5833872" cy="1024128"/>
          </a:xfrm>
          <a:prstGeom prst="roundRect">
            <a:avLst>
              <a:gd name="adj" fmla="val 4464"/>
            </a:avLst>
          </a:prstGeom>
          <a:solidFill>
            <a:srgbClr val="FFF3D6"/>
          </a:solidFill>
          <a:ln w="9525">
            <a:solidFill>
              <a:srgbClr val="7A4B00"/>
            </a:solidFill>
            <a:prstDash val="solid"/>
          </a:ln>
        </p:spPr>
      </p:sp>
      <p:sp>
        <p:nvSpPr>
          <p:cNvPr id="20" name="Text 17"/>
          <p:cNvSpPr txBox="1"/>
          <p:nvPr/>
        </p:nvSpPr>
        <p:spPr>
          <a:xfrm>
            <a:off x="5934456" y="2752344"/>
            <a:ext cx="5577840"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SAM</a:t>
            </a:r>
            <a:endParaRPr lang="en-US" sz="800" dirty="0"/>
          </a:p>
        </p:txBody>
      </p:sp>
      <p:sp>
        <p:nvSpPr>
          <p:cNvPr id="21" name="Text 18"/>
          <p:cNvSpPr txBox="1"/>
          <p:nvPr/>
        </p:nvSpPr>
        <p:spPr>
          <a:xfrm>
            <a:off x="5934456" y="2980944"/>
            <a:ext cx="5577840" cy="590702"/>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Those you can reach with this product: [definition] · [source]</a:t>
            </a:r>
            <a:endParaRPr lang="en-US" sz="1100" dirty="0"/>
          </a:p>
        </p:txBody>
      </p:sp>
      <p:sp>
        <p:nvSpPr>
          <p:cNvPr id="22" name="Shape 19"/>
          <p:cNvSpPr/>
          <p:nvPr/>
        </p:nvSpPr>
        <p:spPr>
          <a:xfrm>
            <a:off x="5806440" y="3785616"/>
            <a:ext cx="5833872" cy="1024128"/>
          </a:xfrm>
          <a:prstGeom prst="roundRect">
            <a:avLst>
              <a:gd name="adj" fmla="val 4464"/>
            </a:avLst>
          </a:prstGeom>
          <a:solidFill>
            <a:srgbClr val="FFF3D6"/>
          </a:solidFill>
          <a:ln w="9525">
            <a:solidFill>
              <a:srgbClr val="7A4B00"/>
            </a:solidFill>
            <a:prstDash val="solid"/>
          </a:ln>
        </p:spPr>
      </p:sp>
      <p:sp>
        <p:nvSpPr>
          <p:cNvPr id="23" name="Text 20"/>
          <p:cNvSpPr txBox="1"/>
          <p:nvPr/>
        </p:nvSpPr>
        <p:spPr>
          <a:xfrm>
            <a:off x="5934456" y="3913632"/>
            <a:ext cx="5577840"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SOM</a:t>
            </a:r>
            <a:endParaRPr lang="en-US" sz="800" dirty="0"/>
          </a:p>
        </p:txBody>
      </p:sp>
      <p:sp>
        <p:nvSpPr>
          <p:cNvPr id="24" name="Text 21"/>
          <p:cNvSpPr txBox="1"/>
          <p:nvPr/>
        </p:nvSpPr>
        <p:spPr>
          <a:xfrm>
            <a:off x="5934456" y="4142232"/>
            <a:ext cx="5577840" cy="590702"/>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Those you can win in [n] years: [definition] · [source]</a:t>
            </a:r>
            <a:endParaRPr lang="en-US" sz="1100" dirty="0"/>
          </a:p>
        </p:txBody>
      </p:sp>
      <p:sp>
        <p:nvSpPr>
          <p:cNvPr id="25" name="Shape 22"/>
          <p:cNvSpPr/>
          <p:nvPr/>
        </p:nvSpPr>
        <p:spPr>
          <a:xfrm>
            <a:off x="5806440" y="4946904"/>
            <a:ext cx="5833872" cy="1024128"/>
          </a:xfrm>
          <a:prstGeom prst="roundRect">
            <a:avLst>
              <a:gd name="adj" fmla="val 4464"/>
            </a:avLst>
          </a:prstGeom>
          <a:solidFill>
            <a:srgbClr val="FFF3D6"/>
          </a:solidFill>
          <a:ln w="9525">
            <a:solidFill>
              <a:srgbClr val="7A4B00"/>
            </a:solidFill>
            <a:prstDash val="solid"/>
          </a:ln>
        </p:spPr>
      </p:sp>
      <p:sp>
        <p:nvSpPr>
          <p:cNvPr id="26" name="Text 23"/>
          <p:cNvSpPr txBox="1"/>
          <p:nvPr/>
        </p:nvSpPr>
        <p:spPr>
          <a:xfrm>
            <a:off x="5934456" y="5074920"/>
            <a:ext cx="5577840"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METHOD</a:t>
            </a:r>
            <a:endParaRPr lang="en-US" sz="800" dirty="0"/>
          </a:p>
        </p:txBody>
      </p:sp>
      <p:sp>
        <p:nvSpPr>
          <p:cNvPr id="27" name="Text 24"/>
          <p:cNvSpPr txBox="1"/>
          <p:nvPr/>
        </p:nvSpPr>
        <p:spPr>
          <a:xfrm>
            <a:off x="5934456" y="5303520"/>
            <a:ext cx="5577840" cy="590702"/>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Bottom-up: [reachable users in the beachhead] × [tested annual price] = [£]</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06 · CUSTOMERS &amp; MARKET</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Why now</a:t>
            </a:r>
            <a:endParaRPr lang="en-US" sz="2800" dirty="0"/>
          </a:p>
        </p:txBody>
      </p:sp>
      <p:sp>
        <p:nvSpPr>
          <p:cNvPr id="5" name="Shape 3"/>
          <p:cNvSpPr/>
          <p:nvPr/>
        </p:nvSpPr>
        <p:spPr>
          <a:xfrm>
            <a:off x="10489082" y="384048"/>
            <a:ext cx="1153973" cy="219456"/>
          </a:xfrm>
          <a:prstGeom prst="roundRect">
            <a:avLst>
              <a:gd name="adj" fmla="val 50000"/>
            </a:avLst>
          </a:prstGeom>
          <a:solidFill>
            <a:srgbClr val="F4F7F8"/>
          </a:solidFill>
          <a:ln w="12700">
            <a:solidFill>
              <a:srgbClr val="15252E"/>
            </a:solidFill>
            <a:prstDash val="solid"/>
          </a:ln>
        </p:spPr>
      </p:sp>
      <p:sp>
        <p:nvSpPr>
          <p:cNvPr id="6" name="Text 4"/>
          <p:cNvSpPr txBox="1"/>
          <p:nvPr/>
        </p:nvSpPr>
        <p:spPr>
          <a:xfrm>
            <a:off x="10489082" y="384048"/>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7" name="Shape 5"/>
          <p:cNvSpPr/>
          <p:nvPr/>
        </p:nvSpPr>
        <p:spPr>
          <a:xfrm>
            <a:off x="9581998" y="384048"/>
            <a:ext cx="815645" cy="219456"/>
          </a:xfrm>
          <a:prstGeom prst="roundRect">
            <a:avLst>
              <a:gd name="adj" fmla="val 50000"/>
            </a:avLst>
          </a:prstGeom>
          <a:solidFill>
            <a:srgbClr val="0F6673"/>
          </a:solidFill>
          <a:ln/>
        </p:spPr>
      </p:sp>
      <p:sp>
        <p:nvSpPr>
          <p:cNvPr id="8" name="Text 6"/>
          <p:cNvSpPr txBox="1"/>
          <p:nvPr/>
        </p:nvSpPr>
        <p:spPr>
          <a:xfrm>
            <a:off x="9581998"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9" name="Shape 7"/>
          <p:cNvSpPr/>
          <p:nvPr/>
        </p:nvSpPr>
        <p:spPr>
          <a:xfrm>
            <a:off x="8065922" y="384048"/>
            <a:ext cx="1424635" cy="219456"/>
          </a:xfrm>
          <a:prstGeom prst="roundRect">
            <a:avLst>
              <a:gd name="adj" fmla="val 50000"/>
            </a:avLst>
          </a:prstGeom>
          <a:solidFill>
            <a:srgbClr val="F4F7F8"/>
          </a:solidFill>
          <a:ln w="12700">
            <a:solidFill>
              <a:srgbClr val="52656E"/>
            </a:solidFill>
            <a:prstDash val="solid"/>
          </a:ln>
        </p:spPr>
      </p:sp>
      <p:sp>
        <p:nvSpPr>
          <p:cNvPr id="10" name="Text 8"/>
          <p:cNvSpPr txBox="1"/>
          <p:nvPr/>
        </p:nvSpPr>
        <p:spPr>
          <a:xfrm>
            <a:off x="8065922" y="384048"/>
            <a:ext cx="1424635" cy="219456"/>
          </a:xfrm>
          <a:prstGeom prst="rect">
            <a:avLst/>
          </a:prstGeom>
          <a:noFill/>
          <a:ln/>
        </p:spPr>
        <p:txBody>
          <a:bodyPr wrap="square" lIns="0" tIns="0" rIns="0" bIns="0" rtlCol="0" anchor="ctr"/>
          <a:lstStyle/>
          <a:p>
            <a:pPr algn="ctr" indent="0" marL="0">
              <a:buNone/>
            </a:pPr>
            <a:r>
              <a:rPr lang="en-US" sz="750" b="1" spc="80" kern="0" dirty="0">
                <a:solidFill>
                  <a:srgbClr val="52656E"/>
                </a:solidFill>
                <a:latin typeface="Consolas" pitchFamily="34" charset="0"/>
                <a:ea typeface="Consolas" pitchFamily="34" charset="-122"/>
                <a:cs typeface="Consolas" pitchFamily="34" charset="-120"/>
              </a:rPr>
              <a:t>EXTERNAL · VERIFY</a:t>
            </a:r>
            <a:endParaRPr lang="en-US" sz="750" dirty="0"/>
          </a:p>
        </p:txBody>
      </p:sp>
      <p:sp>
        <p:nvSpPr>
          <p:cNvPr id="11" name="Text 9"/>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2" name="Text 10"/>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27</a:t>
            </a:r>
            <a:endParaRPr lang="en-US" sz="800" dirty="0"/>
          </a:p>
        </p:txBody>
      </p:sp>
      <p:sp>
        <p:nvSpPr>
          <p:cNvPr id="14" name="Shape 11"/>
          <p:cNvSpPr/>
          <p:nvPr/>
        </p:nvSpPr>
        <p:spPr>
          <a:xfrm>
            <a:off x="548640" y="1463040"/>
            <a:ext cx="5432908" cy="2148840"/>
          </a:xfrm>
          <a:prstGeom prst="roundRect">
            <a:avLst>
              <a:gd name="adj" fmla="val 2128"/>
            </a:avLst>
          </a:prstGeom>
          <a:solidFill>
            <a:srgbClr val="FFFFFF"/>
          </a:solidFill>
          <a:ln w="9525">
            <a:solidFill>
              <a:srgbClr val="CDD8DC"/>
            </a:solidFill>
            <a:prstDash val="solid"/>
          </a:ln>
        </p:spPr>
      </p:sp>
      <p:sp>
        <p:nvSpPr>
          <p:cNvPr id="15" name="Text 12"/>
          <p:cNvSpPr txBox="1"/>
          <p:nvPr/>
        </p:nvSpPr>
        <p:spPr>
          <a:xfrm>
            <a:off x="777240" y="1664208"/>
            <a:ext cx="3329788" cy="548640"/>
          </a:xfrm>
          <a:prstGeom prst="rect">
            <a:avLst/>
          </a:prstGeom>
          <a:noFill/>
          <a:ln/>
        </p:spPr>
        <p:txBody>
          <a:bodyPr wrap="square" lIns="0" tIns="0" rIns="0" bIns="0" rtlCol="0" anchor="t"/>
          <a:lstStyle/>
          <a:p>
            <a:pPr indent="0" marL="0">
              <a:buNone/>
            </a:pPr>
            <a:r>
              <a:rPr lang="en-US" sz="1400" b="1" dirty="0">
                <a:solidFill>
                  <a:srgbClr val="15252E"/>
                </a:solidFill>
                <a:latin typeface="Calibri" pitchFamily="34" charset="0"/>
                <a:ea typeface="Calibri" pitchFamily="34" charset="-122"/>
                <a:cs typeface="Calibri" pitchFamily="34" charset="-120"/>
              </a:rPr>
              <a:t>AI research is being funded, for institutions</a:t>
            </a:r>
            <a:endParaRPr lang="en-US" sz="1400" dirty="0"/>
          </a:p>
        </p:txBody>
      </p:sp>
      <p:sp>
        <p:nvSpPr>
          <p:cNvPr id="16" name="Shape 13"/>
          <p:cNvSpPr/>
          <p:nvPr/>
        </p:nvSpPr>
        <p:spPr>
          <a:xfrm>
            <a:off x="4374032" y="1691640"/>
            <a:ext cx="1424635" cy="219456"/>
          </a:xfrm>
          <a:prstGeom prst="roundRect">
            <a:avLst>
              <a:gd name="adj" fmla="val 50000"/>
            </a:avLst>
          </a:prstGeom>
          <a:solidFill>
            <a:srgbClr val="F4F7F8"/>
          </a:solidFill>
          <a:ln w="12700">
            <a:solidFill>
              <a:srgbClr val="52656E"/>
            </a:solidFill>
            <a:prstDash val="solid"/>
          </a:ln>
        </p:spPr>
      </p:sp>
      <p:sp>
        <p:nvSpPr>
          <p:cNvPr id="17" name="Text 14"/>
          <p:cNvSpPr txBox="1"/>
          <p:nvPr/>
        </p:nvSpPr>
        <p:spPr>
          <a:xfrm>
            <a:off x="4374032" y="1691640"/>
            <a:ext cx="1424635" cy="219456"/>
          </a:xfrm>
          <a:prstGeom prst="rect">
            <a:avLst/>
          </a:prstGeom>
          <a:noFill/>
          <a:ln/>
        </p:spPr>
        <p:txBody>
          <a:bodyPr wrap="square" lIns="0" tIns="0" rIns="0" bIns="0" rtlCol="0" anchor="ctr"/>
          <a:lstStyle/>
          <a:p>
            <a:pPr algn="ctr" indent="0" marL="0">
              <a:buNone/>
            </a:pPr>
            <a:r>
              <a:rPr lang="en-US" sz="750" b="1" spc="80" kern="0" dirty="0">
                <a:solidFill>
                  <a:srgbClr val="52656E"/>
                </a:solidFill>
                <a:latin typeface="Consolas" pitchFamily="34" charset="0"/>
                <a:ea typeface="Consolas" pitchFamily="34" charset="-122"/>
                <a:cs typeface="Consolas" pitchFamily="34" charset="-120"/>
              </a:rPr>
              <a:t>EXTERNAL · VERIFY</a:t>
            </a:r>
            <a:endParaRPr lang="en-US" sz="750" dirty="0"/>
          </a:p>
        </p:txBody>
      </p:sp>
      <p:sp>
        <p:nvSpPr>
          <p:cNvPr id="18" name="Text 15"/>
          <p:cNvSpPr txBox="1"/>
          <p:nvPr/>
        </p:nvSpPr>
        <p:spPr>
          <a:xfrm>
            <a:off x="777240" y="2240280"/>
            <a:ext cx="4975708" cy="1280160"/>
          </a:xfrm>
          <a:prstGeom prst="rect">
            <a:avLst/>
          </a:prstGeom>
          <a:noFill/>
          <a:ln/>
        </p:spPr>
        <p:txBody>
          <a:bodyPr wrap="square" lIns="0" tIns="0" rIns="0" bIns="0" rtlCol="0" anchor="t"/>
          <a:lstStyle/>
          <a:p>
            <a:pPr indent="0" marL="0">
              <a:buNone/>
            </a:pPr>
            <a:r>
              <a:rPr lang="en-US" sz="1300" dirty="0">
                <a:solidFill>
                  <a:srgbClr val="52656E"/>
                </a:solidFill>
                <a:latin typeface="Calibri" pitchFamily="34" charset="0"/>
                <a:ea typeface="Calibri" pitchFamily="34" charset="-122"/>
                <a:cs typeface="Calibri" pitchFamily="34" charset="-120"/>
              </a:rPr>
              <a:t>Rogo raised a $160M Series D led by Kleiner Perkins in April 2026; Hebbia a $130M Series B in 2024; AlphaSense is reported at about $700M of annual recurring revenue. The money is going to tools sold by the seat to firms.</a:t>
            </a:r>
            <a:endParaRPr lang="en-US" sz="1300" dirty="0"/>
          </a:p>
        </p:txBody>
      </p:sp>
      <p:sp>
        <p:nvSpPr>
          <p:cNvPr id="19" name="Shape 16"/>
          <p:cNvSpPr/>
          <p:nvPr/>
        </p:nvSpPr>
        <p:spPr>
          <a:xfrm>
            <a:off x="6210148" y="1463040"/>
            <a:ext cx="5432908" cy="2148840"/>
          </a:xfrm>
          <a:prstGeom prst="roundRect">
            <a:avLst>
              <a:gd name="adj" fmla="val 2128"/>
            </a:avLst>
          </a:prstGeom>
          <a:solidFill>
            <a:srgbClr val="FFFFFF"/>
          </a:solidFill>
          <a:ln w="9525">
            <a:solidFill>
              <a:srgbClr val="CDD8DC"/>
            </a:solidFill>
            <a:prstDash val="solid"/>
          </a:ln>
        </p:spPr>
      </p:sp>
      <p:sp>
        <p:nvSpPr>
          <p:cNvPr id="20" name="Text 17"/>
          <p:cNvSpPr txBox="1"/>
          <p:nvPr/>
        </p:nvSpPr>
        <p:spPr>
          <a:xfrm>
            <a:off x="6438748" y="1664208"/>
            <a:ext cx="3329788" cy="548640"/>
          </a:xfrm>
          <a:prstGeom prst="rect">
            <a:avLst/>
          </a:prstGeom>
          <a:noFill/>
          <a:ln/>
        </p:spPr>
        <p:txBody>
          <a:bodyPr wrap="square" lIns="0" tIns="0" rIns="0" bIns="0" rtlCol="0" anchor="t"/>
          <a:lstStyle/>
          <a:p>
            <a:pPr indent="0" marL="0">
              <a:buNone/>
            </a:pPr>
            <a:r>
              <a:rPr lang="en-US" sz="1400" b="1" dirty="0">
                <a:solidFill>
                  <a:srgbClr val="15252E"/>
                </a:solidFill>
                <a:latin typeface="Calibri" pitchFamily="34" charset="0"/>
                <a:ea typeface="Calibri" pitchFamily="34" charset="-122"/>
                <a:cs typeface="Calibri" pitchFamily="34" charset="-120"/>
              </a:rPr>
              <a:t>General AI is moving into personal investing</a:t>
            </a:r>
            <a:endParaRPr lang="en-US" sz="1400" dirty="0"/>
          </a:p>
        </p:txBody>
      </p:sp>
      <p:sp>
        <p:nvSpPr>
          <p:cNvPr id="21" name="Shape 18"/>
          <p:cNvSpPr/>
          <p:nvPr/>
        </p:nvSpPr>
        <p:spPr>
          <a:xfrm>
            <a:off x="10035540" y="1691640"/>
            <a:ext cx="1424635" cy="219456"/>
          </a:xfrm>
          <a:prstGeom prst="roundRect">
            <a:avLst>
              <a:gd name="adj" fmla="val 50000"/>
            </a:avLst>
          </a:prstGeom>
          <a:solidFill>
            <a:srgbClr val="F4F7F8"/>
          </a:solidFill>
          <a:ln w="12700">
            <a:solidFill>
              <a:srgbClr val="52656E"/>
            </a:solidFill>
            <a:prstDash val="solid"/>
          </a:ln>
        </p:spPr>
      </p:sp>
      <p:sp>
        <p:nvSpPr>
          <p:cNvPr id="22" name="Text 19"/>
          <p:cNvSpPr txBox="1"/>
          <p:nvPr/>
        </p:nvSpPr>
        <p:spPr>
          <a:xfrm>
            <a:off x="10035540" y="1691640"/>
            <a:ext cx="1424635" cy="219456"/>
          </a:xfrm>
          <a:prstGeom prst="rect">
            <a:avLst/>
          </a:prstGeom>
          <a:noFill/>
          <a:ln/>
        </p:spPr>
        <p:txBody>
          <a:bodyPr wrap="square" lIns="0" tIns="0" rIns="0" bIns="0" rtlCol="0" anchor="ctr"/>
          <a:lstStyle/>
          <a:p>
            <a:pPr algn="ctr" indent="0" marL="0">
              <a:buNone/>
            </a:pPr>
            <a:r>
              <a:rPr lang="en-US" sz="750" b="1" spc="80" kern="0" dirty="0">
                <a:solidFill>
                  <a:srgbClr val="52656E"/>
                </a:solidFill>
                <a:latin typeface="Consolas" pitchFamily="34" charset="0"/>
                <a:ea typeface="Consolas" pitchFamily="34" charset="-122"/>
                <a:cs typeface="Consolas" pitchFamily="34" charset="-120"/>
              </a:rPr>
              <a:t>EXTERNAL · VERIFY</a:t>
            </a:r>
            <a:endParaRPr lang="en-US" sz="750" dirty="0"/>
          </a:p>
        </p:txBody>
      </p:sp>
      <p:sp>
        <p:nvSpPr>
          <p:cNvPr id="23" name="Text 20"/>
          <p:cNvSpPr txBox="1"/>
          <p:nvPr/>
        </p:nvSpPr>
        <p:spPr>
          <a:xfrm>
            <a:off x="6438748" y="2240280"/>
            <a:ext cx="4975708" cy="1280160"/>
          </a:xfrm>
          <a:prstGeom prst="rect">
            <a:avLst/>
          </a:prstGeom>
          <a:noFill/>
          <a:ln/>
        </p:spPr>
        <p:txBody>
          <a:bodyPr wrap="square" lIns="0" tIns="0" rIns="0" bIns="0" rtlCol="0" anchor="t"/>
          <a:lstStyle/>
          <a:p>
            <a:pPr indent="0" marL="0">
              <a:buNone/>
            </a:pPr>
            <a:r>
              <a:rPr lang="en-US" sz="1300" dirty="0">
                <a:solidFill>
                  <a:srgbClr val="52656E"/>
                </a:solidFill>
                <a:latin typeface="Calibri" pitchFamily="34" charset="0"/>
                <a:ea typeface="Calibri" pitchFamily="34" charset="-122"/>
                <a:cs typeface="Calibri" pitchFamily="34" charset="-120"/>
              </a:rPr>
              <a:t>Perplexity’s finance pages read filings and earnings materials and now track US and Canadian portfolios; deep research sits on $20-a-month plans. Every new user of those tools meets the checking problem.</a:t>
            </a:r>
            <a:endParaRPr lang="en-US" sz="1300" dirty="0"/>
          </a:p>
        </p:txBody>
      </p:sp>
      <p:sp>
        <p:nvSpPr>
          <p:cNvPr id="24" name="Shape 21"/>
          <p:cNvSpPr/>
          <p:nvPr/>
        </p:nvSpPr>
        <p:spPr>
          <a:xfrm>
            <a:off x="548640" y="3794760"/>
            <a:ext cx="5432908" cy="2148840"/>
          </a:xfrm>
          <a:prstGeom prst="roundRect">
            <a:avLst>
              <a:gd name="adj" fmla="val 2128"/>
            </a:avLst>
          </a:prstGeom>
          <a:solidFill>
            <a:srgbClr val="FFFFFF"/>
          </a:solidFill>
          <a:ln w="9525">
            <a:solidFill>
              <a:srgbClr val="CDD8DC"/>
            </a:solidFill>
            <a:prstDash val="solid"/>
          </a:ln>
        </p:spPr>
      </p:sp>
      <p:sp>
        <p:nvSpPr>
          <p:cNvPr id="25" name="Text 22"/>
          <p:cNvSpPr txBox="1"/>
          <p:nvPr/>
        </p:nvSpPr>
        <p:spPr>
          <a:xfrm>
            <a:off x="777240" y="3995928"/>
            <a:ext cx="3329788" cy="548640"/>
          </a:xfrm>
          <a:prstGeom prst="rect">
            <a:avLst/>
          </a:prstGeom>
          <a:noFill/>
          <a:ln/>
        </p:spPr>
        <p:txBody>
          <a:bodyPr wrap="square" lIns="0" tIns="0" rIns="0" bIns="0" rtlCol="0" anchor="t"/>
          <a:lstStyle/>
          <a:p>
            <a:pPr indent="0" marL="0">
              <a:buNone/>
            </a:pPr>
            <a:r>
              <a:rPr lang="en-US" sz="1400" b="1" dirty="0">
                <a:solidFill>
                  <a:srgbClr val="15252E"/>
                </a:solidFill>
                <a:latin typeface="Calibri" pitchFamily="34" charset="0"/>
                <a:ea typeface="Calibri" pitchFamily="34" charset="-122"/>
                <a:cs typeface="Calibri" pitchFamily="34" charset="-120"/>
              </a:rPr>
              <a:t>The primary data is free and machine-readable</a:t>
            </a:r>
            <a:endParaRPr lang="en-US" sz="1400" dirty="0"/>
          </a:p>
        </p:txBody>
      </p:sp>
      <p:sp>
        <p:nvSpPr>
          <p:cNvPr id="26" name="Shape 23"/>
          <p:cNvSpPr/>
          <p:nvPr/>
        </p:nvSpPr>
        <p:spPr>
          <a:xfrm>
            <a:off x="4983023" y="4023360"/>
            <a:ext cx="815645" cy="219456"/>
          </a:xfrm>
          <a:prstGeom prst="roundRect">
            <a:avLst>
              <a:gd name="adj" fmla="val 50000"/>
            </a:avLst>
          </a:prstGeom>
          <a:solidFill>
            <a:srgbClr val="0F6673"/>
          </a:solidFill>
          <a:ln/>
        </p:spPr>
      </p:sp>
      <p:sp>
        <p:nvSpPr>
          <p:cNvPr id="27" name="Text 24"/>
          <p:cNvSpPr txBox="1"/>
          <p:nvPr/>
        </p:nvSpPr>
        <p:spPr>
          <a:xfrm>
            <a:off x="4983023" y="4023360"/>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28" name="Text 25"/>
          <p:cNvSpPr txBox="1"/>
          <p:nvPr/>
        </p:nvSpPr>
        <p:spPr>
          <a:xfrm>
            <a:off x="777240" y="4572000"/>
            <a:ext cx="4975708" cy="1280160"/>
          </a:xfrm>
          <a:prstGeom prst="rect">
            <a:avLst/>
          </a:prstGeom>
          <a:noFill/>
          <a:ln/>
        </p:spPr>
        <p:txBody>
          <a:bodyPr wrap="square" lIns="0" tIns="0" rIns="0" bIns="0" rtlCol="0" anchor="t"/>
          <a:lstStyle/>
          <a:p>
            <a:pPr indent="0" marL="0">
              <a:buNone/>
            </a:pPr>
            <a:r>
              <a:rPr lang="en-US" sz="1300" dirty="0">
                <a:solidFill>
                  <a:srgbClr val="52656E"/>
                </a:solidFill>
                <a:latin typeface="Calibri" pitchFamily="34" charset="0"/>
                <a:ea typeface="Calibri" pitchFamily="34" charset="-122"/>
                <a:cs typeface="Calibri" pitchFamily="34" charset="-120"/>
              </a:rPr>
              <a:t>SEC EDGAR is US government work, free for commercial use, with tagged company facts and full-text search. Companies House publishes under the Open Government Licence. Official statistics are free.</a:t>
            </a:r>
            <a:endParaRPr lang="en-US" sz="1300" dirty="0"/>
          </a:p>
        </p:txBody>
      </p:sp>
      <p:sp>
        <p:nvSpPr>
          <p:cNvPr id="29" name="Shape 26"/>
          <p:cNvSpPr/>
          <p:nvPr/>
        </p:nvSpPr>
        <p:spPr>
          <a:xfrm>
            <a:off x="6210148" y="3794760"/>
            <a:ext cx="5432908" cy="2148840"/>
          </a:xfrm>
          <a:prstGeom prst="roundRect">
            <a:avLst>
              <a:gd name="adj" fmla="val 2128"/>
            </a:avLst>
          </a:prstGeom>
          <a:solidFill>
            <a:srgbClr val="FFFFFF"/>
          </a:solidFill>
          <a:ln w="9525">
            <a:solidFill>
              <a:srgbClr val="CDD8DC"/>
            </a:solidFill>
            <a:prstDash val="solid"/>
          </a:ln>
        </p:spPr>
      </p:sp>
      <p:sp>
        <p:nvSpPr>
          <p:cNvPr id="30" name="Text 27"/>
          <p:cNvSpPr txBox="1"/>
          <p:nvPr/>
        </p:nvSpPr>
        <p:spPr>
          <a:xfrm>
            <a:off x="6438748" y="3995928"/>
            <a:ext cx="3329788" cy="548640"/>
          </a:xfrm>
          <a:prstGeom prst="rect">
            <a:avLst/>
          </a:prstGeom>
          <a:noFill/>
          <a:ln/>
        </p:spPr>
        <p:txBody>
          <a:bodyPr wrap="square" lIns="0" tIns="0" rIns="0" bIns="0" rtlCol="0" anchor="t"/>
          <a:lstStyle/>
          <a:p>
            <a:pPr indent="0" marL="0">
              <a:buNone/>
            </a:pPr>
            <a:r>
              <a:rPr lang="en-US" sz="1400" b="1" dirty="0">
                <a:solidFill>
                  <a:srgbClr val="15252E"/>
                </a:solidFill>
                <a:latin typeface="Calibri" pitchFamily="34" charset="0"/>
                <a:ea typeface="Calibri" pitchFamily="34" charset="-122"/>
                <a:cs typeface="Calibri" pitchFamily="34" charset="-120"/>
              </a:rPr>
              <a:t>The cost has reached a personal price point</a:t>
            </a:r>
            <a:endParaRPr lang="en-US" sz="1400" dirty="0"/>
          </a:p>
        </p:txBody>
      </p:sp>
      <p:sp>
        <p:nvSpPr>
          <p:cNvPr id="31" name="Shape 28"/>
          <p:cNvSpPr/>
          <p:nvPr/>
        </p:nvSpPr>
        <p:spPr>
          <a:xfrm>
            <a:off x="10306202" y="4023360"/>
            <a:ext cx="1153973" cy="219456"/>
          </a:xfrm>
          <a:prstGeom prst="roundRect">
            <a:avLst>
              <a:gd name="adj" fmla="val 50000"/>
            </a:avLst>
          </a:prstGeom>
          <a:solidFill>
            <a:srgbClr val="F4F7F8"/>
          </a:solidFill>
          <a:ln w="12700">
            <a:solidFill>
              <a:srgbClr val="15252E"/>
            </a:solidFill>
            <a:prstDash val="solid"/>
          </a:ln>
        </p:spPr>
      </p:sp>
      <p:sp>
        <p:nvSpPr>
          <p:cNvPr id="32" name="Text 29"/>
          <p:cNvSpPr txBox="1"/>
          <p:nvPr/>
        </p:nvSpPr>
        <p:spPr>
          <a:xfrm>
            <a:off x="10306202" y="4023360"/>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33" name="Text 30"/>
          <p:cNvSpPr txBox="1"/>
          <p:nvPr/>
        </p:nvSpPr>
        <p:spPr>
          <a:xfrm>
            <a:off x="6438748" y="4572000"/>
            <a:ext cx="4975708" cy="1280160"/>
          </a:xfrm>
          <a:prstGeom prst="rect">
            <a:avLst/>
          </a:prstGeom>
          <a:noFill/>
          <a:ln/>
        </p:spPr>
        <p:txBody>
          <a:bodyPr wrap="square" lIns="0" tIns="0" rIns="0" bIns="0" rtlCol="0" anchor="t"/>
          <a:lstStyle/>
          <a:p>
            <a:pPr indent="0" marL="0">
              <a:buNone/>
            </a:pPr>
            <a:r>
              <a:rPr lang="en-US" sz="1300" dirty="0">
                <a:solidFill>
                  <a:srgbClr val="52656E"/>
                </a:solidFill>
                <a:latin typeface="Calibri" pitchFamily="34" charset="0"/>
                <a:ea typeface="Calibri" pitchFamily="34" charset="-122"/>
                <a:cs typeface="Calibri" pitchFamily="34" charset="-120"/>
              </a:rPr>
              <a:t>A full institutional-style report measured at £7.19 of model spend, and one refresh at £1.66. The arithmetic lives in code, so the model is a replaceable component and not a lock-in.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07 · COMPETITION</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Where we sit</a:t>
            </a:r>
            <a:endParaRPr lang="en-US" sz="2800" dirty="0"/>
          </a:p>
        </p:txBody>
      </p:sp>
      <p:sp>
        <p:nvSpPr>
          <p:cNvPr id="5" name="Shape 3"/>
          <p:cNvSpPr/>
          <p:nvPr/>
        </p:nvSpPr>
        <p:spPr>
          <a:xfrm>
            <a:off x="10489082" y="384048"/>
            <a:ext cx="1153973" cy="219456"/>
          </a:xfrm>
          <a:prstGeom prst="roundRect">
            <a:avLst>
              <a:gd name="adj" fmla="val 50000"/>
            </a:avLst>
          </a:prstGeom>
          <a:solidFill>
            <a:srgbClr val="F4F7F8"/>
          </a:solidFill>
          <a:ln w="12700">
            <a:solidFill>
              <a:srgbClr val="15252E"/>
            </a:solidFill>
            <a:prstDash val="solid"/>
          </a:ln>
        </p:spPr>
      </p:sp>
      <p:sp>
        <p:nvSpPr>
          <p:cNvPr id="6" name="Text 4"/>
          <p:cNvSpPr txBox="1"/>
          <p:nvPr/>
        </p:nvSpPr>
        <p:spPr>
          <a:xfrm>
            <a:off x="10489082" y="384048"/>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7" name="Text 5"/>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8" name="Text 6"/>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28</a:t>
            </a:r>
            <a:endParaRPr lang="en-US" sz="800" dirty="0"/>
          </a:p>
        </p:txBody>
      </p:sp>
      <p:sp>
        <p:nvSpPr>
          <p:cNvPr id="10" name="Shape 7"/>
          <p:cNvSpPr/>
          <p:nvPr/>
        </p:nvSpPr>
        <p:spPr>
          <a:xfrm>
            <a:off x="1051560" y="1508760"/>
            <a:ext cx="6675120" cy="4160520"/>
          </a:xfrm>
          <a:prstGeom prst="rect">
            <a:avLst/>
          </a:prstGeom>
          <a:solidFill>
            <a:srgbClr val="FFFFFF"/>
          </a:solidFill>
          <a:ln w="9525">
            <a:solidFill>
              <a:srgbClr val="CDD8DC"/>
            </a:solidFill>
            <a:prstDash val="solid"/>
          </a:ln>
        </p:spPr>
      </p:sp>
      <p:sp>
        <p:nvSpPr>
          <p:cNvPr id="11" name="Shape 8"/>
          <p:cNvSpPr/>
          <p:nvPr/>
        </p:nvSpPr>
        <p:spPr>
          <a:xfrm>
            <a:off x="4389120" y="1508760"/>
            <a:ext cx="0" cy="4160520"/>
          </a:xfrm>
          <a:prstGeom prst="line">
            <a:avLst/>
          </a:prstGeom>
          <a:noFill/>
          <a:ln w="9525">
            <a:solidFill>
              <a:srgbClr val="CDD8DC"/>
            </a:solidFill>
            <a:prstDash val="dash"/>
          </a:ln>
        </p:spPr>
      </p:sp>
      <p:sp>
        <p:nvSpPr>
          <p:cNvPr id="12" name="Shape 9"/>
          <p:cNvSpPr/>
          <p:nvPr/>
        </p:nvSpPr>
        <p:spPr>
          <a:xfrm>
            <a:off x="1051560" y="3589020"/>
            <a:ext cx="6675120" cy="0"/>
          </a:xfrm>
          <a:prstGeom prst="line">
            <a:avLst/>
          </a:prstGeom>
          <a:noFill/>
          <a:ln w="9525">
            <a:solidFill>
              <a:srgbClr val="CDD8DC"/>
            </a:solidFill>
            <a:prstDash val="dash"/>
          </a:ln>
        </p:spPr>
      </p:sp>
      <p:sp>
        <p:nvSpPr>
          <p:cNvPr id="13" name="Shape 10"/>
          <p:cNvSpPr/>
          <p:nvPr/>
        </p:nvSpPr>
        <p:spPr>
          <a:xfrm>
            <a:off x="1051560" y="5779008"/>
            <a:ext cx="6675120" cy="0"/>
          </a:xfrm>
          <a:prstGeom prst="line">
            <a:avLst/>
          </a:prstGeom>
          <a:noFill/>
          <a:ln w="12700">
            <a:solidFill>
              <a:srgbClr val="52656E"/>
            </a:solidFill>
            <a:prstDash val="solid"/>
            <a:tailEnd type="triangle"/>
          </a:ln>
        </p:spPr>
      </p:sp>
      <p:sp>
        <p:nvSpPr>
          <p:cNvPr id="14" name="Text 11"/>
          <p:cNvSpPr txBox="1"/>
          <p:nvPr/>
        </p:nvSpPr>
        <p:spPr>
          <a:xfrm>
            <a:off x="1051560" y="5833872"/>
            <a:ext cx="6675120" cy="228600"/>
          </a:xfrm>
          <a:prstGeom prst="rect">
            <a:avLst/>
          </a:prstGeom>
          <a:noFill/>
          <a:ln/>
        </p:spPr>
        <p:txBody>
          <a:bodyPr wrap="square" lIns="0" tIns="0" rIns="0" bIns="0" rtlCol="0" anchor="t"/>
          <a:lstStyle/>
          <a:p>
            <a:pPr algn="ctr" indent="0" marL="0">
              <a:buNone/>
            </a:pPr>
            <a:r>
              <a:rPr lang="en-US" sz="1000" dirty="0">
                <a:solidFill>
                  <a:srgbClr val="52656E"/>
                </a:solidFill>
                <a:latin typeface="Calibri" pitchFamily="34" charset="0"/>
                <a:ea typeface="Calibri" pitchFamily="34" charset="-122"/>
                <a:cs typeface="Calibri" pitchFamily="34" charset="-120"/>
              </a:rPr>
              <a:t>How much of the output you can check back to its source</a:t>
            </a:r>
            <a:endParaRPr lang="en-US" sz="1000" dirty="0"/>
          </a:p>
        </p:txBody>
      </p:sp>
      <p:sp>
        <p:nvSpPr>
          <p:cNvPr id="15" name="Text 12"/>
          <p:cNvSpPr txBox="1"/>
          <p:nvPr/>
        </p:nvSpPr>
        <p:spPr>
          <a:xfrm>
            <a:off x="502920" y="1508760"/>
            <a:ext cx="457200" cy="1920240"/>
          </a:xfrm>
          <a:prstGeom prst="rect">
            <a:avLst/>
          </a:prstGeom>
          <a:noFill/>
          <a:ln/>
        </p:spPr>
        <p:txBody>
          <a:bodyPr wrap="square" lIns="0" tIns="0" rIns="0" bIns="0" rtlCol="0" anchor="ctr" vert="vert270"/>
          <a:lstStyle/>
          <a:p>
            <a:pPr algn="ctr" indent="0" marL="0">
              <a:buNone/>
            </a:pPr>
            <a:r>
              <a:rPr lang="en-US" sz="950" dirty="0">
                <a:solidFill>
                  <a:srgbClr val="52656E"/>
                </a:solidFill>
                <a:latin typeface="Calibri" pitchFamily="34" charset="0"/>
                <a:ea typeface="Calibri" pitchFamily="34" charset="-122"/>
                <a:cs typeface="Calibri" pitchFamily="34" charset="-120"/>
              </a:rPr>
              <a:t>Built for institutions</a:t>
            </a:r>
            <a:endParaRPr lang="en-US" sz="950" dirty="0"/>
          </a:p>
        </p:txBody>
      </p:sp>
      <p:sp>
        <p:nvSpPr>
          <p:cNvPr id="16" name="Text 13"/>
          <p:cNvSpPr txBox="1"/>
          <p:nvPr/>
        </p:nvSpPr>
        <p:spPr>
          <a:xfrm>
            <a:off x="502920" y="3749040"/>
            <a:ext cx="457200" cy="1920240"/>
          </a:xfrm>
          <a:prstGeom prst="rect">
            <a:avLst/>
          </a:prstGeom>
          <a:noFill/>
          <a:ln/>
        </p:spPr>
        <p:txBody>
          <a:bodyPr wrap="square" lIns="0" tIns="0" rIns="0" bIns="0" rtlCol="0" anchor="ctr" vert="vert270"/>
          <a:lstStyle/>
          <a:p>
            <a:pPr algn="ctr" indent="0" marL="0">
              <a:buNone/>
            </a:pPr>
            <a:r>
              <a:rPr lang="en-US" sz="950" dirty="0">
                <a:solidFill>
                  <a:srgbClr val="52656E"/>
                </a:solidFill>
                <a:latin typeface="Calibri" pitchFamily="34" charset="0"/>
                <a:ea typeface="Calibri" pitchFamily="34" charset="-122"/>
                <a:cs typeface="Calibri" pitchFamily="34" charset="-120"/>
              </a:rPr>
              <a:t>Built for individuals</a:t>
            </a:r>
            <a:endParaRPr lang="en-US" sz="950" dirty="0"/>
          </a:p>
        </p:txBody>
      </p:sp>
      <p:sp>
        <p:nvSpPr>
          <p:cNvPr id="17" name="Shape 14"/>
          <p:cNvSpPr/>
          <p:nvPr/>
        </p:nvSpPr>
        <p:spPr>
          <a:xfrm>
            <a:off x="1280160" y="1691640"/>
            <a:ext cx="2103120" cy="566928"/>
          </a:xfrm>
          <a:prstGeom prst="roundRect">
            <a:avLst>
              <a:gd name="adj" fmla="val 12903"/>
            </a:avLst>
          </a:prstGeom>
          <a:solidFill>
            <a:srgbClr val="EAF0F1"/>
          </a:solidFill>
          <a:ln w="9525">
            <a:solidFill>
              <a:srgbClr val="9AAEB5"/>
            </a:solidFill>
            <a:prstDash val="solid"/>
          </a:ln>
        </p:spPr>
      </p:sp>
      <p:sp>
        <p:nvSpPr>
          <p:cNvPr id="18" name="Text 15"/>
          <p:cNvSpPr txBox="1"/>
          <p:nvPr/>
        </p:nvSpPr>
        <p:spPr>
          <a:xfrm>
            <a:off x="1389888" y="1746504"/>
            <a:ext cx="1920240" cy="228600"/>
          </a:xfrm>
          <a:prstGeom prst="rect">
            <a:avLst/>
          </a:prstGeom>
          <a:noFill/>
          <a:ln/>
        </p:spPr>
        <p:txBody>
          <a:bodyPr wrap="square" lIns="0" tIns="0" rIns="0" bIns="0" rtlCol="0" anchor="t"/>
          <a:lstStyle/>
          <a:p>
            <a:pPr indent="0" marL="0">
              <a:buNone/>
            </a:pPr>
            <a:r>
              <a:rPr lang="en-US" sz="1050" b="1" dirty="0">
                <a:solidFill>
                  <a:srgbClr val="15252E"/>
                </a:solidFill>
                <a:latin typeface="Calibri" pitchFamily="34" charset="0"/>
                <a:ea typeface="Calibri" pitchFamily="34" charset="-122"/>
                <a:cs typeface="Calibri" pitchFamily="34" charset="-120"/>
              </a:rPr>
              <a:t>AI research platforms</a:t>
            </a:r>
            <a:endParaRPr lang="en-US" sz="1050" dirty="0"/>
          </a:p>
        </p:txBody>
      </p:sp>
      <p:sp>
        <p:nvSpPr>
          <p:cNvPr id="19" name="Text 16"/>
          <p:cNvSpPr txBox="1"/>
          <p:nvPr/>
        </p:nvSpPr>
        <p:spPr>
          <a:xfrm>
            <a:off x="1389888" y="1984248"/>
            <a:ext cx="1920240" cy="219456"/>
          </a:xfrm>
          <a:prstGeom prst="rect">
            <a:avLst/>
          </a:prstGeom>
          <a:noFill/>
          <a:ln/>
        </p:spPr>
        <p:txBody>
          <a:bodyPr wrap="square" lIns="0" tIns="0" rIns="0" bIns="0" rtlCol="0" anchor="t"/>
          <a:lstStyle/>
          <a:p>
            <a:pPr indent="0" marL="0">
              <a:buNone/>
            </a:pPr>
            <a:r>
              <a:rPr lang="en-US" sz="850" dirty="0">
                <a:solidFill>
                  <a:srgbClr val="52656E"/>
                </a:solidFill>
                <a:latin typeface="Calibri" pitchFamily="34" charset="0"/>
                <a:ea typeface="Calibri" pitchFamily="34" charset="-122"/>
                <a:cs typeface="Calibri" pitchFamily="34" charset="-120"/>
              </a:rPr>
              <a:t>AlphaSense · Hebbia · Rogo</a:t>
            </a:r>
            <a:endParaRPr lang="en-US" sz="850" dirty="0"/>
          </a:p>
        </p:txBody>
      </p:sp>
      <p:sp>
        <p:nvSpPr>
          <p:cNvPr id="20" name="Shape 17"/>
          <p:cNvSpPr/>
          <p:nvPr/>
        </p:nvSpPr>
        <p:spPr>
          <a:xfrm>
            <a:off x="3520440" y="2377440"/>
            <a:ext cx="2103120" cy="566928"/>
          </a:xfrm>
          <a:prstGeom prst="roundRect">
            <a:avLst>
              <a:gd name="adj" fmla="val 12903"/>
            </a:avLst>
          </a:prstGeom>
          <a:solidFill>
            <a:srgbClr val="EAF0F1"/>
          </a:solidFill>
          <a:ln w="9525">
            <a:solidFill>
              <a:srgbClr val="9AAEB5"/>
            </a:solidFill>
            <a:prstDash val="solid"/>
          </a:ln>
        </p:spPr>
      </p:sp>
      <p:sp>
        <p:nvSpPr>
          <p:cNvPr id="21" name="Text 18"/>
          <p:cNvSpPr txBox="1"/>
          <p:nvPr/>
        </p:nvSpPr>
        <p:spPr>
          <a:xfrm>
            <a:off x="3630168" y="2432304"/>
            <a:ext cx="1920240" cy="228600"/>
          </a:xfrm>
          <a:prstGeom prst="rect">
            <a:avLst/>
          </a:prstGeom>
          <a:noFill/>
          <a:ln/>
        </p:spPr>
        <p:txBody>
          <a:bodyPr wrap="square" lIns="0" tIns="0" rIns="0" bIns="0" rtlCol="0" anchor="t"/>
          <a:lstStyle/>
          <a:p>
            <a:pPr indent="0" marL="0">
              <a:buNone/>
            </a:pPr>
            <a:r>
              <a:rPr lang="en-US" sz="1050" b="1" dirty="0">
                <a:solidFill>
                  <a:srgbClr val="15252E"/>
                </a:solidFill>
                <a:latin typeface="Calibri" pitchFamily="34" charset="0"/>
                <a:ea typeface="Calibri" pitchFamily="34" charset="-122"/>
                <a:cs typeface="Calibri" pitchFamily="34" charset="-120"/>
              </a:rPr>
              <a:t>Terminals and data</a:t>
            </a:r>
            <a:endParaRPr lang="en-US" sz="1050" dirty="0"/>
          </a:p>
        </p:txBody>
      </p:sp>
      <p:sp>
        <p:nvSpPr>
          <p:cNvPr id="22" name="Text 19"/>
          <p:cNvSpPr txBox="1"/>
          <p:nvPr/>
        </p:nvSpPr>
        <p:spPr>
          <a:xfrm>
            <a:off x="3630168" y="2670048"/>
            <a:ext cx="1920240" cy="219456"/>
          </a:xfrm>
          <a:prstGeom prst="rect">
            <a:avLst/>
          </a:prstGeom>
          <a:noFill/>
          <a:ln/>
        </p:spPr>
        <p:txBody>
          <a:bodyPr wrap="square" lIns="0" tIns="0" rIns="0" bIns="0" rtlCol="0" anchor="t"/>
          <a:lstStyle/>
          <a:p>
            <a:pPr indent="0" marL="0">
              <a:buNone/>
            </a:pPr>
            <a:r>
              <a:rPr lang="en-US" sz="850" dirty="0">
                <a:solidFill>
                  <a:srgbClr val="52656E"/>
                </a:solidFill>
                <a:latin typeface="Calibri" pitchFamily="34" charset="0"/>
                <a:ea typeface="Calibri" pitchFamily="34" charset="-122"/>
                <a:cs typeface="Calibri" pitchFamily="34" charset="-120"/>
              </a:rPr>
              <a:t>Bloomberg · FactSet · LSEG · S&amp;P</a:t>
            </a:r>
            <a:endParaRPr lang="en-US" sz="850" dirty="0"/>
          </a:p>
        </p:txBody>
      </p:sp>
      <p:sp>
        <p:nvSpPr>
          <p:cNvPr id="23" name="Shape 20"/>
          <p:cNvSpPr/>
          <p:nvPr/>
        </p:nvSpPr>
        <p:spPr>
          <a:xfrm>
            <a:off x="5257800" y="1737360"/>
            <a:ext cx="2103120" cy="566928"/>
          </a:xfrm>
          <a:prstGeom prst="roundRect">
            <a:avLst>
              <a:gd name="adj" fmla="val 12903"/>
            </a:avLst>
          </a:prstGeom>
          <a:solidFill>
            <a:srgbClr val="EAF0F1"/>
          </a:solidFill>
          <a:ln w="9525">
            <a:solidFill>
              <a:srgbClr val="9AAEB5"/>
            </a:solidFill>
            <a:prstDash val="solid"/>
          </a:ln>
        </p:spPr>
      </p:sp>
      <p:sp>
        <p:nvSpPr>
          <p:cNvPr id="24" name="Text 21"/>
          <p:cNvSpPr txBox="1"/>
          <p:nvPr/>
        </p:nvSpPr>
        <p:spPr>
          <a:xfrm>
            <a:off x="5367528" y="1792224"/>
            <a:ext cx="1920240" cy="228600"/>
          </a:xfrm>
          <a:prstGeom prst="rect">
            <a:avLst/>
          </a:prstGeom>
          <a:noFill/>
          <a:ln/>
        </p:spPr>
        <p:txBody>
          <a:bodyPr wrap="square" lIns="0" tIns="0" rIns="0" bIns="0" rtlCol="0" anchor="t"/>
          <a:lstStyle/>
          <a:p>
            <a:pPr indent="0" marL="0">
              <a:buNone/>
            </a:pPr>
            <a:r>
              <a:rPr lang="en-US" sz="1050" b="1" dirty="0">
                <a:solidFill>
                  <a:srgbClr val="15252E"/>
                </a:solidFill>
                <a:latin typeface="Calibri" pitchFamily="34" charset="0"/>
                <a:ea typeface="Calibri" pitchFamily="34" charset="-122"/>
                <a:cs typeface="Calibri" pitchFamily="34" charset="-120"/>
              </a:rPr>
              <a:t>Source-linked data</a:t>
            </a:r>
            <a:endParaRPr lang="en-US" sz="1050" dirty="0"/>
          </a:p>
        </p:txBody>
      </p:sp>
      <p:sp>
        <p:nvSpPr>
          <p:cNvPr id="25" name="Text 22"/>
          <p:cNvSpPr txBox="1"/>
          <p:nvPr/>
        </p:nvSpPr>
        <p:spPr>
          <a:xfrm>
            <a:off x="5367528" y="2029968"/>
            <a:ext cx="1920240" cy="219456"/>
          </a:xfrm>
          <a:prstGeom prst="rect">
            <a:avLst/>
          </a:prstGeom>
          <a:noFill/>
          <a:ln/>
        </p:spPr>
        <p:txBody>
          <a:bodyPr wrap="square" lIns="0" tIns="0" rIns="0" bIns="0" rtlCol="0" anchor="t"/>
          <a:lstStyle/>
          <a:p>
            <a:pPr indent="0" marL="0">
              <a:buNone/>
            </a:pPr>
            <a:r>
              <a:rPr lang="en-US" sz="850" dirty="0">
                <a:solidFill>
                  <a:srgbClr val="52656E"/>
                </a:solidFill>
                <a:latin typeface="Calibri" pitchFamily="34" charset="0"/>
                <a:ea typeface="Calibri" pitchFamily="34" charset="-122"/>
                <a:cs typeface="Calibri" pitchFamily="34" charset="-120"/>
              </a:rPr>
              <a:t>Daloopa</a:t>
            </a:r>
            <a:endParaRPr lang="en-US" sz="850" dirty="0"/>
          </a:p>
        </p:txBody>
      </p:sp>
      <p:sp>
        <p:nvSpPr>
          <p:cNvPr id="26" name="Shape 23"/>
          <p:cNvSpPr/>
          <p:nvPr/>
        </p:nvSpPr>
        <p:spPr>
          <a:xfrm>
            <a:off x="1417320" y="3246120"/>
            <a:ext cx="2103120" cy="566928"/>
          </a:xfrm>
          <a:prstGeom prst="roundRect">
            <a:avLst>
              <a:gd name="adj" fmla="val 12903"/>
            </a:avLst>
          </a:prstGeom>
          <a:solidFill>
            <a:srgbClr val="EAF0F1"/>
          </a:solidFill>
          <a:ln w="9525">
            <a:solidFill>
              <a:srgbClr val="9AAEB5"/>
            </a:solidFill>
            <a:prstDash val="solid"/>
          </a:ln>
        </p:spPr>
      </p:sp>
      <p:sp>
        <p:nvSpPr>
          <p:cNvPr id="27" name="Text 24"/>
          <p:cNvSpPr txBox="1"/>
          <p:nvPr/>
        </p:nvSpPr>
        <p:spPr>
          <a:xfrm>
            <a:off x="1527048" y="3300984"/>
            <a:ext cx="1920240" cy="228600"/>
          </a:xfrm>
          <a:prstGeom prst="rect">
            <a:avLst/>
          </a:prstGeom>
          <a:noFill/>
          <a:ln/>
        </p:spPr>
        <p:txBody>
          <a:bodyPr wrap="square" lIns="0" tIns="0" rIns="0" bIns="0" rtlCol="0" anchor="t"/>
          <a:lstStyle/>
          <a:p>
            <a:pPr indent="0" marL="0">
              <a:buNone/>
            </a:pPr>
            <a:r>
              <a:rPr lang="en-US" sz="1050" b="1" dirty="0">
                <a:solidFill>
                  <a:srgbClr val="15252E"/>
                </a:solidFill>
                <a:latin typeface="Calibri" pitchFamily="34" charset="0"/>
                <a:ea typeface="Calibri" pitchFamily="34" charset="-122"/>
                <a:cs typeface="Calibri" pitchFamily="34" charset="-120"/>
              </a:rPr>
              <a:t>Human research</a:t>
            </a:r>
            <a:endParaRPr lang="en-US" sz="1050" dirty="0"/>
          </a:p>
        </p:txBody>
      </p:sp>
      <p:sp>
        <p:nvSpPr>
          <p:cNvPr id="28" name="Text 25"/>
          <p:cNvSpPr txBox="1"/>
          <p:nvPr/>
        </p:nvSpPr>
        <p:spPr>
          <a:xfrm>
            <a:off x="1527048" y="3538728"/>
            <a:ext cx="1920240" cy="219456"/>
          </a:xfrm>
          <a:prstGeom prst="rect">
            <a:avLst/>
          </a:prstGeom>
          <a:noFill/>
          <a:ln/>
        </p:spPr>
        <p:txBody>
          <a:bodyPr wrap="square" lIns="0" tIns="0" rIns="0" bIns="0" rtlCol="0" anchor="t"/>
          <a:lstStyle/>
          <a:p>
            <a:pPr indent="0" marL="0">
              <a:buNone/>
            </a:pPr>
            <a:r>
              <a:rPr lang="en-US" sz="850" dirty="0">
                <a:solidFill>
                  <a:srgbClr val="52656E"/>
                </a:solidFill>
                <a:latin typeface="Calibri" pitchFamily="34" charset="0"/>
                <a:ea typeface="Calibri" pitchFamily="34" charset="-122"/>
                <a:cs typeface="Calibri" pitchFamily="34" charset="-120"/>
              </a:rPr>
              <a:t>brokers · independents · issuer-paid</a:t>
            </a:r>
            <a:endParaRPr lang="en-US" sz="850" dirty="0"/>
          </a:p>
        </p:txBody>
      </p:sp>
      <p:sp>
        <p:nvSpPr>
          <p:cNvPr id="29" name="Shape 26"/>
          <p:cNvSpPr/>
          <p:nvPr/>
        </p:nvSpPr>
        <p:spPr>
          <a:xfrm>
            <a:off x="1234440" y="4114800"/>
            <a:ext cx="2103120" cy="566928"/>
          </a:xfrm>
          <a:prstGeom prst="roundRect">
            <a:avLst>
              <a:gd name="adj" fmla="val 12903"/>
            </a:avLst>
          </a:prstGeom>
          <a:solidFill>
            <a:srgbClr val="EAF0F1"/>
          </a:solidFill>
          <a:ln w="9525">
            <a:solidFill>
              <a:srgbClr val="9AAEB5"/>
            </a:solidFill>
            <a:prstDash val="solid"/>
          </a:ln>
        </p:spPr>
      </p:sp>
      <p:sp>
        <p:nvSpPr>
          <p:cNvPr id="30" name="Text 27"/>
          <p:cNvSpPr txBox="1"/>
          <p:nvPr/>
        </p:nvSpPr>
        <p:spPr>
          <a:xfrm>
            <a:off x="1344168" y="4169664"/>
            <a:ext cx="1920240" cy="228600"/>
          </a:xfrm>
          <a:prstGeom prst="rect">
            <a:avLst/>
          </a:prstGeom>
          <a:noFill/>
          <a:ln/>
        </p:spPr>
        <p:txBody>
          <a:bodyPr wrap="square" lIns="0" tIns="0" rIns="0" bIns="0" rtlCol="0" anchor="t"/>
          <a:lstStyle/>
          <a:p>
            <a:pPr indent="0" marL="0">
              <a:buNone/>
            </a:pPr>
            <a:r>
              <a:rPr lang="en-US" sz="1050" b="1" dirty="0">
                <a:solidFill>
                  <a:srgbClr val="15252E"/>
                </a:solidFill>
                <a:latin typeface="Calibri" pitchFamily="34" charset="0"/>
                <a:ea typeface="Calibri" pitchFamily="34" charset="-122"/>
                <a:cs typeface="Calibri" pitchFamily="34" charset="-120"/>
              </a:rPr>
              <a:t>Retail research</a:t>
            </a:r>
            <a:endParaRPr lang="en-US" sz="1050" dirty="0"/>
          </a:p>
        </p:txBody>
      </p:sp>
      <p:sp>
        <p:nvSpPr>
          <p:cNvPr id="31" name="Text 28"/>
          <p:cNvSpPr txBox="1"/>
          <p:nvPr/>
        </p:nvSpPr>
        <p:spPr>
          <a:xfrm>
            <a:off x="1344168" y="4407408"/>
            <a:ext cx="1920240" cy="219456"/>
          </a:xfrm>
          <a:prstGeom prst="rect">
            <a:avLst/>
          </a:prstGeom>
          <a:noFill/>
          <a:ln/>
        </p:spPr>
        <p:txBody>
          <a:bodyPr wrap="square" lIns="0" tIns="0" rIns="0" bIns="0" rtlCol="0" anchor="t"/>
          <a:lstStyle/>
          <a:p>
            <a:pPr indent="0" marL="0">
              <a:buNone/>
            </a:pPr>
            <a:r>
              <a:rPr lang="en-US" sz="850" dirty="0">
                <a:solidFill>
                  <a:srgbClr val="52656E"/>
                </a:solidFill>
                <a:latin typeface="Calibri" pitchFamily="34" charset="0"/>
                <a:ea typeface="Calibri" pitchFamily="34" charset="-122"/>
                <a:cs typeface="Calibri" pitchFamily="34" charset="-120"/>
              </a:rPr>
              <a:t>Morningstar · Stockopedia · Koyfin</a:t>
            </a:r>
            <a:endParaRPr lang="en-US" sz="850" dirty="0"/>
          </a:p>
        </p:txBody>
      </p:sp>
      <p:sp>
        <p:nvSpPr>
          <p:cNvPr id="32" name="Shape 29"/>
          <p:cNvSpPr/>
          <p:nvPr/>
        </p:nvSpPr>
        <p:spPr>
          <a:xfrm>
            <a:off x="2331720" y="4892040"/>
            <a:ext cx="2103120" cy="566928"/>
          </a:xfrm>
          <a:prstGeom prst="roundRect">
            <a:avLst>
              <a:gd name="adj" fmla="val 12903"/>
            </a:avLst>
          </a:prstGeom>
          <a:solidFill>
            <a:srgbClr val="EAF0F1"/>
          </a:solidFill>
          <a:ln w="9525">
            <a:solidFill>
              <a:srgbClr val="9AAEB5"/>
            </a:solidFill>
            <a:prstDash val="solid"/>
          </a:ln>
        </p:spPr>
      </p:sp>
      <p:sp>
        <p:nvSpPr>
          <p:cNvPr id="33" name="Text 30"/>
          <p:cNvSpPr txBox="1"/>
          <p:nvPr/>
        </p:nvSpPr>
        <p:spPr>
          <a:xfrm>
            <a:off x="2441448" y="4946904"/>
            <a:ext cx="1920240" cy="228600"/>
          </a:xfrm>
          <a:prstGeom prst="rect">
            <a:avLst/>
          </a:prstGeom>
          <a:noFill/>
          <a:ln/>
        </p:spPr>
        <p:txBody>
          <a:bodyPr wrap="square" lIns="0" tIns="0" rIns="0" bIns="0" rtlCol="0" anchor="t"/>
          <a:lstStyle/>
          <a:p>
            <a:pPr indent="0" marL="0">
              <a:buNone/>
            </a:pPr>
            <a:r>
              <a:rPr lang="en-US" sz="1050" b="1" dirty="0">
                <a:solidFill>
                  <a:srgbClr val="15252E"/>
                </a:solidFill>
                <a:latin typeface="Calibri" pitchFamily="34" charset="0"/>
                <a:ea typeface="Calibri" pitchFamily="34" charset="-122"/>
                <a:cs typeface="Calibri" pitchFamily="34" charset="-120"/>
              </a:rPr>
              <a:t>General AI</a:t>
            </a:r>
            <a:endParaRPr lang="en-US" sz="1050" dirty="0"/>
          </a:p>
        </p:txBody>
      </p:sp>
      <p:sp>
        <p:nvSpPr>
          <p:cNvPr id="34" name="Text 31"/>
          <p:cNvSpPr txBox="1"/>
          <p:nvPr/>
        </p:nvSpPr>
        <p:spPr>
          <a:xfrm>
            <a:off x="2441448" y="5184648"/>
            <a:ext cx="1920240" cy="219456"/>
          </a:xfrm>
          <a:prstGeom prst="rect">
            <a:avLst/>
          </a:prstGeom>
          <a:noFill/>
          <a:ln/>
        </p:spPr>
        <p:txBody>
          <a:bodyPr wrap="square" lIns="0" tIns="0" rIns="0" bIns="0" rtlCol="0" anchor="t"/>
          <a:lstStyle/>
          <a:p>
            <a:pPr indent="0" marL="0">
              <a:buNone/>
            </a:pPr>
            <a:r>
              <a:rPr lang="en-US" sz="850" dirty="0">
                <a:solidFill>
                  <a:srgbClr val="52656E"/>
                </a:solidFill>
                <a:latin typeface="Calibri" pitchFamily="34" charset="0"/>
                <a:ea typeface="Calibri" pitchFamily="34" charset="-122"/>
                <a:cs typeface="Calibri" pitchFamily="34" charset="-120"/>
              </a:rPr>
              <a:t>ChatGPT · Claude · Gemini · Perplexity</a:t>
            </a:r>
            <a:endParaRPr lang="en-US" sz="850" dirty="0"/>
          </a:p>
        </p:txBody>
      </p:sp>
      <p:sp>
        <p:nvSpPr>
          <p:cNvPr id="35" name="Shape 32"/>
          <p:cNvSpPr/>
          <p:nvPr/>
        </p:nvSpPr>
        <p:spPr>
          <a:xfrm>
            <a:off x="5303520" y="4892040"/>
            <a:ext cx="2103120" cy="566928"/>
          </a:xfrm>
          <a:prstGeom prst="roundRect">
            <a:avLst>
              <a:gd name="adj" fmla="val 12903"/>
            </a:avLst>
          </a:prstGeom>
          <a:solidFill>
            <a:srgbClr val="EAF0F1"/>
          </a:solidFill>
          <a:ln w="9525">
            <a:solidFill>
              <a:srgbClr val="9AAEB5"/>
            </a:solidFill>
            <a:prstDash val="solid"/>
          </a:ln>
        </p:spPr>
      </p:sp>
      <p:sp>
        <p:nvSpPr>
          <p:cNvPr id="36" name="Text 33"/>
          <p:cNvSpPr txBox="1"/>
          <p:nvPr/>
        </p:nvSpPr>
        <p:spPr>
          <a:xfrm>
            <a:off x="5413248" y="4946904"/>
            <a:ext cx="1920240" cy="228600"/>
          </a:xfrm>
          <a:prstGeom prst="rect">
            <a:avLst/>
          </a:prstGeom>
          <a:noFill/>
          <a:ln/>
        </p:spPr>
        <p:txBody>
          <a:bodyPr wrap="square" lIns="0" tIns="0" rIns="0" bIns="0" rtlCol="0" anchor="t"/>
          <a:lstStyle/>
          <a:p>
            <a:pPr indent="0" marL="0">
              <a:buNone/>
            </a:pPr>
            <a:r>
              <a:rPr lang="en-US" sz="1050" b="1" dirty="0">
                <a:solidFill>
                  <a:srgbClr val="15252E"/>
                </a:solidFill>
                <a:latin typeface="Calibri" pitchFamily="34" charset="0"/>
                <a:ea typeface="Calibri" pitchFamily="34" charset="-122"/>
                <a:cs typeface="Calibri" pitchFamily="34" charset="-120"/>
              </a:rPr>
              <a:t>Doing it yourself</a:t>
            </a:r>
            <a:endParaRPr lang="en-US" sz="1050" dirty="0"/>
          </a:p>
        </p:txBody>
      </p:sp>
      <p:sp>
        <p:nvSpPr>
          <p:cNvPr id="37" name="Text 34"/>
          <p:cNvSpPr txBox="1"/>
          <p:nvPr/>
        </p:nvSpPr>
        <p:spPr>
          <a:xfrm>
            <a:off x="5413248" y="5184648"/>
            <a:ext cx="1920240" cy="219456"/>
          </a:xfrm>
          <a:prstGeom prst="rect">
            <a:avLst/>
          </a:prstGeom>
          <a:noFill/>
          <a:ln/>
        </p:spPr>
        <p:txBody>
          <a:bodyPr wrap="square" lIns="0" tIns="0" rIns="0" bIns="0" rtlCol="0" anchor="t"/>
          <a:lstStyle/>
          <a:p>
            <a:pPr indent="0" marL="0">
              <a:buNone/>
            </a:pPr>
            <a:r>
              <a:rPr lang="en-US" sz="850" dirty="0">
                <a:solidFill>
                  <a:srgbClr val="52656E"/>
                </a:solidFill>
                <a:latin typeface="Calibri" pitchFamily="34" charset="0"/>
                <a:ea typeface="Calibri" pitchFamily="34" charset="-122"/>
                <a:cs typeface="Calibri" pitchFamily="34" charset="-120"/>
              </a:rPr>
              <a:t>spreadsheets · filings · your hours</a:t>
            </a:r>
            <a:endParaRPr lang="en-US" sz="850" dirty="0"/>
          </a:p>
        </p:txBody>
      </p:sp>
      <p:sp>
        <p:nvSpPr>
          <p:cNvPr id="38" name="Shape 35"/>
          <p:cNvSpPr/>
          <p:nvPr/>
        </p:nvSpPr>
        <p:spPr>
          <a:xfrm>
            <a:off x="5440680" y="3977640"/>
            <a:ext cx="2103120" cy="658368"/>
          </a:xfrm>
          <a:prstGeom prst="roundRect">
            <a:avLst>
              <a:gd name="adj" fmla="val 11111"/>
            </a:avLst>
          </a:prstGeom>
          <a:solidFill>
            <a:srgbClr val="0F6673"/>
          </a:solidFill>
          <a:ln/>
        </p:spPr>
      </p:sp>
      <p:sp>
        <p:nvSpPr>
          <p:cNvPr id="39" name="Text 36"/>
          <p:cNvSpPr txBox="1"/>
          <p:nvPr/>
        </p:nvSpPr>
        <p:spPr>
          <a:xfrm>
            <a:off x="5550408" y="4041648"/>
            <a:ext cx="192024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Tracework Invest</a:t>
            </a:r>
            <a:endParaRPr lang="en-US" sz="1250" dirty="0"/>
          </a:p>
        </p:txBody>
      </p:sp>
      <p:sp>
        <p:nvSpPr>
          <p:cNvPr id="40" name="Text 37"/>
          <p:cNvSpPr txBox="1"/>
          <p:nvPr/>
        </p:nvSpPr>
        <p:spPr>
          <a:xfrm>
            <a:off x="5550408" y="4315968"/>
            <a:ext cx="1920240" cy="237744"/>
          </a:xfrm>
          <a:prstGeom prst="rect">
            <a:avLst/>
          </a:prstGeom>
          <a:noFill/>
          <a:ln/>
        </p:spPr>
        <p:txBody>
          <a:bodyPr wrap="square" lIns="0" tIns="0" rIns="0" bIns="0" rtlCol="0" anchor="t"/>
          <a:lstStyle/>
          <a:p>
            <a:pPr indent="0" marL="0">
              <a:buNone/>
            </a:pPr>
            <a:r>
              <a:rPr lang="en-US" sz="850" dirty="0">
                <a:solidFill>
                  <a:srgbClr val="FFFFFF"/>
                </a:solidFill>
                <a:latin typeface="Calibri" pitchFamily="34" charset="0"/>
                <a:ea typeface="Calibri" pitchFamily="34" charset="-122"/>
                <a:cs typeface="Calibri" pitchFamily="34" charset="-120"/>
              </a:rPr>
              <a:t>checkable, and built for one person</a:t>
            </a:r>
            <a:endParaRPr lang="en-US" sz="850" dirty="0"/>
          </a:p>
        </p:txBody>
      </p:sp>
      <p:sp>
        <p:nvSpPr>
          <p:cNvPr id="41" name="Shape 38"/>
          <p:cNvSpPr/>
          <p:nvPr/>
        </p:nvSpPr>
        <p:spPr>
          <a:xfrm>
            <a:off x="8092440" y="1508760"/>
            <a:ext cx="3547872" cy="4160520"/>
          </a:xfrm>
          <a:prstGeom prst="roundRect">
            <a:avLst>
              <a:gd name="adj" fmla="val 1289"/>
            </a:avLst>
          </a:prstGeom>
          <a:solidFill>
            <a:srgbClr val="FFFFFF"/>
          </a:solidFill>
          <a:ln w="9525">
            <a:solidFill>
              <a:srgbClr val="CDD8DC"/>
            </a:solidFill>
            <a:prstDash val="solid"/>
          </a:ln>
        </p:spPr>
      </p:sp>
      <p:sp>
        <p:nvSpPr>
          <p:cNvPr id="42" name="Text 39"/>
          <p:cNvSpPr txBox="1"/>
          <p:nvPr/>
        </p:nvSpPr>
        <p:spPr>
          <a:xfrm>
            <a:off x="8293608" y="1691640"/>
            <a:ext cx="3108960"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HOW TO READ IT</a:t>
            </a:r>
            <a:endParaRPr lang="en-US" sz="900" dirty="0"/>
          </a:p>
        </p:txBody>
      </p:sp>
      <p:sp>
        <p:nvSpPr>
          <p:cNvPr id="43" name="Text 40"/>
          <p:cNvSpPr txBox="1"/>
          <p:nvPr/>
        </p:nvSpPr>
        <p:spPr>
          <a:xfrm>
            <a:off x="8293608" y="2011680"/>
            <a:ext cx="3154680" cy="1417320"/>
          </a:xfrm>
          <a:prstGeom prst="rect">
            <a:avLst/>
          </a:prstGeom>
          <a:noFill/>
          <a:ln/>
        </p:spPr>
        <p:txBody>
          <a:bodyPr wrap="square" lIns="0" tIns="0" rIns="0" bIns="0" rtlCol="0" anchor="t"/>
          <a:lstStyle/>
          <a:p>
            <a:pPr indent="0" marL="0">
              <a:buNone/>
            </a:pPr>
            <a:r>
              <a:rPr lang="en-US" sz="1200" dirty="0">
                <a:solidFill>
                  <a:srgbClr val="15252E"/>
                </a:solidFill>
                <a:latin typeface="Calibri" pitchFamily="34" charset="0"/>
                <a:ea typeface="Calibri" pitchFamily="34" charset="-122"/>
                <a:cs typeface="Calibri" pitchFamily="34" charset="-120"/>
              </a:rPr>
              <a:t>The bottom-right quadrant, checkable research built for an individual, is where the serious private investor already works: by hand, in spreadsheets and filings.</a:t>
            </a:r>
            <a:endParaRPr lang="en-US" sz="1200" dirty="0"/>
          </a:p>
        </p:txBody>
      </p:sp>
      <p:sp>
        <p:nvSpPr>
          <p:cNvPr id="44" name="Text 41"/>
          <p:cNvSpPr txBox="1"/>
          <p:nvPr/>
        </p:nvSpPr>
        <p:spPr>
          <a:xfrm>
            <a:off x="8293608" y="3291840"/>
            <a:ext cx="3154680" cy="868680"/>
          </a:xfrm>
          <a:prstGeom prst="rect">
            <a:avLst/>
          </a:prstGeom>
          <a:noFill/>
          <a:ln/>
        </p:spPr>
        <p:txBody>
          <a:bodyPr wrap="square" lIns="0" tIns="0" rIns="0" bIns="0" rtlCol="0" anchor="t"/>
          <a:lstStyle/>
          <a:p>
            <a:pPr indent="0" marL="0">
              <a:buNone/>
            </a:pPr>
            <a:r>
              <a:rPr lang="en-US" sz="1300" b="1" dirty="0">
                <a:solidFill>
                  <a:srgbClr val="0F6673"/>
                </a:solidFill>
                <a:latin typeface="Calibri" pitchFamily="34" charset="0"/>
                <a:ea typeface="Calibri" pitchFamily="34" charset="-122"/>
                <a:cs typeface="Calibri" pitchFamily="34" charset="-120"/>
              </a:rPr>
              <a:t>We automate that work, keep the record, and keep checking it after the purchase.</a:t>
            </a:r>
            <a:endParaRPr lang="en-US" sz="1300" dirty="0"/>
          </a:p>
        </p:txBody>
      </p:sp>
      <p:sp>
        <p:nvSpPr>
          <p:cNvPr id="45" name="Text 42"/>
          <p:cNvSpPr txBox="1"/>
          <p:nvPr/>
        </p:nvSpPr>
        <p:spPr>
          <a:xfrm>
            <a:off x="8293608" y="4983480"/>
            <a:ext cx="3154680" cy="502920"/>
          </a:xfrm>
          <a:prstGeom prst="rect">
            <a:avLst/>
          </a:prstGeom>
          <a:noFill/>
          <a:ln/>
        </p:spPr>
        <p:txBody>
          <a:bodyPr wrap="square" lIns="0" tIns="0" rIns="0" bIns="0" rtlCol="0" anchor="t"/>
          <a:lstStyle/>
          <a:p>
            <a:pPr indent="0" marL="0">
              <a:buNone/>
            </a:pPr>
            <a:r>
              <a:rPr lang="en-US" sz="950" i="1" dirty="0">
                <a:solidFill>
                  <a:srgbClr val="5B6D75"/>
                </a:solidFill>
                <a:latin typeface="Calibri" pitchFamily="34" charset="0"/>
                <a:ea typeface="Calibri" pitchFamily="34" charset="-122"/>
                <a:cs typeface="Calibri" pitchFamily="34" charset="-120"/>
              </a:rPr>
              <a:t>Placement is our reading of each category, not a measurement.</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07 · COMPETITION</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Professional tools: why they matter, and why they don’t stop us</a:t>
            </a:r>
            <a:endParaRPr lang="en-US" sz="2800" dirty="0"/>
          </a:p>
        </p:txBody>
      </p:sp>
      <p:sp>
        <p:nvSpPr>
          <p:cNvPr id="5" name="Shape 3"/>
          <p:cNvSpPr/>
          <p:nvPr/>
        </p:nvSpPr>
        <p:spPr>
          <a:xfrm>
            <a:off x="10489082" y="384048"/>
            <a:ext cx="1153973" cy="219456"/>
          </a:xfrm>
          <a:prstGeom prst="roundRect">
            <a:avLst>
              <a:gd name="adj" fmla="val 50000"/>
            </a:avLst>
          </a:prstGeom>
          <a:solidFill>
            <a:srgbClr val="F4F7F8"/>
          </a:solidFill>
          <a:ln w="12700">
            <a:solidFill>
              <a:srgbClr val="15252E"/>
            </a:solidFill>
            <a:prstDash val="solid"/>
          </a:ln>
        </p:spPr>
      </p:sp>
      <p:sp>
        <p:nvSpPr>
          <p:cNvPr id="6" name="Text 4"/>
          <p:cNvSpPr txBox="1"/>
          <p:nvPr/>
        </p:nvSpPr>
        <p:spPr>
          <a:xfrm>
            <a:off x="10489082" y="384048"/>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7" name="Shape 5"/>
          <p:cNvSpPr/>
          <p:nvPr/>
        </p:nvSpPr>
        <p:spPr>
          <a:xfrm>
            <a:off x="8973007" y="384048"/>
            <a:ext cx="1424635" cy="219456"/>
          </a:xfrm>
          <a:prstGeom prst="roundRect">
            <a:avLst>
              <a:gd name="adj" fmla="val 50000"/>
            </a:avLst>
          </a:prstGeom>
          <a:solidFill>
            <a:srgbClr val="F4F7F8"/>
          </a:solidFill>
          <a:ln w="12700">
            <a:solidFill>
              <a:srgbClr val="52656E"/>
            </a:solidFill>
            <a:prstDash val="solid"/>
          </a:ln>
        </p:spPr>
      </p:sp>
      <p:sp>
        <p:nvSpPr>
          <p:cNvPr id="8" name="Text 6"/>
          <p:cNvSpPr txBox="1"/>
          <p:nvPr/>
        </p:nvSpPr>
        <p:spPr>
          <a:xfrm>
            <a:off x="8973007" y="384048"/>
            <a:ext cx="1424635" cy="219456"/>
          </a:xfrm>
          <a:prstGeom prst="rect">
            <a:avLst/>
          </a:prstGeom>
          <a:noFill/>
          <a:ln/>
        </p:spPr>
        <p:txBody>
          <a:bodyPr wrap="square" lIns="0" tIns="0" rIns="0" bIns="0" rtlCol="0" anchor="ctr"/>
          <a:lstStyle/>
          <a:p>
            <a:pPr algn="ctr" indent="0" marL="0">
              <a:buNone/>
            </a:pPr>
            <a:r>
              <a:rPr lang="en-US" sz="750" b="1" spc="80" kern="0" dirty="0">
                <a:solidFill>
                  <a:srgbClr val="52656E"/>
                </a:solidFill>
                <a:latin typeface="Consolas" pitchFamily="34" charset="0"/>
                <a:ea typeface="Consolas" pitchFamily="34" charset="-122"/>
                <a:cs typeface="Consolas" pitchFamily="34" charset="-120"/>
              </a:rPr>
              <a:t>EXTERNAL · VERIFY</a:t>
            </a:r>
            <a:endParaRPr lang="en-US" sz="750" dirty="0"/>
          </a:p>
        </p:txBody>
      </p:sp>
      <p:sp>
        <p:nvSpPr>
          <p:cNvPr id="9" name="Text 7"/>
          <p:cNvSpPr txBox="1"/>
          <p:nvPr/>
        </p:nvSpPr>
        <p:spPr>
          <a:xfrm>
            <a:off x="548640" y="6217920"/>
            <a:ext cx="11094415"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Prices and capabilities change quickly; read 25 Sep 2026 from public, mostly secondary, sources. Check each against the vendor before any meeting.</a:t>
            </a:r>
            <a:endParaRPr lang="en-US" sz="900" dirty="0"/>
          </a:p>
        </p:txBody>
      </p:sp>
      <p:sp>
        <p:nvSpPr>
          <p:cNvPr id="10" name="Text 8"/>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1" name="Text 9"/>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29</a:t>
            </a:r>
            <a:endParaRPr lang="en-US" sz="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331720"/>
                <a:gridCol w="1828800"/>
                <a:gridCol w="3465576"/>
                <a:gridCol w="3465576"/>
              </a:tblGrid>
              <a:tr h="310896">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CATEGORY</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INDICATIVE PRICE</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WHY THEY MATTER</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WHY THEY DON’T STOP US</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r>
              <a:tr h="1234440">
                <a:tc>
                  <a:txBody>
                    <a:bodyPr/>
                    <a:lstStyle/>
                    <a:p>
                      <a:pPr indent="0" marL="0">
                        <a:buNone/>
                      </a:pPr>
                      <a:r>
                        <a:rPr lang="en-US" sz="1100" b="1" dirty="0">
                          <a:solidFill>
                            <a:srgbClr val="15252E"/>
                          </a:solidFill>
                          <a:latin typeface="Calibri" pitchFamily="34" charset="0"/>
                          <a:ea typeface="Calibri" pitchFamily="34" charset="-122"/>
                          <a:cs typeface="Calibri" pitchFamily="34" charset="-120"/>
                        </a:rPr>
                        <a:t>Terminals and data platforms</a:t>
                      </a:r>
                      <a:endParaRPr lang="en-US" sz="1100" dirty="0">
                        <a:latin typeface="Calibri" charset="0"/>
                        <a:ea typeface="Calibri" charset="0"/>
                        <a:cs typeface="Calibri" charset="0"/>
                      </a:endParaRPr>
                    </a:p>
                    <a:p>
                      <a:pPr indent="0" marL="0">
                        <a:buNone/>
                      </a:pPr>
                      <a:r>
                        <a:rPr lang="en-US" sz="1100" dirty="0">
                          <a:solidFill>
                            <a:srgbClr val="52656E"/>
                          </a:solidFill>
                          <a:latin typeface="Calibri" pitchFamily="34" charset="0"/>
                          <a:ea typeface="Calibri" pitchFamily="34" charset="-122"/>
                          <a:cs typeface="Calibri" pitchFamily="34" charset="-120"/>
                        </a:rPr>
                        <a:t>Bloomberg, FactSet, LSEG Workspace, S&amp;P Capital IQ</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$31,980 a year for one Bloomberg terminal (2026); others quote-based</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The standard for data depth and the professional’s default workflow. They are adding AI assistants, and they define what institutional means.</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Priced and sold to institutions. They supply data and tools; a research record with every figure traced into your own conclusion is still yours to build.</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1325880">
                <a:tc>
                  <a:txBody>
                    <a:bodyPr/>
                    <a:lstStyle/>
                    <a:p>
                      <a:pPr indent="0" marL="0">
                        <a:buNone/>
                      </a:pPr>
                      <a:r>
                        <a:rPr lang="en-US" sz="1100" b="1" dirty="0">
                          <a:solidFill>
                            <a:srgbClr val="15252E"/>
                          </a:solidFill>
                          <a:latin typeface="Calibri" pitchFamily="34" charset="0"/>
                          <a:ea typeface="Calibri" pitchFamily="34" charset="-122"/>
                          <a:cs typeface="Calibri" pitchFamily="34" charset="-120"/>
                        </a:rPr>
                        <a:t>AI research platforms</a:t>
                      </a:r>
                      <a:endParaRPr lang="en-US" sz="1100" dirty="0">
                        <a:latin typeface="Calibri" charset="0"/>
                        <a:ea typeface="Calibri" charset="0"/>
                        <a:cs typeface="Calibri" charset="0"/>
                      </a:endParaRPr>
                    </a:p>
                    <a:p>
                      <a:pPr indent="0" marL="0">
                        <a:buNone/>
                      </a:pPr>
                      <a:r>
                        <a:rPr lang="en-US" sz="1100" dirty="0">
                          <a:solidFill>
                            <a:srgbClr val="52656E"/>
                          </a:solidFill>
                          <a:latin typeface="Calibri" pitchFamily="34" charset="0"/>
                          <a:ea typeface="Calibri" pitchFamily="34" charset="-122"/>
                          <a:cs typeface="Calibri" pitchFamily="34" charset="-120"/>
                        </a:rPr>
                        <a:t>AlphaSense, Hebbia, Rogo</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About $10,000–$40,000+ a seat a year (AlphaSense, quote-based)</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Proof that professionals pay for AI research and that investors fund it: Rogo raised $160M in April 2026. Fast search and answers across filings, transcripts and broker research.</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Enterprise sales and prices. Built for search, summarisation and drafting at institutional scale, not for an individual’s own figure-by-figure record and the tracking of what they believed.</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1097280">
                <a:tc>
                  <a:txBody>
                    <a:bodyPr/>
                    <a:lstStyle/>
                    <a:p>
                      <a:pPr indent="0" marL="0">
                        <a:buNone/>
                      </a:pPr>
                      <a:r>
                        <a:rPr lang="en-US" sz="1100" b="1" dirty="0">
                          <a:solidFill>
                            <a:srgbClr val="15252E"/>
                          </a:solidFill>
                          <a:latin typeface="Calibri" pitchFamily="34" charset="0"/>
                          <a:ea typeface="Calibri" pitchFamily="34" charset="-122"/>
                          <a:cs typeface="Calibri" pitchFamily="34" charset="-120"/>
                        </a:rPr>
                        <a:t>Source-linked fundamentals</a:t>
                      </a:r>
                      <a:endParaRPr lang="en-US" sz="1100" dirty="0">
                        <a:latin typeface="Calibri" charset="0"/>
                        <a:ea typeface="Calibri" charset="0"/>
                        <a:cs typeface="Calibri" charset="0"/>
                      </a:endParaRPr>
                    </a:p>
                    <a:p>
                      <a:pPr indent="0" marL="0">
                        <a:buNone/>
                      </a:pPr>
                      <a:r>
                        <a:rPr lang="en-US" sz="1100" dirty="0">
                          <a:solidFill>
                            <a:srgbClr val="52656E"/>
                          </a:solidFill>
                          <a:latin typeface="Calibri" pitchFamily="34" charset="0"/>
                          <a:ea typeface="Calibri" pitchFamily="34" charset="-122"/>
                          <a:cs typeface="Calibri" pitchFamily="34" charset="-120"/>
                        </a:rPr>
                        <a:t>Daloopa; Canalyst, now within AlphaSense</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Quote-based, institutional</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Validation of the thesis: professionals already pay for numbers hyperlinked to the filing. More likely data partners than rivals.</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They deliver data into your model. The analysis, the valuation, the prose and the monitoring of what you believed stay manual.</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07 · COMPETITION</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Tools for individuals: why they matter, and why they don’t stop us</a:t>
            </a:r>
            <a:endParaRPr lang="en-US" sz="2800" dirty="0"/>
          </a:p>
        </p:txBody>
      </p:sp>
      <p:sp>
        <p:nvSpPr>
          <p:cNvPr id="5" name="Shape 3"/>
          <p:cNvSpPr/>
          <p:nvPr/>
        </p:nvSpPr>
        <p:spPr>
          <a:xfrm>
            <a:off x="10489082" y="384048"/>
            <a:ext cx="1153973" cy="219456"/>
          </a:xfrm>
          <a:prstGeom prst="roundRect">
            <a:avLst>
              <a:gd name="adj" fmla="val 50000"/>
            </a:avLst>
          </a:prstGeom>
          <a:solidFill>
            <a:srgbClr val="F4F7F8"/>
          </a:solidFill>
          <a:ln w="12700">
            <a:solidFill>
              <a:srgbClr val="15252E"/>
            </a:solidFill>
            <a:prstDash val="solid"/>
          </a:ln>
        </p:spPr>
      </p:sp>
      <p:sp>
        <p:nvSpPr>
          <p:cNvPr id="6" name="Text 4"/>
          <p:cNvSpPr txBox="1"/>
          <p:nvPr/>
        </p:nvSpPr>
        <p:spPr>
          <a:xfrm>
            <a:off x="10489082" y="384048"/>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7" name="Shape 5"/>
          <p:cNvSpPr/>
          <p:nvPr/>
        </p:nvSpPr>
        <p:spPr>
          <a:xfrm>
            <a:off x="8973007" y="384048"/>
            <a:ext cx="1424635" cy="219456"/>
          </a:xfrm>
          <a:prstGeom prst="roundRect">
            <a:avLst>
              <a:gd name="adj" fmla="val 50000"/>
            </a:avLst>
          </a:prstGeom>
          <a:solidFill>
            <a:srgbClr val="F4F7F8"/>
          </a:solidFill>
          <a:ln w="12700">
            <a:solidFill>
              <a:srgbClr val="52656E"/>
            </a:solidFill>
            <a:prstDash val="solid"/>
          </a:ln>
        </p:spPr>
      </p:sp>
      <p:sp>
        <p:nvSpPr>
          <p:cNvPr id="8" name="Text 6"/>
          <p:cNvSpPr txBox="1"/>
          <p:nvPr/>
        </p:nvSpPr>
        <p:spPr>
          <a:xfrm>
            <a:off x="8973007" y="384048"/>
            <a:ext cx="1424635" cy="219456"/>
          </a:xfrm>
          <a:prstGeom prst="rect">
            <a:avLst/>
          </a:prstGeom>
          <a:noFill/>
          <a:ln/>
        </p:spPr>
        <p:txBody>
          <a:bodyPr wrap="square" lIns="0" tIns="0" rIns="0" bIns="0" rtlCol="0" anchor="ctr"/>
          <a:lstStyle/>
          <a:p>
            <a:pPr algn="ctr" indent="0" marL="0">
              <a:buNone/>
            </a:pPr>
            <a:r>
              <a:rPr lang="en-US" sz="750" b="1" spc="80" kern="0" dirty="0">
                <a:solidFill>
                  <a:srgbClr val="52656E"/>
                </a:solidFill>
                <a:latin typeface="Consolas" pitchFamily="34" charset="0"/>
                <a:ea typeface="Consolas" pitchFamily="34" charset="-122"/>
                <a:cs typeface="Consolas" pitchFamily="34" charset="-120"/>
              </a:rPr>
              <a:t>EXTERNAL · VERIFY</a:t>
            </a:r>
            <a:endParaRPr lang="en-US" sz="750" dirty="0"/>
          </a:p>
        </p:txBody>
      </p:sp>
      <p:sp>
        <p:nvSpPr>
          <p:cNvPr id="9" name="Text 7"/>
          <p:cNvSpPr txBox="1"/>
          <p:nvPr/>
        </p:nvSpPr>
        <p:spPr>
          <a:xfrm>
            <a:off x="548640" y="6217920"/>
            <a:ext cx="11094415"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Prices read 25 Sep 2026: ChatGPT and Koyfin from their own pages; others from secondary reviews. Stockopedia varies by region and plan.</a:t>
            </a:r>
            <a:endParaRPr lang="en-US" sz="900" dirty="0"/>
          </a:p>
        </p:txBody>
      </p:sp>
      <p:sp>
        <p:nvSpPr>
          <p:cNvPr id="10" name="Text 8"/>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1" name="Text 9"/>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30</a:t>
            </a:r>
            <a:endParaRPr lang="en-US" sz="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331720"/>
                <a:gridCol w="1828800"/>
                <a:gridCol w="3465576"/>
                <a:gridCol w="3465576"/>
              </a:tblGrid>
              <a:tr h="310896">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CATEGORY</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INDICATIVE PRICE</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WHY THEY MATTER</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WHY THEY DON’T STOP US</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r>
              <a:tr h="109728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General AI assistants</a:t>
                      </a:r>
                      <a:endParaRPr lang="en-US" sz="1050" dirty="0">
                        <a:latin typeface="Calibri" charset="0"/>
                        <a:ea typeface="Calibri" charset="0"/>
                        <a:cs typeface="Calibri" charset="0"/>
                      </a:endParaRPr>
                    </a:p>
                    <a:p>
                      <a:pPr indent="0" marL="0">
                        <a:buNone/>
                      </a:pPr>
                      <a:r>
                        <a:rPr lang="en-US" sz="1050" dirty="0">
                          <a:solidFill>
                            <a:srgbClr val="52656E"/>
                          </a:solidFill>
                          <a:latin typeface="Calibri" pitchFamily="34" charset="0"/>
                          <a:ea typeface="Calibri" pitchFamily="34" charset="-122"/>
                          <a:cs typeface="Calibri" pitchFamily="34" charset="-120"/>
                        </a:rPr>
                        <a:t>ChatGPT deep research, Claude, Gemini, Perplexity</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About $20 a month; $100–$200 for heavy-use tiers</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The real benchmark. Model judges preferred a Claude-written note in every comparison we ran. Fast, broad, cheap and improving monthly; Perplexity now tracks portfolios.</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Prose and numbers come from one mechanism; links rot; no cost ceiling; nothing to re-run; no record of what you believed, tested against what was filed since.</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109728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Retail research and screening</a:t>
                      </a:r>
                      <a:endParaRPr lang="en-US" sz="1050" dirty="0">
                        <a:latin typeface="Calibri" charset="0"/>
                        <a:ea typeface="Calibri" charset="0"/>
                        <a:cs typeface="Calibri" charset="0"/>
                      </a:endParaRPr>
                    </a:p>
                    <a:p>
                      <a:pPr indent="0" marL="0">
                        <a:buNone/>
                      </a:pPr>
                      <a:r>
                        <a:rPr lang="en-US" sz="1050" dirty="0">
                          <a:solidFill>
                            <a:srgbClr val="52656E"/>
                          </a:solidFill>
                          <a:latin typeface="Calibri" pitchFamily="34" charset="0"/>
                          <a:ea typeface="Calibri" pitchFamily="34" charset="-122"/>
                          <a:cs typeface="Calibri" pitchFamily="34" charset="-120"/>
                        </a:rPr>
                        <a:t>Morningstar, Stockopedia, Koyfin, Simply Wall St, Seeking Alpha, Fiscal.ai</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$249 a year (Morningstar Investor); about £240–£295+ (Stockopedia); $0–$79 a month (Koyfin)</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They show what individuals already pay, hundreds a year, and they own audiences, habits and good data.</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Scores, screens, ratings and other people’s opinions, not your research. Figures are not traced to the sentence in the filing; nothing tests your premises or reviews your decisions.</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6868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Human research</a:t>
                      </a:r>
                      <a:endParaRPr lang="en-US" sz="1050" dirty="0">
                        <a:latin typeface="Calibri" charset="0"/>
                        <a:ea typeface="Calibri" charset="0"/>
                        <a:cs typeface="Calibri" charset="0"/>
                      </a:endParaRPr>
                    </a:p>
                    <a:p>
                      <a:pPr indent="0" marL="0">
                        <a:buNone/>
                      </a:pPr>
                      <a:r>
                        <a:rPr lang="en-US" sz="1050" dirty="0">
                          <a:solidFill>
                            <a:srgbClr val="52656E"/>
                          </a:solidFill>
                          <a:latin typeface="Calibri" pitchFamily="34" charset="0"/>
                          <a:ea typeface="Calibri" pitchFamily="34" charset="-122"/>
                          <a:cs typeface="Calibri" pitchFamily="34" charset="-120"/>
                        </a:rPr>
                        <a:t>Brokers, independent and issuer-sponsored research, newsletters</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Varies; issuer-sponsored notes are free to read</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Sector depth and a stated view, exactly what the model judges rewarded.</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Someone else’s view, sometimes paid for by the company it covers; not checkable figure by figure; no record of your reasoning.</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73152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Doing it yourself</a:t>
                      </a:r>
                      <a:endParaRPr lang="en-US" sz="1050" dirty="0">
                        <a:latin typeface="Calibri" charset="0"/>
                        <a:ea typeface="Calibri" charset="0"/>
                        <a:cs typeface="Calibri" charset="0"/>
                      </a:endParaRPr>
                    </a:p>
                    <a:p>
                      <a:pPr indent="0" marL="0">
                        <a:buNone/>
                      </a:pPr>
                      <a:r>
                        <a:rPr lang="en-US" sz="1050" dirty="0">
                          <a:solidFill>
                            <a:srgbClr val="52656E"/>
                          </a:solidFill>
                          <a:latin typeface="Calibri" pitchFamily="34" charset="0"/>
                          <a:ea typeface="Calibri" pitchFamily="34" charset="-122"/>
                          <a:cs typeface="Calibri" pitchFamily="34" charset="-120"/>
                        </a:rPr>
                        <a:t>Spreadsheets, EDGAR, Companies House, notes</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Free, plus your time</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The real incumbent for our user: full control and full checkability.</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Hours per company, no audit trail, and nothing watches your premises while you are busy.</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07 · COMPETITION</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Could an incumbent simply build this?</a:t>
            </a:r>
            <a:endParaRPr lang="en-US" sz="2800" dirty="0"/>
          </a:p>
        </p:txBody>
      </p:sp>
      <p:sp>
        <p:nvSpPr>
          <p:cNvPr id="5" name="Shape 3"/>
          <p:cNvSpPr/>
          <p:nvPr/>
        </p:nvSpPr>
        <p:spPr>
          <a:xfrm>
            <a:off x="10624414" y="384048"/>
            <a:ext cx="1018642" cy="219456"/>
          </a:xfrm>
          <a:prstGeom prst="roundRect">
            <a:avLst>
              <a:gd name="adj" fmla="val 50000"/>
            </a:avLst>
          </a:prstGeom>
          <a:solidFill>
            <a:srgbClr val="7A4B00"/>
          </a:solidFill>
          <a:ln/>
        </p:spPr>
      </p:sp>
      <p:sp>
        <p:nvSpPr>
          <p:cNvPr id="6" name="Text 4"/>
          <p:cNvSpPr txBox="1"/>
          <p:nvPr/>
        </p:nvSpPr>
        <p:spPr>
          <a:xfrm>
            <a:off x="10624414" y="38404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7" name="Shape 5"/>
          <p:cNvSpPr/>
          <p:nvPr/>
        </p:nvSpPr>
        <p:spPr>
          <a:xfrm>
            <a:off x="9379001" y="384048"/>
            <a:ext cx="1153973" cy="219456"/>
          </a:xfrm>
          <a:prstGeom prst="roundRect">
            <a:avLst>
              <a:gd name="adj" fmla="val 50000"/>
            </a:avLst>
          </a:prstGeom>
          <a:solidFill>
            <a:srgbClr val="F4F7F8"/>
          </a:solidFill>
          <a:ln w="12700">
            <a:solidFill>
              <a:srgbClr val="15252E"/>
            </a:solidFill>
            <a:prstDash val="solid"/>
          </a:ln>
        </p:spPr>
      </p:sp>
      <p:sp>
        <p:nvSpPr>
          <p:cNvPr id="8" name="Text 6"/>
          <p:cNvSpPr txBox="1"/>
          <p:nvPr/>
        </p:nvSpPr>
        <p:spPr>
          <a:xfrm>
            <a:off x="9379001" y="384048"/>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31</a:t>
            </a:r>
            <a:endParaRPr lang="en-US" sz="8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669280" cy="914400"/>
        </p:xfrm>
        <a:graphic>
          <a:graphicData uri="http://schemas.openxmlformats.org/drawingml/2006/table">
            <a:tbl>
              <a:tblPr/>
              <a:tblGrid>
                <a:gridCol w="2560320"/>
                <a:gridCol w="3108960"/>
              </a:tblGrid>
              <a:tr h="411480">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A CHAT ANSWERS</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TRACEWORK COMPUTES</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r>
              <a:tr h="804672">
                <a:tc>
                  <a:txBody>
                    <a:bodyPr/>
                    <a:lstStyle/>
                    <a:p>
                      <a:pPr indent="0" marL="0">
                        <a:buNone/>
                      </a:pPr>
                      <a:r>
                        <a:rPr lang="en-US" sz="1200" dirty="0">
                          <a:solidFill>
                            <a:srgbClr val="15252E"/>
                          </a:solidFill>
                          <a:latin typeface="Calibri" pitchFamily="34" charset="0"/>
                          <a:ea typeface="Calibri" pitchFamily="34" charset="-122"/>
                          <a:cs typeface="Calibri" pitchFamily="34" charset="-120"/>
                        </a:rPr>
                        <a:t>Prose and numbers from one mechanism</a:t>
                      </a:r>
                      <a:endParaRPr lang="en-US" sz="12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200" dirty="0">
                          <a:solidFill>
                            <a:srgbClr val="52656E"/>
                          </a:solidFill>
                          <a:latin typeface="Calibri" pitchFamily="34" charset="0"/>
                          <a:ea typeface="Calibri" pitchFamily="34" charset="-122"/>
                          <a:cs typeface="Calibri" pitchFamily="34" charset="-120"/>
                        </a:rPr>
                        <a:t>Arithmetic in tested code; the model cannot state a figure</a:t>
                      </a:r>
                      <a:endParaRPr lang="en-US" sz="12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04672">
                <a:tc>
                  <a:txBody>
                    <a:bodyPr/>
                    <a:lstStyle/>
                    <a:p>
                      <a:pPr indent="0" marL="0">
                        <a:buNone/>
                      </a:pPr>
                      <a:r>
                        <a:rPr lang="en-US" sz="1200" dirty="0">
                          <a:solidFill>
                            <a:srgbClr val="15252E"/>
                          </a:solidFill>
                          <a:latin typeface="Calibri" pitchFamily="34" charset="0"/>
                          <a:ea typeface="Calibri" pitchFamily="34" charset="-122"/>
                          <a:cs typeface="Calibri" pitchFamily="34" charset="-120"/>
                        </a:rPr>
                        <a:t>Cites links that rot</a:t>
                      </a:r>
                      <a:endParaRPr lang="en-US" sz="12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200" dirty="0">
                          <a:solidFill>
                            <a:srgbClr val="52656E"/>
                          </a:solidFill>
                          <a:latin typeface="Calibri" pitchFamily="34" charset="0"/>
                          <a:ea typeface="Calibri" pitchFamily="34" charset="-122"/>
                          <a:cs typeface="Calibri" pitchFamily="34" charset="-120"/>
                        </a:rPr>
                        <a:t>Evidence hashed the moment it is fetched</a:t>
                      </a:r>
                      <a:endParaRPr lang="en-US" sz="12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04672">
                <a:tc>
                  <a:txBody>
                    <a:bodyPr/>
                    <a:lstStyle/>
                    <a:p>
                      <a:pPr indent="0" marL="0">
                        <a:buNone/>
                      </a:pPr>
                      <a:r>
                        <a:rPr lang="en-US" sz="1200" dirty="0">
                          <a:solidFill>
                            <a:srgbClr val="15252E"/>
                          </a:solidFill>
                          <a:latin typeface="Calibri" pitchFamily="34" charset="0"/>
                          <a:ea typeface="Calibri" pitchFamily="34" charset="-122"/>
                          <a:cs typeface="Calibri" pitchFamily="34" charset="-120"/>
                        </a:rPr>
                        <a:t>Keeps no structured record</a:t>
                      </a:r>
                      <a:endParaRPr lang="en-US" sz="12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200" dirty="0">
                          <a:solidFill>
                            <a:srgbClr val="52656E"/>
                          </a:solidFill>
                          <a:latin typeface="Calibri" pitchFamily="34" charset="0"/>
                          <a:ea typeface="Calibri" pitchFamily="34" charset="-122"/>
                          <a:cs typeface="Calibri" pitchFamily="34" charset="-120"/>
                        </a:rPr>
                        <a:t>A queryable record of facts, calculations, theses and decisions</a:t>
                      </a:r>
                      <a:endParaRPr lang="en-US" sz="12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04672">
                <a:tc>
                  <a:txBody>
                    <a:bodyPr/>
                    <a:lstStyle/>
                    <a:p>
                      <a:pPr indent="0" marL="0">
                        <a:buNone/>
                      </a:pPr>
                      <a:r>
                        <a:rPr lang="en-US" sz="1200" dirty="0">
                          <a:solidFill>
                            <a:srgbClr val="15252E"/>
                          </a:solidFill>
                          <a:latin typeface="Calibri" pitchFamily="34" charset="0"/>
                          <a:ea typeface="Calibri" pitchFamily="34" charset="-122"/>
                          <a:cs typeface="Calibri" pitchFamily="34" charset="-120"/>
                        </a:rPr>
                        <a:t>Cannot be re-run</a:t>
                      </a:r>
                      <a:endParaRPr lang="en-US" sz="12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200" dirty="0">
                          <a:solidFill>
                            <a:srgbClr val="52656E"/>
                          </a:solidFill>
                          <a:latin typeface="Calibri" pitchFamily="34" charset="0"/>
                          <a:ea typeface="Calibri" pitchFamily="34" charset="-122"/>
                          <a:cs typeface="Calibri" pitchFamily="34" charset="-120"/>
                        </a:rPr>
                        <a:t>Any report re-executes from its own inputs</a:t>
                      </a:r>
                      <a:endParaRPr lang="en-US" sz="12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04672">
                <a:tc>
                  <a:txBody>
                    <a:bodyPr/>
                    <a:lstStyle/>
                    <a:p>
                      <a:pPr indent="0" marL="0">
                        <a:buNone/>
                      </a:pPr>
                      <a:r>
                        <a:rPr lang="en-US" sz="1200" dirty="0">
                          <a:solidFill>
                            <a:srgbClr val="15252E"/>
                          </a:solidFill>
                          <a:latin typeface="Calibri" pitchFamily="34" charset="0"/>
                          <a:ea typeface="Calibri" pitchFamily="34" charset="-122"/>
                          <a:cs typeface="Calibri" pitchFamily="34" charset="-120"/>
                        </a:rPr>
                        <a:t>Spends until you stop it</a:t>
                      </a:r>
                      <a:endParaRPr lang="en-US" sz="12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200" dirty="0">
                          <a:solidFill>
                            <a:srgbClr val="52656E"/>
                          </a:solidFill>
                          <a:latin typeface="Calibri" pitchFamily="34" charset="0"/>
                          <a:ea typeface="Calibri" pitchFamily="34" charset="-122"/>
                          <a:cs typeface="Calibri" pitchFamily="34" charset="-120"/>
                        </a:rPr>
                        <a:t>A ceiling enforced before the money moves</a:t>
                      </a:r>
                      <a:endParaRPr lang="en-US" sz="12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bl>
          </a:graphicData>
        </a:graphic>
      </p:graphicFrame>
      <p:sp>
        <p:nvSpPr>
          <p:cNvPr id="13" name="Shape 9"/>
          <p:cNvSpPr/>
          <p:nvPr/>
        </p:nvSpPr>
        <p:spPr>
          <a:xfrm>
            <a:off x="6492240" y="1463040"/>
            <a:ext cx="5148072" cy="4434840"/>
          </a:xfrm>
          <a:prstGeom prst="roundRect">
            <a:avLst>
              <a:gd name="adj" fmla="val 1031"/>
            </a:avLst>
          </a:prstGeom>
          <a:solidFill>
            <a:srgbClr val="FFFFFF"/>
          </a:solidFill>
          <a:ln w="9525">
            <a:solidFill>
              <a:srgbClr val="CDD8DC"/>
            </a:solidFill>
            <a:prstDash val="solid"/>
          </a:ln>
        </p:spPr>
      </p:sp>
      <p:sp>
        <p:nvSpPr>
          <p:cNvPr id="14" name="Text 10"/>
          <p:cNvSpPr txBox="1"/>
          <p:nvPr/>
        </p:nvSpPr>
        <p:spPr>
          <a:xfrm>
            <a:off x="6702552" y="1645920"/>
            <a:ext cx="4663440"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WHY THE GAP SHOULD HOLD</a:t>
            </a:r>
            <a:endParaRPr lang="en-US" sz="900" dirty="0"/>
          </a:p>
        </p:txBody>
      </p:sp>
      <p:sp>
        <p:nvSpPr>
          <p:cNvPr id="15" name="Text 11"/>
          <p:cNvSpPr txBox="1"/>
          <p:nvPr/>
        </p:nvSpPr>
        <p:spPr>
          <a:xfrm>
            <a:off x="6702552" y="2011680"/>
            <a:ext cx="4754880" cy="3794760"/>
          </a:xfrm>
          <a:prstGeom prst="rect">
            <a:avLst/>
          </a:prstGeom>
          <a:noFill/>
          <a:ln/>
        </p:spPr>
        <p:txBody>
          <a:bodyPr wrap="square" lIns="0" tIns="0" rIns="0" bIns="0" rtlCol="0" anchor="t"/>
          <a:lstStyle/>
          <a:p>
            <a:pPr marL="177800" indent="-177800">
              <a:spcAft>
                <a:spcPts val="1200"/>
              </a:spcAft>
              <a:buSzPct val="100000"/>
              <a:buChar char="•"/>
            </a:pPr>
            <a:r>
              <a:rPr lang="en-US" sz="1250" b="1" dirty="0">
                <a:solidFill>
                  <a:srgbClr val="15252E"/>
                </a:solidFill>
                <a:latin typeface="Calibri" pitchFamily="34" charset="0"/>
                <a:ea typeface="Calibri" pitchFamily="34" charset="-122"/>
                <a:cs typeface="Calibri" pitchFamily="34" charset="-120"/>
              </a:rPr>
              <a:t>It is architecture, not a feature.</a:t>
            </a:r>
            <a:r>
              <a:rPr lang="en-US" sz="1250" dirty="0">
                <a:solidFill>
                  <a:srgbClr val="52656E"/>
                </a:solidFill>
                <a:latin typeface="Calibri" pitchFamily="34" charset="0"/>
                <a:ea typeface="Calibri" pitchFamily="34" charset="-122"/>
                <a:cs typeface="Calibri" pitchFamily="34" charset="-120"/>
              </a:rPr>
              <a:t> Provenance has to exist from the moment a byte is fetched; it cannot be added to generated text afterwards.</a:t>
            </a:r>
            <a:endParaRPr lang="en-US" sz="1250" dirty="0"/>
          </a:p>
          <a:p>
            <a:pPr marL="177800" indent="-177800">
              <a:spcAft>
                <a:spcPts val="1200"/>
              </a:spcAft>
              <a:buSzPct val="100000"/>
              <a:buChar char="•"/>
            </a:pPr>
            <a:r>
              <a:rPr lang="en-US" sz="1250" b="1" dirty="0">
                <a:solidFill>
                  <a:srgbClr val="15252E"/>
                </a:solidFill>
                <a:latin typeface="Calibri" pitchFamily="34" charset="0"/>
                <a:ea typeface="Calibri" pitchFamily="34" charset="-122"/>
                <a:cs typeface="Calibri" pitchFamily="34" charset="-120"/>
              </a:rPr>
              <a:t>A different customer.</a:t>
            </a:r>
            <a:r>
              <a:rPr lang="en-US" sz="1250" dirty="0">
                <a:solidFill>
                  <a:srgbClr val="52656E"/>
                </a:solidFill>
                <a:latin typeface="Calibri" pitchFamily="34" charset="0"/>
                <a:ea typeface="Calibri" pitchFamily="34" charset="-122"/>
                <a:cs typeface="Calibri" pitchFamily="34" charset="-120"/>
              </a:rPr>
              <a:t> Terminals and AI research platforms sell seats to institutions; one investor’s research record is not their business.</a:t>
            </a:r>
            <a:endParaRPr lang="en-US" sz="1250" dirty="0"/>
          </a:p>
          <a:p>
            <a:pPr marL="177800" indent="-177800">
              <a:spcAft>
                <a:spcPts val="1200"/>
              </a:spcAft>
              <a:buSzPct val="100000"/>
              <a:buChar char="•"/>
            </a:pPr>
            <a:r>
              <a:rPr lang="en-US" sz="1250" b="1" dirty="0">
                <a:solidFill>
                  <a:srgbClr val="15252E"/>
                </a:solidFill>
                <a:latin typeface="Calibri" pitchFamily="34" charset="0"/>
                <a:ea typeface="Calibri" pitchFamily="34" charset="-122"/>
                <a:cs typeface="Calibri" pitchFamily="34" charset="-120"/>
              </a:rPr>
              <a:t>The record compounds.</a:t>
            </a:r>
            <a:r>
              <a:rPr lang="en-US" sz="1250" dirty="0">
                <a:solidFill>
                  <a:srgbClr val="52656E"/>
                </a:solidFill>
                <a:latin typeface="Calibri" pitchFamily="34" charset="0"/>
                <a:ea typeface="Calibri" pitchFamily="34" charset="-122"/>
                <a:cs typeface="Calibri" pitchFamily="34" charset="-120"/>
              </a:rPr>
              <a:t> Every report, premise and decision a user adds makes the next check better, and leaving costlier.</a:t>
            </a:r>
            <a:endParaRPr lang="en-US" sz="1250" dirty="0"/>
          </a:p>
          <a:p>
            <a:pPr marL="177800" indent="-177800">
              <a:spcAft>
                <a:spcPts val="1200"/>
              </a:spcAft>
              <a:buSzPct val="100000"/>
              <a:buChar char="•"/>
            </a:pPr>
            <a:r>
              <a:rPr lang="en-US" sz="1250" b="1" dirty="0">
                <a:solidFill>
                  <a:srgbClr val="15252E"/>
                </a:solidFill>
                <a:latin typeface="Calibri" pitchFamily="34" charset="0"/>
                <a:ea typeface="Calibri" pitchFamily="34" charset="-122"/>
                <a:cs typeface="Calibri" pitchFamily="34" charset="-120"/>
              </a:rPr>
              <a:t>An honest limit.</a:t>
            </a:r>
            <a:r>
              <a:rPr lang="en-US" sz="1250" dirty="0">
                <a:solidFill>
                  <a:srgbClr val="52656E"/>
                </a:solidFill>
                <a:latin typeface="Calibri" pitchFamily="34" charset="0"/>
                <a:ea typeface="Calibri" pitchFamily="34" charset="-122"/>
                <a:cs typeface="Calibri" pitchFamily="34" charset="-120"/>
              </a:rPr>
              <a:t> A well-funded team could build this. Our edge is focus and a head start: 131 recorded design decisions and [PLACEHOLDER: months] of work.</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08 · WHY IT CAN WIN</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Why this can succeed</a:t>
            </a:r>
            <a:endParaRPr lang="en-US" sz="2800" dirty="0"/>
          </a:p>
        </p:txBody>
      </p:sp>
      <p:sp>
        <p:nvSpPr>
          <p:cNvPr id="5" name="Shape 3"/>
          <p:cNvSpPr/>
          <p:nvPr/>
        </p:nvSpPr>
        <p:spPr>
          <a:xfrm>
            <a:off x="10827410" y="384048"/>
            <a:ext cx="815645" cy="219456"/>
          </a:xfrm>
          <a:prstGeom prst="roundRect">
            <a:avLst>
              <a:gd name="adj" fmla="val 50000"/>
            </a:avLst>
          </a:prstGeom>
          <a:solidFill>
            <a:srgbClr val="0F6673"/>
          </a:solidFill>
          <a:ln/>
        </p:spPr>
      </p:sp>
      <p:sp>
        <p:nvSpPr>
          <p:cNvPr id="6" name="Text 4"/>
          <p:cNvSpPr txBox="1"/>
          <p:nvPr/>
        </p:nvSpPr>
        <p:spPr>
          <a:xfrm>
            <a:off x="10827410"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7" name="Shape 5"/>
          <p:cNvSpPr/>
          <p:nvPr/>
        </p:nvSpPr>
        <p:spPr>
          <a:xfrm>
            <a:off x="9581998" y="384048"/>
            <a:ext cx="1153973" cy="219456"/>
          </a:xfrm>
          <a:prstGeom prst="roundRect">
            <a:avLst>
              <a:gd name="adj" fmla="val 50000"/>
            </a:avLst>
          </a:prstGeom>
          <a:solidFill>
            <a:srgbClr val="F4F7F8"/>
          </a:solidFill>
          <a:ln w="12700">
            <a:solidFill>
              <a:srgbClr val="15252E"/>
            </a:solidFill>
            <a:prstDash val="solid"/>
          </a:ln>
        </p:spPr>
      </p:sp>
      <p:sp>
        <p:nvSpPr>
          <p:cNvPr id="8" name="Text 6"/>
          <p:cNvSpPr txBox="1"/>
          <p:nvPr/>
        </p:nvSpPr>
        <p:spPr>
          <a:xfrm>
            <a:off x="9581998" y="384048"/>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32</a:t>
            </a:r>
            <a:endParaRPr lang="en-US" sz="800" dirty="0"/>
          </a:p>
        </p:txBody>
      </p:sp>
      <p:sp>
        <p:nvSpPr>
          <p:cNvPr id="12" name="Shape 9"/>
          <p:cNvSpPr/>
          <p:nvPr/>
        </p:nvSpPr>
        <p:spPr>
          <a:xfrm>
            <a:off x="548640" y="1463040"/>
            <a:ext cx="3545738" cy="2148840"/>
          </a:xfrm>
          <a:prstGeom prst="roundRect">
            <a:avLst>
              <a:gd name="adj" fmla="val 2128"/>
            </a:avLst>
          </a:prstGeom>
          <a:solidFill>
            <a:srgbClr val="FFFFFF"/>
          </a:solidFill>
          <a:ln w="9525">
            <a:solidFill>
              <a:srgbClr val="CDD8DC"/>
            </a:solidFill>
            <a:prstDash val="solid"/>
          </a:ln>
        </p:spPr>
      </p:sp>
      <p:sp>
        <p:nvSpPr>
          <p:cNvPr id="13" name="Shape 10"/>
          <p:cNvSpPr/>
          <p:nvPr/>
        </p:nvSpPr>
        <p:spPr>
          <a:xfrm>
            <a:off x="749808" y="1664208"/>
            <a:ext cx="329184" cy="329184"/>
          </a:xfrm>
          <a:prstGeom prst="ellipse">
            <a:avLst/>
          </a:prstGeom>
          <a:solidFill>
            <a:srgbClr val="0F6673"/>
          </a:solidFill>
          <a:ln/>
        </p:spPr>
      </p:sp>
      <p:sp>
        <p:nvSpPr>
          <p:cNvPr id="14" name="Text 11"/>
          <p:cNvSpPr txBox="1"/>
          <p:nvPr/>
        </p:nvSpPr>
        <p:spPr>
          <a:xfrm>
            <a:off x="749808" y="16642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1</a:t>
            </a:r>
            <a:endParaRPr lang="en-US" sz="1100" dirty="0"/>
          </a:p>
        </p:txBody>
      </p:sp>
      <p:sp>
        <p:nvSpPr>
          <p:cNvPr id="15" name="Text 12"/>
          <p:cNvSpPr txBox="1"/>
          <p:nvPr/>
        </p:nvSpPr>
        <p:spPr>
          <a:xfrm>
            <a:off x="1188720" y="1627632"/>
            <a:ext cx="2722778" cy="566928"/>
          </a:xfrm>
          <a:prstGeom prst="rect">
            <a:avLst/>
          </a:prstGeom>
          <a:noFill/>
          <a:ln/>
        </p:spPr>
        <p:txBody>
          <a:bodyPr wrap="square" lIns="0" tIns="0" rIns="0" bIns="0" rtlCol="0" anchor="ctr"/>
          <a:lstStyle/>
          <a:p>
            <a:pPr indent="0" marL="0">
              <a:buNone/>
            </a:pPr>
            <a:r>
              <a:rPr lang="en-US" sz="1300" b="1" dirty="0">
                <a:solidFill>
                  <a:srgbClr val="15252E"/>
                </a:solidFill>
                <a:latin typeface="Calibri" pitchFamily="34" charset="0"/>
                <a:ea typeface="Calibri" pitchFamily="34" charset="-122"/>
                <a:cs typeface="Calibri" pitchFamily="34" charset="-120"/>
              </a:rPr>
              <a:t>Trust is the bottleneck for AI in money.</a:t>
            </a:r>
            <a:endParaRPr lang="en-US" sz="1300" dirty="0"/>
          </a:p>
        </p:txBody>
      </p:sp>
      <p:sp>
        <p:nvSpPr>
          <p:cNvPr id="16" name="Text 13"/>
          <p:cNvSpPr txBox="1"/>
          <p:nvPr/>
        </p:nvSpPr>
        <p:spPr>
          <a:xfrm>
            <a:off x="749808" y="2286000"/>
            <a:ext cx="3143402" cy="822960"/>
          </a:xfrm>
          <a:prstGeom prst="rect">
            <a:avLst/>
          </a:prstGeom>
          <a:noFill/>
          <a:ln/>
        </p:spPr>
        <p:txBody>
          <a:bodyPr wrap="square" lIns="0" tIns="0" rIns="0" bIns="0" rtlCol="0" anchor="t"/>
          <a:lstStyle/>
          <a:p>
            <a:pPr indent="0" marL="0">
              <a:buNone/>
            </a:pPr>
            <a:r>
              <a:rPr lang="en-US" sz="1100" dirty="0">
                <a:solidFill>
                  <a:srgbClr val="52656E"/>
                </a:solidFill>
                <a:latin typeface="Calibri" pitchFamily="34" charset="0"/>
                <a:ea typeface="Calibri" pitchFamily="34" charset="-122"/>
                <a:cs typeface="Calibri" pitchFamily="34" charset="-120"/>
              </a:rPr>
              <a:t>We solve it in the architecture, not in the prompt.</a:t>
            </a:r>
            <a:endParaRPr lang="en-US" sz="1100" dirty="0"/>
          </a:p>
        </p:txBody>
      </p:sp>
      <p:sp>
        <p:nvSpPr>
          <p:cNvPr id="17" name="Text 14"/>
          <p:cNvSpPr txBox="1"/>
          <p:nvPr/>
        </p:nvSpPr>
        <p:spPr>
          <a:xfrm>
            <a:off x="749808" y="3154680"/>
            <a:ext cx="3143402" cy="365760"/>
          </a:xfrm>
          <a:prstGeom prst="rect">
            <a:avLst/>
          </a:prstGeom>
          <a:noFill/>
          <a:ln/>
        </p:spPr>
        <p:txBody>
          <a:bodyPr wrap="square" lIns="0" tIns="0" rIns="0" bIns="0" rtlCol="0" anchor="t"/>
          <a:lstStyle/>
          <a:p>
            <a:pPr indent="0" marL="0">
              <a:buNone/>
            </a:pPr>
            <a:r>
              <a:rPr lang="en-US" sz="850" dirty="0">
                <a:solidFill>
                  <a:srgbClr val="0F6673"/>
                </a:solidFill>
                <a:latin typeface="Consolas" pitchFamily="34" charset="0"/>
                <a:ea typeface="Consolas" pitchFamily="34" charset="-122"/>
                <a:cs typeface="Consolas" pitchFamily="34" charset="-120"/>
              </a:rPr>
              <a:t>0 of 779 contradicted · 259/259 confirmed · 3,335 replayed</a:t>
            </a:r>
            <a:endParaRPr lang="en-US" sz="850" dirty="0"/>
          </a:p>
        </p:txBody>
      </p:sp>
      <p:sp>
        <p:nvSpPr>
          <p:cNvPr id="18" name="Shape 15"/>
          <p:cNvSpPr/>
          <p:nvPr/>
        </p:nvSpPr>
        <p:spPr>
          <a:xfrm>
            <a:off x="4322978" y="1463040"/>
            <a:ext cx="3545738" cy="2148840"/>
          </a:xfrm>
          <a:prstGeom prst="roundRect">
            <a:avLst>
              <a:gd name="adj" fmla="val 2128"/>
            </a:avLst>
          </a:prstGeom>
          <a:solidFill>
            <a:srgbClr val="FFFFFF"/>
          </a:solidFill>
          <a:ln w="9525">
            <a:solidFill>
              <a:srgbClr val="CDD8DC"/>
            </a:solidFill>
            <a:prstDash val="solid"/>
          </a:ln>
        </p:spPr>
      </p:sp>
      <p:sp>
        <p:nvSpPr>
          <p:cNvPr id="19" name="Shape 16"/>
          <p:cNvSpPr/>
          <p:nvPr/>
        </p:nvSpPr>
        <p:spPr>
          <a:xfrm>
            <a:off x="4524146" y="1664208"/>
            <a:ext cx="329184" cy="329184"/>
          </a:xfrm>
          <a:prstGeom prst="ellipse">
            <a:avLst/>
          </a:prstGeom>
          <a:solidFill>
            <a:srgbClr val="0F6673"/>
          </a:solidFill>
          <a:ln/>
        </p:spPr>
      </p:sp>
      <p:sp>
        <p:nvSpPr>
          <p:cNvPr id="20" name="Text 17"/>
          <p:cNvSpPr txBox="1"/>
          <p:nvPr/>
        </p:nvSpPr>
        <p:spPr>
          <a:xfrm>
            <a:off x="4524146" y="16642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2</a:t>
            </a:r>
            <a:endParaRPr lang="en-US" sz="1100" dirty="0"/>
          </a:p>
        </p:txBody>
      </p:sp>
      <p:sp>
        <p:nvSpPr>
          <p:cNvPr id="21" name="Text 18"/>
          <p:cNvSpPr txBox="1"/>
          <p:nvPr/>
        </p:nvSpPr>
        <p:spPr>
          <a:xfrm>
            <a:off x="4963058" y="1627632"/>
            <a:ext cx="2722778" cy="566928"/>
          </a:xfrm>
          <a:prstGeom prst="rect">
            <a:avLst/>
          </a:prstGeom>
          <a:noFill/>
          <a:ln/>
        </p:spPr>
        <p:txBody>
          <a:bodyPr wrap="square" lIns="0" tIns="0" rIns="0" bIns="0" rtlCol="0" anchor="ctr"/>
          <a:lstStyle/>
          <a:p>
            <a:pPr indent="0" marL="0">
              <a:buNone/>
            </a:pPr>
            <a:r>
              <a:rPr lang="en-US" sz="1300" b="1" dirty="0">
                <a:solidFill>
                  <a:srgbClr val="15252E"/>
                </a:solidFill>
                <a:latin typeface="Calibri" pitchFamily="34" charset="0"/>
                <a:ea typeface="Calibri" pitchFamily="34" charset="-122"/>
                <a:cs typeface="Calibri" pitchFamily="34" charset="-120"/>
              </a:rPr>
              <a:t>Costs are known before they are spent.</a:t>
            </a:r>
            <a:endParaRPr lang="en-US" sz="1300" dirty="0"/>
          </a:p>
        </p:txBody>
      </p:sp>
      <p:sp>
        <p:nvSpPr>
          <p:cNvPr id="22" name="Text 19"/>
          <p:cNvSpPr txBox="1"/>
          <p:nvPr/>
        </p:nvSpPr>
        <p:spPr>
          <a:xfrm>
            <a:off x="4524146" y="2286000"/>
            <a:ext cx="3143402" cy="822960"/>
          </a:xfrm>
          <a:prstGeom prst="rect">
            <a:avLst/>
          </a:prstGeom>
          <a:noFill/>
          <a:ln/>
        </p:spPr>
        <p:txBody>
          <a:bodyPr wrap="square" lIns="0" tIns="0" rIns="0" bIns="0" rtlCol="0" anchor="t"/>
          <a:lstStyle/>
          <a:p>
            <a:pPr indent="0" marL="0">
              <a:buNone/>
            </a:pPr>
            <a:r>
              <a:rPr lang="en-US" sz="1100" dirty="0">
                <a:solidFill>
                  <a:srgbClr val="52656E"/>
                </a:solidFill>
                <a:latin typeface="Calibri" pitchFamily="34" charset="0"/>
                <a:ea typeface="Calibri" pitchFamily="34" charset="-122"/>
                <a:cs typeface="Calibri" pitchFamily="34" charset="-120"/>
              </a:rPr>
              <a:t>Every call is priced and capped in code.</a:t>
            </a:r>
            <a:endParaRPr lang="en-US" sz="1100" dirty="0"/>
          </a:p>
        </p:txBody>
      </p:sp>
      <p:sp>
        <p:nvSpPr>
          <p:cNvPr id="23" name="Text 20"/>
          <p:cNvSpPr txBox="1"/>
          <p:nvPr/>
        </p:nvSpPr>
        <p:spPr>
          <a:xfrm>
            <a:off x="4524146" y="3154680"/>
            <a:ext cx="3143402" cy="365760"/>
          </a:xfrm>
          <a:prstGeom prst="rect">
            <a:avLst/>
          </a:prstGeom>
          <a:noFill/>
          <a:ln/>
        </p:spPr>
        <p:txBody>
          <a:bodyPr wrap="square" lIns="0" tIns="0" rIns="0" bIns="0" rtlCol="0" anchor="t"/>
          <a:lstStyle/>
          <a:p>
            <a:pPr indent="0" marL="0">
              <a:buNone/>
            </a:pPr>
            <a:r>
              <a:rPr lang="en-US" sz="850" dirty="0">
                <a:solidFill>
                  <a:srgbClr val="0F6673"/>
                </a:solidFill>
                <a:latin typeface="Consolas" pitchFamily="34" charset="0"/>
                <a:ea typeface="Consolas" pitchFamily="34" charset="-122"/>
                <a:cs typeface="Consolas" pitchFamily="34" charset="-120"/>
              </a:rPr>
              <a:t>£7.19 a report · an 11% spread · no cap ever breached</a:t>
            </a:r>
            <a:endParaRPr lang="en-US" sz="850" dirty="0"/>
          </a:p>
        </p:txBody>
      </p:sp>
      <p:sp>
        <p:nvSpPr>
          <p:cNvPr id="24" name="Shape 21"/>
          <p:cNvSpPr/>
          <p:nvPr/>
        </p:nvSpPr>
        <p:spPr>
          <a:xfrm>
            <a:off x="8097317" y="1463040"/>
            <a:ext cx="3545738" cy="2148840"/>
          </a:xfrm>
          <a:prstGeom prst="roundRect">
            <a:avLst>
              <a:gd name="adj" fmla="val 2128"/>
            </a:avLst>
          </a:prstGeom>
          <a:solidFill>
            <a:srgbClr val="FFFFFF"/>
          </a:solidFill>
          <a:ln w="9525">
            <a:solidFill>
              <a:srgbClr val="CDD8DC"/>
            </a:solidFill>
            <a:prstDash val="solid"/>
          </a:ln>
        </p:spPr>
      </p:sp>
      <p:sp>
        <p:nvSpPr>
          <p:cNvPr id="25" name="Shape 22"/>
          <p:cNvSpPr/>
          <p:nvPr/>
        </p:nvSpPr>
        <p:spPr>
          <a:xfrm>
            <a:off x="8298485" y="1664208"/>
            <a:ext cx="329184" cy="329184"/>
          </a:xfrm>
          <a:prstGeom prst="ellipse">
            <a:avLst/>
          </a:prstGeom>
          <a:solidFill>
            <a:srgbClr val="0F6673"/>
          </a:solidFill>
          <a:ln/>
        </p:spPr>
      </p:sp>
      <p:sp>
        <p:nvSpPr>
          <p:cNvPr id="26" name="Text 23"/>
          <p:cNvSpPr txBox="1"/>
          <p:nvPr/>
        </p:nvSpPr>
        <p:spPr>
          <a:xfrm>
            <a:off x="8298485" y="16642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3</a:t>
            </a:r>
            <a:endParaRPr lang="en-US" sz="1100" dirty="0"/>
          </a:p>
        </p:txBody>
      </p:sp>
      <p:sp>
        <p:nvSpPr>
          <p:cNvPr id="27" name="Text 24"/>
          <p:cNvSpPr txBox="1"/>
          <p:nvPr/>
        </p:nvSpPr>
        <p:spPr>
          <a:xfrm>
            <a:off x="8737397" y="1627632"/>
            <a:ext cx="2722778" cy="566928"/>
          </a:xfrm>
          <a:prstGeom prst="rect">
            <a:avLst/>
          </a:prstGeom>
          <a:noFill/>
          <a:ln/>
        </p:spPr>
        <p:txBody>
          <a:bodyPr wrap="square" lIns="0" tIns="0" rIns="0" bIns="0" rtlCol="0" anchor="ctr"/>
          <a:lstStyle/>
          <a:p>
            <a:pPr indent="0" marL="0">
              <a:buNone/>
            </a:pPr>
            <a:r>
              <a:rPr lang="en-US" sz="1300" b="1" dirty="0">
                <a:solidFill>
                  <a:srgbClr val="15252E"/>
                </a:solidFill>
                <a:latin typeface="Calibri" pitchFamily="34" charset="0"/>
                <a:ea typeface="Calibri" pitchFamily="34" charset="-122"/>
                <a:cs typeface="Calibri" pitchFamily="34" charset="-120"/>
              </a:rPr>
              <a:t>The record compounds.</a:t>
            </a:r>
            <a:endParaRPr lang="en-US" sz="1300" dirty="0"/>
          </a:p>
        </p:txBody>
      </p:sp>
      <p:sp>
        <p:nvSpPr>
          <p:cNvPr id="28" name="Text 25"/>
          <p:cNvSpPr txBox="1"/>
          <p:nvPr/>
        </p:nvSpPr>
        <p:spPr>
          <a:xfrm>
            <a:off x="8298485" y="2286000"/>
            <a:ext cx="3143402" cy="822960"/>
          </a:xfrm>
          <a:prstGeom prst="rect">
            <a:avLst/>
          </a:prstGeom>
          <a:noFill/>
          <a:ln/>
        </p:spPr>
        <p:txBody>
          <a:bodyPr wrap="square" lIns="0" tIns="0" rIns="0" bIns="0" rtlCol="0" anchor="t"/>
          <a:lstStyle/>
          <a:p>
            <a:pPr indent="0" marL="0">
              <a:buNone/>
            </a:pPr>
            <a:r>
              <a:rPr lang="en-US" sz="1100" dirty="0">
                <a:solidFill>
                  <a:srgbClr val="52656E"/>
                </a:solidFill>
                <a:latin typeface="Calibri" pitchFamily="34" charset="0"/>
                <a:ea typeface="Calibri" pitchFamily="34" charset="-122"/>
                <a:cs typeface="Calibri" pitchFamily="34" charset="-120"/>
              </a:rPr>
              <a:t>Theses, decisions and reviews accumulate into something only this user has, and would not want to lose.</a:t>
            </a:r>
            <a:endParaRPr lang="en-US" sz="1100" dirty="0"/>
          </a:p>
        </p:txBody>
      </p:sp>
      <p:sp>
        <p:nvSpPr>
          <p:cNvPr id="29" name="Text 26"/>
          <p:cNvSpPr txBox="1"/>
          <p:nvPr/>
        </p:nvSpPr>
        <p:spPr>
          <a:xfrm>
            <a:off x="8298485" y="3154680"/>
            <a:ext cx="3143402" cy="365760"/>
          </a:xfrm>
          <a:prstGeom prst="rect">
            <a:avLst/>
          </a:prstGeom>
          <a:noFill/>
          <a:ln/>
        </p:spPr>
        <p:txBody>
          <a:bodyPr wrap="square" lIns="0" tIns="0" rIns="0" bIns="0" rtlCol="0" anchor="t"/>
          <a:lstStyle/>
          <a:p>
            <a:pPr indent="0" marL="0">
              <a:buNone/>
            </a:pPr>
            <a:r>
              <a:rPr lang="en-US" sz="850" dirty="0">
                <a:solidFill>
                  <a:srgbClr val="5B6D75"/>
                </a:solidFill>
                <a:latin typeface="Consolas" pitchFamily="34" charset="0"/>
                <a:ea typeface="Consolas" pitchFamily="34" charset="-122"/>
                <a:cs typeface="Consolas" pitchFamily="34" charset="-120"/>
              </a:rPr>
              <a:t>our judgement</a:t>
            </a:r>
            <a:endParaRPr lang="en-US" sz="850" dirty="0"/>
          </a:p>
        </p:txBody>
      </p:sp>
      <p:sp>
        <p:nvSpPr>
          <p:cNvPr id="30" name="Shape 27"/>
          <p:cNvSpPr/>
          <p:nvPr/>
        </p:nvSpPr>
        <p:spPr>
          <a:xfrm>
            <a:off x="548640" y="3794760"/>
            <a:ext cx="3545738" cy="2148840"/>
          </a:xfrm>
          <a:prstGeom prst="roundRect">
            <a:avLst>
              <a:gd name="adj" fmla="val 2128"/>
            </a:avLst>
          </a:prstGeom>
          <a:solidFill>
            <a:srgbClr val="FFFFFF"/>
          </a:solidFill>
          <a:ln w="9525">
            <a:solidFill>
              <a:srgbClr val="CDD8DC"/>
            </a:solidFill>
            <a:prstDash val="solid"/>
          </a:ln>
        </p:spPr>
      </p:sp>
      <p:sp>
        <p:nvSpPr>
          <p:cNvPr id="31" name="Shape 28"/>
          <p:cNvSpPr/>
          <p:nvPr/>
        </p:nvSpPr>
        <p:spPr>
          <a:xfrm>
            <a:off x="749808" y="3995928"/>
            <a:ext cx="329184" cy="329184"/>
          </a:xfrm>
          <a:prstGeom prst="ellipse">
            <a:avLst/>
          </a:prstGeom>
          <a:solidFill>
            <a:srgbClr val="0F6673"/>
          </a:solidFill>
          <a:ln/>
        </p:spPr>
      </p:sp>
      <p:sp>
        <p:nvSpPr>
          <p:cNvPr id="32" name="Text 29"/>
          <p:cNvSpPr txBox="1"/>
          <p:nvPr/>
        </p:nvSpPr>
        <p:spPr>
          <a:xfrm>
            <a:off x="749808" y="3995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4</a:t>
            </a:r>
            <a:endParaRPr lang="en-US" sz="1100" dirty="0"/>
          </a:p>
        </p:txBody>
      </p:sp>
      <p:sp>
        <p:nvSpPr>
          <p:cNvPr id="33" name="Text 30"/>
          <p:cNvSpPr txBox="1"/>
          <p:nvPr/>
        </p:nvSpPr>
        <p:spPr>
          <a:xfrm>
            <a:off x="1188720" y="3959352"/>
            <a:ext cx="2722778" cy="566928"/>
          </a:xfrm>
          <a:prstGeom prst="rect">
            <a:avLst/>
          </a:prstGeom>
          <a:noFill/>
          <a:ln/>
        </p:spPr>
        <p:txBody>
          <a:bodyPr wrap="square" lIns="0" tIns="0" rIns="0" bIns="0" rtlCol="0" anchor="ctr"/>
          <a:lstStyle/>
          <a:p>
            <a:pPr indent="0" marL="0">
              <a:buNone/>
            </a:pPr>
            <a:r>
              <a:rPr lang="en-US" sz="1300" b="1" dirty="0">
                <a:solidFill>
                  <a:srgbClr val="15252E"/>
                </a:solidFill>
                <a:latin typeface="Calibri" pitchFamily="34" charset="0"/>
                <a:ea typeface="Calibri" pitchFamily="34" charset="-122"/>
                <a:cs typeface="Calibri" pitchFamily="34" charset="-120"/>
              </a:rPr>
              <a:t>The model is a component.</a:t>
            </a:r>
            <a:endParaRPr lang="en-US" sz="1300" dirty="0"/>
          </a:p>
        </p:txBody>
      </p:sp>
      <p:sp>
        <p:nvSpPr>
          <p:cNvPr id="34" name="Text 31"/>
          <p:cNvSpPr txBox="1"/>
          <p:nvPr/>
        </p:nvSpPr>
        <p:spPr>
          <a:xfrm>
            <a:off x="749808" y="4617720"/>
            <a:ext cx="3143402" cy="822960"/>
          </a:xfrm>
          <a:prstGeom prst="rect">
            <a:avLst/>
          </a:prstGeom>
          <a:noFill/>
          <a:ln/>
        </p:spPr>
        <p:txBody>
          <a:bodyPr wrap="square" lIns="0" tIns="0" rIns="0" bIns="0" rtlCol="0" anchor="t"/>
          <a:lstStyle/>
          <a:p>
            <a:pPr indent="0" marL="0">
              <a:buNone/>
            </a:pPr>
            <a:r>
              <a:rPr lang="en-US" sz="1100" dirty="0">
                <a:solidFill>
                  <a:srgbClr val="52656E"/>
                </a:solidFill>
                <a:latin typeface="Calibri" pitchFamily="34" charset="0"/>
                <a:ea typeface="Calibri" pitchFamily="34" charset="-122"/>
                <a:cs typeface="Calibri" pitchFamily="34" charset="-120"/>
              </a:rPr>
              <a:t>Arithmetic lives in Python, so the language model can change as prices and policies move (F18).</a:t>
            </a:r>
            <a:endParaRPr lang="en-US" sz="1100" dirty="0"/>
          </a:p>
        </p:txBody>
      </p:sp>
      <p:sp>
        <p:nvSpPr>
          <p:cNvPr id="35" name="Text 32"/>
          <p:cNvSpPr txBox="1"/>
          <p:nvPr/>
        </p:nvSpPr>
        <p:spPr>
          <a:xfrm>
            <a:off x="749808" y="5486400"/>
            <a:ext cx="3143402" cy="365760"/>
          </a:xfrm>
          <a:prstGeom prst="rect">
            <a:avLst/>
          </a:prstGeom>
          <a:noFill/>
          <a:ln/>
        </p:spPr>
        <p:txBody>
          <a:bodyPr wrap="square" lIns="0" tIns="0" rIns="0" bIns="0" rtlCol="0" anchor="t"/>
          <a:lstStyle/>
          <a:p>
            <a:pPr indent="0" marL="0">
              <a:buNone/>
            </a:pPr>
            <a:r>
              <a:rPr lang="en-US" sz="850" dirty="0">
                <a:solidFill>
                  <a:srgbClr val="5B6D75"/>
                </a:solidFill>
                <a:latin typeface="Consolas" pitchFamily="34" charset="0"/>
                <a:ea typeface="Consolas" pitchFamily="34" charset="-122"/>
                <a:cs typeface="Consolas" pitchFamily="34" charset="-120"/>
              </a:rPr>
              <a:t>our judgement: margin should improve as models commoditise</a:t>
            </a:r>
            <a:endParaRPr lang="en-US" sz="850" dirty="0"/>
          </a:p>
        </p:txBody>
      </p:sp>
      <p:sp>
        <p:nvSpPr>
          <p:cNvPr id="36" name="Shape 33"/>
          <p:cNvSpPr/>
          <p:nvPr/>
        </p:nvSpPr>
        <p:spPr>
          <a:xfrm>
            <a:off x="4322978" y="3794760"/>
            <a:ext cx="3545738" cy="2148840"/>
          </a:xfrm>
          <a:prstGeom prst="roundRect">
            <a:avLst>
              <a:gd name="adj" fmla="val 2128"/>
            </a:avLst>
          </a:prstGeom>
          <a:solidFill>
            <a:srgbClr val="FFFFFF"/>
          </a:solidFill>
          <a:ln w="9525">
            <a:solidFill>
              <a:srgbClr val="CDD8DC"/>
            </a:solidFill>
            <a:prstDash val="solid"/>
          </a:ln>
        </p:spPr>
      </p:sp>
      <p:sp>
        <p:nvSpPr>
          <p:cNvPr id="37" name="Shape 34"/>
          <p:cNvSpPr/>
          <p:nvPr/>
        </p:nvSpPr>
        <p:spPr>
          <a:xfrm>
            <a:off x="4524146" y="3995928"/>
            <a:ext cx="329184" cy="329184"/>
          </a:xfrm>
          <a:prstGeom prst="ellipse">
            <a:avLst/>
          </a:prstGeom>
          <a:solidFill>
            <a:srgbClr val="0F6673"/>
          </a:solidFill>
          <a:ln/>
        </p:spPr>
      </p:sp>
      <p:sp>
        <p:nvSpPr>
          <p:cNvPr id="38" name="Text 35"/>
          <p:cNvSpPr txBox="1"/>
          <p:nvPr/>
        </p:nvSpPr>
        <p:spPr>
          <a:xfrm>
            <a:off x="4524146" y="3995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5</a:t>
            </a:r>
            <a:endParaRPr lang="en-US" sz="1100" dirty="0"/>
          </a:p>
        </p:txBody>
      </p:sp>
      <p:sp>
        <p:nvSpPr>
          <p:cNvPr id="39" name="Text 36"/>
          <p:cNvSpPr txBox="1"/>
          <p:nvPr/>
        </p:nvSpPr>
        <p:spPr>
          <a:xfrm>
            <a:off x="4963058" y="3959352"/>
            <a:ext cx="2722778" cy="566928"/>
          </a:xfrm>
          <a:prstGeom prst="rect">
            <a:avLst/>
          </a:prstGeom>
          <a:noFill/>
          <a:ln/>
        </p:spPr>
        <p:txBody>
          <a:bodyPr wrap="square" lIns="0" tIns="0" rIns="0" bIns="0" rtlCol="0" anchor="ctr"/>
          <a:lstStyle/>
          <a:p>
            <a:pPr indent="0" marL="0">
              <a:buNone/>
            </a:pPr>
            <a:r>
              <a:rPr lang="en-US" sz="1300" b="1" dirty="0">
                <a:solidFill>
                  <a:srgbClr val="15252E"/>
                </a:solidFill>
                <a:latin typeface="Calibri" pitchFamily="34" charset="0"/>
                <a:ea typeface="Calibri" pitchFamily="34" charset="-122"/>
                <a:cs typeface="Calibri" pitchFamily="34" charset="-120"/>
              </a:rPr>
              <a:t>The raw material is free.</a:t>
            </a:r>
            <a:endParaRPr lang="en-US" sz="1300" dirty="0"/>
          </a:p>
        </p:txBody>
      </p:sp>
      <p:sp>
        <p:nvSpPr>
          <p:cNvPr id="40" name="Text 37"/>
          <p:cNvSpPr txBox="1"/>
          <p:nvPr/>
        </p:nvSpPr>
        <p:spPr>
          <a:xfrm>
            <a:off x="4524146" y="4617720"/>
            <a:ext cx="3143402" cy="822960"/>
          </a:xfrm>
          <a:prstGeom prst="rect">
            <a:avLst/>
          </a:prstGeom>
          <a:noFill/>
          <a:ln/>
        </p:spPr>
        <p:txBody>
          <a:bodyPr wrap="square" lIns="0" tIns="0" rIns="0" bIns="0" rtlCol="0" anchor="t"/>
          <a:lstStyle/>
          <a:p>
            <a:pPr indent="0" marL="0">
              <a:buNone/>
            </a:pPr>
            <a:r>
              <a:rPr lang="en-US" sz="1100" dirty="0">
                <a:solidFill>
                  <a:srgbClr val="52656E"/>
                </a:solidFill>
                <a:latin typeface="Calibri" pitchFamily="34" charset="0"/>
                <a:ea typeface="Calibri" pitchFamily="34" charset="-122"/>
                <a:cs typeface="Calibri" pitchFamily="34" charset="-120"/>
              </a:rPr>
              <a:t>Core facts come from regulators’ own filings, not from licensed commentary.</a:t>
            </a:r>
            <a:endParaRPr lang="en-US" sz="1100" dirty="0"/>
          </a:p>
        </p:txBody>
      </p:sp>
      <p:sp>
        <p:nvSpPr>
          <p:cNvPr id="41" name="Text 38"/>
          <p:cNvSpPr txBox="1"/>
          <p:nvPr/>
        </p:nvSpPr>
        <p:spPr>
          <a:xfrm>
            <a:off x="4524146" y="5486400"/>
            <a:ext cx="3143402" cy="365760"/>
          </a:xfrm>
          <a:prstGeom prst="rect">
            <a:avLst/>
          </a:prstGeom>
          <a:noFill/>
          <a:ln/>
        </p:spPr>
        <p:txBody>
          <a:bodyPr wrap="square" lIns="0" tIns="0" rIns="0" bIns="0" rtlCol="0" anchor="t"/>
          <a:lstStyle/>
          <a:p>
            <a:pPr indent="0" marL="0">
              <a:buNone/>
            </a:pPr>
            <a:r>
              <a:rPr lang="en-US" sz="850" dirty="0">
                <a:solidFill>
                  <a:srgbClr val="0F6673"/>
                </a:solidFill>
                <a:latin typeface="Consolas" pitchFamily="34" charset="0"/>
                <a:ea typeface="Consolas" pitchFamily="34" charset="-122"/>
                <a:cs typeface="Consolas" pitchFamily="34" charset="-120"/>
              </a:rPr>
              <a:t>SEC EDGAR: US government work, free for commercial use</a:t>
            </a:r>
            <a:endParaRPr lang="en-US" sz="850" dirty="0"/>
          </a:p>
        </p:txBody>
      </p:sp>
      <p:sp>
        <p:nvSpPr>
          <p:cNvPr id="42" name="Shape 39"/>
          <p:cNvSpPr/>
          <p:nvPr/>
        </p:nvSpPr>
        <p:spPr>
          <a:xfrm>
            <a:off x="8097317" y="3794760"/>
            <a:ext cx="3545738" cy="2148840"/>
          </a:xfrm>
          <a:prstGeom prst="roundRect">
            <a:avLst>
              <a:gd name="adj" fmla="val 2128"/>
            </a:avLst>
          </a:prstGeom>
          <a:solidFill>
            <a:srgbClr val="FFFFFF"/>
          </a:solidFill>
          <a:ln w="9525">
            <a:solidFill>
              <a:srgbClr val="CDD8DC"/>
            </a:solidFill>
            <a:prstDash val="solid"/>
          </a:ln>
        </p:spPr>
      </p:sp>
      <p:sp>
        <p:nvSpPr>
          <p:cNvPr id="43" name="Shape 40"/>
          <p:cNvSpPr/>
          <p:nvPr/>
        </p:nvSpPr>
        <p:spPr>
          <a:xfrm>
            <a:off x="8298485" y="3995928"/>
            <a:ext cx="329184" cy="329184"/>
          </a:xfrm>
          <a:prstGeom prst="ellipse">
            <a:avLst/>
          </a:prstGeom>
          <a:solidFill>
            <a:srgbClr val="0F6673"/>
          </a:solidFill>
          <a:ln/>
        </p:spPr>
      </p:sp>
      <p:sp>
        <p:nvSpPr>
          <p:cNvPr id="44" name="Text 41"/>
          <p:cNvSpPr txBox="1"/>
          <p:nvPr/>
        </p:nvSpPr>
        <p:spPr>
          <a:xfrm>
            <a:off x="8298485" y="3995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6</a:t>
            </a:r>
            <a:endParaRPr lang="en-US" sz="1100" dirty="0"/>
          </a:p>
        </p:txBody>
      </p:sp>
      <p:sp>
        <p:nvSpPr>
          <p:cNvPr id="45" name="Text 42"/>
          <p:cNvSpPr txBox="1"/>
          <p:nvPr/>
        </p:nvSpPr>
        <p:spPr>
          <a:xfrm>
            <a:off x="8737397" y="3959352"/>
            <a:ext cx="2722778" cy="566928"/>
          </a:xfrm>
          <a:prstGeom prst="rect">
            <a:avLst/>
          </a:prstGeom>
          <a:noFill/>
          <a:ln/>
        </p:spPr>
        <p:txBody>
          <a:bodyPr wrap="square" lIns="0" tIns="0" rIns="0" bIns="0" rtlCol="0" anchor="ctr"/>
          <a:lstStyle/>
          <a:p>
            <a:pPr indent="0" marL="0">
              <a:buNone/>
            </a:pPr>
            <a:r>
              <a:rPr lang="en-US" sz="1300" b="1" dirty="0">
                <a:solidFill>
                  <a:srgbClr val="15252E"/>
                </a:solidFill>
                <a:latin typeface="Calibri" pitchFamily="34" charset="0"/>
                <a:ea typeface="Calibri" pitchFamily="34" charset="-122"/>
                <a:cs typeface="Calibri" pitchFamily="34" charset="-120"/>
              </a:rPr>
              <a:t>Honesty that can be shown.</a:t>
            </a:r>
            <a:endParaRPr lang="en-US" sz="1300" dirty="0"/>
          </a:p>
        </p:txBody>
      </p:sp>
      <p:sp>
        <p:nvSpPr>
          <p:cNvPr id="46" name="Text 43"/>
          <p:cNvSpPr txBox="1"/>
          <p:nvPr/>
        </p:nvSpPr>
        <p:spPr>
          <a:xfrm>
            <a:off x="8298485" y="4617720"/>
            <a:ext cx="3143402" cy="822960"/>
          </a:xfrm>
          <a:prstGeom prst="rect">
            <a:avLst/>
          </a:prstGeom>
          <a:noFill/>
          <a:ln/>
        </p:spPr>
        <p:txBody>
          <a:bodyPr wrap="square" lIns="0" tIns="0" rIns="0" bIns="0" rtlCol="0" anchor="t"/>
          <a:lstStyle/>
          <a:p>
            <a:pPr indent="0" marL="0">
              <a:buNone/>
            </a:pPr>
            <a:r>
              <a:rPr lang="en-US" sz="1100" dirty="0">
                <a:solidFill>
                  <a:srgbClr val="52656E"/>
                </a:solidFill>
                <a:latin typeface="Calibri" pitchFamily="34" charset="0"/>
                <a:ea typeface="Calibri" pitchFamily="34" charset="-122"/>
                <a:cs typeface="Calibri" pitchFamily="34" charset="-120"/>
              </a:rPr>
              <a:t>Every report is immutable and hashed: the basis for a track record nobody can edit afterwards.</a:t>
            </a:r>
            <a:endParaRPr lang="en-US" sz="1100" dirty="0"/>
          </a:p>
        </p:txBody>
      </p:sp>
      <p:sp>
        <p:nvSpPr>
          <p:cNvPr id="47" name="Text 44"/>
          <p:cNvSpPr txBox="1"/>
          <p:nvPr/>
        </p:nvSpPr>
        <p:spPr>
          <a:xfrm>
            <a:off x="8298485" y="5486400"/>
            <a:ext cx="3143402" cy="365760"/>
          </a:xfrm>
          <a:prstGeom prst="rect">
            <a:avLst/>
          </a:prstGeom>
          <a:noFill/>
          <a:ln/>
        </p:spPr>
        <p:txBody>
          <a:bodyPr wrap="square" lIns="0" tIns="0" rIns="0" bIns="0" rtlCol="0" anchor="t"/>
          <a:lstStyle/>
          <a:p>
            <a:pPr indent="0" marL="0">
              <a:buNone/>
            </a:pPr>
            <a:r>
              <a:rPr lang="en-US" sz="850" dirty="0">
                <a:solidFill>
                  <a:srgbClr val="5B6D75"/>
                </a:solidFill>
                <a:latin typeface="Consolas" pitchFamily="34" charset="0"/>
                <a:ea typeface="Consolas" pitchFamily="34" charset="-122"/>
                <a:cs typeface="Consolas" pitchFamily="34" charset="-120"/>
              </a:rPr>
              <a:t>an idea on the record; not built</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09 · BUSINESS MODEL</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Business model: options on the record, decisions to make</a:t>
            </a:r>
            <a:endParaRPr lang="en-US" sz="2800" dirty="0"/>
          </a:p>
        </p:txBody>
      </p:sp>
      <p:sp>
        <p:nvSpPr>
          <p:cNvPr id="5" name="Shape 3"/>
          <p:cNvSpPr/>
          <p:nvPr/>
        </p:nvSpPr>
        <p:spPr>
          <a:xfrm>
            <a:off x="10624414" y="384048"/>
            <a:ext cx="1018642" cy="219456"/>
          </a:xfrm>
          <a:prstGeom prst="roundRect">
            <a:avLst>
              <a:gd name="adj" fmla="val 50000"/>
            </a:avLst>
          </a:prstGeom>
          <a:solidFill>
            <a:srgbClr val="7A4B00"/>
          </a:solidFill>
          <a:ln/>
        </p:spPr>
      </p:sp>
      <p:sp>
        <p:nvSpPr>
          <p:cNvPr id="6" name="Text 4"/>
          <p:cNvSpPr txBox="1"/>
          <p:nvPr/>
        </p:nvSpPr>
        <p:spPr>
          <a:xfrm>
            <a:off x="10624414" y="38404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7" name="Shape 5"/>
          <p:cNvSpPr/>
          <p:nvPr/>
        </p:nvSpPr>
        <p:spPr>
          <a:xfrm>
            <a:off x="9379001" y="384048"/>
            <a:ext cx="1153973" cy="219456"/>
          </a:xfrm>
          <a:prstGeom prst="roundRect">
            <a:avLst>
              <a:gd name="adj" fmla="val 50000"/>
            </a:avLst>
          </a:prstGeom>
          <a:solidFill>
            <a:srgbClr val="F4F7F8"/>
          </a:solidFill>
          <a:ln w="12700">
            <a:solidFill>
              <a:srgbClr val="15252E"/>
            </a:solidFill>
            <a:prstDash val="solid"/>
          </a:ln>
        </p:spPr>
      </p:sp>
      <p:sp>
        <p:nvSpPr>
          <p:cNvPr id="8" name="Text 6"/>
          <p:cNvSpPr txBox="1"/>
          <p:nvPr/>
        </p:nvSpPr>
        <p:spPr>
          <a:xfrm>
            <a:off x="9379001" y="384048"/>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33</a:t>
            </a:r>
            <a:endParaRPr lang="en-US" sz="800" dirty="0"/>
          </a:p>
        </p:txBody>
      </p:sp>
      <p:sp>
        <p:nvSpPr>
          <p:cNvPr id="12" name="Text 9"/>
          <p:cNvSpPr txBox="1"/>
          <p:nvPr/>
        </p:nvSpPr>
        <p:spPr>
          <a:xfrm>
            <a:off x="548640" y="1463040"/>
            <a:ext cx="5486400"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ALREADY PROPOSED IN THE PROJECT’S DOCUMENTS</a:t>
            </a:r>
            <a:endParaRPr lang="en-US" sz="900" dirty="0"/>
          </a:p>
        </p:txBody>
      </p:sp>
      <p:sp>
        <p:nvSpPr>
          <p:cNvPr id="13" name="Shape 10"/>
          <p:cNvSpPr/>
          <p:nvPr/>
        </p:nvSpPr>
        <p:spPr>
          <a:xfrm>
            <a:off x="548640" y="1783080"/>
            <a:ext cx="2697480" cy="2011680"/>
          </a:xfrm>
          <a:prstGeom prst="roundRect">
            <a:avLst>
              <a:gd name="adj" fmla="val 2273"/>
            </a:avLst>
          </a:prstGeom>
          <a:solidFill>
            <a:srgbClr val="FFFFFF"/>
          </a:solidFill>
          <a:ln w="9525">
            <a:solidFill>
              <a:srgbClr val="CDD8DC"/>
            </a:solidFill>
            <a:prstDash val="solid"/>
          </a:ln>
        </p:spPr>
      </p:sp>
      <p:sp>
        <p:nvSpPr>
          <p:cNvPr id="14" name="Text 11"/>
          <p:cNvSpPr txBox="1"/>
          <p:nvPr/>
        </p:nvSpPr>
        <p:spPr>
          <a:xfrm>
            <a:off x="731520" y="1947672"/>
            <a:ext cx="2331720" cy="457200"/>
          </a:xfrm>
          <a:prstGeom prst="rect">
            <a:avLst/>
          </a:prstGeom>
          <a:noFill/>
          <a:ln/>
        </p:spPr>
        <p:txBody>
          <a:bodyPr wrap="square" lIns="0" tIns="0" rIns="0" bIns="0" rtlCol="0" anchor="t"/>
          <a:lstStyle/>
          <a:p>
            <a:pPr indent="0" marL="0">
              <a:buNone/>
            </a:pPr>
            <a:r>
              <a:rPr lang="en-US" sz="1300" b="1" dirty="0">
                <a:solidFill>
                  <a:srgbClr val="0F6673"/>
                </a:solidFill>
                <a:latin typeface="Calibri" pitchFamily="34" charset="0"/>
                <a:ea typeface="Calibri" pitchFamily="34" charset="-122"/>
                <a:cs typeface="Calibri" pitchFamily="34" charset="-120"/>
              </a:rPr>
              <a:t>The refresh as a subscription</a:t>
            </a:r>
            <a:endParaRPr lang="en-US" sz="1300" dirty="0"/>
          </a:p>
        </p:txBody>
      </p:sp>
      <p:sp>
        <p:nvSpPr>
          <p:cNvPr id="15" name="Text 12"/>
          <p:cNvSpPr txBox="1"/>
          <p:nvPr/>
        </p:nvSpPr>
        <p:spPr>
          <a:xfrm>
            <a:off x="731520" y="2441448"/>
            <a:ext cx="2331720" cy="1280160"/>
          </a:xfrm>
          <a:prstGeom prst="rect">
            <a:avLst/>
          </a:prstGeom>
          <a:noFill/>
          <a:ln/>
        </p:spPr>
        <p:txBody>
          <a:bodyPr wrap="square" lIns="0" tIns="0" rIns="0" bIns="0" rtlCol="0" anchor="t"/>
          <a:lstStyle/>
          <a:p>
            <a:pPr indent="0" marL="0">
              <a:buNone/>
            </a:pPr>
            <a:r>
              <a:rPr lang="en-US" sz="1100" dirty="0">
                <a:solidFill>
                  <a:srgbClr val="15252E"/>
                </a:solidFill>
                <a:latin typeface="Calibri" pitchFamily="34" charset="0"/>
                <a:ea typeface="Calibri" pitchFamily="34" charset="-122"/>
                <a:cs typeface="Calibri" pitchFamily="34" charset="-120"/>
              </a:rPr>
              <a:t>“A full run at £7.19 is a purchase; a £1–2 refresh on a cadence is a relationship.”</a:t>
            </a:r>
            <a:endParaRPr lang="en-US" sz="1100" dirty="0"/>
          </a:p>
        </p:txBody>
      </p:sp>
      <p:sp>
        <p:nvSpPr>
          <p:cNvPr id="16" name="Shape 13"/>
          <p:cNvSpPr/>
          <p:nvPr/>
        </p:nvSpPr>
        <p:spPr>
          <a:xfrm>
            <a:off x="3429000" y="1783080"/>
            <a:ext cx="2697480" cy="2011680"/>
          </a:xfrm>
          <a:prstGeom prst="roundRect">
            <a:avLst>
              <a:gd name="adj" fmla="val 2273"/>
            </a:avLst>
          </a:prstGeom>
          <a:solidFill>
            <a:srgbClr val="FFFFFF"/>
          </a:solidFill>
          <a:ln w="9525">
            <a:solidFill>
              <a:srgbClr val="CDD8DC"/>
            </a:solidFill>
            <a:prstDash val="solid"/>
          </a:ln>
        </p:spPr>
      </p:sp>
      <p:sp>
        <p:nvSpPr>
          <p:cNvPr id="17" name="Text 14"/>
          <p:cNvSpPr txBox="1"/>
          <p:nvPr/>
        </p:nvSpPr>
        <p:spPr>
          <a:xfrm>
            <a:off x="3611880" y="1947672"/>
            <a:ext cx="2331720" cy="457200"/>
          </a:xfrm>
          <a:prstGeom prst="rect">
            <a:avLst/>
          </a:prstGeom>
          <a:noFill/>
          <a:ln/>
        </p:spPr>
        <p:txBody>
          <a:bodyPr wrap="square" lIns="0" tIns="0" rIns="0" bIns="0" rtlCol="0" anchor="t"/>
          <a:lstStyle/>
          <a:p>
            <a:pPr indent="0" marL="0">
              <a:buNone/>
            </a:pPr>
            <a:r>
              <a:rPr lang="en-US" sz="1300" b="1" dirty="0">
                <a:solidFill>
                  <a:srgbClr val="0F6673"/>
                </a:solidFill>
                <a:latin typeface="Calibri" pitchFamily="34" charset="0"/>
                <a:ea typeface="Calibri" pitchFamily="34" charset="-122"/>
                <a:cs typeface="Calibri" pitchFamily="34" charset="-120"/>
              </a:rPr>
              <a:t>Fixed-price research</a:t>
            </a:r>
            <a:endParaRPr lang="en-US" sz="1300" dirty="0"/>
          </a:p>
        </p:txBody>
      </p:sp>
      <p:sp>
        <p:nvSpPr>
          <p:cNvPr id="18" name="Text 15"/>
          <p:cNvSpPr txBox="1"/>
          <p:nvPr/>
        </p:nvSpPr>
        <p:spPr>
          <a:xfrm>
            <a:off x="3611880" y="2441448"/>
            <a:ext cx="2331720" cy="1280160"/>
          </a:xfrm>
          <a:prstGeom prst="rect">
            <a:avLst/>
          </a:prstGeom>
          <a:noFill/>
          <a:ln/>
        </p:spPr>
        <p:txBody>
          <a:bodyPr wrap="square" lIns="0" tIns="0" rIns="0" bIns="0" rtlCol="0" anchor="t"/>
          <a:lstStyle/>
          <a:p>
            <a:pPr indent="0" marL="0">
              <a:buNone/>
            </a:pPr>
            <a:r>
              <a:rPr lang="en-US" sz="1100" dirty="0">
                <a:solidFill>
                  <a:srgbClr val="15252E"/>
                </a:solidFill>
                <a:latin typeface="Calibri" pitchFamily="34" charset="0"/>
                <a:ea typeface="Calibri" pitchFamily="34" charset="-122"/>
                <a:cs typeface="Calibri" pitchFamily="34" charset="-120"/>
              </a:rPr>
              <a:t>Cost is bounded in code, so a flat price per report can be offered with confidence. Held for a public launch.</a:t>
            </a:r>
            <a:endParaRPr lang="en-US" sz="1100" dirty="0"/>
          </a:p>
        </p:txBody>
      </p:sp>
      <p:sp>
        <p:nvSpPr>
          <p:cNvPr id="19" name="Shape 16"/>
          <p:cNvSpPr/>
          <p:nvPr/>
        </p:nvSpPr>
        <p:spPr>
          <a:xfrm>
            <a:off x="548640" y="3931920"/>
            <a:ext cx="2697480" cy="2011680"/>
          </a:xfrm>
          <a:prstGeom prst="roundRect">
            <a:avLst>
              <a:gd name="adj" fmla="val 2273"/>
            </a:avLst>
          </a:prstGeom>
          <a:solidFill>
            <a:srgbClr val="FFFFFF"/>
          </a:solidFill>
          <a:ln w="9525">
            <a:solidFill>
              <a:srgbClr val="CDD8DC"/>
            </a:solidFill>
            <a:prstDash val="solid"/>
          </a:ln>
        </p:spPr>
      </p:sp>
      <p:sp>
        <p:nvSpPr>
          <p:cNvPr id="20" name="Text 17"/>
          <p:cNvSpPr txBox="1"/>
          <p:nvPr/>
        </p:nvSpPr>
        <p:spPr>
          <a:xfrm>
            <a:off x="731520" y="4096512"/>
            <a:ext cx="2331720" cy="457200"/>
          </a:xfrm>
          <a:prstGeom prst="rect">
            <a:avLst/>
          </a:prstGeom>
          <a:noFill/>
          <a:ln/>
        </p:spPr>
        <p:txBody>
          <a:bodyPr wrap="square" lIns="0" tIns="0" rIns="0" bIns="0" rtlCol="0" anchor="t"/>
          <a:lstStyle/>
          <a:p>
            <a:pPr indent="0" marL="0">
              <a:buNone/>
            </a:pPr>
            <a:r>
              <a:rPr lang="en-US" sz="1300" b="1" dirty="0">
                <a:solidFill>
                  <a:srgbClr val="0F6673"/>
                </a:solidFill>
                <a:latin typeface="Calibri" pitchFamily="34" charset="0"/>
                <a:ea typeface="Calibri" pitchFamily="34" charset="-122"/>
                <a:cs typeface="Calibri" pitchFamily="34" charset="-120"/>
              </a:rPr>
              <a:t>The sealed evidence pack</a:t>
            </a:r>
            <a:endParaRPr lang="en-US" sz="1300" dirty="0"/>
          </a:p>
        </p:txBody>
      </p:sp>
      <p:sp>
        <p:nvSpPr>
          <p:cNvPr id="21" name="Text 18"/>
          <p:cNvSpPr txBox="1"/>
          <p:nvPr/>
        </p:nvSpPr>
        <p:spPr>
          <a:xfrm>
            <a:off x="731520" y="4590288"/>
            <a:ext cx="2331720" cy="1280160"/>
          </a:xfrm>
          <a:prstGeom prst="rect">
            <a:avLst/>
          </a:prstGeom>
          <a:noFill/>
          <a:ln/>
        </p:spPr>
        <p:txBody>
          <a:bodyPr wrap="square" lIns="0" tIns="0" rIns="0" bIns="0" rtlCol="0" anchor="t"/>
          <a:lstStyle/>
          <a:p>
            <a:pPr indent="0" marL="0">
              <a:buNone/>
            </a:pPr>
            <a:r>
              <a:rPr lang="en-US" sz="1100" dirty="0">
                <a:solidFill>
                  <a:srgbClr val="15252E"/>
                </a:solidFill>
                <a:latin typeface="Calibri" pitchFamily="34" charset="0"/>
                <a:ea typeface="Calibri" pitchFamily="34" charset="-122"/>
                <a:cs typeface="Calibri" pitchFamily="34" charset="-120"/>
              </a:rPr>
              <a:t>For the buyer who must defend research: a read-only pack someone else can check without an account (F17, deferred).</a:t>
            </a:r>
            <a:endParaRPr lang="en-US" sz="1100" dirty="0"/>
          </a:p>
        </p:txBody>
      </p:sp>
      <p:sp>
        <p:nvSpPr>
          <p:cNvPr id="22" name="Shape 19"/>
          <p:cNvSpPr/>
          <p:nvPr/>
        </p:nvSpPr>
        <p:spPr>
          <a:xfrm>
            <a:off x="3429000" y="3931920"/>
            <a:ext cx="2697480" cy="2011680"/>
          </a:xfrm>
          <a:prstGeom prst="roundRect">
            <a:avLst>
              <a:gd name="adj" fmla="val 2273"/>
            </a:avLst>
          </a:prstGeom>
          <a:solidFill>
            <a:srgbClr val="FFFFFF"/>
          </a:solidFill>
          <a:ln w="9525">
            <a:solidFill>
              <a:srgbClr val="CDD8DC"/>
            </a:solidFill>
            <a:prstDash val="solid"/>
          </a:ln>
        </p:spPr>
      </p:sp>
      <p:sp>
        <p:nvSpPr>
          <p:cNvPr id="23" name="Text 20"/>
          <p:cNvSpPr txBox="1"/>
          <p:nvPr/>
        </p:nvSpPr>
        <p:spPr>
          <a:xfrm>
            <a:off x="3611880" y="4096512"/>
            <a:ext cx="2331720" cy="457200"/>
          </a:xfrm>
          <a:prstGeom prst="rect">
            <a:avLst/>
          </a:prstGeom>
          <a:noFill/>
          <a:ln/>
        </p:spPr>
        <p:txBody>
          <a:bodyPr wrap="square" lIns="0" tIns="0" rIns="0" bIns="0" rtlCol="0" anchor="t"/>
          <a:lstStyle/>
          <a:p>
            <a:pPr indent="0" marL="0">
              <a:buNone/>
            </a:pPr>
            <a:r>
              <a:rPr lang="en-US" sz="1300" b="1" dirty="0">
                <a:solidFill>
                  <a:srgbClr val="0F6673"/>
                </a:solidFill>
                <a:latin typeface="Calibri" pitchFamily="34" charset="0"/>
                <a:ea typeface="Calibri" pitchFamily="34" charset="-122"/>
                <a:cs typeface="Calibri" pitchFamily="34" charset="-120"/>
              </a:rPr>
              <a:t>A methodology library</a:t>
            </a:r>
            <a:endParaRPr lang="en-US" sz="1300" dirty="0"/>
          </a:p>
        </p:txBody>
      </p:sp>
      <p:sp>
        <p:nvSpPr>
          <p:cNvPr id="24" name="Text 21"/>
          <p:cNvSpPr txBox="1"/>
          <p:nvPr/>
        </p:nvSpPr>
        <p:spPr>
          <a:xfrm>
            <a:off x="3611880" y="4590288"/>
            <a:ext cx="2331720" cy="1280160"/>
          </a:xfrm>
          <a:prstGeom prst="rect">
            <a:avLst/>
          </a:prstGeom>
          <a:noFill/>
          <a:ln/>
        </p:spPr>
        <p:txBody>
          <a:bodyPr wrap="square" lIns="0" tIns="0" rIns="0" bIns="0" rtlCol="0" anchor="t"/>
          <a:lstStyle/>
          <a:p>
            <a:pPr indent="0" marL="0">
              <a:buNone/>
            </a:pPr>
            <a:r>
              <a:rPr lang="en-US" sz="1100" dirty="0">
                <a:solidFill>
                  <a:srgbClr val="15252E"/>
                </a:solidFill>
                <a:latin typeface="Calibri" pitchFamily="34" charset="0"/>
                <a:ea typeface="Calibri" pitchFamily="34" charset="-122"/>
                <a:cs typeface="Calibri" pitchFamily="34" charset="-120"/>
              </a:rPr>
              <a:t>User-written methods are additive-only and attack-tested, which is what would make sharing them safe.</a:t>
            </a:r>
            <a:endParaRPr lang="en-US" sz="1100" dirty="0"/>
          </a:p>
        </p:txBody>
      </p:sp>
      <p:sp>
        <p:nvSpPr>
          <p:cNvPr id="25" name="Text 22"/>
          <p:cNvSpPr txBox="1"/>
          <p:nvPr/>
        </p:nvSpPr>
        <p:spPr>
          <a:xfrm>
            <a:off x="6400800" y="1463040"/>
            <a:ext cx="5212080" cy="201168"/>
          </a:xfrm>
          <a:prstGeom prst="rect">
            <a:avLst/>
          </a:prstGeom>
          <a:noFill/>
          <a:ln/>
        </p:spPr>
        <p:txBody>
          <a:bodyPr wrap="square" lIns="0" tIns="0" rIns="0" bIns="0" rtlCol="0" anchor="t"/>
          <a:lstStyle/>
          <a:p>
            <a:pPr indent="0" marL="0">
              <a:buNone/>
            </a:pPr>
            <a:r>
              <a:rPr lang="en-US" sz="900" b="1" spc="100" kern="0" dirty="0">
                <a:solidFill>
                  <a:srgbClr val="7A4B00"/>
                </a:solidFill>
                <a:latin typeface="Consolas" pitchFamily="34" charset="0"/>
                <a:ea typeface="Consolas" pitchFamily="34" charset="-122"/>
                <a:cs typeface="Consolas" pitchFamily="34" charset="-120"/>
              </a:rPr>
              <a:t>YOURS TO DECIDE</a:t>
            </a:r>
            <a:endParaRPr lang="en-US" sz="900" dirty="0"/>
          </a:p>
        </p:txBody>
      </p:sp>
      <p:sp>
        <p:nvSpPr>
          <p:cNvPr id="26" name="Shape 23"/>
          <p:cNvSpPr/>
          <p:nvPr/>
        </p:nvSpPr>
        <p:spPr>
          <a:xfrm>
            <a:off x="6400800" y="1783080"/>
            <a:ext cx="5239512" cy="932688"/>
          </a:xfrm>
          <a:prstGeom prst="roundRect">
            <a:avLst>
              <a:gd name="adj" fmla="val 4902"/>
            </a:avLst>
          </a:prstGeom>
          <a:solidFill>
            <a:srgbClr val="FFF3D6"/>
          </a:solidFill>
          <a:ln w="9525">
            <a:solidFill>
              <a:srgbClr val="7A4B00"/>
            </a:solidFill>
            <a:prstDash val="solid"/>
          </a:ln>
        </p:spPr>
      </p:sp>
      <p:sp>
        <p:nvSpPr>
          <p:cNvPr id="27" name="Text 24"/>
          <p:cNvSpPr txBox="1"/>
          <p:nvPr/>
        </p:nvSpPr>
        <p:spPr>
          <a:xfrm>
            <a:off x="6528816" y="1911096"/>
            <a:ext cx="4983480"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DELIVERY MODEL</a:t>
            </a:r>
            <a:endParaRPr lang="en-US" sz="800" dirty="0"/>
          </a:p>
        </p:txBody>
      </p:sp>
      <p:sp>
        <p:nvSpPr>
          <p:cNvPr id="28" name="Text 25"/>
          <p:cNvSpPr txBox="1"/>
          <p:nvPr/>
        </p:nvSpPr>
        <p:spPr>
          <a:xfrm>
            <a:off x="6528816" y="2139696"/>
            <a:ext cx="4983480" cy="499262"/>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Local software the investor runs, as today, or a hosted service: [choice and why]</a:t>
            </a:r>
            <a:endParaRPr lang="en-US" sz="1100" dirty="0"/>
          </a:p>
        </p:txBody>
      </p:sp>
      <p:sp>
        <p:nvSpPr>
          <p:cNvPr id="29" name="Shape 26"/>
          <p:cNvSpPr/>
          <p:nvPr/>
        </p:nvSpPr>
        <p:spPr>
          <a:xfrm>
            <a:off x="6400800" y="2834640"/>
            <a:ext cx="5239512" cy="932688"/>
          </a:xfrm>
          <a:prstGeom prst="roundRect">
            <a:avLst>
              <a:gd name="adj" fmla="val 4902"/>
            </a:avLst>
          </a:prstGeom>
          <a:solidFill>
            <a:srgbClr val="FFF3D6"/>
          </a:solidFill>
          <a:ln w="9525">
            <a:solidFill>
              <a:srgbClr val="7A4B00"/>
            </a:solidFill>
            <a:prstDash val="solid"/>
          </a:ln>
        </p:spPr>
      </p:sp>
      <p:sp>
        <p:nvSpPr>
          <p:cNvPr id="30" name="Text 27"/>
          <p:cNvSpPr txBox="1"/>
          <p:nvPr/>
        </p:nvSpPr>
        <p:spPr>
          <a:xfrm>
            <a:off x="6528816" y="2962656"/>
            <a:ext cx="4983480"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PRICING MODEL</a:t>
            </a:r>
            <a:endParaRPr lang="en-US" sz="800" dirty="0"/>
          </a:p>
        </p:txBody>
      </p:sp>
      <p:sp>
        <p:nvSpPr>
          <p:cNvPr id="31" name="Text 28"/>
          <p:cNvSpPr txBox="1"/>
          <p:nvPr/>
        </p:nvSpPr>
        <p:spPr>
          <a:xfrm>
            <a:off x="6528816" y="3191256"/>
            <a:ext cx="4983480" cy="499262"/>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Per report · subscription · both: [choice]</a:t>
            </a:r>
            <a:endParaRPr lang="en-US" sz="1100" dirty="0"/>
          </a:p>
        </p:txBody>
      </p:sp>
      <p:sp>
        <p:nvSpPr>
          <p:cNvPr id="32" name="Shape 29"/>
          <p:cNvSpPr/>
          <p:nvPr/>
        </p:nvSpPr>
        <p:spPr>
          <a:xfrm>
            <a:off x="6400800" y="3886200"/>
            <a:ext cx="5239512" cy="932688"/>
          </a:xfrm>
          <a:prstGeom prst="roundRect">
            <a:avLst>
              <a:gd name="adj" fmla="val 4902"/>
            </a:avLst>
          </a:prstGeom>
          <a:solidFill>
            <a:srgbClr val="FFF3D6"/>
          </a:solidFill>
          <a:ln w="9525">
            <a:solidFill>
              <a:srgbClr val="7A4B00"/>
            </a:solidFill>
            <a:prstDash val="solid"/>
          </a:ln>
        </p:spPr>
      </p:sp>
      <p:sp>
        <p:nvSpPr>
          <p:cNvPr id="33" name="Text 30"/>
          <p:cNvSpPr txBox="1"/>
          <p:nvPr/>
        </p:nvSpPr>
        <p:spPr>
          <a:xfrm>
            <a:off x="6528816" y="4014216"/>
            <a:ext cx="4983480"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PRICE POINTS</a:t>
            </a:r>
            <a:endParaRPr lang="en-US" sz="800" dirty="0"/>
          </a:p>
        </p:txBody>
      </p:sp>
      <p:sp>
        <p:nvSpPr>
          <p:cNvPr id="34" name="Text 31"/>
          <p:cNvSpPr txBox="1"/>
          <p:nvPr/>
        </p:nvSpPr>
        <p:spPr>
          <a:xfrm>
            <a:off x="6528816" y="4242816"/>
            <a:ext cx="4983480" cy="499262"/>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 per report] · [£ per month] · [free tier or trial]</a:t>
            </a:r>
            <a:endParaRPr lang="en-US" sz="1100" dirty="0"/>
          </a:p>
        </p:txBody>
      </p:sp>
      <p:sp>
        <p:nvSpPr>
          <p:cNvPr id="35" name="Shape 32"/>
          <p:cNvSpPr/>
          <p:nvPr/>
        </p:nvSpPr>
        <p:spPr>
          <a:xfrm>
            <a:off x="6400800" y="4937760"/>
            <a:ext cx="5239512" cy="932688"/>
          </a:xfrm>
          <a:prstGeom prst="roundRect">
            <a:avLst>
              <a:gd name="adj" fmla="val 4902"/>
            </a:avLst>
          </a:prstGeom>
          <a:solidFill>
            <a:srgbClr val="FFF3D6"/>
          </a:solidFill>
          <a:ln w="9525">
            <a:solidFill>
              <a:srgbClr val="7A4B00"/>
            </a:solidFill>
            <a:prstDash val="solid"/>
          </a:ln>
        </p:spPr>
      </p:sp>
      <p:sp>
        <p:nvSpPr>
          <p:cNvPr id="36" name="Text 33"/>
          <p:cNvSpPr txBox="1"/>
          <p:nvPr/>
        </p:nvSpPr>
        <p:spPr>
          <a:xfrm>
            <a:off x="6528816" y="5065776"/>
            <a:ext cx="4983480"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WHO PAYS</a:t>
            </a:r>
            <a:endParaRPr lang="en-US" sz="800" dirty="0"/>
          </a:p>
        </p:txBody>
      </p:sp>
      <p:sp>
        <p:nvSpPr>
          <p:cNvPr id="37" name="Text 34"/>
          <p:cNvSpPr txBox="1"/>
          <p:nvPr/>
        </p:nvSpPr>
        <p:spPr>
          <a:xfrm>
            <a:off x="6528816" y="5294376"/>
            <a:ext cx="4983480" cy="499262"/>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[the individual · the firm they report to · both]</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09 · BUSINESS MODEL</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Unit economics: the cost side is measured, the price side is yours</a:t>
            </a:r>
            <a:endParaRPr lang="en-US" sz="2800" dirty="0"/>
          </a:p>
        </p:txBody>
      </p:sp>
      <p:sp>
        <p:nvSpPr>
          <p:cNvPr id="5" name="Shape 3"/>
          <p:cNvSpPr/>
          <p:nvPr/>
        </p:nvSpPr>
        <p:spPr>
          <a:xfrm>
            <a:off x="10624414" y="384048"/>
            <a:ext cx="1018642" cy="219456"/>
          </a:xfrm>
          <a:prstGeom prst="roundRect">
            <a:avLst>
              <a:gd name="adj" fmla="val 50000"/>
            </a:avLst>
          </a:prstGeom>
          <a:solidFill>
            <a:srgbClr val="7A4B00"/>
          </a:solidFill>
          <a:ln/>
        </p:spPr>
      </p:sp>
      <p:sp>
        <p:nvSpPr>
          <p:cNvPr id="6" name="Text 4"/>
          <p:cNvSpPr txBox="1"/>
          <p:nvPr/>
        </p:nvSpPr>
        <p:spPr>
          <a:xfrm>
            <a:off x="10624414" y="38404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7" name="Shape 5"/>
          <p:cNvSpPr/>
          <p:nvPr/>
        </p:nvSpPr>
        <p:spPr>
          <a:xfrm>
            <a:off x="9717329" y="384048"/>
            <a:ext cx="815645" cy="219456"/>
          </a:xfrm>
          <a:prstGeom prst="roundRect">
            <a:avLst>
              <a:gd name="adj" fmla="val 50000"/>
            </a:avLst>
          </a:prstGeom>
          <a:solidFill>
            <a:srgbClr val="0F6673"/>
          </a:solidFill>
          <a:ln/>
        </p:spPr>
      </p:sp>
      <p:sp>
        <p:nvSpPr>
          <p:cNvPr id="8" name="Text 6"/>
          <p:cNvSpPr txBox="1"/>
          <p:nvPr/>
        </p:nvSpPr>
        <p:spPr>
          <a:xfrm>
            <a:off x="9717329"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9" name="Text 7"/>
          <p:cNvSpPr txBox="1"/>
          <p:nvPr/>
        </p:nvSpPr>
        <p:spPr>
          <a:xfrm>
            <a:off x="548640" y="6217920"/>
            <a:ext cx="11094415"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Measured runs: readiness audit (11–12 Sep), three re-seeded runs and one Quick run (17 Sep), Phase 5 (19 Sep), the verdict round (24–25 Sep, with one refresh). Ask tier costs are design targets.</a:t>
            </a:r>
            <a:endParaRPr lang="en-US" sz="900" dirty="0"/>
          </a:p>
        </p:txBody>
      </p:sp>
      <p:sp>
        <p:nvSpPr>
          <p:cNvPr id="10" name="Text 8"/>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1" name="Text 9"/>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34</a:t>
            </a:r>
            <a:endParaRPr lang="en-US" sz="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514600"/>
                <a:gridCol w="3657600"/>
                <a:gridCol w="2084832"/>
                <a:gridCol w="1417320"/>
                <a:gridCol w="1417320"/>
              </a:tblGrid>
              <a:tr h="457200">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UNIT</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COST TO US</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HOW WE KNOW</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PRICE</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CONTRIBUTION</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r>
              <a:tr h="45720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Full report, 18 sections</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£7.19 average (£6.80–£7.61); later runs £5.88–£8.40</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Measured on 12 runs</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b="1" dirty="0">
                          <a:solidFill>
                            <a:srgbClr val="7A4B00"/>
                          </a:solidFill>
                          <a:latin typeface="Calibri" pitchFamily="34" charset="0"/>
                          <a:ea typeface="Calibri" pitchFamily="34" charset="-122"/>
                          <a:cs typeface="Calibri" pitchFamily="34" charset="-120"/>
                        </a:rPr>
                        <a:t>[ ]</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3D6"/>
                    </a:solidFill>
                  </a:tcPr>
                </a:tc>
                <a:tc>
                  <a:txBody>
                    <a:bodyPr/>
                    <a:lstStyle/>
                    <a:p>
                      <a:pPr indent="0" marL="0">
                        <a:buNone/>
                      </a:pPr>
                      <a:r>
                        <a:rPr lang="en-US" sz="1050" b="1" dirty="0">
                          <a:solidFill>
                            <a:srgbClr val="7A4B00"/>
                          </a:solidFill>
                          <a:latin typeface="Calibri" pitchFamily="34" charset="0"/>
                          <a:ea typeface="Calibri" pitchFamily="34" charset="-122"/>
                          <a:cs typeface="Calibri" pitchFamily="34" charset="-120"/>
                        </a:rPr>
                        <a:t>[ ]</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3D6"/>
                    </a:solidFill>
                  </a:tcPr>
                </a:tc>
              </a:tr>
              <a:tr h="45720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Quick report, 9 sections</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£4.95</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Measured once</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b="1" dirty="0">
                          <a:solidFill>
                            <a:srgbClr val="7A4B00"/>
                          </a:solidFill>
                          <a:latin typeface="Calibri" pitchFamily="34" charset="0"/>
                          <a:ea typeface="Calibri" pitchFamily="34" charset="-122"/>
                          <a:cs typeface="Calibri" pitchFamily="34" charset="-120"/>
                        </a:rPr>
                        <a:t>[ ]</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3D6"/>
                    </a:solidFill>
                  </a:tcPr>
                </a:tc>
                <a:tc>
                  <a:txBody>
                    <a:bodyPr/>
                    <a:lstStyle/>
                    <a:p>
                      <a:pPr indent="0" marL="0">
                        <a:buNone/>
                      </a:pPr>
                      <a:r>
                        <a:rPr lang="en-US" sz="1050" b="1" dirty="0">
                          <a:solidFill>
                            <a:srgbClr val="7A4B00"/>
                          </a:solidFill>
                          <a:latin typeface="Calibri" pitchFamily="34" charset="0"/>
                          <a:ea typeface="Calibri" pitchFamily="34" charset="-122"/>
                          <a:cs typeface="Calibri" pitchFamily="34" charset="-120"/>
                        </a:rPr>
                        <a:t>[ ]</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3D6"/>
                    </a:solidFill>
                  </a:tcPr>
                </a:tc>
              </a:tr>
              <a:tr h="45720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Refresh</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£1.66; nothing when nothing is new</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Measured once; target under £2</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b="1" dirty="0">
                          <a:solidFill>
                            <a:srgbClr val="7A4B00"/>
                          </a:solidFill>
                          <a:latin typeface="Calibri" pitchFamily="34" charset="0"/>
                          <a:ea typeface="Calibri" pitchFamily="34" charset="-122"/>
                          <a:cs typeface="Calibri" pitchFamily="34" charset="-120"/>
                        </a:rPr>
                        <a:t>[ ]</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3D6"/>
                    </a:solidFill>
                  </a:tcPr>
                </a:tc>
                <a:tc>
                  <a:txBody>
                    <a:bodyPr/>
                    <a:lstStyle/>
                    <a:p>
                      <a:pPr indent="0" marL="0">
                        <a:buNone/>
                      </a:pPr>
                      <a:r>
                        <a:rPr lang="en-US" sz="1050" b="1" dirty="0">
                          <a:solidFill>
                            <a:srgbClr val="7A4B00"/>
                          </a:solidFill>
                          <a:latin typeface="Calibri" pitchFamily="34" charset="0"/>
                          <a:ea typeface="Calibri" pitchFamily="34" charset="-122"/>
                          <a:cs typeface="Calibri" pitchFamily="34" charset="-120"/>
                        </a:rPr>
                        <a:t>[ ]</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3D6"/>
                    </a:solidFill>
                  </a:tcPr>
                </a:tc>
              </a:tr>
              <a:tr h="45720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Ask: recompute · re-read · research</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Free · pennies · priced first, typically £1–3</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Design targets</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b="1" dirty="0">
                          <a:solidFill>
                            <a:srgbClr val="7A4B00"/>
                          </a:solidFill>
                          <a:latin typeface="Calibri" pitchFamily="34" charset="0"/>
                          <a:ea typeface="Calibri" pitchFamily="34" charset="-122"/>
                          <a:cs typeface="Calibri" pitchFamily="34" charset="-120"/>
                        </a:rPr>
                        <a:t>[ ]</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3D6"/>
                    </a:solidFill>
                  </a:tcPr>
                </a:tc>
                <a:tc>
                  <a:txBody>
                    <a:bodyPr/>
                    <a:lstStyle/>
                    <a:p>
                      <a:pPr indent="0" marL="0">
                        <a:buNone/>
                      </a:pPr>
                      <a:r>
                        <a:rPr lang="en-US" sz="1050" b="1" dirty="0">
                          <a:solidFill>
                            <a:srgbClr val="7A4B00"/>
                          </a:solidFill>
                          <a:latin typeface="Calibri" pitchFamily="34" charset="0"/>
                          <a:ea typeface="Calibri" pitchFamily="34" charset="-122"/>
                          <a:cs typeface="Calibri" pitchFamily="34" charset="-120"/>
                        </a:rPr>
                        <a:t>[ ]</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3D6"/>
                    </a:solidFill>
                  </a:tcPr>
                </a:tc>
              </a:tr>
              <a:tr h="45720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Monitor check on a premise</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No model spend; it is arithmetic</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By construction</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b="1" dirty="0">
                          <a:solidFill>
                            <a:srgbClr val="7A4B00"/>
                          </a:solidFill>
                          <a:latin typeface="Calibri" pitchFamily="34" charset="0"/>
                          <a:ea typeface="Calibri" pitchFamily="34" charset="-122"/>
                          <a:cs typeface="Calibri" pitchFamily="34" charset="-120"/>
                        </a:rPr>
                        <a:t>[ ]</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3D6"/>
                    </a:solidFill>
                  </a:tcPr>
                </a:tc>
                <a:tc>
                  <a:txBody>
                    <a:bodyPr/>
                    <a:lstStyle/>
                    <a:p>
                      <a:pPr indent="0" marL="0">
                        <a:buNone/>
                      </a:pPr>
                      <a:r>
                        <a:rPr lang="en-US" sz="1050" b="1" dirty="0">
                          <a:solidFill>
                            <a:srgbClr val="7A4B00"/>
                          </a:solidFill>
                          <a:latin typeface="Calibri" pitchFamily="34" charset="0"/>
                          <a:ea typeface="Calibri" pitchFamily="34" charset="-122"/>
                          <a:cs typeface="Calibri" pitchFamily="34" charset="-120"/>
                        </a:rPr>
                        <a:t>[ ]</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3D6"/>
                    </a:solidFill>
                  </a:tcPr>
                </a:tc>
              </a:tr>
              <a:tr h="45720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Price data</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€19.99 a month, personal-use plan; commercial tier $399 a month</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Vendor terms</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b="1" dirty="0">
                          <a:solidFill>
                            <a:srgbClr val="7A4B00"/>
                          </a:solidFill>
                          <a:latin typeface="Calibri" pitchFamily="34" charset="0"/>
                          <a:ea typeface="Calibri" pitchFamily="34" charset="-122"/>
                          <a:cs typeface="Calibri" pitchFamily="34" charset="-120"/>
                        </a:rPr>
                        <a:t>[ ]</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3D6"/>
                    </a:solidFill>
                  </a:tcPr>
                </a:tc>
                <a:tc>
                  <a:txBody>
                    <a:bodyPr/>
                    <a:lstStyle/>
                    <a:p>
                      <a:pPr indent="0" marL="0">
                        <a:buNone/>
                      </a:pPr>
                      <a:r>
                        <a:rPr lang="en-US" sz="1050" b="1" dirty="0">
                          <a:solidFill>
                            <a:srgbClr val="7A4B00"/>
                          </a:solidFill>
                          <a:latin typeface="Calibri" pitchFamily="34" charset="0"/>
                          <a:ea typeface="Calibri" pitchFamily="34" charset="-122"/>
                          <a:cs typeface="Calibri" pitchFamily="34" charset="-120"/>
                        </a:rPr>
                        <a:t>[ ]</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3D6"/>
                    </a:solidFill>
                  </a:tcPr>
                </a:tc>
              </a:tr>
              <a:tr h="45720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Hosting, per user</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7A4B00"/>
                          </a:solidFill>
                          <a:latin typeface="Calibri" pitchFamily="34" charset="0"/>
                          <a:ea typeface="Calibri" pitchFamily="34" charset="-122"/>
                          <a:cs typeface="Calibri" pitchFamily="34" charset="-120"/>
                        </a:rPr>
                        <a:t>[£ ___ ]: local-first today, no hosting bill</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Not yet incurred</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b="1" dirty="0">
                          <a:solidFill>
                            <a:srgbClr val="7A4B00"/>
                          </a:solidFill>
                          <a:latin typeface="Calibri" pitchFamily="34" charset="0"/>
                          <a:ea typeface="Calibri" pitchFamily="34" charset="-122"/>
                          <a:cs typeface="Calibri" pitchFamily="34" charset="-120"/>
                        </a:rPr>
                        <a:t>[ ]</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3D6"/>
                    </a:solidFill>
                  </a:tcPr>
                </a:tc>
                <a:tc>
                  <a:txBody>
                    <a:bodyPr/>
                    <a:lstStyle/>
                    <a:p>
                      <a:pPr indent="0" marL="0">
                        <a:buNone/>
                      </a:pPr>
                      <a:r>
                        <a:rPr lang="en-US" sz="1050" b="1" dirty="0">
                          <a:solidFill>
                            <a:srgbClr val="7A4B00"/>
                          </a:solidFill>
                          <a:latin typeface="Calibri" pitchFamily="34" charset="0"/>
                          <a:ea typeface="Calibri" pitchFamily="34" charset="-122"/>
                          <a:cs typeface="Calibri" pitchFamily="34" charset="-120"/>
                        </a:rPr>
                        <a:t>[ ]</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3D6"/>
                    </a:solidFill>
                  </a:tcPr>
                </a:tc>
              </a:tr>
            </a:tbl>
          </a:graphicData>
        </a:graphic>
      </p:graphicFrame>
      <p:sp>
        <p:nvSpPr>
          <p:cNvPr id="14" name="Shape 10"/>
          <p:cNvSpPr/>
          <p:nvPr/>
        </p:nvSpPr>
        <p:spPr>
          <a:xfrm>
            <a:off x="548640" y="5349240"/>
            <a:ext cx="11094415" cy="685800"/>
          </a:xfrm>
          <a:prstGeom prst="roundRect">
            <a:avLst>
              <a:gd name="adj" fmla="val 6667"/>
            </a:avLst>
          </a:prstGeom>
          <a:solidFill>
            <a:srgbClr val="E2F3F4"/>
          </a:solidFill>
          <a:ln w="9525">
            <a:solidFill>
              <a:srgbClr val="0F6673"/>
            </a:solidFill>
            <a:prstDash val="solid"/>
          </a:ln>
        </p:spPr>
      </p:sp>
      <p:sp>
        <p:nvSpPr>
          <p:cNvPr id="15" name="Text 11"/>
          <p:cNvSpPr txBox="1"/>
          <p:nvPr/>
        </p:nvSpPr>
        <p:spPr>
          <a:xfrm>
            <a:off x="777240" y="5394960"/>
            <a:ext cx="10637215" cy="594360"/>
          </a:xfrm>
          <a:prstGeom prst="rect">
            <a:avLst/>
          </a:prstGeom>
          <a:noFill/>
          <a:ln/>
        </p:spPr>
        <p:txBody>
          <a:bodyPr wrap="square" lIns="0" tIns="0" rIns="0" bIns="0" rtlCol="0" anchor="ctr"/>
          <a:lstStyle/>
          <a:p>
            <a:pPr indent="0" marL="0">
              <a:buNone/>
            </a:pPr>
            <a:r>
              <a:rPr lang="en-US" sz="1100" b="1" dirty="0">
                <a:solidFill>
                  <a:srgbClr val="15252E"/>
                </a:solidFill>
                <a:latin typeface="Consolas" pitchFamily="34" charset="0"/>
                <a:ea typeface="Consolas" pitchFamily="34" charset="-122"/>
                <a:cs typeface="Consolas" pitchFamily="34" charset="-120"/>
              </a:rPr>
              <a:t>Contribution per report = </a:t>
            </a:r>
            <a:r>
              <a:rPr lang="en-US" sz="1100" dirty="0">
                <a:solidFill>
                  <a:srgbClr val="15252E"/>
                </a:solidFill>
                <a:latin typeface="Consolas" pitchFamily="34" charset="0"/>
                <a:ea typeface="Consolas" pitchFamily="34" charset="-122"/>
                <a:cs typeface="Consolas" pitchFamily="34" charset="-120"/>
              </a:rPr>
              <a:t>[price] − £7.19 model spend − [payment fees] − [hosting share] − [data-licence share]</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10 · GO-TO-MARKET</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Go-to-market</a:t>
            </a:r>
            <a:endParaRPr lang="en-US" sz="2800" dirty="0"/>
          </a:p>
        </p:txBody>
      </p:sp>
      <p:sp>
        <p:nvSpPr>
          <p:cNvPr id="5" name="Shape 3"/>
          <p:cNvSpPr/>
          <p:nvPr/>
        </p:nvSpPr>
        <p:spPr>
          <a:xfrm>
            <a:off x="10489082" y="384048"/>
            <a:ext cx="1153973" cy="219456"/>
          </a:xfrm>
          <a:prstGeom prst="roundRect">
            <a:avLst>
              <a:gd name="adj" fmla="val 50000"/>
            </a:avLst>
          </a:prstGeom>
          <a:solidFill>
            <a:srgbClr val="F4F7F8"/>
          </a:solidFill>
          <a:ln w="12700">
            <a:solidFill>
              <a:srgbClr val="15252E"/>
            </a:solidFill>
            <a:prstDash val="solid"/>
          </a:ln>
        </p:spPr>
      </p:sp>
      <p:sp>
        <p:nvSpPr>
          <p:cNvPr id="6" name="Text 4"/>
          <p:cNvSpPr txBox="1"/>
          <p:nvPr/>
        </p:nvSpPr>
        <p:spPr>
          <a:xfrm>
            <a:off x="10489082" y="384048"/>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7" name="Shape 5"/>
          <p:cNvSpPr/>
          <p:nvPr/>
        </p:nvSpPr>
        <p:spPr>
          <a:xfrm>
            <a:off x="9379001" y="384048"/>
            <a:ext cx="1018642" cy="219456"/>
          </a:xfrm>
          <a:prstGeom prst="roundRect">
            <a:avLst>
              <a:gd name="adj" fmla="val 50000"/>
            </a:avLst>
          </a:prstGeom>
          <a:solidFill>
            <a:srgbClr val="7A4B00"/>
          </a:solidFill>
          <a:ln/>
        </p:spPr>
      </p:sp>
      <p:sp>
        <p:nvSpPr>
          <p:cNvPr id="8" name="Text 6"/>
          <p:cNvSpPr txBox="1"/>
          <p:nvPr/>
        </p:nvSpPr>
        <p:spPr>
          <a:xfrm>
            <a:off x="9379001" y="38404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35</a:t>
            </a:r>
            <a:endParaRPr lang="en-US" sz="800" dirty="0"/>
          </a:p>
        </p:txBody>
      </p:sp>
      <p:sp>
        <p:nvSpPr>
          <p:cNvPr id="12" name="Text 9"/>
          <p:cNvSpPr txBox="1"/>
          <p:nvPr/>
        </p:nvSpPr>
        <p:spPr>
          <a:xfrm>
            <a:off x="548640" y="1463040"/>
            <a:ext cx="4572000" cy="201168"/>
          </a:xfrm>
          <a:prstGeom prst="rect">
            <a:avLst/>
          </a:prstGeom>
          <a:noFill/>
          <a:ln/>
        </p:spPr>
        <p:txBody>
          <a:bodyPr wrap="square" lIns="0" tIns="0" rIns="0" bIns="0" rtlCol="0" anchor="t"/>
          <a:lstStyle/>
          <a:p>
            <a:pPr indent="0" marL="0">
              <a:buNone/>
            </a:pPr>
            <a:r>
              <a:rPr lang="en-US" sz="900" b="1" spc="100" kern="0" dirty="0">
                <a:solidFill>
                  <a:srgbClr val="7A4B00"/>
                </a:solidFill>
                <a:latin typeface="Consolas" pitchFamily="34" charset="0"/>
                <a:ea typeface="Consolas" pitchFamily="34" charset="-122"/>
                <a:cs typeface="Consolas" pitchFamily="34" charset="-120"/>
              </a:rPr>
              <a:t>YOURS TO FILL</a:t>
            </a:r>
            <a:endParaRPr lang="en-US" sz="900" dirty="0"/>
          </a:p>
        </p:txBody>
      </p:sp>
      <p:sp>
        <p:nvSpPr>
          <p:cNvPr id="13" name="Shape 10"/>
          <p:cNvSpPr/>
          <p:nvPr/>
        </p:nvSpPr>
        <p:spPr>
          <a:xfrm>
            <a:off x="548640" y="1783080"/>
            <a:ext cx="5577840" cy="768096"/>
          </a:xfrm>
          <a:prstGeom prst="roundRect">
            <a:avLst>
              <a:gd name="adj" fmla="val 5952"/>
            </a:avLst>
          </a:prstGeom>
          <a:solidFill>
            <a:srgbClr val="FFF3D6"/>
          </a:solidFill>
          <a:ln w="9525">
            <a:solidFill>
              <a:srgbClr val="7A4B00"/>
            </a:solidFill>
            <a:prstDash val="solid"/>
          </a:ln>
        </p:spPr>
      </p:sp>
      <p:sp>
        <p:nvSpPr>
          <p:cNvPr id="14" name="Text 11"/>
          <p:cNvSpPr txBox="1"/>
          <p:nvPr/>
        </p:nvSpPr>
        <p:spPr>
          <a:xfrm>
            <a:off x="676656" y="1911096"/>
            <a:ext cx="5321808"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BEACHHEAD</a:t>
            </a:r>
            <a:endParaRPr lang="en-US" sz="800" dirty="0"/>
          </a:p>
        </p:txBody>
      </p:sp>
      <p:sp>
        <p:nvSpPr>
          <p:cNvPr id="15" name="Text 12"/>
          <p:cNvSpPr txBox="1"/>
          <p:nvPr/>
        </p:nvSpPr>
        <p:spPr>
          <a:xfrm>
            <a:off x="676656" y="2139696"/>
            <a:ext cx="5321808" cy="334670"/>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[The first segment, and why it is first]</a:t>
            </a:r>
            <a:endParaRPr lang="en-US" sz="1100" dirty="0"/>
          </a:p>
        </p:txBody>
      </p:sp>
      <p:sp>
        <p:nvSpPr>
          <p:cNvPr id="16" name="Shape 13"/>
          <p:cNvSpPr/>
          <p:nvPr/>
        </p:nvSpPr>
        <p:spPr>
          <a:xfrm>
            <a:off x="548640" y="2642616"/>
            <a:ext cx="5577840" cy="768096"/>
          </a:xfrm>
          <a:prstGeom prst="roundRect">
            <a:avLst>
              <a:gd name="adj" fmla="val 5952"/>
            </a:avLst>
          </a:prstGeom>
          <a:solidFill>
            <a:srgbClr val="FFF3D6"/>
          </a:solidFill>
          <a:ln w="9525">
            <a:solidFill>
              <a:srgbClr val="7A4B00"/>
            </a:solidFill>
            <a:prstDash val="solid"/>
          </a:ln>
        </p:spPr>
      </p:sp>
      <p:sp>
        <p:nvSpPr>
          <p:cNvPr id="17" name="Text 14"/>
          <p:cNvSpPr txBox="1"/>
          <p:nvPr/>
        </p:nvSpPr>
        <p:spPr>
          <a:xfrm>
            <a:off x="676656" y="2770632"/>
            <a:ext cx="5321808"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CHANNELS</a:t>
            </a:r>
            <a:endParaRPr lang="en-US" sz="800" dirty="0"/>
          </a:p>
        </p:txBody>
      </p:sp>
      <p:sp>
        <p:nvSpPr>
          <p:cNvPr id="18" name="Text 15"/>
          <p:cNvSpPr txBox="1"/>
          <p:nvPr/>
        </p:nvSpPr>
        <p:spPr>
          <a:xfrm>
            <a:off x="676656" y="2999232"/>
            <a:ext cx="5321808" cy="334670"/>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[Where they already gather: communities, newsletters, events, partners]</a:t>
            </a:r>
            <a:endParaRPr lang="en-US" sz="1100" dirty="0"/>
          </a:p>
        </p:txBody>
      </p:sp>
      <p:sp>
        <p:nvSpPr>
          <p:cNvPr id="19" name="Shape 16"/>
          <p:cNvSpPr/>
          <p:nvPr/>
        </p:nvSpPr>
        <p:spPr>
          <a:xfrm>
            <a:off x="548640" y="3502152"/>
            <a:ext cx="5577840" cy="768096"/>
          </a:xfrm>
          <a:prstGeom prst="roundRect">
            <a:avLst>
              <a:gd name="adj" fmla="val 5952"/>
            </a:avLst>
          </a:prstGeom>
          <a:solidFill>
            <a:srgbClr val="FFF3D6"/>
          </a:solidFill>
          <a:ln w="9525">
            <a:solidFill>
              <a:srgbClr val="7A4B00"/>
            </a:solidFill>
            <a:prstDash val="solid"/>
          </a:ln>
        </p:spPr>
      </p:sp>
      <p:sp>
        <p:nvSpPr>
          <p:cNvPr id="20" name="Text 17"/>
          <p:cNvSpPr txBox="1"/>
          <p:nvPr/>
        </p:nvSpPr>
        <p:spPr>
          <a:xfrm>
            <a:off x="676656" y="3630168"/>
            <a:ext cx="5321808"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LAUNCH OFFER</a:t>
            </a:r>
            <a:endParaRPr lang="en-US" sz="800" dirty="0"/>
          </a:p>
        </p:txBody>
      </p:sp>
      <p:sp>
        <p:nvSpPr>
          <p:cNvPr id="21" name="Text 18"/>
          <p:cNvSpPr txBox="1"/>
          <p:nvPr/>
        </p:nvSpPr>
        <p:spPr>
          <a:xfrm>
            <a:off x="676656" y="3858768"/>
            <a:ext cx="5321808" cy="334670"/>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[Price, trial, and the one result a first user sees in their first hour]</a:t>
            </a:r>
            <a:endParaRPr lang="en-US" sz="1100" dirty="0"/>
          </a:p>
        </p:txBody>
      </p:sp>
      <p:sp>
        <p:nvSpPr>
          <p:cNvPr id="22" name="Shape 19"/>
          <p:cNvSpPr/>
          <p:nvPr/>
        </p:nvSpPr>
        <p:spPr>
          <a:xfrm>
            <a:off x="548640" y="4361688"/>
            <a:ext cx="5577840" cy="768096"/>
          </a:xfrm>
          <a:prstGeom prst="roundRect">
            <a:avLst>
              <a:gd name="adj" fmla="val 5952"/>
            </a:avLst>
          </a:prstGeom>
          <a:solidFill>
            <a:srgbClr val="FFF3D6"/>
          </a:solidFill>
          <a:ln w="9525">
            <a:solidFill>
              <a:srgbClr val="7A4B00"/>
            </a:solidFill>
            <a:prstDash val="solid"/>
          </a:ln>
        </p:spPr>
      </p:sp>
      <p:sp>
        <p:nvSpPr>
          <p:cNvPr id="23" name="Text 20"/>
          <p:cNvSpPr txBox="1"/>
          <p:nvPr/>
        </p:nvSpPr>
        <p:spPr>
          <a:xfrm>
            <a:off x="676656" y="4489704"/>
            <a:ext cx="5321808"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FIRST 100 USERS</a:t>
            </a:r>
            <a:endParaRPr lang="en-US" sz="800" dirty="0"/>
          </a:p>
        </p:txBody>
      </p:sp>
      <p:sp>
        <p:nvSpPr>
          <p:cNvPr id="24" name="Text 21"/>
          <p:cNvSpPr txBox="1"/>
          <p:nvPr/>
        </p:nvSpPr>
        <p:spPr>
          <a:xfrm>
            <a:off x="676656" y="4718304"/>
            <a:ext cx="5321808" cy="334670"/>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[How, by when, and at what cost to acquire]</a:t>
            </a:r>
            <a:endParaRPr lang="en-US" sz="1100" dirty="0"/>
          </a:p>
        </p:txBody>
      </p:sp>
      <p:sp>
        <p:nvSpPr>
          <p:cNvPr id="25" name="Shape 22"/>
          <p:cNvSpPr/>
          <p:nvPr/>
        </p:nvSpPr>
        <p:spPr>
          <a:xfrm>
            <a:off x="548640" y="5221224"/>
            <a:ext cx="5577840" cy="768096"/>
          </a:xfrm>
          <a:prstGeom prst="roundRect">
            <a:avLst>
              <a:gd name="adj" fmla="val 5952"/>
            </a:avLst>
          </a:prstGeom>
          <a:solidFill>
            <a:srgbClr val="FFF3D6"/>
          </a:solidFill>
          <a:ln w="9525">
            <a:solidFill>
              <a:srgbClr val="7A4B00"/>
            </a:solidFill>
            <a:prstDash val="solid"/>
          </a:ln>
        </p:spPr>
      </p:sp>
      <p:sp>
        <p:nvSpPr>
          <p:cNvPr id="26" name="Text 23"/>
          <p:cNvSpPr txBox="1"/>
          <p:nvPr/>
        </p:nvSpPr>
        <p:spPr>
          <a:xfrm>
            <a:off x="676656" y="5349240"/>
            <a:ext cx="5321808"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PARTNERSHIPS</a:t>
            </a:r>
            <a:endParaRPr lang="en-US" sz="800" dirty="0"/>
          </a:p>
        </p:txBody>
      </p:sp>
      <p:sp>
        <p:nvSpPr>
          <p:cNvPr id="27" name="Text 24"/>
          <p:cNvSpPr txBox="1"/>
          <p:nvPr/>
        </p:nvSpPr>
        <p:spPr>
          <a:xfrm>
            <a:off x="676656" y="5577840"/>
            <a:ext cx="5321808" cy="334670"/>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[Data vendors, platforms, educators]</a:t>
            </a:r>
            <a:endParaRPr lang="en-US" sz="1100" dirty="0"/>
          </a:p>
        </p:txBody>
      </p:sp>
      <p:sp>
        <p:nvSpPr>
          <p:cNvPr id="28" name="Shape 25"/>
          <p:cNvSpPr/>
          <p:nvPr/>
        </p:nvSpPr>
        <p:spPr>
          <a:xfrm>
            <a:off x="6400800" y="1463040"/>
            <a:ext cx="5239512" cy="4617720"/>
          </a:xfrm>
          <a:prstGeom prst="roundRect">
            <a:avLst>
              <a:gd name="adj" fmla="val 990"/>
            </a:avLst>
          </a:prstGeom>
          <a:solidFill>
            <a:srgbClr val="FFFFFF"/>
          </a:solidFill>
          <a:ln w="9525">
            <a:solidFill>
              <a:srgbClr val="CDD8DC"/>
            </a:solidFill>
            <a:prstDash val="solid"/>
          </a:ln>
        </p:spPr>
      </p:sp>
      <p:sp>
        <p:nvSpPr>
          <p:cNvPr id="29" name="Text 26"/>
          <p:cNvSpPr txBox="1"/>
          <p:nvPr/>
        </p:nvSpPr>
        <p:spPr>
          <a:xfrm>
            <a:off x="6611112" y="1645920"/>
            <a:ext cx="4754880"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IDEAS ALREADY ON THE RECORD</a:t>
            </a:r>
            <a:endParaRPr lang="en-US" sz="900" dirty="0"/>
          </a:p>
        </p:txBody>
      </p:sp>
      <p:sp>
        <p:nvSpPr>
          <p:cNvPr id="30" name="Text 27"/>
          <p:cNvSpPr txBox="1"/>
          <p:nvPr/>
        </p:nvSpPr>
        <p:spPr>
          <a:xfrm>
            <a:off x="6611112" y="1965960"/>
            <a:ext cx="4800600" cy="4023360"/>
          </a:xfrm>
          <a:prstGeom prst="rect">
            <a:avLst/>
          </a:prstGeom>
          <a:noFill/>
          <a:ln/>
        </p:spPr>
        <p:txBody>
          <a:bodyPr wrap="square" lIns="0" tIns="0" rIns="0" bIns="0" rtlCol="0" anchor="t"/>
          <a:lstStyle/>
          <a:p>
            <a:pPr marL="165100" indent="-165100">
              <a:spcAft>
                <a:spcPts val="900"/>
              </a:spcAft>
              <a:buSzPct val="100000"/>
              <a:buChar char="•"/>
            </a:pPr>
            <a:r>
              <a:rPr lang="en-US" sz="1150" b="1" dirty="0">
                <a:solidFill>
                  <a:srgbClr val="15252E"/>
                </a:solidFill>
                <a:latin typeface="Calibri" pitchFamily="34" charset="0"/>
                <a:ea typeface="Calibri" pitchFamily="34" charset="-122"/>
                <a:cs typeface="Calibri" pitchFamily="34" charset="-120"/>
              </a:rPr>
              <a:t>The workbook travels.</a:t>
            </a:r>
            <a:r>
              <a:rPr lang="en-US" sz="1150" dirty="0">
                <a:solidFill>
                  <a:srgbClr val="52656E"/>
                </a:solidFill>
                <a:latin typeface="Calibri" pitchFamily="34" charset="0"/>
                <a:ea typeface="Calibri" pitchFamily="34" charset="-122"/>
                <a:cs typeface="Calibri" pitchFamily="34" charset="-120"/>
              </a:rPr>
              <a:t> Every report ships a live model whose provenance tab goes wherever the file goes.</a:t>
            </a:r>
            <a:endParaRPr lang="en-US" sz="1150" dirty="0"/>
          </a:p>
          <a:p>
            <a:pPr marL="165100" indent="-165100">
              <a:spcAft>
                <a:spcPts val="900"/>
              </a:spcAft>
              <a:buSzPct val="100000"/>
              <a:buChar char="•"/>
            </a:pPr>
            <a:r>
              <a:rPr lang="en-US" sz="1150" b="1" dirty="0">
                <a:solidFill>
                  <a:srgbClr val="15252E"/>
                </a:solidFill>
                <a:latin typeface="Calibri" pitchFamily="34" charset="0"/>
                <a:ea typeface="Calibri" pitchFamily="34" charset="-122"/>
                <a:cs typeface="Calibri" pitchFamily="34" charset="-120"/>
              </a:rPr>
              <a:t>A provable track record.</a:t>
            </a:r>
            <a:r>
              <a:rPr lang="en-US" sz="1150" dirty="0">
                <a:solidFill>
                  <a:srgbClr val="52656E"/>
                </a:solidFill>
                <a:latin typeface="Calibri" pitchFamily="34" charset="0"/>
                <a:ea typeface="Calibri" pitchFamily="34" charset="-122"/>
                <a:cs typeface="Calibri" pitchFamily="34" charset="-120"/>
              </a:rPr>
              <a:t> Immutable, hashed reports can be scored against what happened, with nothing edited after the fact.</a:t>
            </a:r>
            <a:endParaRPr lang="en-US" sz="1150" dirty="0"/>
          </a:p>
          <a:p>
            <a:pPr marL="165100" indent="-165100">
              <a:spcAft>
                <a:spcPts val="900"/>
              </a:spcAft>
              <a:buSzPct val="100000"/>
              <a:buChar char="•"/>
            </a:pPr>
            <a:r>
              <a:rPr lang="en-US" sz="1150" b="1" dirty="0">
                <a:solidFill>
                  <a:srgbClr val="15252E"/>
                </a:solidFill>
                <a:latin typeface="Calibri" pitchFamily="34" charset="0"/>
                <a:ea typeface="Calibri" pitchFamily="34" charset="-122"/>
                <a:cs typeface="Calibri" pitchFamily="34" charset="-120"/>
              </a:rPr>
              <a:t>Replay it live.</a:t>
            </a:r>
            <a:r>
              <a:rPr lang="en-US" sz="1150" dirty="0">
                <a:solidFill>
                  <a:srgbClr val="52656E"/>
                </a:solidFill>
                <a:latin typeface="Calibri" pitchFamily="34" charset="0"/>
                <a:ea typeface="Calibri" pitchFamily="34" charset="-122"/>
                <a:cs typeface="Calibri" pitchFamily="34" charset="-120"/>
              </a:rPr>
              <a:t> Re-run a months-old report in a meeting and watch every figure land identically.</a:t>
            </a:r>
            <a:endParaRPr lang="en-US" sz="1150" dirty="0"/>
          </a:p>
          <a:p>
            <a:pPr marL="165100" indent="-165100">
              <a:spcAft>
                <a:spcPts val="900"/>
              </a:spcAft>
              <a:buSzPct val="100000"/>
              <a:buChar char="•"/>
            </a:pPr>
            <a:r>
              <a:rPr lang="en-US" sz="1150" b="1" dirty="0">
                <a:solidFill>
                  <a:srgbClr val="15252E"/>
                </a:solidFill>
                <a:latin typeface="Calibri" pitchFamily="34" charset="0"/>
                <a:ea typeface="Calibri" pitchFamily="34" charset="-122"/>
                <a:cs typeface="Calibri" pitchFamily="34" charset="-120"/>
              </a:rPr>
              <a:t>A second-opinion mode.</a:t>
            </a:r>
            <a:r>
              <a:rPr lang="en-US" sz="1150" dirty="0">
                <a:solidFill>
                  <a:srgbClr val="52656E"/>
                </a:solidFill>
                <a:latin typeface="Calibri" pitchFamily="34" charset="0"/>
                <a:ea typeface="Calibri" pitchFamily="34" charset="-122"/>
                <a:cs typeface="Calibri" pitchFamily="34" charset="-120"/>
              </a:rPr>
              <a:t> Diff a chat’s note against the platform’s and show exactly where they disagree.</a:t>
            </a:r>
            <a:endParaRPr lang="en-US" sz="1150" dirty="0"/>
          </a:p>
          <a:p>
            <a:pPr marL="165100" indent="-165100">
              <a:spcAft>
                <a:spcPts val="900"/>
              </a:spcAft>
              <a:buSzPct val="100000"/>
              <a:buChar char="•"/>
            </a:pPr>
            <a:r>
              <a:rPr lang="en-US" sz="1150" b="1" dirty="0">
                <a:solidFill>
                  <a:srgbClr val="15252E"/>
                </a:solidFill>
                <a:latin typeface="Calibri" pitchFamily="34" charset="0"/>
                <a:ea typeface="Calibri" pitchFamily="34" charset="-122"/>
                <a:cs typeface="Calibri" pitchFamily="34" charset="-120"/>
              </a:rPr>
              <a:t>A methodology library.</a:t>
            </a:r>
            <a:r>
              <a:rPr lang="en-US" sz="1150" dirty="0">
                <a:solidFill>
                  <a:srgbClr val="52656E"/>
                </a:solidFill>
                <a:latin typeface="Calibri" pitchFamily="34" charset="0"/>
                <a:ea typeface="Calibri" pitchFamily="34" charset="-122"/>
                <a:cs typeface="Calibri" pitchFamily="34" charset="-120"/>
              </a:rPr>
              <a:t> Shared methods, proved safe before they run, as the start of a community.</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11 · COSTS</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What it costs to run today</a:t>
            </a:r>
            <a:endParaRPr lang="en-US" sz="2800" dirty="0"/>
          </a:p>
        </p:txBody>
      </p:sp>
      <p:sp>
        <p:nvSpPr>
          <p:cNvPr id="5" name="Shape 3"/>
          <p:cNvSpPr/>
          <p:nvPr/>
        </p:nvSpPr>
        <p:spPr>
          <a:xfrm>
            <a:off x="10827410" y="384048"/>
            <a:ext cx="815645" cy="219456"/>
          </a:xfrm>
          <a:prstGeom prst="roundRect">
            <a:avLst>
              <a:gd name="adj" fmla="val 50000"/>
            </a:avLst>
          </a:prstGeom>
          <a:solidFill>
            <a:srgbClr val="0F6673"/>
          </a:solidFill>
          <a:ln/>
        </p:spPr>
      </p:sp>
      <p:sp>
        <p:nvSpPr>
          <p:cNvPr id="6" name="Text 4"/>
          <p:cNvSpPr txBox="1"/>
          <p:nvPr/>
        </p:nvSpPr>
        <p:spPr>
          <a:xfrm>
            <a:off x="10827410"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7" name="Text 5"/>
          <p:cNvSpPr txBox="1"/>
          <p:nvPr/>
        </p:nvSpPr>
        <p:spPr>
          <a:xfrm>
            <a:off x="548640" y="6217920"/>
            <a:ext cx="11094415"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Readiness audit, 11–12 Sep 2026; list prices from the platform’s cost table, verified 24 Sep 2026; caps are the shipped defaults.</a:t>
            </a:r>
            <a:endParaRPr lang="en-US" sz="900" dirty="0"/>
          </a:p>
        </p:txBody>
      </p:sp>
      <p:sp>
        <p:nvSpPr>
          <p:cNvPr id="8" name="Text 6"/>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9" name="Text 7"/>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36</a:t>
            </a:r>
            <a:endParaRPr lang="en-US" sz="800" dirty="0"/>
          </a:p>
        </p:txBody>
      </p:sp>
      <p:sp>
        <p:nvSpPr>
          <p:cNvPr id="11" name="Text 8"/>
          <p:cNvSpPr txBox="1"/>
          <p:nvPr/>
        </p:nvSpPr>
        <p:spPr>
          <a:xfrm>
            <a:off x="548640" y="1463040"/>
            <a:ext cx="5486400" cy="201168"/>
          </a:xfrm>
          <a:prstGeom prst="rect">
            <a:avLst/>
          </a:prstGeom>
          <a:noFill/>
          <a:ln/>
        </p:spPr>
        <p:txBody>
          <a:bodyPr wrap="square" lIns="0" tIns="0" rIns="0" bIns="0" rtlCol="0" anchor="t"/>
          <a:lstStyle/>
          <a:p>
            <a:pPr indent="0" marL="0">
              <a:buNone/>
            </a:pPr>
            <a:r>
              <a:rPr lang="en-US" sz="900" b="1" spc="100" kern="0" dirty="0">
                <a:solidFill>
                  <a:srgbClr val="52656E"/>
                </a:solidFill>
                <a:latin typeface="Consolas" pitchFamily="34" charset="0"/>
                <a:ea typeface="Consolas" pitchFamily="34" charset="-122"/>
                <a:cs typeface="Consolas" pitchFamily="34" charset="-120"/>
              </a:rPr>
              <a:t>MODEL SPEND PER NOTE, SAME THREE BRIEFS</a:t>
            </a:r>
            <a:endParaRPr lang="en-US" sz="900" dirty="0"/>
          </a:p>
        </p:txBody>
      </p:sp>
      <p:sp>
        <p:nvSpPr>
          <p:cNvPr id="12" name="Shape 9"/>
          <p:cNvSpPr/>
          <p:nvPr/>
        </p:nvSpPr>
        <p:spPr>
          <a:xfrm>
            <a:off x="548640" y="1801368"/>
            <a:ext cx="201168" cy="137160"/>
          </a:xfrm>
          <a:prstGeom prst="rect">
            <a:avLst/>
          </a:prstGeom>
          <a:solidFill>
            <a:srgbClr val="00879B"/>
          </a:solidFill>
          <a:ln/>
        </p:spPr>
      </p:sp>
      <p:sp>
        <p:nvSpPr>
          <p:cNvPr id="13" name="Text 10"/>
          <p:cNvSpPr txBox="1"/>
          <p:nvPr/>
        </p:nvSpPr>
        <p:spPr>
          <a:xfrm>
            <a:off x="822960" y="1755648"/>
            <a:ext cx="1600200" cy="228600"/>
          </a:xfrm>
          <a:prstGeom prst="rect">
            <a:avLst/>
          </a:prstGeom>
          <a:noFill/>
          <a:ln/>
        </p:spPr>
        <p:txBody>
          <a:bodyPr wrap="square" lIns="0" tIns="0" rIns="0" bIns="0" rtlCol="0" anchor="t"/>
          <a:lstStyle/>
          <a:p>
            <a:pPr indent="0" marL="0">
              <a:buNone/>
            </a:pPr>
            <a:r>
              <a:rPr lang="en-US" sz="950" dirty="0">
                <a:solidFill>
                  <a:srgbClr val="52656E"/>
                </a:solidFill>
                <a:latin typeface="Calibri" pitchFamily="34" charset="0"/>
                <a:ea typeface="Calibri" pitchFamily="34" charset="-122"/>
                <a:cs typeface="Calibri" pitchFamily="34" charset="-120"/>
              </a:rPr>
              <a:t>Tracework run</a:t>
            </a:r>
            <a:endParaRPr lang="en-US" sz="950" dirty="0"/>
          </a:p>
        </p:txBody>
      </p:sp>
      <p:sp>
        <p:nvSpPr>
          <p:cNvPr id="14" name="Shape 11"/>
          <p:cNvSpPr/>
          <p:nvPr/>
        </p:nvSpPr>
        <p:spPr>
          <a:xfrm>
            <a:off x="2468880" y="1801368"/>
            <a:ext cx="201168" cy="137160"/>
          </a:xfrm>
          <a:prstGeom prst="rect">
            <a:avLst/>
          </a:prstGeom>
          <a:solidFill>
            <a:srgbClr val="B86E00"/>
          </a:solidFill>
          <a:ln/>
        </p:spPr>
      </p:sp>
      <p:sp>
        <p:nvSpPr>
          <p:cNvPr id="15" name="Text 12"/>
          <p:cNvSpPr txBox="1"/>
          <p:nvPr/>
        </p:nvSpPr>
        <p:spPr>
          <a:xfrm>
            <a:off x="2743200" y="1755648"/>
            <a:ext cx="1600200" cy="228600"/>
          </a:xfrm>
          <a:prstGeom prst="rect">
            <a:avLst/>
          </a:prstGeom>
          <a:noFill/>
          <a:ln/>
        </p:spPr>
        <p:txBody>
          <a:bodyPr wrap="square" lIns="0" tIns="0" rIns="0" bIns="0" rtlCol="0" anchor="t"/>
          <a:lstStyle/>
          <a:p>
            <a:pPr indent="0" marL="0">
              <a:buNone/>
            </a:pPr>
            <a:r>
              <a:rPr lang="en-US" sz="950" dirty="0">
                <a:solidFill>
                  <a:srgbClr val="52656E"/>
                </a:solidFill>
                <a:latin typeface="Calibri" pitchFamily="34" charset="0"/>
                <a:ea typeface="Calibri" pitchFamily="34" charset="-122"/>
                <a:cs typeface="Calibri" pitchFamily="34" charset="-120"/>
              </a:rPr>
              <a:t>AI baseline note</a:t>
            </a:r>
            <a:endParaRPr lang="en-US" sz="950" dirty="0"/>
          </a:p>
        </p:txBody>
      </p:sp>
      <p:graphicFrame>
        <p:nvGraphicFramePr>
          <p:cNvPr id="16" name="Chart 0" descr=""/>
          <p:cNvGraphicFramePr/>
          <p:nvPr/>
        </p:nvGraphicFramePr>
        <p:xfrm>
          <a:off x="548640" y="2011680"/>
          <a:ext cx="5577840" cy="4069080"/>
        </p:xfrm>
        <a:graphic xmlns:a="http://schemas.openxmlformats.org/drawingml/2006/main">
          <a:graphicData uri="http://schemas.openxmlformats.org/drawingml/2006/chart">
            <c:chart xmlns:c="http://schemas.openxmlformats.org/drawingml/2006/chart" r:id="rId1"/>
          </a:graphicData>
        </a:graphic>
      </p:graphicFrame>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400800" y="1463040"/>
          <a:ext cx="5239512" cy="914400"/>
        </p:xfrm>
        <a:graphic>
          <a:graphicData uri="http://schemas.openxmlformats.org/drawingml/2006/table">
            <a:tbl>
              <a:tblPr/>
              <a:tblGrid>
                <a:gridCol w="1737360"/>
                <a:gridCol w="3502152"/>
              </a:tblGrid>
              <a:tr h="548640">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COST LINE</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TODAY</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r>
              <a:tr h="548640">
                <a:tc>
                  <a:txBody>
                    <a:bodyPr/>
                    <a:lstStyle/>
                    <a:p>
                      <a:pPr indent="0" marL="0">
                        <a:buNone/>
                      </a:pPr>
                      <a:r>
                        <a:rPr lang="en-US" sz="1000" b="1" dirty="0">
                          <a:solidFill>
                            <a:srgbClr val="15252E"/>
                          </a:solidFill>
                          <a:latin typeface="Calibri" pitchFamily="34" charset="0"/>
                          <a:ea typeface="Calibri" pitchFamily="34" charset="-122"/>
                          <a:cs typeface="Calibri" pitchFamily="34" charset="-120"/>
                        </a:rPr>
                        <a:t>Model spend, full report</a:t>
                      </a:r>
                      <a:endParaRPr lang="en-US" sz="10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00" dirty="0">
                          <a:solidFill>
                            <a:srgbClr val="52656E"/>
                          </a:solidFill>
                          <a:latin typeface="Calibri" pitchFamily="34" charset="0"/>
                          <a:ea typeface="Calibri" pitchFamily="34" charset="-122"/>
                          <a:cs typeface="Calibri" pitchFamily="34" charset="-120"/>
                        </a:rPr>
                        <a:t>£7.19 average; capped at £12 a run and £80 a month by default</a:t>
                      </a:r>
                      <a:endParaRPr lang="en-US" sz="10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15252E"/>
                          </a:solidFill>
                          <a:latin typeface="Calibri" pitchFamily="34" charset="0"/>
                          <a:ea typeface="Calibri" pitchFamily="34" charset="-122"/>
                          <a:cs typeface="Calibri" pitchFamily="34" charset="-120"/>
                        </a:rPr>
                        <a:t>Largest single step</a:t>
                      </a:r>
                      <a:endParaRPr lang="en-US" sz="10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00" dirty="0">
                          <a:solidFill>
                            <a:srgbClr val="52656E"/>
                          </a:solidFill>
                          <a:latin typeface="Calibri" pitchFamily="34" charset="0"/>
                          <a:ea typeface="Calibri" pitchFamily="34" charset="-122"/>
                          <a:cs typeface="Calibri" pitchFamily="34" charset="-120"/>
                        </a:rPr>
                        <a:t>Drafting: £2.31–£4.04 of each audited run</a:t>
                      </a:r>
                      <a:endParaRPr lang="en-US" sz="10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15252E"/>
                          </a:solidFill>
                          <a:latin typeface="Calibri" pitchFamily="34" charset="0"/>
                          <a:ea typeface="Calibri" pitchFamily="34" charset="-122"/>
                          <a:cs typeface="Calibri" pitchFamily="34" charset="-120"/>
                        </a:rPr>
                        <a:t>Model list prices</a:t>
                      </a:r>
                      <a:endParaRPr lang="en-US" sz="10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00" dirty="0">
                          <a:solidFill>
                            <a:srgbClr val="52656E"/>
                          </a:solidFill>
                          <a:latin typeface="Calibri" pitchFamily="34" charset="0"/>
                          <a:ea typeface="Calibri" pitchFamily="34" charset="-122"/>
                          <a:cs typeface="Calibri" pitchFamily="34" charset="-120"/>
                        </a:rPr>
                        <a:t>Opus 5 $5 / $25, Sonnet 5 $2 / $10, Haiku 4.5 $1 / $5 per million tokens, in / out</a:t>
                      </a:r>
                      <a:endParaRPr lang="en-US" sz="10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15252E"/>
                          </a:solidFill>
                          <a:latin typeface="Calibri" pitchFamily="34" charset="0"/>
                          <a:ea typeface="Calibri" pitchFamily="34" charset="-122"/>
                          <a:cs typeface="Calibri" pitchFamily="34" charset="-120"/>
                        </a:rPr>
                        <a:t>Web search</a:t>
                      </a:r>
                      <a:endParaRPr lang="en-US" sz="10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00" dirty="0">
                          <a:solidFill>
                            <a:srgbClr val="52656E"/>
                          </a:solidFill>
                          <a:latin typeface="Calibri" pitchFamily="34" charset="0"/>
                          <a:ea typeface="Calibri" pitchFamily="34" charset="-122"/>
                          <a:cs typeface="Calibri" pitchFamily="34" charset="-120"/>
                        </a:rPr>
                        <a:t>$10 per 1,000 searches: £0.04–£0.06 a run</a:t>
                      </a:r>
                      <a:endParaRPr lang="en-US" sz="10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15252E"/>
                          </a:solidFill>
                          <a:latin typeface="Calibri" pitchFamily="34" charset="0"/>
                          <a:ea typeface="Calibri" pitchFamily="34" charset="-122"/>
                          <a:cs typeface="Calibri" pitchFamily="34" charset="-120"/>
                        </a:rPr>
                        <a:t>Price data</a:t>
                      </a:r>
                      <a:endParaRPr lang="en-US" sz="10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00" dirty="0">
                          <a:solidFill>
                            <a:srgbClr val="52656E"/>
                          </a:solidFill>
                          <a:latin typeface="Calibri" pitchFamily="34" charset="0"/>
                          <a:ea typeface="Calibri" pitchFamily="34" charset="-122"/>
                          <a:cs typeface="Calibri" pitchFamily="34" charset="-120"/>
                        </a:rPr>
                        <a:t>EODHD, €19.99 a month, a personal-use plan</a:t>
                      </a:r>
                      <a:endParaRPr lang="en-US" sz="10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15252E"/>
                          </a:solidFill>
                          <a:latin typeface="Calibri" pitchFamily="34" charset="0"/>
                          <a:ea typeface="Calibri" pitchFamily="34" charset="-122"/>
                          <a:cs typeface="Calibri" pitchFamily="34" charset="-120"/>
                        </a:rPr>
                        <a:t>Filings and statistics</a:t>
                      </a:r>
                      <a:endParaRPr lang="en-US" sz="10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00" dirty="0">
                          <a:solidFill>
                            <a:srgbClr val="52656E"/>
                          </a:solidFill>
                          <a:latin typeface="Calibri" pitchFamily="34" charset="0"/>
                          <a:ea typeface="Calibri" pitchFamily="34" charset="-122"/>
                          <a:cs typeface="Calibri" pitchFamily="34" charset="-120"/>
                        </a:rPr>
                        <a:t>SEC EDGAR, Companies House, FRED, ONS, ECB: free, under each one’s terms</a:t>
                      </a:r>
                      <a:endParaRPr lang="en-US" sz="10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15252E"/>
                          </a:solidFill>
                          <a:latin typeface="Calibri" pitchFamily="34" charset="0"/>
                          <a:ea typeface="Calibri" pitchFamily="34" charset="-122"/>
                          <a:cs typeface="Calibri" pitchFamily="34" charset="-120"/>
                        </a:rPr>
                        <a:t>Infrastructure</a:t>
                      </a:r>
                      <a:endParaRPr lang="en-US" sz="10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00" dirty="0">
                          <a:solidFill>
                            <a:srgbClr val="52656E"/>
                          </a:solidFill>
                          <a:latin typeface="Calibri" pitchFamily="34" charset="0"/>
                          <a:ea typeface="Calibri" pitchFamily="34" charset="-122"/>
                          <a:cs typeface="Calibri" pitchFamily="34" charset="-120"/>
                        </a:rPr>
                        <a:t>PostgreSQL and Redis on the operator’s machine: no hosting bill</a:t>
                      </a:r>
                      <a:endParaRPr lang="en-US" sz="10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11 · COSTS</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What it cost to build, and what a business will cost</a:t>
            </a:r>
            <a:endParaRPr lang="en-US" sz="2800" dirty="0"/>
          </a:p>
        </p:txBody>
      </p:sp>
      <p:sp>
        <p:nvSpPr>
          <p:cNvPr id="5" name="Shape 3"/>
          <p:cNvSpPr/>
          <p:nvPr/>
        </p:nvSpPr>
        <p:spPr>
          <a:xfrm>
            <a:off x="10624414" y="384048"/>
            <a:ext cx="1018642" cy="219456"/>
          </a:xfrm>
          <a:prstGeom prst="roundRect">
            <a:avLst>
              <a:gd name="adj" fmla="val 50000"/>
            </a:avLst>
          </a:prstGeom>
          <a:solidFill>
            <a:srgbClr val="7A4B00"/>
          </a:solidFill>
          <a:ln/>
        </p:spPr>
      </p:sp>
      <p:sp>
        <p:nvSpPr>
          <p:cNvPr id="6" name="Text 4"/>
          <p:cNvSpPr txBox="1"/>
          <p:nvPr/>
        </p:nvSpPr>
        <p:spPr>
          <a:xfrm>
            <a:off x="10624414" y="38404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7" name="Shape 5"/>
          <p:cNvSpPr/>
          <p:nvPr/>
        </p:nvSpPr>
        <p:spPr>
          <a:xfrm>
            <a:off x="9717329" y="384048"/>
            <a:ext cx="815645" cy="219456"/>
          </a:xfrm>
          <a:prstGeom prst="roundRect">
            <a:avLst>
              <a:gd name="adj" fmla="val 50000"/>
            </a:avLst>
          </a:prstGeom>
          <a:solidFill>
            <a:srgbClr val="0F6673"/>
          </a:solidFill>
          <a:ln/>
        </p:spPr>
      </p:sp>
      <p:sp>
        <p:nvSpPr>
          <p:cNvPr id="8" name="Text 6"/>
          <p:cNvSpPr txBox="1"/>
          <p:nvPr/>
        </p:nvSpPr>
        <p:spPr>
          <a:xfrm>
            <a:off x="9717329"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37</a:t>
            </a:r>
            <a:endParaRPr lang="en-US" sz="800" dirty="0"/>
          </a:p>
        </p:txBody>
      </p:sp>
      <p:sp>
        <p:nvSpPr>
          <p:cNvPr id="12" name="Shape 9"/>
          <p:cNvSpPr/>
          <p:nvPr/>
        </p:nvSpPr>
        <p:spPr>
          <a:xfrm>
            <a:off x="548640" y="1463040"/>
            <a:ext cx="4754880" cy="4617720"/>
          </a:xfrm>
          <a:prstGeom prst="roundRect">
            <a:avLst>
              <a:gd name="adj" fmla="val 990"/>
            </a:avLst>
          </a:prstGeom>
          <a:solidFill>
            <a:srgbClr val="FFFFFF"/>
          </a:solidFill>
          <a:ln w="9525">
            <a:solidFill>
              <a:srgbClr val="CDD8DC"/>
            </a:solidFill>
            <a:prstDash val="solid"/>
          </a:ln>
        </p:spPr>
      </p:sp>
      <p:sp>
        <p:nvSpPr>
          <p:cNvPr id="13" name="Text 10"/>
          <p:cNvSpPr txBox="1"/>
          <p:nvPr/>
        </p:nvSpPr>
        <p:spPr>
          <a:xfrm>
            <a:off x="749808" y="1645920"/>
            <a:ext cx="4297680"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WHAT IT HAS COST</a:t>
            </a:r>
            <a:endParaRPr lang="en-US" sz="900" dirty="0"/>
          </a:p>
        </p:txBody>
      </p:sp>
      <p:sp>
        <p:nvSpPr>
          <p:cNvPr id="14" name="Text 11"/>
          <p:cNvSpPr txBox="1"/>
          <p:nvPr/>
        </p:nvSpPr>
        <p:spPr>
          <a:xfrm>
            <a:off x="749808" y="1993392"/>
            <a:ext cx="1325880" cy="365760"/>
          </a:xfrm>
          <a:prstGeom prst="rect">
            <a:avLst/>
          </a:prstGeom>
          <a:noFill/>
          <a:ln/>
        </p:spPr>
        <p:txBody>
          <a:bodyPr wrap="square" lIns="0" tIns="0" rIns="0" bIns="0" rtlCol="0" anchor="t"/>
          <a:lstStyle/>
          <a:p>
            <a:pPr indent="0" marL="0">
              <a:buNone/>
            </a:pPr>
            <a:r>
              <a:rPr lang="en-US" sz="1700" b="1" dirty="0">
                <a:solidFill>
                  <a:srgbClr val="0F6673"/>
                </a:solidFill>
                <a:latin typeface="Consolas" pitchFamily="34" charset="0"/>
                <a:ea typeface="Consolas" pitchFamily="34" charset="-122"/>
                <a:cs typeface="Consolas" pitchFamily="34" charset="-120"/>
              </a:rPr>
              <a:t>£63.32</a:t>
            </a:r>
            <a:endParaRPr lang="en-US" sz="1700" dirty="0"/>
          </a:p>
        </p:txBody>
      </p:sp>
      <p:sp>
        <p:nvSpPr>
          <p:cNvPr id="15" name="Text 12"/>
          <p:cNvSpPr txBox="1"/>
          <p:nvPr/>
        </p:nvSpPr>
        <p:spPr>
          <a:xfrm>
            <a:off x="2148840" y="2011680"/>
            <a:ext cx="3017520" cy="658368"/>
          </a:xfrm>
          <a:prstGeom prst="rect">
            <a:avLst/>
          </a:prstGeom>
          <a:noFill/>
          <a:ln/>
        </p:spPr>
        <p:txBody>
          <a:bodyPr wrap="square" lIns="0" tIns="0" rIns="0" bIns="0" rtlCol="0" anchor="t"/>
          <a:lstStyle/>
          <a:p>
            <a:pPr indent="0" marL="0">
              <a:buNone/>
            </a:pPr>
            <a:r>
              <a:rPr lang="en-US" sz="1050" dirty="0">
                <a:solidFill>
                  <a:srgbClr val="15252E"/>
                </a:solidFill>
                <a:latin typeface="Calibri" pitchFamily="34" charset="0"/>
                <a:ea typeface="Calibri" pitchFamily="34" charset="-122"/>
                <a:cs typeface="Calibri" pitchFamily="34" charset="-120"/>
              </a:rPr>
              <a:t>live model spend on the readiness audit, against a £100 ceiling</a:t>
            </a:r>
            <a:endParaRPr lang="en-US" sz="1050" dirty="0"/>
          </a:p>
        </p:txBody>
      </p:sp>
      <p:sp>
        <p:nvSpPr>
          <p:cNvPr id="16" name="Text 13"/>
          <p:cNvSpPr txBox="1"/>
          <p:nvPr/>
        </p:nvSpPr>
        <p:spPr>
          <a:xfrm>
            <a:off x="749808" y="2724912"/>
            <a:ext cx="1325880" cy="365760"/>
          </a:xfrm>
          <a:prstGeom prst="rect">
            <a:avLst/>
          </a:prstGeom>
          <a:noFill/>
          <a:ln/>
        </p:spPr>
        <p:txBody>
          <a:bodyPr wrap="square" lIns="0" tIns="0" rIns="0" bIns="0" rtlCol="0" anchor="t"/>
          <a:lstStyle/>
          <a:p>
            <a:pPr indent="0" marL="0">
              <a:buNone/>
            </a:pPr>
            <a:r>
              <a:rPr lang="en-US" sz="1700" b="1" dirty="0">
                <a:solidFill>
                  <a:srgbClr val="0F6673"/>
                </a:solidFill>
                <a:latin typeface="Consolas" pitchFamily="34" charset="0"/>
                <a:ea typeface="Consolas" pitchFamily="34" charset="-122"/>
                <a:cs typeface="Consolas" pitchFamily="34" charset="-120"/>
              </a:rPr>
              <a:t>£16.73</a:t>
            </a:r>
            <a:endParaRPr lang="en-US" sz="1700" dirty="0"/>
          </a:p>
        </p:txBody>
      </p:sp>
      <p:sp>
        <p:nvSpPr>
          <p:cNvPr id="17" name="Text 14"/>
          <p:cNvSpPr txBox="1"/>
          <p:nvPr/>
        </p:nvSpPr>
        <p:spPr>
          <a:xfrm>
            <a:off x="2148840" y="2743200"/>
            <a:ext cx="3017520" cy="658368"/>
          </a:xfrm>
          <a:prstGeom prst="rect">
            <a:avLst/>
          </a:prstGeom>
          <a:noFill/>
          <a:ln/>
        </p:spPr>
        <p:txBody>
          <a:bodyPr wrap="square" lIns="0" tIns="0" rIns="0" bIns="0" rtlCol="0" anchor="t"/>
          <a:lstStyle/>
          <a:p>
            <a:pPr indent="0" marL="0">
              <a:buNone/>
            </a:pPr>
            <a:r>
              <a:rPr lang="en-US" sz="1050" dirty="0">
                <a:solidFill>
                  <a:srgbClr val="15252E"/>
                </a:solidFill>
                <a:latin typeface="Calibri" pitchFamily="34" charset="0"/>
                <a:ea typeface="Calibri" pitchFamily="34" charset="-122"/>
                <a:cs typeface="Calibri" pitchFamily="34" charset="-120"/>
              </a:rPr>
              <a:t>the Phase 5 measurement round</a:t>
            </a:r>
            <a:endParaRPr lang="en-US" sz="1050" dirty="0"/>
          </a:p>
        </p:txBody>
      </p:sp>
      <p:sp>
        <p:nvSpPr>
          <p:cNvPr id="18" name="Text 15"/>
          <p:cNvSpPr txBox="1"/>
          <p:nvPr/>
        </p:nvSpPr>
        <p:spPr>
          <a:xfrm>
            <a:off x="749808" y="3456432"/>
            <a:ext cx="1325880" cy="365760"/>
          </a:xfrm>
          <a:prstGeom prst="rect">
            <a:avLst/>
          </a:prstGeom>
          <a:noFill/>
          <a:ln/>
        </p:spPr>
        <p:txBody>
          <a:bodyPr wrap="square" lIns="0" tIns="0" rIns="0" bIns="0" rtlCol="0" anchor="t"/>
          <a:lstStyle/>
          <a:p>
            <a:pPr indent="0" marL="0">
              <a:buNone/>
            </a:pPr>
            <a:r>
              <a:rPr lang="en-US" sz="1700" b="1" dirty="0">
                <a:solidFill>
                  <a:srgbClr val="0F6673"/>
                </a:solidFill>
                <a:latin typeface="Consolas" pitchFamily="34" charset="0"/>
                <a:ea typeface="Consolas" pitchFamily="34" charset="-122"/>
                <a:cs typeface="Consolas" pitchFamily="34" charset="-120"/>
              </a:rPr>
              <a:t>£29.51</a:t>
            </a:r>
            <a:endParaRPr lang="en-US" sz="1700" dirty="0"/>
          </a:p>
        </p:txBody>
      </p:sp>
      <p:sp>
        <p:nvSpPr>
          <p:cNvPr id="19" name="Text 16"/>
          <p:cNvSpPr txBox="1"/>
          <p:nvPr/>
        </p:nvSpPr>
        <p:spPr>
          <a:xfrm>
            <a:off x="2148840" y="3474720"/>
            <a:ext cx="3017520" cy="658368"/>
          </a:xfrm>
          <a:prstGeom prst="rect">
            <a:avLst/>
          </a:prstGeom>
          <a:noFill/>
          <a:ln/>
        </p:spPr>
        <p:txBody>
          <a:bodyPr wrap="square" lIns="0" tIns="0" rIns="0" bIns="0" rtlCol="0" anchor="t"/>
          <a:lstStyle/>
          <a:p>
            <a:pPr indent="0" marL="0">
              <a:buNone/>
            </a:pPr>
            <a:r>
              <a:rPr lang="en-US" sz="1050" dirty="0">
                <a:solidFill>
                  <a:srgbClr val="15252E"/>
                </a:solidFill>
                <a:latin typeface="Calibri" pitchFamily="34" charset="0"/>
                <a:ea typeface="Calibri" pitchFamily="34" charset="-122"/>
                <a:cs typeface="Calibri" pitchFamily="34" charset="-120"/>
              </a:rPr>
              <a:t>the verdict round, against £31.50 approved</a:t>
            </a:r>
            <a:endParaRPr lang="en-US" sz="1050" dirty="0"/>
          </a:p>
        </p:txBody>
      </p:sp>
      <p:sp>
        <p:nvSpPr>
          <p:cNvPr id="20" name="Text 17"/>
          <p:cNvSpPr txBox="1"/>
          <p:nvPr/>
        </p:nvSpPr>
        <p:spPr>
          <a:xfrm>
            <a:off x="749808" y="4187952"/>
            <a:ext cx="1325880" cy="365760"/>
          </a:xfrm>
          <a:prstGeom prst="rect">
            <a:avLst/>
          </a:prstGeom>
          <a:noFill/>
          <a:ln/>
        </p:spPr>
        <p:txBody>
          <a:bodyPr wrap="square" lIns="0" tIns="0" rIns="0" bIns="0" rtlCol="0" anchor="t"/>
          <a:lstStyle/>
          <a:p>
            <a:pPr indent="0" marL="0">
              <a:buNone/>
            </a:pPr>
            <a:r>
              <a:rPr lang="en-US" sz="1700" b="1" dirty="0">
                <a:solidFill>
                  <a:srgbClr val="0F6673"/>
                </a:solidFill>
                <a:latin typeface="Consolas" pitchFamily="34" charset="0"/>
                <a:ea typeface="Consolas" pitchFamily="34" charset="-122"/>
                <a:cs typeface="Consolas" pitchFamily="34" charset="-120"/>
              </a:rPr>
              <a:t>74–94</a:t>
            </a:r>
            <a:endParaRPr lang="en-US" sz="1700" dirty="0"/>
          </a:p>
        </p:txBody>
      </p:sp>
      <p:sp>
        <p:nvSpPr>
          <p:cNvPr id="21" name="Text 18"/>
          <p:cNvSpPr txBox="1"/>
          <p:nvPr/>
        </p:nvSpPr>
        <p:spPr>
          <a:xfrm>
            <a:off x="2148840" y="4206240"/>
            <a:ext cx="3017520" cy="658368"/>
          </a:xfrm>
          <a:prstGeom prst="rect">
            <a:avLst/>
          </a:prstGeom>
          <a:noFill/>
          <a:ln/>
        </p:spPr>
        <p:txBody>
          <a:bodyPr wrap="square" lIns="0" tIns="0" rIns="0" bIns="0" rtlCol="0" anchor="t"/>
          <a:lstStyle/>
          <a:p>
            <a:pPr indent="0" marL="0">
              <a:buNone/>
            </a:pPr>
            <a:r>
              <a:rPr lang="en-US" sz="1050" dirty="0">
                <a:solidFill>
                  <a:srgbClr val="15252E"/>
                </a:solidFill>
                <a:latin typeface="Calibri" pitchFamily="34" charset="0"/>
                <a:ea typeface="Calibri" pitchFamily="34" charset="-122"/>
                <a:cs typeface="Calibri" pitchFamily="34" charset="-120"/>
              </a:rPr>
              <a:t>working sessions, about £80 of live spend and 39 operator hours: the V1.0 plan’s own estimate</a:t>
            </a:r>
            <a:endParaRPr lang="en-US" sz="1050" dirty="0"/>
          </a:p>
        </p:txBody>
      </p:sp>
      <p:sp>
        <p:nvSpPr>
          <p:cNvPr id="22" name="Shape 19"/>
          <p:cNvSpPr/>
          <p:nvPr/>
        </p:nvSpPr>
        <p:spPr>
          <a:xfrm>
            <a:off x="749808" y="4983480"/>
            <a:ext cx="4352544" cy="914400"/>
          </a:xfrm>
          <a:prstGeom prst="roundRect">
            <a:avLst>
              <a:gd name="adj" fmla="val 5000"/>
            </a:avLst>
          </a:prstGeom>
          <a:solidFill>
            <a:srgbClr val="FFF3D6"/>
          </a:solidFill>
          <a:ln w="9525">
            <a:solidFill>
              <a:srgbClr val="7A4B00"/>
            </a:solidFill>
            <a:prstDash val="solid"/>
          </a:ln>
        </p:spPr>
      </p:sp>
      <p:sp>
        <p:nvSpPr>
          <p:cNvPr id="23" name="Text 20"/>
          <p:cNvSpPr txBox="1"/>
          <p:nvPr/>
        </p:nvSpPr>
        <p:spPr>
          <a:xfrm>
            <a:off x="877824" y="5111496"/>
            <a:ext cx="4096512"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PLACEHOLDER</a:t>
            </a:r>
            <a:endParaRPr lang="en-US" sz="800" dirty="0"/>
          </a:p>
        </p:txBody>
      </p:sp>
      <p:sp>
        <p:nvSpPr>
          <p:cNvPr id="24" name="Text 21"/>
          <p:cNvSpPr txBox="1"/>
          <p:nvPr/>
        </p:nvSpPr>
        <p:spPr>
          <a:xfrm>
            <a:off x="877824" y="5340096"/>
            <a:ext cx="4096512" cy="480974"/>
          </a:xfrm>
          <a:prstGeom prst="rect">
            <a:avLst/>
          </a:prstGeom>
          <a:noFill/>
          <a:ln/>
        </p:spPr>
        <p:txBody>
          <a:bodyPr wrap="square" lIns="0" tIns="0" rIns="0" bIns="0" rtlCol="0" anchor="t"/>
          <a:lstStyle/>
          <a:p>
            <a:pPr algn="l" indent="0" marL="0">
              <a:buNone/>
            </a:pPr>
            <a:r>
              <a:rPr lang="en-US" sz="1050" dirty="0">
                <a:solidFill>
                  <a:srgbClr val="5D3900"/>
                </a:solidFill>
                <a:latin typeface="Calibri" pitchFamily="34" charset="0"/>
                <a:ea typeface="Calibri" pitchFamily="34" charset="-122"/>
                <a:cs typeface="Calibri" pitchFamily="34" charset="-120"/>
              </a:rPr>
              <a:t>Development to date: [your time] · [tools and subscriptions] · [other costs]</a:t>
            </a:r>
            <a:endParaRPr lang="en-US" sz="1050" dirty="0"/>
          </a:p>
        </p:txBody>
      </p:sp>
      <p:sp>
        <p:nvSpPr>
          <p:cNvPr id="25" name="Text 22"/>
          <p:cNvSpPr txBox="1"/>
          <p:nvPr/>
        </p:nvSpPr>
        <p:spPr>
          <a:xfrm>
            <a:off x="5577840" y="1463040"/>
            <a:ext cx="5486400" cy="201168"/>
          </a:xfrm>
          <a:prstGeom prst="rect">
            <a:avLst/>
          </a:prstGeom>
          <a:noFill/>
          <a:ln/>
        </p:spPr>
        <p:txBody>
          <a:bodyPr wrap="square" lIns="0" tIns="0" rIns="0" bIns="0" rtlCol="0" anchor="t"/>
          <a:lstStyle/>
          <a:p>
            <a:pPr indent="0" marL="0">
              <a:buNone/>
            </a:pPr>
            <a:r>
              <a:rPr lang="en-US" sz="900" b="1" spc="100" kern="0" dirty="0">
                <a:solidFill>
                  <a:srgbClr val="7A4B00"/>
                </a:solidFill>
                <a:latin typeface="Consolas" pitchFamily="34" charset="0"/>
                <a:ea typeface="Consolas" pitchFamily="34" charset="-122"/>
                <a:cs typeface="Consolas" pitchFamily="34" charset="-120"/>
              </a:rPr>
              <a:t>TO BECOME A BUSINESS</a:t>
            </a:r>
            <a:endParaRPr lang="en-US" sz="900" dirty="0"/>
          </a:p>
        </p:txBody>
      </p:sp>
      <p:sp>
        <p:nvSpPr>
          <p:cNvPr id="26" name="Shape 23"/>
          <p:cNvSpPr/>
          <p:nvPr/>
        </p:nvSpPr>
        <p:spPr>
          <a:xfrm>
            <a:off x="5577840" y="1783080"/>
            <a:ext cx="6062472" cy="457200"/>
          </a:xfrm>
          <a:prstGeom prst="roundRect">
            <a:avLst>
              <a:gd name="adj" fmla="val 10000"/>
            </a:avLst>
          </a:prstGeom>
          <a:solidFill>
            <a:srgbClr val="FFF3D6"/>
          </a:solidFill>
          <a:ln w="9525">
            <a:solidFill>
              <a:srgbClr val="7A4B00"/>
            </a:solidFill>
            <a:prstDash val="solid"/>
          </a:ln>
        </p:spPr>
      </p:sp>
      <p:sp>
        <p:nvSpPr>
          <p:cNvPr id="27" name="Text 24"/>
          <p:cNvSpPr txBox="1"/>
          <p:nvPr/>
        </p:nvSpPr>
        <p:spPr>
          <a:xfrm>
            <a:off x="5742432" y="1837944"/>
            <a:ext cx="2651760" cy="347472"/>
          </a:xfrm>
          <a:prstGeom prst="rect">
            <a:avLst/>
          </a:prstGeom>
          <a:noFill/>
          <a:ln/>
        </p:spPr>
        <p:txBody>
          <a:bodyPr wrap="square" lIns="0" tIns="0" rIns="0" bIns="0" rtlCol="0" anchor="ctr"/>
          <a:lstStyle/>
          <a:p>
            <a:pPr indent="0" marL="0">
              <a:buNone/>
            </a:pPr>
            <a:r>
              <a:rPr lang="en-US" sz="1100" b="1" dirty="0">
                <a:solidFill>
                  <a:srgbClr val="5D3900"/>
                </a:solidFill>
                <a:latin typeface="Calibri" pitchFamily="34" charset="0"/>
                <a:ea typeface="Calibri" pitchFamily="34" charset="-122"/>
                <a:cs typeface="Calibri" pitchFamily="34" charset="-120"/>
              </a:rPr>
              <a:t>Legal and regulatory opinion</a:t>
            </a:r>
            <a:endParaRPr lang="en-US" sz="1100" dirty="0"/>
          </a:p>
        </p:txBody>
      </p:sp>
      <p:sp>
        <p:nvSpPr>
          <p:cNvPr id="28" name="Text 25"/>
          <p:cNvSpPr txBox="1"/>
          <p:nvPr/>
        </p:nvSpPr>
        <p:spPr>
          <a:xfrm>
            <a:off x="8366760" y="1837944"/>
            <a:ext cx="2011680" cy="347472"/>
          </a:xfrm>
          <a:prstGeom prst="rect">
            <a:avLst/>
          </a:prstGeom>
          <a:noFill/>
          <a:ln/>
        </p:spPr>
        <p:txBody>
          <a:bodyPr wrap="square" lIns="0" tIns="0" rIns="0" bIns="0" rtlCol="0" anchor="ctr"/>
          <a:lstStyle/>
          <a:p>
            <a:pPr indent="0" marL="0">
              <a:buNone/>
            </a:pPr>
            <a:r>
              <a:rPr lang="en-US" sz="950" dirty="0">
                <a:solidFill>
                  <a:srgbClr val="5D3900"/>
                </a:solidFill>
                <a:latin typeface="Calibri" pitchFamily="34" charset="0"/>
                <a:ea typeface="Calibri" pitchFamily="34" charset="-122"/>
                <a:cs typeface="Calibri" pitchFamily="34" charset="-120"/>
              </a:rPr>
              <a:t>UK advice boundary; US position</a:t>
            </a:r>
            <a:endParaRPr lang="en-US" sz="950" dirty="0"/>
          </a:p>
        </p:txBody>
      </p:sp>
      <p:sp>
        <p:nvSpPr>
          <p:cNvPr id="29" name="Text 26"/>
          <p:cNvSpPr txBox="1"/>
          <p:nvPr/>
        </p:nvSpPr>
        <p:spPr>
          <a:xfrm>
            <a:off x="10378440" y="1837944"/>
            <a:ext cx="1143000" cy="347472"/>
          </a:xfrm>
          <a:prstGeom prst="rect">
            <a:avLst/>
          </a:prstGeom>
          <a:noFill/>
          <a:ln/>
        </p:spPr>
        <p:txBody>
          <a:bodyPr wrap="square" lIns="0" tIns="0" rIns="0" bIns="0" rtlCol="0" anchor="ctr"/>
          <a:lstStyle/>
          <a:p>
            <a:pPr algn="r" indent="0" marL="0">
              <a:buNone/>
            </a:pPr>
            <a:r>
              <a:rPr lang="en-US" sz="1100" b="1" dirty="0">
                <a:solidFill>
                  <a:srgbClr val="7A4B00"/>
                </a:solidFill>
                <a:latin typeface="Consolas" pitchFamily="34" charset="0"/>
                <a:ea typeface="Consolas" pitchFamily="34" charset="-122"/>
                <a:cs typeface="Consolas" pitchFamily="34" charset="-120"/>
              </a:rPr>
              <a:t>£ [ ___ ]</a:t>
            </a:r>
            <a:endParaRPr lang="en-US" sz="1100" dirty="0"/>
          </a:p>
        </p:txBody>
      </p:sp>
      <p:sp>
        <p:nvSpPr>
          <p:cNvPr id="30" name="Shape 27"/>
          <p:cNvSpPr/>
          <p:nvPr/>
        </p:nvSpPr>
        <p:spPr>
          <a:xfrm>
            <a:off x="5577840" y="2318004"/>
            <a:ext cx="6062472" cy="457200"/>
          </a:xfrm>
          <a:prstGeom prst="roundRect">
            <a:avLst>
              <a:gd name="adj" fmla="val 10000"/>
            </a:avLst>
          </a:prstGeom>
          <a:solidFill>
            <a:srgbClr val="FFF3D6"/>
          </a:solidFill>
          <a:ln w="9525">
            <a:solidFill>
              <a:srgbClr val="7A4B00"/>
            </a:solidFill>
            <a:prstDash val="solid"/>
          </a:ln>
        </p:spPr>
      </p:sp>
      <p:sp>
        <p:nvSpPr>
          <p:cNvPr id="31" name="Text 28"/>
          <p:cNvSpPr txBox="1"/>
          <p:nvPr/>
        </p:nvSpPr>
        <p:spPr>
          <a:xfrm>
            <a:off x="5742432" y="2372868"/>
            <a:ext cx="2651760" cy="347472"/>
          </a:xfrm>
          <a:prstGeom prst="rect">
            <a:avLst/>
          </a:prstGeom>
          <a:noFill/>
          <a:ln/>
        </p:spPr>
        <p:txBody>
          <a:bodyPr wrap="square" lIns="0" tIns="0" rIns="0" bIns="0" rtlCol="0" anchor="ctr"/>
          <a:lstStyle/>
          <a:p>
            <a:pPr indent="0" marL="0">
              <a:buNone/>
            </a:pPr>
            <a:r>
              <a:rPr lang="en-US" sz="1100" b="1" dirty="0">
                <a:solidFill>
                  <a:srgbClr val="5D3900"/>
                </a:solidFill>
                <a:latin typeface="Calibri" pitchFamily="34" charset="0"/>
                <a:ea typeface="Calibri" pitchFamily="34" charset="-122"/>
                <a:cs typeface="Calibri" pitchFamily="34" charset="-120"/>
              </a:rPr>
              <a:t>Company, IP assignment, licence</a:t>
            </a:r>
            <a:endParaRPr lang="en-US" sz="1100" dirty="0"/>
          </a:p>
        </p:txBody>
      </p:sp>
      <p:sp>
        <p:nvSpPr>
          <p:cNvPr id="32" name="Text 29"/>
          <p:cNvSpPr txBox="1"/>
          <p:nvPr/>
        </p:nvSpPr>
        <p:spPr>
          <a:xfrm>
            <a:off x="8366760" y="2372868"/>
            <a:ext cx="2011680" cy="347472"/>
          </a:xfrm>
          <a:prstGeom prst="rect">
            <a:avLst/>
          </a:prstGeom>
          <a:noFill/>
          <a:ln/>
        </p:spPr>
        <p:txBody>
          <a:bodyPr wrap="square" lIns="0" tIns="0" rIns="0" bIns="0" rtlCol="0" anchor="ctr"/>
          <a:lstStyle/>
          <a:p>
            <a:pPr indent="0" marL="0">
              <a:buNone/>
            </a:pPr>
            <a:r>
              <a:rPr lang="en-US" sz="950" dirty="0">
                <a:solidFill>
                  <a:srgbClr val="5D3900"/>
                </a:solidFill>
                <a:latin typeface="Calibri" pitchFamily="34" charset="0"/>
                <a:ea typeface="Calibri" pitchFamily="34" charset="-122"/>
                <a:cs typeface="Calibri" pitchFamily="34" charset="-120"/>
              </a:rPr>
              <a:t>MIT is marked provisional</a:t>
            </a:r>
            <a:endParaRPr lang="en-US" sz="950" dirty="0"/>
          </a:p>
        </p:txBody>
      </p:sp>
      <p:sp>
        <p:nvSpPr>
          <p:cNvPr id="33" name="Text 30"/>
          <p:cNvSpPr txBox="1"/>
          <p:nvPr/>
        </p:nvSpPr>
        <p:spPr>
          <a:xfrm>
            <a:off x="10378440" y="2372868"/>
            <a:ext cx="1143000" cy="347472"/>
          </a:xfrm>
          <a:prstGeom prst="rect">
            <a:avLst/>
          </a:prstGeom>
          <a:noFill/>
          <a:ln/>
        </p:spPr>
        <p:txBody>
          <a:bodyPr wrap="square" lIns="0" tIns="0" rIns="0" bIns="0" rtlCol="0" anchor="ctr"/>
          <a:lstStyle/>
          <a:p>
            <a:pPr algn="r" indent="0" marL="0">
              <a:buNone/>
            </a:pPr>
            <a:r>
              <a:rPr lang="en-US" sz="1100" b="1" dirty="0">
                <a:solidFill>
                  <a:srgbClr val="7A4B00"/>
                </a:solidFill>
                <a:latin typeface="Consolas" pitchFamily="34" charset="0"/>
                <a:ea typeface="Consolas" pitchFamily="34" charset="-122"/>
                <a:cs typeface="Consolas" pitchFamily="34" charset="-120"/>
              </a:rPr>
              <a:t>£ [ ___ ]</a:t>
            </a:r>
            <a:endParaRPr lang="en-US" sz="1100" dirty="0"/>
          </a:p>
        </p:txBody>
      </p:sp>
      <p:sp>
        <p:nvSpPr>
          <p:cNvPr id="34" name="Shape 31"/>
          <p:cNvSpPr/>
          <p:nvPr/>
        </p:nvSpPr>
        <p:spPr>
          <a:xfrm>
            <a:off x="5577840" y="2852928"/>
            <a:ext cx="6062472" cy="457200"/>
          </a:xfrm>
          <a:prstGeom prst="roundRect">
            <a:avLst>
              <a:gd name="adj" fmla="val 10000"/>
            </a:avLst>
          </a:prstGeom>
          <a:solidFill>
            <a:srgbClr val="FFF3D6"/>
          </a:solidFill>
          <a:ln w="9525">
            <a:solidFill>
              <a:srgbClr val="7A4B00"/>
            </a:solidFill>
            <a:prstDash val="solid"/>
          </a:ln>
        </p:spPr>
      </p:sp>
      <p:sp>
        <p:nvSpPr>
          <p:cNvPr id="35" name="Text 32"/>
          <p:cNvSpPr txBox="1"/>
          <p:nvPr/>
        </p:nvSpPr>
        <p:spPr>
          <a:xfrm>
            <a:off x="5742432" y="2907792"/>
            <a:ext cx="2651760" cy="347472"/>
          </a:xfrm>
          <a:prstGeom prst="rect">
            <a:avLst/>
          </a:prstGeom>
          <a:noFill/>
          <a:ln/>
        </p:spPr>
        <p:txBody>
          <a:bodyPr wrap="square" lIns="0" tIns="0" rIns="0" bIns="0" rtlCol="0" anchor="ctr"/>
          <a:lstStyle/>
          <a:p>
            <a:pPr indent="0" marL="0">
              <a:buNone/>
            </a:pPr>
            <a:r>
              <a:rPr lang="en-US" sz="1100" b="1" dirty="0">
                <a:solidFill>
                  <a:srgbClr val="5D3900"/>
                </a:solidFill>
                <a:latin typeface="Calibri" pitchFamily="34" charset="0"/>
                <a:ea typeface="Calibri" pitchFamily="34" charset="-122"/>
                <a:cs typeface="Calibri" pitchFamily="34" charset="-120"/>
              </a:rPr>
              <a:t>Commercial data licences</a:t>
            </a:r>
            <a:endParaRPr lang="en-US" sz="1100" dirty="0"/>
          </a:p>
        </p:txBody>
      </p:sp>
      <p:sp>
        <p:nvSpPr>
          <p:cNvPr id="36" name="Text 33"/>
          <p:cNvSpPr txBox="1"/>
          <p:nvPr/>
        </p:nvSpPr>
        <p:spPr>
          <a:xfrm>
            <a:off x="8366760" y="2907792"/>
            <a:ext cx="2011680" cy="347472"/>
          </a:xfrm>
          <a:prstGeom prst="rect">
            <a:avLst/>
          </a:prstGeom>
          <a:noFill/>
          <a:ln/>
        </p:spPr>
        <p:txBody>
          <a:bodyPr wrap="square" lIns="0" tIns="0" rIns="0" bIns="0" rtlCol="0" anchor="ctr"/>
          <a:lstStyle/>
          <a:p>
            <a:pPr indent="0" marL="0">
              <a:buNone/>
            </a:pPr>
            <a:r>
              <a:rPr lang="en-US" sz="950" dirty="0">
                <a:solidFill>
                  <a:srgbClr val="5D3900"/>
                </a:solidFill>
                <a:latin typeface="Calibri" pitchFamily="34" charset="0"/>
                <a:ea typeface="Calibri" pitchFamily="34" charset="-122"/>
                <a:cs typeface="Calibri" pitchFamily="34" charset="-120"/>
              </a:rPr>
              <a:t>price data today is personal-use</a:t>
            </a:r>
            <a:endParaRPr lang="en-US" sz="950" dirty="0"/>
          </a:p>
        </p:txBody>
      </p:sp>
      <p:sp>
        <p:nvSpPr>
          <p:cNvPr id="37" name="Text 34"/>
          <p:cNvSpPr txBox="1"/>
          <p:nvPr/>
        </p:nvSpPr>
        <p:spPr>
          <a:xfrm>
            <a:off x="10378440" y="2907792"/>
            <a:ext cx="1143000" cy="347472"/>
          </a:xfrm>
          <a:prstGeom prst="rect">
            <a:avLst/>
          </a:prstGeom>
          <a:noFill/>
          <a:ln/>
        </p:spPr>
        <p:txBody>
          <a:bodyPr wrap="square" lIns="0" tIns="0" rIns="0" bIns="0" rtlCol="0" anchor="ctr"/>
          <a:lstStyle/>
          <a:p>
            <a:pPr algn="r" indent="0" marL="0">
              <a:buNone/>
            </a:pPr>
            <a:r>
              <a:rPr lang="en-US" sz="1100" b="1" dirty="0">
                <a:solidFill>
                  <a:srgbClr val="7A4B00"/>
                </a:solidFill>
                <a:latin typeface="Consolas" pitchFamily="34" charset="0"/>
                <a:ea typeface="Consolas" pitchFamily="34" charset="-122"/>
                <a:cs typeface="Consolas" pitchFamily="34" charset="-120"/>
              </a:rPr>
              <a:t>£ [ ___ ]</a:t>
            </a:r>
            <a:endParaRPr lang="en-US" sz="1100" dirty="0"/>
          </a:p>
        </p:txBody>
      </p:sp>
      <p:sp>
        <p:nvSpPr>
          <p:cNvPr id="38" name="Shape 35"/>
          <p:cNvSpPr/>
          <p:nvPr/>
        </p:nvSpPr>
        <p:spPr>
          <a:xfrm>
            <a:off x="5577840" y="3387852"/>
            <a:ext cx="6062472" cy="457200"/>
          </a:xfrm>
          <a:prstGeom prst="roundRect">
            <a:avLst>
              <a:gd name="adj" fmla="val 10000"/>
            </a:avLst>
          </a:prstGeom>
          <a:solidFill>
            <a:srgbClr val="FFF3D6"/>
          </a:solidFill>
          <a:ln w="9525">
            <a:solidFill>
              <a:srgbClr val="7A4B00"/>
            </a:solidFill>
            <a:prstDash val="solid"/>
          </a:ln>
        </p:spPr>
      </p:sp>
      <p:sp>
        <p:nvSpPr>
          <p:cNvPr id="39" name="Text 36"/>
          <p:cNvSpPr txBox="1"/>
          <p:nvPr/>
        </p:nvSpPr>
        <p:spPr>
          <a:xfrm>
            <a:off x="5742432" y="3442716"/>
            <a:ext cx="2651760" cy="347472"/>
          </a:xfrm>
          <a:prstGeom prst="rect">
            <a:avLst/>
          </a:prstGeom>
          <a:noFill/>
          <a:ln/>
        </p:spPr>
        <p:txBody>
          <a:bodyPr wrap="square" lIns="0" tIns="0" rIns="0" bIns="0" rtlCol="0" anchor="ctr"/>
          <a:lstStyle/>
          <a:p>
            <a:pPr indent="0" marL="0">
              <a:buNone/>
            </a:pPr>
            <a:r>
              <a:rPr lang="en-US" sz="1100" b="1" dirty="0">
                <a:solidFill>
                  <a:srgbClr val="5D3900"/>
                </a:solidFill>
                <a:latin typeface="Calibri" pitchFamily="34" charset="0"/>
                <a:ea typeface="Calibri" pitchFamily="34" charset="-122"/>
                <a:cs typeface="Calibri" pitchFamily="34" charset="-120"/>
              </a:rPr>
              <a:t>A second user (F17)</a:t>
            </a:r>
            <a:endParaRPr lang="en-US" sz="1100" dirty="0"/>
          </a:p>
        </p:txBody>
      </p:sp>
      <p:sp>
        <p:nvSpPr>
          <p:cNvPr id="40" name="Text 37"/>
          <p:cNvSpPr txBox="1"/>
          <p:nvPr/>
        </p:nvSpPr>
        <p:spPr>
          <a:xfrm>
            <a:off x="8366760" y="3442716"/>
            <a:ext cx="2011680" cy="347472"/>
          </a:xfrm>
          <a:prstGeom prst="rect">
            <a:avLst/>
          </a:prstGeom>
          <a:noFill/>
          <a:ln/>
        </p:spPr>
        <p:txBody>
          <a:bodyPr wrap="square" lIns="0" tIns="0" rIns="0" bIns="0" rtlCol="0" anchor="ctr"/>
          <a:lstStyle/>
          <a:p>
            <a:pPr indent="0" marL="0">
              <a:buNone/>
            </a:pPr>
            <a:r>
              <a:rPr lang="en-US" sz="950" dirty="0">
                <a:solidFill>
                  <a:srgbClr val="5D3900"/>
                </a:solidFill>
                <a:latin typeface="Calibri" pitchFamily="34" charset="0"/>
                <a:ea typeface="Calibri" pitchFamily="34" charset="-122"/>
                <a:cs typeface="Calibri" pitchFamily="34" charset="-120"/>
              </a:rPr>
              <a:t>accounts, sharing, rate limits, deployment</a:t>
            </a:r>
            <a:endParaRPr lang="en-US" sz="950" dirty="0"/>
          </a:p>
        </p:txBody>
      </p:sp>
      <p:sp>
        <p:nvSpPr>
          <p:cNvPr id="41" name="Text 38"/>
          <p:cNvSpPr txBox="1"/>
          <p:nvPr/>
        </p:nvSpPr>
        <p:spPr>
          <a:xfrm>
            <a:off x="10378440" y="3442716"/>
            <a:ext cx="1143000" cy="347472"/>
          </a:xfrm>
          <a:prstGeom prst="rect">
            <a:avLst/>
          </a:prstGeom>
          <a:noFill/>
          <a:ln/>
        </p:spPr>
        <p:txBody>
          <a:bodyPr wrap="square" lIns="0" tIns="0" rIns="0" bIns="0" rtlCol="0" anchor="ctr"/>
          <a:lstStyle/>
          <a:p>
            <a:pPr algn="r" indent="0" marL="0">
              <a:buNone/>
            </a:pPr>
            <a:r>
              <a:rPr lang="en-US" sz="1100" b="1" dirty="0">
                <a:solidFill>
                  <a:srgbClr val="7A4B00"/>
                </a:solidFill>
                <a:latin typeface="Consolas" pitchFamily="34" charset="0"/>
                <a:ea typeface="Consolas" pitchFamily="34" charset="-122"/>
                <a:cs typeface="Consolas" pitchFamily="34" charset="-120"/>
              </a:rPr>
              <a:t>£ [ ___ ]</a:t>
            </a:r>
            <a:endParaRPr lang="en-US" sz="1100" dirty="0"/>
          </a:p>
        </p:txBody>
      </p:sp>
      <p:sp>
        <p:nvSpPr>
          <p:cNvPr id="42" name="Shape 39"/>
          <p:cNvSpPr/>
          <p:nvPr/>
        </p:nvSpPr>
        <p:spPr>
          <a:xfrm>
            <a:off x="5577840" y="3922776"/>
            <a:ext cx="6062472" cy="457200"/>
          </a:xfrm>
          <a:prstGeom prst="roundRect">
            <a:avLst>
              <a:gd name="adj" fmla="val 10000"/>
            </a:avLst>
          </a:prstGeom>
          <a:solidFill>
            <a:srgbClr val="FFF3D6"/>
          </a:solidFill>
          <a:ln w="9525">
            <a:solidFill>
              <a:srgbClr val="7A4B00"/>
            </a:solidFill>
            <a:prstDash val="solid"/>
          </a:ln>
        </p:spPr>
      </p:sp>
      <p:sp>
        <p:nvSpPr>
          <p:cNvPr id="43" name="Text 40"/>
          <p:cNvSpPr txBox="1"/>
          <p:nvPr/>
        </p:nvSpPr>
        <p:spPr>
          <a:xfrm>
            <a:off x="5742432" y="3977640"/>
            <a:ext cx="2651760" cy="347472"/>
          </a:xfrm>
          <a:prstGeom prst="rect">
            <a:avLst/>
          </a:prstGeom>
          <a:noFill/>
          <a:ln/>
        </p:spPr>
        <p:txBody>
          <a:bodyPr wrap="square" lIns="0" tIns="0" rIns="0" bIns="0" rtlCol="0" anchor="ctr"/>
          <a:lstStyle/>
          <a:p>
            <a:pPr indent="0" marL="0">
              <a:buNone/>
            </a:pPr>
            <a:r>
              <a:rPr lang="en-US" sz="1100" b="1" dirty="0">
                <a:solidFill>
                  <a:srgbClr val="5D3900"/>
                </a:solidFill>
                <a:latin typeface="Calibri" pitchFamily="34" charset="0"/>
                <a:ea typeface="Calibri" pitchFamily="34" charset="-122"/>
                <a:cs typeface="Calibri" pitchFamily="34" charset="-120"/>
              </a:rPr>
              <a:t>Security review</a:t>
            </a:r>
            <a:endParaRPr lang="en-US" sz="1100" dirty="0"/>
          </a:p>
        </p:txBody>
      </p:sp>
      <p:sp>
        <p:nvSpPr>
          <p:cNvPr id="44" name="Text 41"/>
          <p:cNvSpPr txBox="1"/>
          <p:nvPr/>
        </p:nvSpPr>
        <p:spPr>
          <a:xfrm>
            <a:off x="8366760" y="3977640"/>
            <a:ext cx="2011680" cy="347472"/>
          </a:xfrm>
          <a:prstGeom prst="rect">
            <a:avLst/>
          </a:prstGeom>
          <a:noFill/>
          <a:ln/>
        </p:spPr>
        <p:txBody>
          <a:bodyPr wrap="square" lIns="0" tIns="0" rIns="0" bIns="0" rtlCol="0" anchor="ctr"/>
          <a:lstStyle/>
          <a:p>
            <a:pPr indent="0" marL="0">
              <a:buNone/>
            </a:pPr>
            <a:r>
              <a:rPr lang="en-US" sz="950" dirty="0">
                <a:solidFill>
                  <a:srgbClr val="5D3900"/>
                </a:solidFill>
                <a:latin typeface="Calibri" pitchFamily="34" charset="0"/>
                <a:ea typeface="Calibri" pitchFamily="34" charset="-122"/>
                <a:cs typeface="Calibri" pitchFamily="34" charset="-120"/>
              </a:rPr>
              <a:t>external penetration test</a:t>
            </a:r>
            <a:endParaRPr lang="en-US" sz="950" dirty="0"/>
          </a:p>
        </p:txBody>
      </p:sp>
      <p:sp>
        <p:nvSpPr>
          <p:cNvPr id="45" name="Text 42"/>
          <p:cNvSpPr txBox="1"/>
          <p:nvPr/>
        </p:nvSpPr>
        <p:spPr>
          <a:xfrm>
            <a:off x="10378440" y="3977640"/>
            <a:ext cx="1143000" cy="347472"/>
          </a:xfrm>
          <a:prstGeom prst="rect">
            <a:avLst/>
          </a:prstGeom>
          <a:noFill/>
          <a:ln/>
        </p:spPr>
        <p:txBody>
          <a:bodyPr wrap="square" lIns="0" tIns="0" rIns="0" bIns="0" rtlCol="0" anchor="ctr"/>
          <a:lstStyle/>
          <a:p>
            <a:pPr algn="r" indent="0" marL="0">
              <a:buNone/>
            </a:pPr>
            <a:r>
              <a:rPr lang="en-US" sz="1100" b="1" dirty="0">
                <a:solidFill>
                  <a:srgbClr val="7A4B00"/>
                </a:solidFill>
                <a:latin typeface="Consolas" pitchFamily="34" charset="0"/>
                <a:ea typeface="Consolas" pitchFamily="34" charset="-122"/>
                <a:cs typeface="Consolas" pitchFamily="34" charset="-120"/>
              </a:rPr>
              <a:t>£ [ ___ ]</a:t>
            </a:r>
            <a:endParaRPr lang="en-US" sz="1100" dirty="0"/>
          </a:p>
        </p:txBody>
      </p:sp>
      <p:sp>
        <p:nvSpPr>
          <p:cNvPr id="46" name="Shape 43"/>
          <p:cNvSpPr/>
          <p:nvPr/>
        </p:nvSpPr>
        <p:spPr>
          <a:xfrm>
            <a:off x="5577840" y="4457700"/>
            <a:ext cx="6062472" cy="457200"/>
          </a:xfrm>
          <a:prstGeom prst="roundRect">
            <a:avLst>
              <a:gd name="adj" fmla="val 10000"/>
            </a:avLst>
          </a:prstGeom>
          <a:solidFill>
            <a:srgbClr val="FFF3D6"/>
          </a:solidFill>
          <a:ln w="9525">
            <a:solidFill>
              <a:srgbClr val="7A4B00"/>
            </a:solidFill>
            <a:prstDash val="solid"/>
          </a:ln>
        </p:spPr>
      </p:sp>
      <p:sp>
        <p:nvSpPr>
          <p:cNvPr id="47" name="Text 44"/>
          <p:cNvSpPr txBox="1"/>
          <p:nvPr/>
        </p:nvSpPr>
        <p:spPr>
          <a:xfrm>
            <a:off x="5742432" y="4512564"/>
            <a:ext cx="2651760" cy="347472"/>
          </a:xfrm>
          <a:prstGeom prst="rect">
            <a:avLst/>
          </a:prstGeom>
          <a:noFill/>
          <a:ln/>
        </p:spPr>
        <p:txBody>
          <a:bodyPr wrap="square" lIns="0" tIns="0" rIns="0" bIns="0" rtlCol="0" anchor="ctr"/>
          <a:lstStyle/>
          <a:p>
            <a:pPr indent="0" marL="0">
              <a:buNone/>
            </a:pPr>
            <a:r>
              <a:rPr lang="en-US" sz="1100" b="1" dirty="0">
                <a:solidFill>
                  <a:srgbClr val="5D3900"/>
                </a:solidFill>
                <a:latin typeface="Calibri" pitchFamily="34" charset="0"/>
                <a:ea typeface="Calibri" pitchFamily="34" charset="-122"/>
                <a:cs typeface="Calibri" pitchFamily="34" charset="-120"/>
              </a:rPr>
              <a:t>Hosting and operations</a:t>
            </a:r>
            <a:endParaRPr lang="en-US" sz="1100" dirty="0"/>
          </a:p>
        </p:txBody>
      </p:sp>
      <p:sp>
        <p:nvSpPr>
          <p:cNvPr id="48" name="Text 45"/>
          <p:cNvSpPr txBox="1"/>
          <p:nvPr/>
        </p:nvSpPr>
        <p:spPr>
          <a:xfrm>
            <a:off x="8366760" y="4512564"/>
            <a:ext cx="2011680" cy="347472"/>
          </a:xfrm>
          <a:prstGeom prst="rect">
            <a:avLst/>
          </a:prstGeom>
          <a:noFill/>
          <a:ln/>
        </p:spPr>
        <p:txBody>
          <a:bodyPr wrap="square" lIns="0" tIns="0" rIns="0" bIns="0" rtlCol="0" anchor="ctr"/>
          <a:lstStyle/>
          <a:p>
            <a:pPr indent="0" marL="0">
              <a:buNone/>
            </a:pPr>
            <a:r>
              <a:rPr lang="en-US" sz="950" dirty="0">
                <a:solidFill>
                  <a:srgbClr val="5D3900"/>
                </a:solidFill>
                <a:latin typeface="Calibri" pitchFamily="34" charset="0"/>
                <a:ea typeface="Calibri" pitchFamily="34" charset="-122"/>
                <a:cs typeface="Calibri" pitchFamily="34" charset="-120"/>
              </a:rPr>
              <a:t>if the delivery model needs it</a:t>
            </a:r>
            <a:endParaRPr lang="en-US" sz="950" dirty="0"/>
          </a:p>
        </p:txBody>
      </p:sp>
      <p:sp>
        <p:nvSpPr>
          <p:cNvPr id="49" name="Text 46"/>
          <p:cNvSpPr txBox="1"/>
          <p:nvPr/>
        </p:nvSpPr>
        <p:spPr>
          <a:xfrm>
            <a:off x="10378440" y="4512564"/>
            <a:ext cx="1143000" cy="347472"/>
          </a:xfrm>
          <a:prstGeom prst="rect">
            <a:avLst/>
          </a:prstGeom>
          <a:noFill/>
          <a:ln/>
        </p:spPr>
        <p:txBody>
          <a:bodyPr wrap="square" lIns="0" tIns="0" rIns="0" bIns="0" rtlCol="0" anchor="ctr"/>
          <a:lstStyle/>
          <a:p>
            <a:pPr algn="r" indent="0" marL="0">
              <a:buNone/>
            </a:pPr>
            <a:r>
              <a:rPr lang="en-US" sz="1100" b="1" dirty="0">
                <a:solidFill>
                  <a:srgbClr val="7A4B00"/>
                </a:solidFill>
                <a:latin typeface="Consolas" pitchFamily="34" charset="0"/>
                <a:ea typeface="Consolas" pitchFamily="34" charset="-122"/>
                <a:cs typeface="Consolas" pitchFamily="34" charset="-120"/>
              </a:rPr>
              <a:t>£ [ ___ ]</a:t>
            </a:r>
            <a:endParaRPr lang="en-US" sz="1100" dirty="0"/>
          </a:p>
        </p:txBody>
      </p:sp>
      <p:sp>
        <p:nvSpPr>
          <p:cNvPr id="50" name="Shape 47"/>
          <p:cNvSpPr/>
          <p:nvPr/>
        </p:nvSpPr>
        <p:spPr>
          <a:xfrm>
            <a:off x="5577840" y="4992624"/>
            <a:ext cx="6062472" cy="457200"/>
          </a:xfrm>
          <a:prstGeom prst="roundRect">
            <a:avLst>
              <a:gd name="adj" fmla="val 10000"/>
            </a:avLst>
          </a:prstGeom>
          <a:solidFill>
            <a:srgbClr val="FFF3D6"/>
          </a:solidFill>
          <a:ln w="9525">
            <a:solidFill>
              <a:srgbClr val="7A4B00"/>
            </a:solidFill>
            <a:prstDash val="solid"/>
          </a:ln>
        </p:spPr>
      </p:sp>
      <p:sp>
        <p:nvSpPr>
          <p:cNvPr id="51" name="Text 48"/>
          <p:cNvSpPr txBox="1"/>
          <p:nvPr/>
        </p:nvSpPr>
        <p:spPr>
          <a:xfrm>
            <a:off x="5742432" y="5047488"/>
            <a:ext cx="2651760" cy="347472"/>
          </a:xfrm>
          <a:prstGeom prst="rect">
            <a:avLst/>
          </a:prstGeom>
          <a:noFill/>
          <a:ln/>
        </p:spPr>
        <p:txBody>
          <a:bodyPr wrap="square" lIns="0" tIns="0" rIns="0" bIns="0" rtlCol="0" anchor="ctr"/>
          <a:lstStyle/>
          <a:p>
            <a:pPr indent="0" marL="0">
              <a:buNone/>
            </a:pPr>
            <a:r>
              <a:rPr lang="en-US" sz="1100" b="1" dirty="0">
                <a:solidFill>
                  <a:srgbClr val="5D3900"/>
                </a:solidFill>
                <a:latin typeface="Calibri" pitchFamily="34" charset="0"/>
                <a:ea typeface="Calibri" pitchFamily="34" charset="-122"/>
                <a:cs typeface="Calibri" pitchFamily="34" charset="-120"/>
              </a:rPr>
              <a:t>Insurance</a:t>
            </a:r>
            <a:endParaRPr lang="en-US" sz="1100" dirty="0"/>
          </a:p>
        </p:txBody>
      </p:sp>
      <p:sp>
        <p:nvSpPr>
          <p:cNvPr id="52" name="Text 49"/>
          <p:cNvSpPr txBox="1"/>
          <p:nvPr/>
        </p:nvSpPr>
        <p:spPr>
          <a:xfrm>
            <a:off x="8366760" y="5047488"/>
            <a:ext cx="2011680" cy="347472"/>
          </a:xfrm>
          <a:prstGeom prst="rect">
            <a:avLst/>
          </a:prstGeom>
          <a:noFill/>
          <a:ln/>
        </p:spPr>
        <p:txBody>
          <a:bodyPr wrap="square" lIns="0" tIns="0" rIns="0" bIns="0" rtlCol="0" anchor="ctr"/>
          <a:lstStyle/>
          <a:p>
            <a:pPr indent="0" marL="0">
              <a:buNone/>
            </a:pPr>
            <a:r>
              <a:rPr lang="en-US" sz="950" dirty="0">
                <a:solidFill>
                  <a:srgbClr val="5D3900"/>
                </a:solidFill>
                <a:latin typeface="Calibri" pitchFamily="34" charset="0"/>
                <a:ea typeface="Calibri" pitchFamily="34" charset="-122"/>
                <a:cs typeface="Calibri" pitchFamily="34" charset="-120"/>
              </a:rPr>
              <a:t>professional indemnity, cyber</a:t>
            </a:r>
            <a:endParaRPr lang="en-US" sz="950" dirty="0"/>
          </a:p>
        </p:txBody>
      </p:sp>
      <p:sp>
        <p:nvSpPr>
          <p:cNvPr id="53" name="Text 50"/>
          <p:cNvSpPr txBox="1"/>
          <p:nvPr/>
        </p:nvSpPr>
        <p:spPr>
          <a:xfrm>
            <a:off x="10378440" y="5047488"/>
            <a:ext cx="1143000" cy="347472"/>
          </a:xfrm>
          <a:prstGeom prst="rect">
            <a:avLst/>
          </a:prstGeom>
          <a:noFill/>
          <a:ln/>
        </p:spPr>
        <p:txBody>
          <a:bodyPr wrap="square" lIns="0" tIns="0" rIns="0" bIns="0" rtlCol="0" anchor="ctr"/>
          <a:lstStyle/>
          <a:p>
            <a:pPr algn="r" indent="0" marL="0">
              <a:buNone/>
            </a:pPr>
            <a:r>
              <a:rPr lang="en-US" sz="1100" b="1" dirty="0">
                <a:solidFill>
                  <a:srgbClr val="7A4B00"/>
                </a:solidFill>
                <a:latin typeface="Consolas" pitchFamily="34" charset="0"/>
                <a:ea typeface="Consolas" pitchFamily="34" charset="-122"/>
                <a:cs typeface="Consolas" pitchFamily="34" charset="-120"/>
              </a:rPr>
              <a:t>£ [ ___ ]</a:t>
            </a:r>
            <a:endParaRPr lang="en-US" sz="1100" dirty="0"/>
          </a:p>
        </p:txBody>
      </p:sp>
      <p:sp>
        <p:nvSpPr>
          <p:cNvPr id="54" name="Shape 51"/>
          <p:cNvSpPr/>
          <p:nvPr/>
        </p:nvSpPr>
        <p:spPr>
          <a:xfrm>
            <a:off x="5577840" y="5527548"/>
            <a:ext cx="6062472" cy="457200"/>
          </a:xfrm>
          <a:prstGeom prst="roundRect">
            <a:avLst>
              <a:gd name="adj" fmla="val 10000"/>
            </a:avLst>
          </a:prstGeom>
          <a:solidFill>
            <a:srgbClr val="FFF3D6"/>
          </a:solidFill>
          <a:ln w="9525">
            <a:solidFill>
              <a:srgbClr val="7A4B00"/>
            </a:solidFill>
            <a:prstDash val="solid"/>
          </a:ln>
        </p:spPr>
      </p:sp>
      <p:sp>
        <p:nvSpPr>
          <p:cNvPr id="55" name="Text 52"/>
          <p:cNvSpPr txBox="1"/>
          <p:nvPr/>
        </p:nvSpPr>
        <p:spPr>
          <a:xfrm>
            <a:off x="5742432" y="5582412"/>
            <a:ext cx="2651760" cy="347472"/>
          </a:xfrm>
          <a:prstGeom prst="rect">
            <a:avLst/>
          </a:prstGeom>
          <a:noFill/>
          <a:ln/>
        </p:spPr>
        <p:txBody>
          <a:bodyPr wrap="square" lIns="0" tIns="0" rIns="0" bIns="0" rtlCol="0" anchor="ctr"/>
          <a:lstStyle/>
          <a:p>
            <a:pPr indent="0" marL="0">
              <a:buNone/>
            </a:pPr>
            <a:r>
              <a:rPr lang="en-US" sz="1100" b="1" dirty="0">
                <a:solidFill>
                  <a:srgbClr val="5D3900"/>
                </a:solidFill>
                <a:latin typeface="Calibri" pitchFamily="34" charset="0"/>
                <a:ea typeface="Calibri" pitchFamily="34" charset="-122"/>
                <a:cs typeface="Calibri" pitchFamily="34" charset="-120"/>
              </a:rPr>
              <a:t>Team and go-to-market</a:t>
            </a:r>
            <a:endParaRPr lang="en-US" sz="1100" dirty="0"/>
          </a:p>
        </p:txBody>
      </p:sp>
      <p:sp>
        <p:nvSpPr>
          <p:cNvPr id="56" name="Text 53"/>
          <p:cNvSpPr txBox="1"/>
          <p:nvPr/>
        </p:nvSpPr>
        <p:spPr>
          <a:xfrm>
            <a:off x="8366760" y="5582412"/>
            <a:ext cx="2011680" cy="347472"/>
          </a:xfrm>
          <a:prstGeom prst="rect">
            <a:avLst/>
          </a:prstGeom>
          <a:noFill/>
          <a:ln/>
        </p:spPr>
        <p:txBody>
          <a:bodyPr wrap="square" lIns="0" tIns="0" rIns="0" bIns="0" rtlCol="0" anchor="ctr"/>
          <a:lstStyle/>
          <a:p>
            <a:pPr indent="0" marL="0">
              <a:buNone/>
            </a:pPr>
            <a:r>
              <a:rPr lang="en-US" sz="950" dirty="0">
                <a:solidFill>
                  <a:srgbClr val="5D3900"/>
                </a:solidFill>
                <a:latin typeface="Calibri" pitchFamily="34" charset="0"/>
                <a:ea typeface="Calibri" pitchFamily="34" charset="-122"/>
                <a:cs typeface="Calibri" pitchFamily="34" charset="-120"/>
              </a:rPr>
              <a:t>hires, marketing, acquisition</a:t>
            </a:r>
            <a:endParaRPr lang="en-US" sz="950" dirty="0"/>
          </a:p>
        </p:txBody>
      </p:sp>
      <p:sp>
        <p:nvSpPr>
          <p:cNvPr id="57" name="Text 54"/>
          <p:cNvSpPr txBox="1"/>
          <p:nvPr/>
        </p:nvSpPr>
        <p:spPr>
          <a:xfrm>
            <a:off x="10378440" y="5582412"/>
            <a:ext cx="1143000" cy="347472"/>
          </a:xfrm>
          <a:prstGeom prst="rect">
            <a:avLst/>
          </a:prstGeom>
          <a:noFill/>
          <a:ln/>
        </p:spPr>
        <p:txBody>
          <a:bodyPr wrap="square" lIns="0" tIns="0" rIns="0" bIns="0" rtlCol="0" anchor="ctr"/>
          <a:lstStyle/>
          <a:p>
            <a:pPr algn="r" indent="0" marL="0">
              <a:buNone/>
            </a:pPr>
            <a:r>
              <a:rPr lang="en-US" sz="1100" b="1" dirty="0">
                <a:solidFill>
                  <a:srgbClr val="7A4B00"/>
                </a:solidFill>
                <a:latin typeface="Consolas" pitchFamily="34" charset="0"/>
                <a:ea typeface="Consolas" pitchFamily="34" charset="-122"/>
                <a:cs typeface="Consolas" pitchFamily="34" charset="-120"/>
              </a:rPr>
              <a:t>£ [ ___ ]</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12 · RISKS · PRODUCT AND MARKET</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Risks: product and market</a:t>
            </a:r>
            <a:endParaRPr lang="en-US" sz="2800" dirty="0"/>
          </a:p>
        </p:txBody>
      </p:sp>
      <p:sp>
        <p:nvSpPr>
          <p:cNvPr id="5" name="Shape 3"/>
          <p:cNvSpPr/>
          <p:nvPr/>
        </p:nvSpPr>
        <p:spPr>
          <a:xfrm>
            <a:off x="10489082" y="384048"/>
            <a:ext cx="1153973" cy="219456"/>
          </a:xfrm>
          <a:prstGeom prst="roundRect">
            <a:avLst>
              <a:gd name="adj" fmla="val 50000"/>
            </a:avLst>
          </a:prstGeom>
          <a:solidFill>
            <a:srgbClr val="F4F7F8"/>
          </a:solidFill>
          <a:ln w="12700">
            <a:solidFill>
              <a:srgbClr val="15252E"/>
            </a:solidFill>
            <a:prstDash val="solid"/>
          </a:ln>
        </p:spPr>
      </p:sp>
      <p:sp>
        <p:nvSpPr>
          <p:cNvPr id="6" name="Text 4"/>
          <p:cNvSpPr txBox="1"/>
          <p:nvPr/>
        </p:nvSpPr>
        <p:spPr>
          <a:xfrm>
            <a:off x="10489082" y="384048"/>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7" name="Shape 5"/>
          <p:cNvSpPr/>
          <p:nvPr/>
        </p:nvSpPr>
        <p:spPr>
          <a:xfrm>
            <a:off x="9581998" y="384048"/>
            <a:ext cx="815645" cy="219456"/>
          </a:xfrm>
          <a:prstGeom prst="roundRect">
            <a:avLst>
              <a:gd name="adj" fmla="val 50000"/>
            </a:avLst>
          </a:prstGeom>
          <a:solidFill>
            <a:srgbClr val="0F6673"/>
          </a:solidFill>
          <a:ln/>
        </p:spPr>
      </p:sp>
      <p:sp>
        <p:nvSpPr>
          <p:cNvPr id="8" name="Text 6"/>
          <p:cNvSpPr txBox="1"/>
          <p:nvPr/>
        </p:nvSpPr>
        <p:spPr>
          <a:xfrm>
            <a:off x="9581998"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38</a:t>
            </a:r>
            <a:endParaRPr lang="en-US" sz="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240280"/>
                <a:gridCol w="4480560"/>
                <a:gridCol w="4370832"/>
              </a:tblGrid>
              <a:tr h="329184">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RISK</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WHAT WE KNOW</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MITIGATION</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Readers want the answer, not the evidence</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Model judges chose the general AI note in 21 of 21 comparisons over three rounds; the pre-registered stop rule fired on 25 Sep 2026.</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The claim was narrowed to the evidence base and the checking instrument; the view stays the user’s. Test willingness to pay before scaling: </a:t>
                      </a:r>
                      <a:r>
                        <a:rPr lang="en-US" sz="1150" b="1" dirty="0">
                          <a:solidFill>
                            <a:srgbClr val="7A4B00"/>
                          </a:solidFill>
                          <a:latin typeface="Calibri" pitchFamily="34" charset="0"/>
                          <a:ea typeface="Calibri" pitchFamily="34" charset="-122"/>
                          <a:cs typeface="Calibri" pitchFamily="34" charset="-120"/>
                        </a:rPr>
                        <a:t>[PLACEHOLDER]</a:t>
                      </a:r>
                      <a:r>
                        <a:rPr lang="en-US" sz="1150" dirty="0">
                          <a:solidFill>
                            <a:srgbClr val="15252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A run may not reach an approved report</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Readiness audit: 3 of 6 runs approved. Verdict round: 1 of 3 with no rescue.</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V1.0 finish line: three fresh runs (a US filer, AstraZeneca, M&amp;T) approved with no terminal and no rescue; every stopped state has a labelled way forward.</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It asks for time</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26.5–36.8 minutes of machine time plus six gates; the audit found nothing useful at ten minutes.</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Target under 15 minutes of attention per run; Quick mode (£4.95); refresh instead of re-research.</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Gaps a reader notices</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Audited reports lacked peer multiples, segment revenue and guidance; a bank needed its own revenue path.</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Depth in primary sources (F7) and printing what the run computed (F8); the bank path produced an approved M&amp;T report on 17 Sep.</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Demand and price unproven</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Nothing in the record sizes the market, sets a price or reports a user interview.</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b="1" dirty="0">
                          <a:solidFill>
                            <a:srgbClr val="7A4B00"/>
                          </a:solidFill>
                          <a:latin typeface="Calibri" pitchFamily="34" charset="0"/>
                          <a:ea typeface="Calibri" pitchFamily="34" charset="-122"/>
                          <a:cs typeface="Calibri" pitchFamily="34" charset="-120"/>
                        </a:rPr>
                        <a:t>[PLACEHOLDER: interviews, waitlist, pilot, a pricing test]</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12 · RISKS · REGULATORY AND LEGAL</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Risks: regulatory and legal</a:t>
            </a:r>
            <a:endParaRPr lang="en-US" sz="2800" dirty="0"/>
          </a:p>
        </p:txBody>
      </p:sp>
      <p:sp>
        <p:nvSpPr>
          <p:cNvPr id="5" name="Shape 3"/>
          <p:cNvSpPr/>
          <p:nvPr/>
        </p:nvSpPr>
        <p:spPr>
          <a:xfrm>
            <a:off x="10624414" y="384048"/>
            <a:ext cx="1018642" cy="219456"/>
          </a:xfrm>
          <a:prstGeom prst="roundRect">
            <a:avLst>
              <a:gd name="adj" fmla="val 50000"/>
            </a:avLst>
          </a:prstGeom>
          <a:solidFill>
            <a:srgbClr val="7A4B00"/>
          </a:solidFill>
          <a:ln/>
        </p:spPr>
      </p:sp>
      <p:sp>
        <p:nvSpPr>
          <p:cNvPr id="6" name="Text 4"/>
          <p:cNvSpPr txBox="1"/>
          <p:nvPr/>
        </p:nvSpPr>
        <p:spPr>
          <a:xfrm>
            <a:off x="10624414" y="38404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7" name="Shape 5"/>
          <p:cNvSpPr/>
          <p:nvPr/>
        </p:nvSpPr>
        <p:spPr>
          <a:xfrm>
            <a:off x="9379001" y="384048"/>
            <a:ext cx="1153973" cy="219456"/>
          </a:xfrm>
          <a:prstGeom prst="roundRect">
            <a:avLst>
              <a:gd name="adj" fmla="val 50000"/>
            </a:avLst>
          </a:prstGeom>
          <a:solidFill>
            <a:srgbClr val="F4F7F8"/>
          </a:solidFill>
          <a:ln w="12700">
            <a:solidFill>
              <a:srgbClr val="15252E"/>
            </a:solidFill>
            <a:prstDash val="solid"/>
          </a:ln>
        </p:spPr>
      </p:sp>
      <p:sp>
        <p:nvSpPr>
          <p:cNvPr id="8" name="Text 6"/>
          <p:cNvSpPr txBox="1"/>
          <p:nvPr/>
        </p:nvSpPr>
        <p:spPr>
          <a:xfrm>
            <a:off x="9379001" y="384048"/>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9" name="Shape 7"/>
          <p:cNvSpPr/>
          <p:nvPr/>
        </p:nvSpPr>
        <p:spPr>
          <a:xfrm>
            <a:off x="7862926" y="384048"/>
            <a:ext cx="1424635" cy="219456"/>
          </a:xfrm>
          <a:prstGeom prst="roundRect">
            <a:avLst>
              <a:gd name="adj" fmla="val 50000"/>
            </a:avLst>
          </a:prstGeom>
          <a:solidFill>
            <a:srgbClr val="F4F7F8"/>
          </a:solidFill>
          <a:ln w="12700">
            <a:solidFill>
              <a:srgbClr val="52656E"/>
            </a:solidFill>
            <a:prstDash val="solid"/>
          </a:ln>
        </p:spPr>
      </p:sp>
      <p:sp>
        <p:nvSpPr>
          <p:cNvPr id="10" name="Text 8"/>
          <p:cNvSpPr txBox="1"/>
          <p:nvPr/>
        </p:nvSpPr>
        <p:spPr>
          <a:xfrm>
            <a:off x="7862926" y="384048"/>
            <a:ext cx="1424635" cy="219456"/>
          </a:xfrm>
          <a:prstGeom prst="rect">
            <a:avLst/>
          </a:prstGeom>
          <a:noFill/>
          <a:ln/>
        </p:spPr>
        <p:txBody>
          <a:bodyPr wrap="square" lIns="0" tIns="0" rIns="0" bIns="0" rtlCol="0" anchor="ctr"/>
          <a:lstStyle/>
          <a:p>
            <a:pPr algn="ctr" indent="0" marL="0">
              <a:buNone/>
            </a:pPr>
            <a:r>
              <a:rPr lang="en-US" sz="750" b="1" spc="80" kern="0" dirty="0">
                <a:solidFill>
                  <a:srgbClr val="52656E"/>
                </a:solidFill>
                <a:latin typeface="Consolas" pitchFamily="34" charset="0"/>
                <a:ea typeface="Consolas" pitchFamily="34" charset="-122"/>
                <a:cs typeface="Consolas" pitchFamily="34" charset="-120"/>
              </a:rPr>
              <a:t>EXTERNAL · VERIFY</a:t>
            </a:r>
            <a:endParaRPr lang="en-US" sz="750" dirty="0"/>
          </a:p>
        </p:txBody>
      </p:sp>
      <p:sp>
        <p:nvSpPr>
          <p:cNvPr id="11" name="Text 9"/>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2" name="Text 10"/>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39</a:t>
            </a:r>
            <a:endParaRPr lang="en-US" sz="8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240280"/>
                <a:gridCol w="4480560"/>
                <a:gridCol w="4370832"/>
              </a:tblGrid>
              <a:tr h="329184">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RISK</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WHAT WE KNOW</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MITIGATION</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The advice boundary</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The project’s own design notes: advising a specific person on a specific investment is a regulated activity in the United Kingdom.</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The closing section computes consequences over the user’s own book, never instructions; no model may write a rating, target or recommendation. Counsel before launch: </a:t>
                      </a:r>
                      <a:r>
                        <a:rPr lang="en-US" sz="1150" b="1" dirty="0">
                          <a:solidFill>
                            <a:srgbClr val="7A4B00"/>
                          </a:solidFill>
                          <a:latin typeface="Calibri" pitchFamily="34" charset="0"/>
                          <a:ea typeface="Calibri" pitchFamily="34" charset="-122"/>
                          <a:cs typeface="Calibri" pitchFamily="34" charset="-120"/>
                        </a:rPr>
                        <a:t>[PLACEHOLDER]</a:t>
                      </a:r>
                      <a:r>
                        <a:rPr lang="en-US" sz="1150" dirty="0">
                          <a:solidFill>
                            <a:srgbClr val="15252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A moving boundary</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The FCA’s advice–guidance boundary review; a new targeted-support regime has been live since 6 Apr 2026.</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Counsel to confirm where the product sits, in the UK and for any US users: </a:t>
                      </a:r>
                      <a:r>
                        <a:rPr lang="en-US" sz="1150" b="1" dirty="0">
                          <a:solidFill>
                            <a:srgbClr val="7A4B00"/>
                          </a:solidFill>
                          <a:latin typeface="Calibri" pitchFamily="34" charset="0"/>
                          <a:ea typeface="Calibri" pitchFamily="34" charset="-122"/>
                          <a:cs typeface="Calibri" pitchFamily="34" charset="-120"/>
                        </a:rPr>
                        <a:t>[PLACEHOLDER]</a:t>
                      </a:r>
                      <a:r>
                        <a:rPr lang="en-US" sz="1150" dirty="0">
                          <a:solidFill>
                            <a:srgbClr val="15252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Liability for a wrong figure</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Refusals and provenance make an error traceable, not impossible; the audit matcher’s recall was not measured.</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Disclaimers on every surface; terms of service; professional indemnity cover: </a:t>
                      </a:r>
                      <a:r>
                        <a:rPr lang="en-US" sz="1150" b="1" dirty="0">
                          <a:solidFill>
                            <a:srgbClr val="7A4B00"/>
                          </a:solidFill>
                          <a:latin typeface="Calibri" pitchFamily="34" charset="0"/>
                          <a:ea typeface="Calibri" pitchFamily="34" charset="-122"/>
                          <a:cs typeface="Calibri" pitchFamily="34" charset="-120"/>
                        </a:rPr>
                        <a:t>[PLACEHOLDER]</a:t>
                      </a:r>
                      <a:r>
                        <a:rPr lang="en-US" sz="1150" dirty="0">
                          <a:solidFill>
                            <a:srgbClr val="15252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Licence and IP</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The code is MIT-licensed, marked provisional while the project is personal.</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Choose the licence, and assign the IP to the company before investment: </a:t>
                      </a:r>
                      <a:r>
                        <a:rPr lang="en-US" sz="1150" b="1" dirty="0">
                          <a:solidFill>
                            <a:srgbClr val="7A4B00"/>
                          </a:solidFill>
                          <a:latin typeface="Calibri" pitchFamily="34" charset="0"/>
                          <a:ea typeface="Calibri" pitchFamily="34" charset="-122"/>
                          <a:cs typeface="Calibri" pitchFamily="34" charset="-120"/>
                        </a:rPr>
                        <a:t>[PLACEHOLDER]</a:t>
                      </a:r>
                      <a:r>
                        <a:rPr lang="en-US" sz="1150" dirty="0">
                          <a:solidFill>
                            <a:srgbClr val="15252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Personal data</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Holdings, theses and decisions are personal financial data; local-first today.</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UK GDPR obligations for anything hosted: </a:t>
                      </a:r>
                      <a:r>
                        <a:rPr lang="en-US" sz="1150" b="1" dirty="0">
                          <a:solidFill>
                            <a:srgbClr val="7A4B00"/>
                          </a:solidFill>
                          <a:latin typeface="Calibri" pitchFamily="34" charset="0"/>
                          <a:ea typeface="Calibri" pitchFamily="34" charset="-122"/>
                          <a:cs typeface="Calibri" pitchFamily="34" charset="-120"/>
                        </a:rPr>
                        <a:t>[PLACEHOLDER]</a:t>
                      </a:r>
                      <a:r>
                        <a:rPr lang="en-US" sz="1150" dirty="0">
                          <a:solidFill>
                            <a:srgbClr val="15252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12 · RISKS · DATA, SUPPLIERS AND COVERAGE</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Risks: data, suppliers and coverage</a:t>
            </a:r>
            <a:endParaRPr lang="en-US" sz="2800" dirty="0"/>
          </a:p>
        </p:txBody>
      </p:sp>
      <p:sp>
        <p:nvSpPr>
          <p:cNvPr id="5" name="Shape 3"/>
          <p:cNvSpPr/>
          <p:nvPr/>
        </p:nvSpPr>
        <p:spPr>
          <a:xfrm>
            <a:off x="10489082" y="384048"/>
            <a:ext cx="1153973" cy="219456"/>
          </a:xfrm>
          <a:prstGeom prst="roundRect">
            <a:avLst>
              <a:gd name="adj" fmla="val 50000"/>
            </a:avLst>
          </a:prstGeom>
          <a:solidFill>
            <a:srgbClr val="F4F7F8"/>
          </a:solidFill>
          <a:ln w="12700">
            <a:solidFill>
              <a:srgbClr val="15252E"/>
            </a:solidFill>
            <a:prstDash val="solid"/>
          </a:ln>
        </p:spPr>
      </p:sp>
      <p:sp>
        <p:nvSpPr>
          <p:cNvPr id="6" name="Text 4"/>
          <p:cNvSpPr txBox="1"/>
          <p:nvPr/>
        </p:nvSpPr>
        <p:spPr>
          <a:xfrm>
            <a:off x="10489082" y="384048"/>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7" name="Shape 5"/>
          <p:cNvSpPr/>
          <p:nvPr/>
        </p:nvSpPr>
        <p:spPr>
          <a:xfrm>
            <a:off x="9581998" y="384048"/>
            <a:ext cx="815645" cy="219456"/>
          </a:xfrm>
          <a:prstGeom prst="roundRect">
            <a:avLst>
              <a:gd name="adj" fmla="val 50000"/>
            </a:avLst>
          </a:prstGeom>
          <a:solidFill>
            <a:srgbClr val="0F6673"/>
          </a:solidFill>
          <a:ln/>
        </p:spPr>
      </p:sp>
      <p:sp>
        <p:nvSpPr>
          <p:cNvPr id="8" name="Text 6"/>
          <p:cNvSpPr txBox="1"/>
          <p:nvPr/>
        </p:nvSpPr>
        <p:spPr>
          <a:xfrm>
            <a:off x="9581998"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40</a:t>
            </a:r>
            <a:endParaRPr lang="en-US" sz="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240280"/>
                <a:gridCol w="4480560"/>
                <a:gridCol w="4370832"/>
              </a:tblGrid>
              <a:tr h="329184">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RISK</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WHAT WE KNOW</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MITIGATION</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The price-data licence</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EODHD’s €19.99 plan is personal-use; its commercial tier is $399 a month and still bars display outside the firm; written terms are outstanding.</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Budget a commercial licence or another vendor. A figure a licence forbids is withheld by type, never printed quietly.</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UK-listed coverage</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London-listed companies file scanned PDFs at Companies House; the FCA’s storage mechanism bars automated access without written consent.</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Today: US listings, UK companies filing a 20-F, UK companies filing tagged accounts; anything else is refused before a penny is spent. </a:t>
                      </a:r>
                      <a:r>
                        <a:rPr lang="en-US" sz="1150" b="1" dirty="0">
                          <a:solidFill>
                            <a:srgbClr val="7A4B00"/>
                          </a:solidFill>
                          <a:latin typeface="Calibri" pitchFamily="34" charset="0"/>
                          <a:ea typeface="Calibri" pitchFamily="34" charset="-122"/>
                          <a:cs typeface="Calibri" pitchFamily="34" charset="-120"/>
                        </a:rPr>
                        <a:t>[PLACEHOLDER: UK data plan]</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Sterling valuations</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The Bank of England’s robots.txt disallows its own documented download route.</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The gilt yield is an operator-confirmed assumption; a candidate series awaits verification.</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One model supplier</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Anthropic is the only provider today; the meter has twice mispriced a model, each time found and fixed.</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Model portability (F18); a cost table per role; caps enforced in pounds whatever the model.</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Publishers’ access rules</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SEC blocks an address above about 10 requests a second; Companies House allows 600 per 5 minutes.</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One outbound door with robots checks and rate limits; a multi-user service needs per-user identification.</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12 · RISKS · TECHNOLOGY AND OPERATIONS</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Risks: technology, security and operations</a:t>
            </a:r>
            <a:endParaRPr lang="en-US" sz="2800" dirty="0"/>
          </a:p>
        </p:txBody>
      </p:sp>
      <p:sp>
        <p:nvSpPr>
          <p:cNvPr id="5" name="Shape 3"/>
          <p:cNvSpPr/>
          <p:nvPr/>
        </p:nvSpPr>
        <p:spPr>
          <a:xfrm>
            <a:off x="10489082" y="384048"/>
            <a:ext cx="1153973" cy="219456"/>
          </a:xfrm>
          <a:prstGeom prst="roundRect">
            <a:avLst>
              <a:gd name="adj" fmla="val 50000"/>
            </a:avLst>
          </a:prstGeom>
          <a:solidFill>
            <a:srgbClr val="F4F7F8"/>
          </a:solidFill>
          <a:ln w="12700">
            <a:solidFill>
              <a:srgbClr val="15252E"/>
            </a:solidFill>
            <a:prstDash val="solid"/>
          </a:ln>
        </p:spPr>
      </p:sp>
      <p:sp>
        <p:nvSpPr>
          <p:cNvPr id="6" name="Text 4"/>
          <p:cNvSpPr txBox="1"/>
          <p:nvPr/>
        </p:nvSpPr>
        <p:spPr>
          <a:xfrm>
            <a:off x="10489082" y="384048"/>
            <a:ext cx="1153973" cy="219456"/>
          </a:xfrm>
          <a:prstGeom prst="rect">
            <a:avLst/>
          </a:prstGeom>
          <a:noFill/>
          <a:ln/>
        </p:spPr>
        <p:txBody>
          <a:bodyPr wrap="square" lIns="0" tIns="0" rIns="0" bIns="0" rtlCol="0" anchor="ctr"/>
          <a:lstStyle/>
          <a:p>
            <a:pPr algn="ctr" indent="0" marL="0">
              <a:buNone/>
            </a:pPr>
            <a:r>
              <a:rPr lang="en-US" sz="750" b="1" spc="80" kern="0" dirty="0">
                <a:solidFill>
                  <a:srgbClr val="15252E"/>
                </a:solidFill>
                <a:latin typeface="Consolas" pitchFamily="34" charset="0"/>
                <a:ea typeface="Consolas" pitchFamily="34" charset="-122"/>
                <a:cs typeface="Consolas" pitchFamily="34" charset="-120"/>
              </a:rPr>
              <a:t>OUR JUDGEMENT</a:t>
            </a:r>
            <a:endParaRPr lang="en-US" sz="750" dirty="0"/>
          </a:p>
        </p:txBody>
      </p:sp>
      <p:sp>
        <p:nvSpPr>
          <p:cNvPr id="7" name="Shape 5"/>
          <p:cNvSpPr/>
          <p:nvPr/>
        </p:nvSpPr>
        <p:spPr>
          <a:xfrm>
            <a:off x="9581998" y="384048"/>
            <a:ext cx="815645" cy="219456"/>
          </a:xfrm>
          <a:prstGeom prst="roundRect">
            <a:avLst>
              <a:gd name="adj" fmla="val 50000"/>
            </a:avLst>
          </a:prstGeom>
          <a:solidFill>
            <a:srgbClr val="0F6673"/>
          </a:solidFill>
          <a:ln/>
        </p:spPr>
      </p:sp>
      <p:sp>
        <p:nvSpPr>
          <p:cNvPr id="8" name="Text 6"/>
          <p:cNvSpPr txBox="1"/>
          <p:nvPr/>
        </p:nvSpPr>
        <p:spPr>
          <a:xfrm>
            <a:off x="9581998"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41</a:t>
            </a:r>
            <a:endParaRPr lang="en-US" sz="8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240280"/>
                <a:gridCol w="4480560"/>
                <a:gridCol w="4370832"/>
              </a:tblGrid>
              <a:tr h="329184">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RISK</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WHAT WE KNOW</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MITIGATION</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Single-user today</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No authentication, no inbound rate limiting, no production deployment; multi-user deployment is on the decided-against list.</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F17 is designed (ADR 0120): an account owns a book; a share is a sealed, read-only evidence pack. New tables already carry a user. </a:t>
                      </a:r>
                      <a:r>
                        <a:rPr lang="en-US" sz="1150" b="1" dirty="0">
                          <a:solidFill>
                            <a:srgbClr val="7A4B00"/>
                          </a:solidFill>
                          <a:latin typeface="Calibri" pitchFamily="34" charset="0"/>
                          <a:ea typeface="Calibri" pitchFamily="34" charset="-122"/>
                          <a:cs typeface="Calibri" pitchFamily="34" charset="-120"/>
                        </a:rPr>
                        <a:t>[PLACEHOLDER: hosting decision]</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One run at a time</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Runs are serial by design, in machine time and in attention.</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A job architecture for concurrent users: </a:t>
                      </a:r>
                      <a:r>
                        <a:rPr lang="en-US" sz="1150" b="1" dirty="0">
                          <a:solidFill>
                            <a:srgbClr val="7A4B00"/>
                          </a:solidFill>
                          <a:latin typeface="Calibri" pitchFamily="34" charset="0"/>
                          <a:ea typeface="Calibri" pitchFamily="34" charset="-122"/>
                          <a:cs typeface="Calibri" pitchFamily="34" charset="-120"/>
                        </a:rPr>
                        <a:t>[PLACEHOLDER]</a:t>
                      </a:r>
                      <a:r>
                        <a:rPr lang="en-US" sz="1150" dirty="0">
                          <a:solidFill>
                            <a:srgbClr val="15252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Security at scale</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Prompt injection, SSRF and secrets are defended in code today; a hosted service widens the surface.</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Untrusted text is wrapped as data; tool rights are enforced in code; SSRF guard; secret redaction. External test: </a:t>
                      </a:r>
                      <a:r>
                        <a:rPr lang="en-US" sz="1150" b="1" dirty="0">
                          <a:solidFill>
                            <a:srgbClr val="7A4B00"/>
                          </a:solidFill>
                          <a:latin typeface="Calibri" pitchFamily="34" charset="0"/>
                          <a:ea typeface="Calibri" pitchFamily="34" charset="-122"/>
                          <a:cs typeface="Calibri" pitchFamily="34" charset="-120"/>
                        </a:rPr>
                        <a:t>[PLACEHOLDER]</a:t>
                      </a:r>
                      <a:r>
                        <a:rPr lang="en-US" sz="1150" dirty="0">
                          <a:solidFill>
                            <a:srgbClr val="15252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Key person and maintainability</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141k lines of code, 144k lines of tests and 131 decision records.</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A knowledge map pinned to the code by tests; every decision recorded with its reason; an offline test suite. </a:t>
                      </a:r>
                      <a:r>
                        <a:rPr lang="en-US" sz="1150" b="1" dirty="0">
                          <a:solidFill>
                            <a:srgbClr val="7A4B00"/>
                          </a:solidFill>
                          <a:latin typeface="Calibri" pitchFamily="34" charset="0"/>
                          <a:ea typeface="Calibri" pitchFamily="34" charset="-122"/>
                          <a:cs typeface="Calibri" pitchFamily="34" charset="-120"/>
                        </a:rPr>
                        <a:t>[PLACEHOLDER: team]</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5252E"/>
                          </a:solidFill>
                          <a:latin typeface="Calibri" pitchFamily="34" charset="0"/>
                          <a:ea typeface="Calibri" pitchFamily="34" charset="-122"/>
                          <a:cs typeface="Calibri" pitchFamily="34" charset="-120"/>
                        </a:rPr>
                        <a:t>Cost control in production</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52656E"/>
                          </a:solidFill>
                          <a:latin typeface="Calibri" pitchFamily="34" charset="0"/>
                          <a:ea typeface="Calibri" pitchFamily="34" charset="-122"/>
                          <a:cs typeface="Calibri" pitchFamily="34" charset="-120"/>
                        </a:rPr>
                        <a:t>Metering errors have happened (a small model billed at a large model’s rate; one model 50% high), each found and fixed.</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50" dirty="0">
                          <a:solidFill>
                            <a:srgbClr val="15252E"/>
                          </a:solidFill>
                          <a:latin typeface="Calibri" pitchFamily="34" charset="0"/>
                          <a:ea typeface="Calibri" pitchFamily="34" charset="-122"/>
                          <a:cs typeface="Calibri" pitchFamily="34" charset="-120"/>
                        </a:rPr>
                        <a:t>Per-run and per-month caps in code; every call writes a cost row; data subscriptions need their own budget.</a:t>
                      </a:r>
                      <a:endParaRPr lang="en-US" sz="11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13 · THE FUTURE</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What comes next</a:t>
            </a:r>
            <a:endParaRPr lang="en-US" sz="2800" dirty="0"/>
          </a:p>
        </p:txBody>
      </p:sp>
      <p:sp>
        <p:nvSpPr>
          <p:cNvPr id="5" name="Shape 3"/>
          <p:cNvSpPr/>
          <p:nvPr/>
        </p:nvSpPr>
        <p:spPr>
          <a:xfrm>
            <a:off x="10624414" y="384048"/>
            <a:ext cx="1018642" cy="219456"/>
          </a:xfrm>
          <a:prstGeom prst="roundRect">
            <a:avLst>
              <a:gd name="adj" fmla="val 50000"/>
            </a:avLst>
          </a:prstGeom>
          <a:solidFill>
            <a:srgbClr val="7A4B00"/>
          </a:solidFill>
          <a:ln/>
        </p:spPr>
      </p:sp>
      <p:sp>
        <p:nvSpPr>
          <p:cNvPr id="6" name="Text 4"/>
          <p:cNvSpPr txBox="1"/>
          <p:nvPr/>
        </p:nvSpPr>
        <p:spPr>
          <a:xfrm>
            <a:off x="10624414" y="38404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7" name="Text 5"/>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8" name="Text 6"/>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42</a:t>
            </a:r>
            <a:endParaRPr lang="en-US" sz="800" dirty="0"/>
          </a:p>
        </p:txBody>
      </p:sp>
      <p:sp>
        <p:nvSpPr>
          <p:cNvPr id="10" name="Shape 7"/>
          <p:cNvSpPr/>
          <p:nvPr/>
        </p:nvSpPr>
        <p:spPr>
          <a:xfrm>
            <a:off x="548640" y="1463040"/>
            <a:ext cx="2636444" cy="2331720"/>
          </a:xfrm>
          <a:prstGeom prst="roundRect">
            <a:avLst>
              <a:gd name="adj" fmla="val 1961"/>
            </a:avLst>
          </a:prstGeom>
          <a:solidFill>
            <a:srgbClr val="FFF3D6"/>
          </a:solidFill>
          <a:ln w="9525">
            <a:solidFill>
              <a:srgbClr val="7A4B00"/>
            </a:solidFill>
            <a:prstDash val="solid"/>
          </a:ln>
        </p:spPr>
      </p:sp>
      <p:sp>
        <p:nvSpPr>
          <p:cNvPr id="11" name="Text 8"/>
          <p:cNvSpPr txBox="1"/>
          <p:nvPr/>
        </p:nvSpPr>
        <p:spPr>
          <a:xfrm>
            <a:off x="676656" y="1591056"/>
            <a:ext cx="2380412"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NEXT 3 MONTHS</a:t>
            </a:r>
            <a:endParaRPr lang="en-US" sz="800" dirty="0"/>
          </a:p>
        </p:txBody>
      </p:sp>
      <p:sp>
        <p:nvSpPr>
          <p:cNvPr id="12" name="Text 9"/>
          <p:cNvSpPr txBox="1"/>
          <p:nvPr/>
        </p:nvSpPr>
        <p:spPr>
          <a:xfrm>
            <a:off x="676656" y="1819656"/>
            <a:ext cx="2380412" cy="1898294"/>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[Milestone]</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[What it proves]</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[What it costs]</a:t>
            </a:r>
            <a:endParaRPr lang="en-US" sz="1100" dirty="0"/>
          </a:p>
        </p:txBody>
      </p:sp>
      <p:sp>
        <p:nvSpPr>
          <p:cNvPr id="13" name="Shape 10"/>
          <p:cNvSpPr/>
          <p:nvPr/>
        </p:nvSpPr>
        <p:spPr>
          <a:xfrm>
            <a:off x="3367964" y="1463040"/>
            <a:ext cx="2636444" cy="2331720"/>
          </a:xfrm>
          <a:prstGeom prst="roundRect">
            <a:avLst>
              <a:gd name="adj" fmla="val 1961"/>
            </a:avLst>
          </a:prstGeom>
          <a:solidFill>
            <a:srgbClr val="FFF3D6"/>
          </a:solidFill>
          <a:ln w="9525">
            <a:solidFill>
              <a:srgbClr val="7A4B00"/>
            </a:solidFill>
            <a:prstDash val="solid"/>
          </a:ln>
        </p:spPr>
      </p:sp>
      <p:sp>
        <p:nvSpPr>
          <p:cNvPr id="14" name="Text 11"/>
          <p:cNvSpPr txBox="1"/>
          <p:nvPr/>
        </p:nvSpPr>
        <p:spPr>
          <a:xfrm>
            <a:off x="3495980" y="1591056"/>
            <a:ext cx="2380412"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6 MONTHS</a:t>
            </a:r>
            <a:endParaRPr lang="en-US" sz="800" dirty="0"/>
          </a:p>
        </p:txBody>
      </p:sp>
      <p:sp>
        <p:nvSpPr>
          <p:cNvPr id="15" name="Text 12"/>
          <p:cNvSpPr txBox="1"/>
          <p:nvPr/>
        </p:nvSpPr>
        <p:spPr>
          <a:xfrm>
            <a:off x="3495980" y="1819656"/>
            <a:ext cx="2380412" cy="1898294"/>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[Milestone]</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[What it proves]</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[What it costs]</a:t>
            </a:r>
            <a:endParaRPr lang="en-US" sz="1100" dirty="0"/>
          </a:p>
        </p:txBody>
      </p:sp>
      <p:sp>
        <p:nvSpPr>
          <p:cNvPr id="16" name="Shape 13"/>
          <p:cNvSpPr/>
          <p:nvPr/>
        </p:nvSpPr>
        <p:spPr>
          <a:xfrm>
            <a:off x="6187288" y="1463040"/>
            <a:ext cx="2636444" cy="2331720"/>
          </a:xfrm>
          <a:prstGeom prst="roundRect">
            <a:avLst>
              <a:gd name="adj" fmla="val 1961"/>
            </a:avLst>
          </a:prstGeom>
          <a:solidFill>
            <a:srgbClr val="FFF3D6"/>
          </a:solidFill>
          <a:ln w="9525">
            <a:solidFill>
              <a:srgbClr val="7A4B00"/>
            </a:solidFill>
            <a:prstDash val="solid"/>
          </a:ln>
        </p:spPr>
      </p:sp>
      <p:sp>
        <p:nvSpPr>
          <p:cNvPr id="17" name="Text 14"/>
          <p:cNvSpPr txBox="1"/>
          <p:nvPr/>
        </p:nvSpPr>
        <p:spPr>
          <a:xfrm>
            <a:off x="6315304" y="1591056"/>
            <a:ext cx="2380412"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12 MONTHS</a:t>
            </a:r>
            <a:endParaRPr lang="en-US" sz="800" dirty="0"/>
          </a:p>
        </p:txBody>
      </p:sp>
      <p:sp>
        <p:nvSpPr>
          <p:cNvPr id="18" name="Text 15"/>
          <p:cNvSpPr txBox="1"/>
          <p:nvPr/>
        </p:nvSpPr>
        <p:spPr>
          <a:xfrm>
            <a:off x="6315304" y="1819656"/>
            <a:ext cx="2380412" cy="1898294"/>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[Milestone]</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[What it proves]</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[What it costs]</a:t>
            </a:r>
            <a:endParaRPr lang="en-US" sz="1100" dirty="0"/>
          </a:p>
        </p:txBody>
      </p:sp>
      <p:sp>
        <p:nvSpPr>
          <p:cNvPr id="19" name="Shape 16"/>
          <p:cNvSpPr/>
          <p:nvPr/>
        </p:nvSpPr>
        <p:spPr>
          <a:xfrm>
            <a:off x="9006611" y="1463040"/>
            <a:ext cx="2636444" cy="2331720"/>
          </a:xfrm>
          <a:prstGeom prst="roundRect">
            <a:avLst>
              <a:gd name="adj" fmla="val 1961"/>
            </a:avLst>
          </a:prstGeom>
          <a:solidFill>
            <a:srgbClr val="FFF3D6"/>
          </a:solidFill>
          <a:ln w="9525">
            <a:solidFill>
              <a:srgbClr val="7A4B00"/>
            </a:solidFill>
            <a:prstDash val="solid"/>
          </a:ln>
        </p:spPr>
      </p:sp>
      <p:sp>
        <p:nvSpPr>
          <p:cNvPr id="20" name="Text 17"/>
          <p:cNvSpPr txBox="1"/>
          <p:nvPr/>
        </p:nvSpPr>
        <p:spPr>
          <a:xfrm>
            <a:off x="9134627" y="1591056"/>
            <a:ext cx="2380412"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24 MONTHS</a:t>
            </a:r>
            <a:endParaRPr lang="en-US" sz="800" dirty="0"/>
          </a:p>
        </p:txBody>
      </p:sp>
      <p:sp>
        <p:nvSpPr>
          <p:cNvPr id="21" name="Text 18"/>
          <p:cNvSpPr txBox="1"/>
          <p:nvPr/>
        </p:nvSpPr>
        <p:spPr>
          <a:xfrm>
            <a:off x="9134627" y="1819656"/>
            <a:ext cx="2380412" cy="1898294"/>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[Milestone]</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[What it proves]</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[What it costs]</a:t>
            </a:r>
            <a:endParaRPr lang="en-US" sz="1100" dirty="0"/>
          </a:p>
        </p:txBody>
      </p:sp>
      <p:sp>
        <p:nvSpPr>
          <p:cNvPr id="22" name="Shape 19"/>
          <p:cNvSpPr/>
          <p:nvPr/>
        </p:nvSpPr>
        <p:spPr>
          <a:xfrm>
            <a:off x="548640" y="3977640"/>
            <a:ext cx="11094415" cy="2103120"/>
          </a:xfrm>
          <a:prstGeom prst="roundRect">
            <a:avLst>
              <a:gd name="adj" fmla="val 2174"/>
            </a:avLst>
          </a:prstGeom>
          <a:solidFill>
            <a:srgbClr val="FFFFFF"/>
          </a:solidFill>
          <a:ln w="9525">
            <a:solidFill>
              <a:srgbClr val="CDD8DC"/>
            </a:solidFill>
            <a:prstDash val="solid"/>
          </a:ln>
        </p:spPr>
      </p:sp>
      <p:sp>
        <p:nvSpPr>
          <p:cNvPr id="23" name="Text 20"/>
          <p:cNvSpPr txBox="1"/>
          <p:nvPr/>
        </p:nvSpPr>
        <p:spPr>
          <a:xfrm>
            <a:off x="749808" y="4133088"/>
            <a:ext cx="7315200"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DECISIONS ALREADY OPEN ON THE RECORD</a:t>
            </a:r>
            <a:endParaRPr lang="en-US" sz="900" dirty="0"/>
          </a:p>
        </p:txBody>
      </p:sp>
      <p:sp>
        <p:nvSpPr>
          <p:cNvPr id="24" name="Text 21"/>
          <p:cNvSpPr txBox="1"/>
          <p:nvPr/>
        </p:nvSpPr>
        <p:spPr>
          <a:xfrm>
            <a:off x="749808" y="4434840"/>
            <a:ext cx="5272888" cy="1600200"/>
          </a:xfrm>
          <a:prstGeom prst="rect">
            <a:avLst/>
          </a:prstGeom>
          <a:noFill/>
          <a:ln/>
        </p:spPr>
        <p:txBody>
          <a:bodyPr wrap="square" lIns="0" tIns="0" rIns="0" bIns="0" rtlCol="0" anchor="t"/>
          <a:lstStyle/>
          <a:p>
            <a:pPr marL="152400" indent="-152400">
              <a:spcAft>
                <a:spcPts val="500"/>
              </a:spcAft>
              <a:buSzPct val="100000"/>
              <a:buChar char="•"/>
            </a:pPr>
            <a:r>
              <a:rPr lang="en-US" sz="1050" b="1" dirty="0">
                <a:solidFill>
                  <a:srgbClr val="15252E"/>
                </a:solidFill>
                <a:latin typeface="Calibri" pitchFamily="34" charset="0"/>
                <a:ea typeface="Calibri" pitchFamily="34" charset="-122"/>
                <a:cs typeface="Calibri" pitchFamily="34" charset="-120"/>
              </a:rPr>
              <a:t>Who can use it.</a:t>
            </a:r>
            <a:r>
              <a:rPr lang="en-US" sz="1050" dirty="0">
                <a:solidFill>
                  <a:srgbClr val="52656E"/>
                </a:solidFill>
                <a:latin typeface="Calibri" pitchFamily="34" charset="0"/>
                <a:ea typeface="Calibri" pitchFamily="34" charset="-122"/>
                <a:cs typeface="Calibri" pitchFamily="34" charset="-120"/>
              </a:rPr>
              <a:t> Multi-user deployment is decided against; accounts and sealed packs are designed and deferred.</a:t>
            </a:r>
            <a:endParaRPr lang="en-US" sz="1050" dirty="0"/>
          </a:p>
          <a:p>
            <a:pPr marL="152400" indent="-152400">
              <a:spcAft>
                <a:spcPts val="500"/>
              </a:spcAft>
              <a:buSzPct val="100000"/>
              <a:buChar char="•"/>
            </a:pPr>
            <a:r>
              <a:rPr lang="en-US" sz="1050" b="1" dirty="0">
                <a:solidFill>
                  <a:srgbClr val="15252E"/>
                </a:solidFill>
                <a:latin typeface="Calibri" pitchFamily="34" charset="0"/>
                <a:ea typeface="Calibri" pitchFamily="34" charset="-122"/>
                <a:cs typeface="Calibri" pitchFamily="34" charset="-120"/>
              </a:rPr>
              <a:t>Where it runs.</a:t>
            </a:r>
            <a:r>
              <a:rPr lang="en-US" sz="1050" dirty="0">
                <a:solidFill>
                  <a:srgbClr val="52656E"/>
                </a:solidFill>
                <a:latin typeface="Calibri" pitchFamily="34" charset="0"/>
                <a:ea typeface="Calibri" pitchFamily="34" charset="-122"/>
                <a:cs typeface="Calibri" pitchFamily="34" charset="-120"/>
              </a:rPr>
              <a:t> Local-first today; the second-user design adds accounts without hosting.</a:t>
            </a:r>
            <a:endParaRPr lang="en-US" sz="1050" dirty="0"/>
          </a:p>
          <a:p>
            <a:pPr marL="152400" indent="-152400">
              <a:spcAft>
                <a:spcPts val="500"/>
              </a:spcAft>
              <a:buSzPct val="100000"/>
              <a:buChar char="•"/>
            </a:pPr>
            <a:r>
              <a:rPr lang="en-US" sz="1050" b="1" dirty="0">
                <a:solidFill>
                  <a:srgbClr val="15252E"/>
                </a:solidFill>
                <a:latin typeface="Calibri" pitchFamily="34" charset="0"/>
                <a:ea typeface="Calibri" pitchFamily="34" charset="-122"/>
                <a:cs typeface="Calibri" pitchFamily="34" charset="-120"/>
              </a:rPr>
              <a:t>UK-listed coverage.</a:t>
            </a:r>
            <a:r>
              <a:rPr lang="en-US" sz="1050" dirty="0">
                <a:solidFill>
                  <a:srgbClr val="52656E"/>
                </a:solidFill>
                <a:latin typeface="Calibri" pitchFamily="34" charset="0"/>
                <a:ea typeface="Calibri" pitchFamily="34" charset="-122"/>
                <a:cs typeface="Calibri" pitchFamily="34" charset="-120"/>
              </a:rPr>
              <a:t> Where a London-listed company’s tagged figures come from is an open question.</a:t>
            </a:r>
            <a:endParaRPr lang="en-US" sz="1050" dirty="0"/>
          </a:p>
        </p:txBody>
      </p:sp>
      <p:sp>
        <p:nvSpPr>
          <p:cNvPr id="25" name="Text 22"/>
          <p:cNvSpPr txBox="1"/>
          <p:nvPr/>
        </p:nvSpPr>
        <p:spPr>
          <a:xfrm>
            <a:off x="6169000" y="4434840"/>
            <a:ext cx="5272888" cy="1600200"/>
          </a:xfrm>
          <a:prstGeom prst="rect">
            <a:avLst/>
          </a:prstGeom>
          <a:noFill/>
          <a:ln/>
        </p:spPr>
        <p:txBody>
          <a:bodyPr wrap="square" lIns="0" tIns="0" rIns="0" bIns="0" rtlCol="0" anchor="t"/>
          <a:lstStyle/>
          <a:p>
            <a:pPr marL="152400" indent="-152400">
              <a:spcAft>
                <a:spcPts val="500"/>
              </a:spcAft>
              <a:buSzPct val="100000"/>
              <a:buChar char="•"/>
            </a:pPr>
            <a:r>
              <a:rPr lang="en-US" sz="1050" b="1" dirty="0">
                <a:solidFill>
                  <a:srgbClr val="15252E"/>
                </a:solidFill>
                <a:latin typeface="Calibri" pitchFamily="34" charset="0"/>
                <a:ea typeface="Calibri" pitchFamily="34" charset="-122"/>
                <a:cs typeface="Calibri" pitchFamily="34" charset="-120"/>
              </a:rPr>
              <a:t>Price data.</a:t>
            </a:r>
            <a:r>
              <a:rPr lang="en-US" sz="1050" dirty="0">
                <a:solidFill>
                  <a:srgbClr val="52656E"/>
                </a:solidFill>
                <a:latin typeface="Calibri" pitchFamily="34" charset="0"/>
                <a:ea typeface="Calibri" pitchFamily="34" charset="-122"/>
                <a:cs typeface="Calibri" pitchFamily="34" charset="-120"/>
              </a:rPr>
              <a:t> A commercial licence, or another vendor.</a:t>
            </a:r>
            <a:endParaRPr lang="en-US" sz="1050" dirty="0"/>
          </a:p>
          <a:p>
            <a:pPr marL="152400" indent="-152400">
              <a:spcAft>
                <a:spcPts val="500"/>
              </a:spcAft>
              <a:buSzPct val="100000"/>
              <a:buChar char="•"/>
            </a:pPr>
            <a:r>
              <a:rPr lang="en-US" sz="1050" b="1" dirty="0">
                <a:solidFill>
                  <a:srgbClr val="15252E"/>
                </a:solidFill>
                <a:latin typeface="Calibri" pitchFamily="34" charset="0"/>
                <a:ea typeface="Calibri" pitchFamily="34" charset="-122"/>
                <a:cs typeface="Calibri" pitchFamily="34" charset="-120"/>
              </a:rPr>
              <a:t>The closing section.</a:t>
            </a:r>
            <a:r>
              <a:rPr lang="en-US" sz="1050" dirty="0">
                <a:solidFill>
                  <a:srgbClr val="52656E"/>
                </a:solidFill>
                <a:latin typeface="Calibri" pitchFamily="34" charset="0"/>
                <a:ea typeface="Calibri" pitchFamily="34" charset="-122"/>
                <a:cs typeface="Calibri" pitchFamily="34" charset="-120"/>
              </a:rPr>
              <a:t> Whether it ships to users other than the author, and on what legal footing.</a:t>
            </a:r>
            <a:endParaRPr lang="en-US" sz="1050" dirty="0"/>
          </a:p>
          <a:p>
            <a:pPr marL="152400" indent="-152400">
              <a:spcAft>
                <a:spcPts val="500"/>
              </a:spcAft>
              <a:buSzPct val="100000"/>
              <a:buChar char="•"/>
            </a:pPr>
            <a:r>
              <a:rPr lang="en-US" sz="1050" b="1" dirty="0">
                <a:solidFill>
                  <a:srgbClr val="15252E"/>
                </a:solidFill>
                <a:latin typeface="Calibri" pitchFamily="34" charset="0"/>
                <a:ea typeface="Calibri" pitchFamily="34" charset="-122"/>
                <a:cs typeface="Calibri" pitchFamily="34" charset="-120"/>
              </a:rPr>
              <a:t>Licence and IP.</a:t>
            </a:r>
            <a:r>
              <a:rPr lang="en-US" sz="1050" dirty="0">
                <a:solidFill>
                  <a:srgbClr val="52656E"/>
                </a:solidFill>
                <a:latin typeface="Calibri" pitchFamily="34" charset="0"/>
                <a:ea typeface="Calibri" pitchFamily="34" charset="-122"/>
                <a:cs typeface="Calibri" pitchFamily="34" charset="-120"/>
              </a:rPr>
              <a:t> MIT is marked provisional.</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13 · THE FUTURE</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Milestones, and the measures we will be judged on</a:t>
            </a:r>
            <a:endParaRPr lang="en-US" sz="2800" dirty="0"/>
          </a:p>
        </p:txBody>
      </p:sp>
      <p:sp>
        <p:nvSpPr>
          <p:cNvPr id="5" name="Shape 3"/>
          <p:cNvSpPr/>
          <p:nvPr/>
        </p:nvSpPr>
        <p:spPr>
          <a:xfrm>
            <a:off x="10286086" y="384048"/>
            <a:ext cx="1356970" cy="219456"/>
          </a:xfrm>
          <a:prstGeom prst="roundRect">
            <a:avLst>
              <a:gd name="adj" fmla="val 50000"/>
            </a:avLst>
          </a:prstGeom>
          <a:solidFill>
            <a:srgbClr val="14613F"/>
          </a:solidFill>
          <a:ln/>
        </p:spPr>
      </p:sp>
      <p:sp>
        <p:nvSpPr>
          <p:cNvPr id="6" name="Text 4"/>
          <p:cNvSpPr txBox="1"/>
          <p:nvPr/>
        </p:nvSpPr>
        <p:spPr>
          <a:xfrm>
            <a:off x="10286086"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7" name="Shape 5"/>
          <p:cNvSpPr/>
          <p:nvPr/>
        </p:nvSpPr>
        <p:spPr>
          <a:xfrm>
            <a:off x="9176004" y="384048"/>
            <a:ext cx="1018642" cy="219456"/>
          </a:xfrm>
          <a:prstGeom prst="roundRect">
            <a:avLst>
              <a:gd name="adj" fmla="val 50000"/>
            </a:avLst>
          </a:prstGeom>
          <a:solidFill>
            <a:srgbClr val="7A4B00"/>
          </a:solidFill>
          <a:ln/>
        </p:spPr>
      </p:sp>
      <p:sp>
        <p:nvSpPr>
          <p:cNvPr id="8" name="Text 6"/>
          <p:cNvSpPr txBox="1"/>
          <p:nvPr/>
        </p:nvSpPr>
        <p:spPr>
          <a:xfrm>
            <a:off x="9176004" y="38404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43</a:t>
            </a:r>
            <a:endParaRPr lang="en-US" sz="800" dirty="0"/>
          </a:p>
        </p:txBody>
      </p:sp>
      <p:sp>
        <p:nvSpPr>
          <p:cNvPr id="12" name="Text 9"/>
          <p:cNvSpPr txBox="1"/>
          <p:nvPr/>
        </p:nvSpPr>
        <p:spPr>
          <a:xfrm>
            <a:off x="548640" y="1463040"/>
            <a:ext cx="4572000" cy="201168"/>
          </a:xfrm>
          <a:prstGeom prst="rect">
            <a:avLst/>
          </a:prstGeom>
          <a:noFill/>
          <a:ln/>
        </p:spPr>
        <p:txBody>
          <a:bodyPr wrap="square" lIns="0" tIns="0" rIns="0" bIns="0" rtlCol="0" anchor="t"/>
          <a:lstStyle/>
          <a:p>
            <a:pPr indent="0" marL="0">
              <a:buNone/>
            </a:pPr>
            <a:r>
              <a:rPr lang="en-US" sz="900" b="1" spc="100" kern="0" dirty="0">
                <a:solidFill>
                  <a:srgbClr val="7A4B00"/>
                </a:solidFill>
                <a:latin typeface="Consolas" pitchFamily="34" charset="0"/>
                <a:ea typeface="Consolas" pitchFamily="34" charset="-122"/>
                <a:cs typeface="Consolas" pitchFamily="34" charset="-120"/>
              </a:rPr>
              <a:t>MILESTONES</a:t>
            </a:r>
            <a:endParaRPr lang="en-US" sz="900" dirty="0"/>
          </a:p>
        </p:txBody>
      </p:sp>
      <p:sp>
        <p:nvSpPr>
          <p:cNvPr id="13" name="Shape 10"/>
          <p:cNvSpPr/>
          <p:nvPr/>
        </p:nvSpPr>
        <p:spPr>
          <a:xfrm>
            <a:off x="548640" y="1783080"/>
            <a:ext cx="5577840" cy="960120"/>
          </a:xfrm>
          <a:prstGeom prst="roundRect">
            <a:avLst>
              <a:gd name="adj" fmla="val 4762"/>
            </a:avLst>
          </a:prstGeom>
          <a:solidFill>
            <a:srgbClr val="FFF3D6"/>
          </a:solidFill>
          <a:ln w="9525">
            <a:solidFill>
              <a:srgbClr val="7A4B00"/>
            </a:solidFill>
            <a:prstDash val="solid"/>
          </a:ln>
        </p:spPr>
      </p:sp>
      <p:sp>
        <p:nvSpPr>
          <p:cNvPr id="14" name="Text 11"/>
          <p:cNvSpPr txBox="1"/>
          <p:nvPr/>
        </p:nvSpPr>
        <p:spPr>
          <a:xfrm>
            <a:off x="676656" y="1911096"/>
            <a:ext cx="5321808" cy="755294"/>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[Milestone 1]  ·  [date]  ·  [measure of success]  ·  [funding needed]</a:t>
            </a:r>
            <a:endParaRPr lang="en-US" sz="1100" dirty="0"/>
          </a:p>
        </p:txBody>
      </p:sp>
      <p:sp>
        <p:nvSpPr>
          <p:cNvPr id="15" name="Shape 12"/>
          <p:cNvSpPr/>
          <p:nvPr/>
        </p:nvSpPr>
        <p:spPr>
          <a:xfrm>
            <a:off x="548640" y="2852928"/>
            <a:ext cx="5577840" cy="960120"/>
          </a:xfrm>
          <a:prstGeom prst="roundRect">
            <a:avLst>
              <a:gd name="adj" fmla="val 4762"/>
            </a:avLst>
          </a:prstGeom>
          <a:solidFill>
            <a:srgbClr val="FFF3D6"/>
          </a:solidFill>
          <a:ln w="9525">
            <a:solidFill>
              <a:srgbClr val="7A4B00"/>
            </a:solidFill>
            <a:prstDash val="solid"/>
          </a:ln>
        </p:spPr>
      </p:sp>
      <p:sp>
        <p:nvSpPr>
          <p:cNvPr id="16" name="Text 13"/>
          <p:cNvSpPr txBox="1"/>
          <p:nvPr/>
        </p:nvSpPr>
        <p:spPr>
          <a:xfrm>
            <a:off x="676656" y="2980944"/>
            <a:ext cx="5321808" cy="755294"/>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[Milestone 2]  ·  [date]  ·  [measure of success]  ·  [funding needed]</a:t>
            </a:r>
            <a:endParaRPr lang="en-US" sz="1100" dirty="0"/>
          </a:p>
        </p:txBody>
      </p:sp>
      <p:sp>
        <p:nvSpPr>
          <p:cNvPr id="17" name="Shape 14"/>
          <p:cNvSpPr/>
          <p:nvPr/>
        </p:nvSpPr>
        <p:spPr>
          <a:xfrm>
            <a:off x="548640" y="3922776"/>
            <a:ext cx="5577840" cy="960120"/>
          </a:xfrm>
          <a:prstGeom prst="roundRect">
            <a:avLst>
              <a:gd name="adj" fmla="val 4762"/>
            </a:avLst>
          </a:prstGeom>
          <a:solidFill>
            <a:srgbClr val="FFF3D6"/>
          </a:solidFill>
          <a:ln w="9525">
            <a:solidFill>
              <a:srgbClr val="7A4B00"/>
            </a:solidFill>
            <a:prstDash val="solid"/>
          </a:ln>
        </p:spPr>
      </p:sp>
      <p:sp>
        <p:nvSpPr>
          <p:cNvPr id="18" name="Text 15"/>
          <p:cNvSpPr txBox="1"/>
          <p:nvPr/>
        </p:nvSpPr>
        <p:spPr>
          <a:xfrm>
            <a:off x="676656" y="4050792"/>
            <a:ext cx="5321808" cy="755294"/>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[Milestone 3]  ·  [date]  ·  [measure of success]  ·  [funding needed]</a:t>
            </a:r>
            <a:endParaRPr lang="en-US" sz="1100" dirty="0"/>
          </a:p>
        </p:txBody>
      </p:sp>
      <p:sp>
        <p:nvSpPr>
          <p:cNvPr id="19" name="Shape 16"/>
          <p:cNvSpPr/>
          <p:nvPr/>
        </p:nvSpPr>
        <p:spPr>
          <a:xfrm>
            <a:off x="548640" y="4992624"/>
            <a:ext cx="5577840" cy="960120"/>
          </a:xfrm>
          <a:prstGeom prst="roundRect">
            <a:avLst>
              <a:gd name="adj" fmla="val 4762"/>
            </a:avLst>
          </a:prstGeom>
          <a:solidFill>
            <a:srgbClr val="FFF3D6"/>
          </a:solidFill>
          <a:ln w="9525">
            <a:solidFill>
              <a:srgbClr val="7A4B00"/>
            </a:solidFill>
            <a:prstDash val="solid"/>
          </a:ln>
        </p:spPr>
      </p:sp>
      <p:sp>
        <p:nvSpPr>
          <p:cNvPr id="20" name="Text 17"/>
          <p:cNvSpPr txBox="1"/>
          <p:nvPr/>
        </p:nvSpPr>
        <p:spPr>
          <a:xfrm>
            <a:off x="676656" y="5120640"/>
            <a:ext cx="5321808" cy="755294"/>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[Milestone 4]  ·  [date]  ·  [measure of success]  ·  [funding needed]</a:t>
            </a:r>
            <a:endParaRPr lang="en-US" sz="1100" dirty="0"/>
          </a:p>
        </p:txBody>
      </p:sp>
      <p:sp>
        <p:nvSpPr>
          <p:cNvPr id="21" name="Shape 18"/>
          <p:cNvSpPr/>
          <p:nvPr/>
        </p:nvSpPr>
        <p:spPr>
          <a:xfrm>
            <a:off x="6400800" y="1463040"/>
            <a:ext cx="5239512" cy="4617720"/>
          </a:xfrm>
          <a:prstGeom prst="roundRect">
            <a:avLst>
              <a:gd name="adj" fmla="val 990"/>
            </a:avLst>
          </a:prstGeom>
          <a:solidFill>
            <a:srgbClr val="FFFFFF"/>
          </a:solidFill>
          <a:ln w="9525">
            <a:solidFill>
              <a:srgbClr val="CDD8DC"/>
            </a:solidFill>
            <a:prstDash val="solid"/>
          </a:ln>
        </p:spPr>
      </p:sp>
      <p:sp>
        <p:nvSpPr>
          <p:cNvPr id="22" name="Text 19"/>
          <p:cNvSpPr txBox="1"/>
          <p:nvPr/>
        </p:nvSpPr>
        <p:spPr>
          <a:xfrm>
            <a:off x="6611112" y="1645920"/>
            <a:ext cx="4754880"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BARS ALREADY IN THE SPECIFICATION</a:t>
            </a:r>
            <a:endParaRPr lang="en-US" sz="900" dirty="0"/>
          </a:p>
        </p:txBody>
      </p:sp>
      <p:sp>
        <p:nvSpPr>
          <p:cNvPr id="23" name="Text 20"/>
          <p:cNvSpPr txBox="1"/>
          <p:nvPr/>
        </p:nvSpPr>
        <p:spPr>
          <a:xfrm>
            <a:off x="6611112" y="1965960"/>
            <a:ext cx="4800600" cy="4023360"/>
          </a:xfrm>
          <a:prstGeom prst="rect">
            <a:avLst/>
          </a:prstGeom>
          <a:noFill/>
          <a:ln/>
        </p:spPr>
        <p:txBody>
          <a:bodyPr wrap="square" lIns="0" tIns="0" rIns="0" bIns="0" rtlCol="0" anchor="t"/>
          <a:lstStyle/>
          <a:p>
            <a:pPr marL="165100" indent="-165100">
              <a:spcAft>
                <a:spcPts val="800"/>
              </a:spcAft>
              <a:buSzPct val="100000"/>
              <a:buChar char="•"/>
            </a:pPr>
            <a:r>
              <a:rPr lang="en-US" sz="1150" dirty="0">
                <a:solidFill>
                  <a:srgbClr val="15252E"/>
                </a:solidFill>
                <a:latin typeface="Calibri" pitchFamily="34" charset="0"/>
                <a:ea typeface="Calibri" pitchFamily="34" charset="-122"/>
                <a:cs typeface="Calibri" pitchFamily="34" charset="-120"/>
              </a:rPr>
              <a:t>A first report commissioned and approved without documentation</a:t>
            </a:r>
            <a:endParaRPr lang="en-US" sz="1150" dirty="0"/>
          </a:p>
          <a:p>
            <a:pPr marL="165100" indent="-165100">
              <a:spcAft>
                <a:spcPts val="800"/>
              </a:spcAft>
              <a:buSzPct val="100000"/>
              <a:buChar char="•"/>
            </a:pPr>
            <a:r>
              <a:rPr lang="en-US" sz="1150" dirty="0">
                <a:solidFill>
                  <a:srgbClr val="15252E"/>
                </a:solidFill>
                <a:latin typeface="Calibri" pitchFamily="34" charset="0"/>
                <a:ea typeface="Calibri" pitchFamily="34" charset="-122"/>
                <a:cs typeface="Calibri" pitchFamily="34" charset="-120"/>
              </a:rPr>
              <a:t>Any figure walked to its source in under 30 seconds</a:t>
            </a:r>
            <a:endParaRPr lang="en-US" sz="1150" dirty="0"/>
          </a:p>
          <a:p>
            <a:pPr marL="165100" indent="-165100">
              <a:spcAft>
                <a:spcPts val="800"/>
              </a:spcAft>
              <a:buSzPct val="100000"/>
              <a:buChar char="•"/>
            </a:pPr>
            <a:r>
              <a:rPr lang="en-US" sz="1150" dirty="0">
                <a:solidFill>
                  <a:srgbClr val="15252E"/>
                </a:solidFill>
                <a:latin typeface="Calibri" pitchFamily="34" charset="0"/>
                <a:ea typeface="Calibri" pitchFamily="34" charset="-122"/>
                <a:cs typeface="Calibri" pitchFamily="34" charset="-120"/>
              </a:rPr>
              <a:t>Under 15 minutes of operator attention per run</a:t>
            </a:r>
            <a:endParaRPr lang="en-US" sz="1150" dirty="0"/>
          </a:p>
          <a:p>
            <a:pPr marL="165100" indent="-165100">
              <a:spcAft>
                <a:spcPts val="800"/>
              </a:spcAft>
              <a:buSzPct val="100000"/>
              <a:buChar char="•"/>
            </a:pPr>
            <a:r>
              <a:rPr lang="en-US" sz="1150" dirty="0">
                <a:solidFill>
                  <a:srgbClr val="15252E"/>
                </a:solidFill>
                <a:latin typeface="Calibri" pitchFamily="34" charset="0"/>
                <a:ea typeface="Calibri" pitchFamily="34" charset="-122"/>
                <a:cs typeface="Calibri" pitchFamily="34" charset="-120"/>
              </a:rPr>
              <a:t>A full run under £8, a refresh under £2</a:t>
            </a:r>
            <a:endParaRPr lang="en-US" sz="1150" dirty="0"/>
          </a:p>
          <a:p>
            <a:pPr marL="165100" indent="-165100">
              <a:spcAft>
                <a:spcPts val="800"/>
              </a:spcAft>
              <a:buSzPct val="100000"/>
              <a:buChar char="•"/>
            </a:pPr>
            <a:r>
              <a:rPr lang="en-US" sz="1150" dirty="0">
                <a:solidFill>
                  <a:srgbClr val="15252E"/>
                </a:solidFill>
                <a:latin typeface="Calibri" pitchFamily="34" charset="0"/>
                <a:ea typeface="Calibri" pitchFamily="34" charset="-122"/>
                <a:cs typeface="Calibri" pitchFamily="34" charset="-120"/>
              </a:rPr>
              <a:t>Zero dead ends: every stopped state has a labelled way forward</a:t>
            </a:r>
            <a:endParaRPr lang="en-US" sz="1150" dirty="0"/>
          </a:p>
          <a:p>
            <a:pPr marL="165100" indent="-165100">
              <a:spcAft>
                <a:spcPts val="800"/>
              </a:spcAft>
              <a:buSzPct val="100000"/>
              <a:buChar char="•"/>
            </a:pPr>
            <a:r>
              <a:rPr lang="en-US" sz="1150" dirty="0">
                <a:solidFill>
                  <a:srgbClr val="15252E"/>
                </a:solidFill>
                <a:latin typeface="Calibri" pitchFamily="34" charset="0"/>
                <a:ea typeface="Calibri" pitchFamily="34" charset="-122"/>
                <a:cs typeface="Calibri" pitchFamily="34" charset="-120"/>
              </a:rPr>
              <a:t>Every broken premise surfaced within one filing cycle</a:t>
            </a:r>
            <a:endParaRPr lang="en-US" sz="1150" dirty="0"/>
          </a:p>
          <a:p>
            <a:pPr marL="165100" indent="-165100">
              <a:spcAft>
                <a:spcPts val="800"/>
              </a:spcAft>
              <a:buSzPct val="100000"/>
              <a:buChar char="•"/>
            </a:pPr>
            <a:r>
              <a:rPr lang="en-US" sz="1150" dirty="0">
                <a:solidFill>
                  <a:srgbClr val="15252E"/>
                </a:solidFill>
                <a:latin typeface="Calibri" pitchFamily="34" charset="0"/>
                <a:ea typeface="Calibri" pitchFamily="34" charset="-122"/>
                <a:cs typeface="Calibri" pitchFamily="34" charset="-120"/>
              </a:rPr>
              <a:t>Zero false alarms across a quarter</a:t>
            </a:r>
            <a:endParaRPr lang="en-US" sz="1150" dirty="0"/>
          </a:p>
          <a:p>
            <a:pPr marL="165100" indent="-165100">
              <a:spcAft>
                <a:spcPts val="800"/>
              </a:spcAft>
              <a:buSzPct val="100000"/>
              <a:buChar char="•"/>
            </a:pPr>
            <a:r>
              <a:rPr lang="en-US" sz="1150" dirty="0">
                <a:solidFill>
                  <a:srgbClr val="15252E"/>
                </a:solidFill>
                <a:latin typeface="Calibri" pitchFamily="34" charset="0"/>
                <a:ea typeface="Calibri" pitchFamily="34" charset="-122"/>
                <a:cs typeface="Calibri" pitchFamily="34" charset="-120"/>
              </a:rPr>
              <a:t>A returning user knows what to do within 10 seconds</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14 · TEAM</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Team</a:t>
            </a:r>
            <a:endParaRPr lang="en-US" sz="2800" dirty="0"/>
          </a:p>
        </p:txBody>
      </p:sp>
      <p:sp>
        <p:nvSpPr>
          <p:cNvPr id="5" name="Shape 3"/>
          <p:cNvSpPr/>
          <p:nvPr/>
        </p:nvSpPr>
        <p:spPr>
          <a:xfrm>
            <a:off x="10624414" y="384048"/>
            <a:ext cx="1018642" cy="219456"/>
          </a:xfrm>
          <a:prstGeom prst="roundRect">
            <a:avLst>
              <a:gd name="adj" fmla="val 50000"/>
            </a:avLst>
          </a:prstGeom>
          <a:solidFill>
            <a:srgbClr val="7A4B00"/>
          </a:solidFill>
          <a:ln/>
        </p:spPr>
      </p:sp>
      <p:sp>
        <p:nvSpPr>
          <p:cNvPr id="6" name="Text 4"/>
          <p:cNvSpPr txBox="1"/>
          <p:nvPr/>
        </p:nvSpPr>
        <p:spPr>
          <a:xfrm>
            <a:off x="10624414" y="38404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7" name="Text 5"/>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8" name="Text 6"/>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44</a:t>
            </a:r>
            <a:endParaRPr lang="en-US" sz="800" dirty="0"/>
          </a:p>
        </p:txBody>
      </p:sp>
      <p:sp>
        <p:nvSpPr>
          <p:cNvPr id="10" name="Shape 7"/>
          <p:cNvSpPr/>
          <p:nvPr/>
        </p:nvSpPr>
        <p:spPr>
          <a:xfrm>
            <a:off x="548640" y="1463040"/>
            <a:ext cx="4754880" cy="4617720"/>
          </a:xfrm>
          <a:prstGeom prst="roundRect">
            <a:avLst>
              <a:gd name="adj" fmla="val 990"/>
            </a:avLst>
          </a:prstGeom>
          <a:solidFill>
            <a:srgbClr val="FFF3D6"/>
          </a:solidFill>
          <a:ln w="9525">
            <a:solidFill>
              <a:srgbClr val="7A4B00"/>
            </a:solidFill>
            <a:prstDash val="solid"/>
          </a:ln>
        </p:spPr>
      </p:sp>
      <p:sp>
        <p:nvSpPr>
          <p:cNvPr id="11" name="Shape 8"/>
          <p:cNvSpPr/>
          <p:nvPr/>
        </p:nvSpPr>
        <p:spPr>
          <a:xfrm>
            <a:off x="822960" y="1737360"/>
            <a:ext cx="1188720" cy="1188720"/>
          </a:xfrm>
          <a:prstGeom prst="ellipse">
            <a:avLst/>
          </a:prstGeom>
          <a:solidFill>
            <a:srgbClr val="FFFFFF"/>
          </a:solidFill>
          <a:ln w="12700">
            <a:solidFill>
              <a:srgbClr val="7A4B00"/>
            </a:solidFill>
            <a:prstDash val="dash"/>
          </a:ln>
        </p:spPr>
      </p:sp>
      <p:sp>
        <p:nvSpPr>
          <p:cNvPr id="12" name="Text 9"/>
          <p:cNvSpPr txBox="1"/>
          <p:nvPr/>
        </p:nvSpPr>
        <p:spPr>
          <a:xfrm>
            <a:off x="822960" y="1737360"/>
            <a:ext cx="1188720" cy="1188720"/>
          </a:xfrm>
          <a:prstGeom prst="rect">
            <a:avLst/>
          </a:prstGeom>
          <a:noFill/>
          <a:ln/>
        </p:spPr>
        <p:txBody>
          <a:bodyPr wrap="square" lIns="0" tIns="0" rIns="0" bIns="0" rtlCol="0" anchor="ctr"/>
          <a:lstStyle/>
          <a:p>
            <a:pPr algn="ctr" indent="0" marL="0">
              <a:buNone/>
            </a:pPr>
            <a:r>
              <a:rPr lang="en-US" sz="1000" dirty="0">
                <a:solidFill>
                  <a:srgbClr val="7A4B00"/>
                </a:solidFill>
                <a:latin typeface="Consolas" pitchFamily="34" charset="0"/>
                <a:ea typeface="Consolas" pitchFamily="34" charset="-122"/>
                <a:cs typeface="Consolas" pitchFamily="34" charset="-120"/>
              </a:rPr>
              <a:t>[photo]</a:t>
            </a:r>
            <a:endParaRPr lang="en-US" sz="1000" dirty="0"/>
          </a:p>
        </p:txBody>
      </p:sp>
      <p:sp>
        <p:nvSpPr>
          <p:cNvPr id="13" name="Text 10"/>
          <p:cNvSpPr txBox="1"/>
          <p:nvPr/>
        </p:nvSpPr>
        <p:spPr>
          <a:xfrm>
            <a:off x="2240280" y="1874520"/>
            <a:ext cx="2926080" cy="365760"/>
          </a:xfrm>
          <a:prstGeom prst="rect">
            <a:avLst/>
          </a:prstGeom>
          <a:noFill/>
          <a:ln/>
        </p:spPr>
        <p:txBody>
          <a:bodyPr wrap="square" lIns="0" tIns="0" rIns="0" bIns="0" rtlCol="0" anchor="t"/>
          <a:lstStyle/>
          <a:p>
            <a:pPr indent="0" marL="0">
              <a:buNone/>
            </a:pPr>
            <a:r>
              <a:rPr lang="en-US" sz="1800" b="1" dirty="0">
                <a:solidFill>
                  <a:srgbClr val="5D3900"/>
                </a:solidFill>
                <a:latin typeface="Calibri" pitchFamily="34" charset="0"/>
                <a:ea typeface="Calibri" pitchFamily="34" charset="-122"/>
                <a:cs typeface="Calibri" pitchFamily="34" charset="-120"/>
              </a:rPr>
              <a:t>[Founder name]</a:t>
            </a:r>
            <a:endParaRPr lang="en-US" sz="1800" dirty="0"/>
          </a:p>
        </p:txBody>
      </p:sp>
      <p:sp>
        <p:nvSpPr>
          <p:cNvPr id="14" name="Text 11"/>
          <p:cNvSpPr txBox="1"/>
          <p:nvPr/>
        </p:nvSpPr>
        <p:spPr>
          <a:xfrm>
            <a:off x="2240280" y="2286000"/>
            <a:ext cx="2926080" cy="274320"/>
          </a:xfrm>
          <a:prstGeom prst="rect">
            <a:avLst/>
          </a:prstGeom>
          <a:noFill/>
          <a:ln/>
        </p:spPr>
        <p:txBody>
          <a:bodyPr wrap="square" lIns="0" tIns="0" rIns="0" bIns="0" rtlCol="0" anchor="t"/>
          <a:lstStyle/>
          <a:p>
            <a:pPr indent="0" marL="0">
              <a:buNone/>
            </a:pPr>
            <a:r>
              <a:rPr lang="en-US" sz="1200" dirty="0">
                <a:solidFill>
                  <a:srgbClr val="5D3900"/>
                </a:solidFill>
                <a:latin typeface="Calibri" pitchFamily="34" charset="0"/>
                <a:ea typeface="Calibri" pitchFamily="34" charset="-122"/>
                <a:cs typeface="Calibri" pitchFamily="34" charset="-120"/>
              </a:rPr>
              <a:t>[Role]</a:t>
            </a:r>
            <a:endParaRPr lang="en-US" sz="1200" dirty="0"/>
          </a:p>
        </p:txBody>
      </p:sp>
      <p:sp>
        <p:nvSpPr>
          <p:cNvPr id="15" name="Text 12"/>
          <p:cNvSpPr txBox="1"/>
          <p:nvPr/>
        </p:nvSpPr>
        <p:spPr>
          <a:xfrm>
            <a:off x="822960" y="3200400"/>
            <a:ext cx="4206240" cy="2651760"/>
          </a:xfrm>
          <a:prstGeom prst="rect">
            <a:avLst/>
          </a:prstGeom>
          <a:noFill/>
          <a:ln/>
        </p:spPr>
        <p:txBody>
          <a:bodyPr wrap="square" lIns="0" tIns="0" rIns="0" bIns="0" rtlCol="0" anchor="t"/>
          <a:lstStyle/>
          <a:p>
            <a:pPr indent="0" marL="0">
              <a:buNone/>
            </a:pPr>
            <a:r>
              <a:rPr lang="en-US" sz="1200" dirty="0">
                <a:solidFill>
                  <a:srgbClr val="5D3900"/>
                </a:solidFill>
                <a:latin typeface="Calibri" pitchFamily="34" charset="0"/>
                <a:ea typeface="Calibri" pitchFamily="34" charset="-122"/>
                <a:cs typeface="Calibri" pitchFamily="34" charset="-120"/>
              </a:rPr>
              <a:t>[Background: investing, engineering, domain]</a:t>
            </a:r>
            <a:endParaRPr lang="en-US" sz="1200" dirty="0"/>
          </a:p>
          <a:p>
            <a:pPr indent="0" marL="0">
              <a:buNone/>
            </a:pPr>
            <a:endParaRPr lang="en-US" sz="1200" dirty="0"/>
          </a:p>
          <a:p>
            <a:pPr indent="0" marL="0">
              <a:buNone/>
            </a:pPr>
            <a:r>
              <a:rPr lang="en-US" sz="1200" dirty="0">
                <a:solidFill>
                  <a:srgbClr val="5D3900"/>
                </a:solidFill>
                <a:latin typeface="Calibri" pitchFamily="34" charset="0"/>
                <a:ea typeface="Calibri" pitchFamily="34" charset="-122"/>
                <a:cs typeface="Calibri" pitchFamily="34" charset="-120"/>
              </a:rPr>
              <a:t>[Why you: what you know that others don’t]</a:t>
            </a:r>
            <a:endParaRPr lang="en-US" sz="1200" dirty="0"/>
          </a:p>
          <a:p>
            <a:pPr indent="0" marL="0">
              <a:buNone/>
            </a:pPr>
            <a:endParaRPr lang="en-US" sz="1200" dirty="0"/>
          </a:p>
          <a:p>
            <a:pPr indent="0" marL="0">
              <a:buNone/>
            </a:pPr>
            <a:r>
              <a:rPr lang="en-US" sz="1200" dirty="0">
                <a:solidFill>
                  <a:srgbClr val="5D3900"/>
                </a:solidFill>
                <a:latin typeface="Calibri" pitchFamily="34" charset="0"/>
                <a:ea typeface="Calibri" pitchFamily="34" charset="-122"/>
                <a:cs typeface="Calibri" pitchFamily="34" charset="-120"/>
              </a:rPr>
              <a:t>[How the platform was built, and who owns the code]</a:t>
            </a:r>
            <a:endParaRPr lang="en-US" sz="1200" dirty="0"/>
          </a:p>
        </p:txBody>
      </p:sp>
      <p:sp>
        <p:nvSpPr>
          <p:cNvPr id="16" name="Text 13"/>
          <p:cNvSpPr txBox="1"/>
          <p:nvPr/>
        </p:nvSpPr>
        <p:spPr>
          <a:xfrm>
            <a:off x="5577840" y="1463040"/>
            <a:ext cx="2941168" cy="201168"/>
          </a:xfrm>
          <a:prstGeom prst="rect">
            <a:avLst/>
          </a:prstGeom>
          <a:noFill/>
          <a:ln/>
        </p:spPr>
        <p:txBody>
          <a:bodyPr wrap="square" lIns="0" tIns="0" rIns="0" bIns="0" rtlCol="0" anchor="t"/>
          <a:lstStyle/>
          <a:p>
            <a:pPr indent="0" marL="0">
              <a:buNone/>
            </a:pPr>
            <a:r>
              <a:rPr lang="en-US" sz="900" b="1" spc="100" kern="0" dirty="0">
                <a:solidFill>
                  <a:srgbClr val="7A4B00"/>
                </a:solidFill>
                <a:latin typeface="Consolas" pitchFamily="34" charset="0"/>
                <a:ea typeface="Consolas" pitchFamily="34" charset="-122"/>
                <a:cs typeface="Consolas" pitchFamily="34" charset="-120"/>
              </a:rPr>
              <a:t>ADVISERS</a:t>
            </a:r>
            <a:endParaRPr lang="en-US" sz="900" dirty="0"/>
          </a:p>
        </p:txBody>
      </p:sp>
      <p:sp>
        <p:nvSpPr>
          <p:cNvPr id="17" name="Shape 14"/>
          <p:cNvSpPr/>
          <p:nvPr/>
        </p:nvSpPr>
        <p:spPr>
          <a:xfrm>
            <a:off x="5577840" y="1783080"/>
            <a:ext cx="2941168" cy="1325880"/>
          </a:xfrm>
          <a:prstGeom prst="roundRect">
            <a:avLst>
              <a:gd name="adj" fmla="val 3448"/>
            </a:avLst>
          </a:prstGeom>
          <a:solidFill>
            <a:srgbClr val="FFF3D6"/>
          </a:solidFill>
          <a:ln w="9525">
            <a:solidFill>
              <a:srgbClr val="7A4B00"/>
            </a:solidFill>
            <a:prstDash val="solid"/>
          </a:ln>
        </p:spPr>
      </p:sp>
      <p:sp>
        <p:nvSpPr>
          <p:cNvPr id="18" name="Text 15"/>
          <p:cNvSpPr txBox="1"/>
          <p:nvPr/>
        </p:nvSpPr>
        <p:spPr>
          <a:xfrm>
            <a:off x="5705856" y="1911096"/>
            <a:ext cx="2685136" cy="1121054"/>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[Regulatory / legal]</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[name]</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[why they matter]</a:t>
            </a:r>
            <a:endParaRPr lang="en-US" sz="1100" dirty="0"/>
          </a:p>
        </p:txBody>
      </p:sp>
      <p:sp>
        <p:nvSpPr>
          <p:cNvPr id="19" name="Shape 16"/>
          <p:cNvSpPr/>
          <p:nvPr/>
        </p:nvSpPr>
        <p:spPr>
          <a:xfrm>
            <a:off x="5577840" y="3227832"/>
            <a:ext cx="2941168" cy="1325880"/>
          </a:xfrm>
          <a:prstGeom prst="roundRect">
            <a:avLst>
              <a:gd name="adj" fmla="val 3448"/>
            </a:avLst>
          </a:prstGeom>
          <a:solidFill>
            <a:srgbClr val="FFF3D6"/>
          </a:solidFill>
          <a:ln w="9525">
            <a:solidFill>
              <a:srgbClr val="7A4B00"/>
            </a:solidFill>
            <a:prstDash val="solid"/>
          </a:ln>
        </p:spPr>
      </p:sp>
      <p:sp>
        <p:nvSpPr>
          <p:cNvPr id="20" name="Text 17"/>
          <p:cNvSpPr txBox="1"/>
          <p:nvPr/>
        </p:nvSpPr>
        <p:spPr>
          <a:xfrm>
            <a:off x="5705856" y="3355848"/>
            <a:ext cx="2685136" cy="1121054"/>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[Investment professional]</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[name]</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[why they matter]</a:t>
            </a:r>
            <a:endParaRPr lang="en-US" sz="1100" dirty="0"/>
          </a:p>
        </p:txBody>
      </p:sp>
      <p:sp>
        <p:nvSpPr>
          <p:cNvPr id="21" name="Shape 18"/>
          <p:cNvSpPr/>
          <p:nvPr/>
        </p:nvSpPr>
        <p:spPr>
          <a:xfrm>
            <a:off x="5577840" y="4672584"/>
            <a:ext cx="2941168" cy="1325880"/>
          </a:xfrm>
          <a:prstGeom prst="roundRect">
            <a:avLst>
              <a:gd name="adj" fmla="val 3448"/>
            </a:avLst>
          </a:prstGeom>
          <a:solidFill>
            <a:srgbClr val="FFF3D6"/>
          </a:solidFill>
          <a:ln w="9525">
            <a:solidFill>
              <a:srgbClr val="7A4B00"/>
            </a:solidFill>
            <a:prstDash val="solid"/>
          </a:ln>
        </p:spPr>
      </p:sp>
      <p:sp>
        <p:nvSpPr>
          <p:cNvPr id="22" name="Text 19"/>
          <p:cNvSpPr txBox="1"/>
          <p:nvPr/>
        </p:nvSpPr>
        <p:spPr>
          <a:xfrm>
            <a:off x="5705856" y="4800600"/>
            <a:ext cx="2685136" cy="1121054"/>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[Technical]</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[name]</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[why they matter]</a:t>
            </a:r>
            <a:endParaRPr lang="en-US" sz="1100" dirty="0"/>
          </a:p>
        </p:txBody>
      </p:sp>
      <p:sp>
        <p:nvSpPr>
          <p:cNvPr id="23" name="Text 20"/>
          <p:cNvSpPr txBox="1"/>
          <p:nvPr/>
        </p:nvSpPr>
        <p:spPr>
          <a:xfrm>
            <a:off x="8701888" y="1463040"/>
            <a:ext cx="2941168" cy="201168"/>
          </a:xfrm>
          <a:prstGeom prst="rect">
            <a:avLst/>
          </a:prstGeom>
          <a:noFill/>
          <a:ln/>
        </p:spPr>
        <p:txBody>
          <a:bodyPr wrap="square" lIns="0" tIns="0" rIns="0" bIns="0" rtlCol="0" anchor="t"/>
          <a:lstStyle/>
          <a:p>
            <a:pPr indent="0" marL="0">
              <a:buNone/>
            </a:pPr>
            <a:r>
              <a:rPr lang="en-US" sz="900" b="1" spc="100" kern="0" dirty="0">
                <a:solidFill>
                  <a:srgbClr val="7A4B00"/>
                </a:solidFill>
                <a:latin typeface="Consolas" pitchFamily="34" charset="0"/>
                <a:ea typeface="Consolas" pitchFamily="34" charset="-122"/>
                <a:cs typeface="Consolas" pitchFamily="34" charset="-120"/>
              </a:rPr>
              <a:t>TO HIRE WITH THIS ROUND</a:t>
            </a:r>
            <a:endParaRPr lang="en-US" sz="900" dirty="0"/>
          </a:p>
        </p:txBody>
      </p:sp>
      <p:sp>
        <p:nvSpPr>
          <p:cNvPr id="24" name="Shape 21"/>
          <p:cNvSpPr/>
          <p:nvPr/>
        </p:nvSpPr>
        <p:spPr>
          <a:xfrm>
            <a:off x="8701888" y="1783080"/>
            <a:ext cx="2941168" cy="1325880"/>
          </a:xfrm>
          <a:prstGeom prst="roundRect">
            <a:avLst>
              <a:gd name="adj" fmla="val 3448"/>
            </a:avLst>
          </a:prstGeom>
          <a:solidFill>
            <a:srgbClr val="FFF3D6"/>
          </a:solidFill>
          <a:ln w="9525">
            <a:solidFill>
              <a:srgbClr val="7A4B00"/>
            </a:solidFill>
            <a:prstDash val="solid"/>
          </a:ln>
        </p:spPr>
      </p:sp>
      <p:sp>
        <p:nvSpPr>
          <p:cNvPr id="25" name="Text 22"/>
          <p:cNvSpPr txBox="1"/>
          <p:nvPr/>
        </p:nvSpPr>
        <p:spPr>
          <a:xfrm>
            <a:off x="8829904" y="1911096"/>
            <a:ext cx="2685136" cy="1121054"/>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[Role 1]</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[name]</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[why they matter]</a:t>
            </a:r>
            <a:endParaRPr lang="en-US" sz="1100" dirty="0"/>
          </a:p>
        </p:txBody>
      </p:sp>
      <p:sp>
        <p:nvSpPr>
          <p:cNvPr id="26" name="Shape 23"/>
          <p:cNvSpPr/>
          <p:nvPr/>
        </p:nvSpPr>
        <p:spPr>
          <a:xfrm>
            <a:off x="8701888" y="3227832"/>
            <a:ext cx="2941168" cy="1325880"/>
          </a:xfrm>
          <a:prstGeom prst="roundRect">
            <a:avLst>
              <a:gd name="adj" fmla="val 3448"/>
            </a:avLst>
          </a:prstGeom>
          <a:solidFill>
            <a:srgbClr val="FFF3D6"/>
          </a:solidFill>
          <a:ln w="9525">
            <a:solidFill>
              <a:srgbClr val="7A4B00"/>
            </a:solidFill>
            <a:prstDash val="solid"/>
          </a:ln>
        </p:spPr>
      </p:sp>
      <p:sp>
        <p:nvSpPr>
          <p:cNvPr id="27" name="Text 24"/>
          <p:cNvSpPr txBox="1"/>
          <p:nvPr/>
        </p:nvSpPr>
        <p:spPr>
          <a:xfrm>
            <a:off x="8829904" y="3355848"/>
            <a:ext cx="2685136" cy="1121054"/>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[Role 2]</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[name]</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[why they matter]</a:t>
            </a:r>
            <a:endParaRPr lang="en-US" sz="1100" dirty="0"/>
          </a:p>
        </p:txBody>
      </p:sp>
      <p:sp>
        <p:nvSpPr>
          <p:cNvPr id="28" name="Shape 25"/>
          <p:cNvSpPr/>
          <p:nvPr/>
        </p:nvSpPr>
        <p:spPr>
          <a:xfrm>
            <a:off x="8701888" y="4672584"/>
            <a:ext cx="2941168" cy="1325880"/>
          </a:xfrm>
          <a:prstGeom prst="roundRect">
            <a:avLst>
              <a:gd name="adj" fmla="val 3448"/>
            </a:avLst>
          </a:prstGeom>
          <a:solidFill>
            <a:srgbClr val="FFF3D6"/>
          </a:solidFill>
          <a:ln w="9525">
            <a:solidFill>
              <a:srgbClr val="7A4B00"/>
            </a:solidFill>
            <a:prstDash val="solid"/>
          </a:ln>
        </p:spPr>
      </p:sp>
      <p:sp>
        <p:nvSpPr>
          <p:cNvPr id="29" name="Text 26"/>
          <p:cNvSpPr txBox="1"/>
          <p:nvPr/>
        </p:nvSpPr>
        <p:spPr>
          <a:xfrm>
            <a:off x="8829904" y="4800600"/>
            <a:ext cx="2685136" cy="1121054"/>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[Role 3]</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[name]</a:t>
            </a:r>
            <a:endParaRPr lang="en-US" sz="1100" dirty="0"/>
          </a:p>
          <a:p>
            <a:pPr algn="l" indent="0" marL="0">
              <a:buNone/>
            </a:pPr>
            <a:r>
              <a:rPr lang="en-US" sz="1100" dirty="0">
                <a:solidFill>
                  <a:srgbClr val="5D3900"/>
                </a:solidFill>
                <a:latin typeface="Calibri" pitchFamily="34" charset="0"/>
                <a:ea typeface="Calibri" pitchFamily="34" charset="-122"/>
                <a:cs typeface="Calibri" pitchFamily="34" charset="-120"/>
              </a:rPr>
              <a:t>[why they matter]</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14 · THE ASK</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The ask</a:t>
            </a:r>
            <a:endParaRPr lang="en-US" sz="2800" dirty="0"/>
          </a:p>
        </p:txBody>
      </p:sp>
      <p:sp>
        <p:nvSpPr>
          <p:cNvPr id="5" name="Shape 3"/>
          <p:cNvSpPr/>
          <p:nvPr/>
        </p:nvSpPr>
        <p:spPr>
          <a:xfrm>
            <a:off x="10624414" y="384048"/>
            <a:ext cx="1018642" cy="219456"/>
          </a:xfrm>
          <a:prstGeom prst="roundRect">
            <a:avLst>
              <a:gd name="adj" fmla="val 50000"/>
            </a:avLst>
          </a:prstGeom>
          <a:solidFill>
            <a:srgbClr val="7A4B00"/>
          </a:solidFill>
          <a:ln/>
        </p:spPr>
      </p:sp>
      <p:sp>
        <p:nvSpPr>
          <p:cNvPr id="6" name="Text 4"/>
          <p:cNvSpPr txBox="1"/>
          <p:nvPr/>
        </p:nvSpPr>
        <p:spPr>
          <a:xfrm>
            <a:off x="10624414" y="38404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7" name="Text 5"/>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8" name="Text 6"/>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45</a:t>
            </a:r>
            <a:endParaRPr lang="en-US" sz="800" dirty="0"/>
          </a:p>
        </p:txBody>
      </p:sp>
      <p:sp>
        <p:nvSpPr>
          <p:cNvPr id="10" name="Shape 7"/>
          <p:cNvSpPr/>
          <p:nvPr/>
        </p:nvSpPr>
        <p:spPr>
          <a:xfrm>
            <a:off x="548640" y="1463040"/>
            <a:ext cx="4023360" cy="822960"/>
          </a:xfrm>
          <a:prstGeom prst="roundRect">
            <a:avLst>
              <a:gd name="adj" fmla="val 5556"/>
            </a:avLst>
          </a:prstGeom>
          <a:solidFill>
            <a:srgbClr val="FFF3D6"/>
          </a:solidFill>
          <a:ln w="9525">
            <a:solidFill>
              <a:srgbClr val="7A4B00"/>
            </a:solidFill>
            <a:prstDash val="solid"/>
          </a:ln>
        </p:spPr>
      </p:sp>
      <p:sp>
        <p:nvSpPr>
          <p:cNvPr id="11" name="Text 8"/>
          <p:cNvSpPr txBox="1"/>
          <p:nvPr/>
        </p:nvSpPr>
        <p:spPr>
          <a:xfrm>
            <a:off x="676656" y="1591056"/>
            <a:ext cx="3767328"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RAISING</a:t>
            </a:r>
            <a:endParaRPr lang="en-US" sz="800" dirty="0"/>
          </a:p>
        </p:txBody>
      </p:sp>
      <p:sp>
        <p:nvSpPr>
          <p:cNvPr id="12" name="Text 9"/>
          <p:cNvSpPr txBox="1"/>
          <p:nvPr/>
        </p:nvSpPr>
        <p:spPr>
          <a:xfrm>
            <a:off x="676656" y="1819656"/>
            <a:ext cx="3767328" cy="389534"/>
          </a:xfrm>
          <a:prstGeom prst="rect">
            <a:avLst/>
          </a:prstGeom>
          <a:noFill/>
          <a:ln/>
        </p:spPr>
        <p:txBody>
          <a:bodyPr wrap="square" lIns="0" tIns="0" rIns="0" bIns="0" rtlCol="0" anchor="t"/>
          <a:lstStyle/>
          <a:p>
            <a:pPr algn="l" indent="0" marL="0">
              <a:buNone/>
            </a:pPr>
            <a:r>
              <a:rPr lang="en-US" sz="1500" dirty="0">
                <a:solidFill>
                  <a:srgbClr val="5D3900"/>
                </a:solidFill>
                <a:latin typeface="Calibri" pitchFamily="34" charset="0"/>
                <a:ea typeface="Calibri" pitchFamily="34" charset="-122"/>
                <a:cs typeface="Calibri" pitchFamily="34" charset="-120"/>
              </a:rPr>
              <a:t>£ [ ___ ]</a:t>
            </a:r>
            <a:endParaRPr lang="en-US" sz="1500" dirty="0"/>
          </a:p>
        </p:txBody>
      </p:sp>
      <p:sp>
        <p:nvSpPr>
          <p:cNvPr id="13" name="Shape 10"/>
          <p:cNvSpPr/>
          <p:nvPr/>
        </p:nvSpPr>
        <p:spPr>
          <a:xfrm>
            <a:off x="548640" y="2395728"/>
            <a:ext cx="4023360" cy="822960"/>
          </a:xfrm>
          <a:prstGeom prst="roundRect">
            <a:avLst>
              <a:gd name="adj" fmla="val 5556"/>
            </a:avLst>
          </a:prstGeom>
          <a:solidFill>
            <a:srgbClr val="FFF3D6"/>
          </a:solidFill>
          <a:ln w="9525">
            <a:solidFill>
              <a:srgbClr val="7A4B00"/>
            </a:solidFill>
            <a:prstDash val="solid"/>
          </a:ln>
        </p:spPr>
      </p:sp>
      <p:sp>
        <p:nvSpPr>
          <p:cNvPr id="14" name="Text 11"/>
          <p:cNvSpPr txBox="1"/>
          <p:nvPr/>
        </p:nvSpPr>
        <p:spPr>
          <a:xfrm>
            <a:off x="676656" y="2523744"/>
            <a:ext cx="3767328"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INSTRUMENT</a:t>
            </a:r>
            <a:endParaRPr lang="en-US" sz="800" dirty="0"/>
          </a:p>
        </p:txBody>
      </p:sp>
      <p:sp>
        <p:nvSpPr>
          <p:cNvPr id="15" name="Text 12"/>
          <p:cNvSpPr txBox="1"/>
          <p:nvPr/>
        </p:nvSpPr>
        <p:spPr>
          <a:xfrm>
            <a:off x="676656" y="2752344"/>
            <a:ext cx="3767328" cy="389534"/>
          </a:xfrm>
          <a:prstGeom prst="rect">
            <a:avLst/>
          </a:prstGeom>
          <a:noFill/>
          <a:ln/>
        </p:spPr>
        <p:txBody>
          <a:bodyPr wrap="square" lIns="0" tIns="0" rIns="0" bIns="0" rtlCol="0" anchor="t"/>
          <a:lstStyle/>
          <a:p>
            <a:pPr algn="l" indent="0" marL="0">
              <a:buNone/>
            </a:pPr>
            <a:r>
              <a:rPr lang="en-US" sz="1500" dirty="0">
                <a:solidFill>
                  <a:srgbClr val="5D3900"/>
                </a:solidFill>
                <a:latin typeface="Calibri" pitchFamily="34" charset="0"/>
                <a:ea typeface="Calibri" pitchFamily="34" charset="-122"/>
                <a:cs typeface="Calibri" pitchFamily="34" charset="-120"/>
              </a:rPr>
              <a:t>[equity · ASA · convertible]</a:t>
            </a:r>
            <a:endParaRPr lang="en-US" sz="1500" dirty="0"/>
          </a:p>
        </p:txBody>
      </p:sp>
      <p:sp>
        <p:nvSpPr>
          <p:cNvPr id="16" name="Shape 13"/>
          <p:cNvSpPr/>
          <p:nvPr/>
        </p:nvSpPr>
        <p:spPr>
          <a:xfrm>
            <a:off x="548640" y="3328416"/>
            <a:ext cx="4023360" cy="822960"/>
          </a:xfrm>
          <a:prstGeom prst="roundRect">
            <a:avLst>
              <a:gd name="adj" fmla="val 5556"/>
            </a:avLst>
          </a:prstGeom>
          <a:solidFill>
            <a:srgbClr val="FFF3D6"/>
          </a:solidFill>
          <a:ln w="9525">
            <a:solidFill>
              <a:srgbClr val="7A4B00"/>
            </a:solidFill>
            <a:prstDash val="solid"/>
          </a:ln>
        </p:spPr>
      </p:sp>
      <p:sp>
        <p:nvSpPr>
          <p:cNvPr id="17" name="Text 14"/>
          <p:cNvSpPr txBox="1"/>
          <p:nvPr/>
        </p:nvSpPr>
        <p:spPr>
          <a:xfrm>
            <a:off x="676656" y="3456432"/>
            <a:ext cx="3767328"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VALUATION OR CAP</a:t>
            </a:r>
            <a:endParaRPr lang="en-US" sz="800" dirty="0"/>
          </a:p>
        </p:txBody>
      </p:sp>
      <p:sp>
        <p:nvSpPr>
          <p:cNvPr id="18" name="Text 15"/>
          <p:cNvSpPr txBox="1"/>
          <p:nvPr/>
        </p:nvSpPr>
        <p:spPr>
          <a:xfrm>
            <a:off x="676656" y="3685032"/>
            <a:ext cx="3767328" cy="389534"/>
          </a:xfrm>
          <a:prstGeom prst="rect">
            <a:avLst/>
          </a:prstGeom>
          <a:noFill/>
          <a:ln/>
        </p:spPr>
        <p:txBody>
          <a:bodyPr wrap="square" lIns="0" tIns="0" rIns="0" bIns="0" rtlCol="0" anchor="t"/>
          <a:lstStyle/>
          <a:p>
            <a:pPr algn="l" indent="0" marL="0">
              <a:buNone/>
            </a:pPr>
            <a:r>
              <a:rPr lang="en-US" sz="1500" dirty="0">
                <a:solidFill>
                  <a:srgbClr val="5D3900"/>
                </a:solidFill>
                <a:latin typeface="Calibri" pitchFamily="34" charset="0"/>
                <a:ea typeface="Calibri" pitchFamily="34" charset="-122"/>
                <a:cs typeface="Calibri" pitchFamily="34" charset="-120"/>
              </a:rPr>
              <a:t>£ [ ___ ]</a:t>
            </a:r>
            <a:endParaRPr lang="en-US" sz="1500" dirty="0"/>
          </a:p>
        </p:txBody>
      </p:sp>
      <p:sp>
        <p:nvSpPr>
          <p:cNvPr id="19" name="Shape 16"/>
          <p:cNvSpPr/>
          <p:nvPr/>
        </p:nvSpPr>
        <p:spPr>
          <a:xfrm>
            <a:off x="548640" y="4261104"/>
            <a:ext cx="4023360" cy="822960"/>
          </a:xfrm>
          <a:prstGeom prst="roundRect">
            <a:avLst>
              <a:gd name="adj" fmla="val 5556"/>
            </a:avLst>
          </a:prstGeom>
          <a:solidFill>
            <a:srgbClr val="FFF3D6"/>
          </a:solidFill>
          <a:ln w="9525">
            <a:solidFill>
              <a:srgbClr val="7A4B00"/>
            </a:solidFill>
            <a:prstDash val="solid"/>
          </a:ln>
        </p:spPr>
      </p:sp>
      <p:sp>
        <p:nvSpPr>
          <p:cNvPr id="20" name="Text 17"/>
          <p:cNvSpPr txBox="1"/>
          <p:nvPr/>
        </p:nvSpPr>
        <p:spPr>
          <a:xfrm>
            <a:off x="676656" y="4389120"/>
            <a:ext cx="3767328"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TAX RELIEF</a:t>
            </a:r>
            <a:endParaRPr lang="en-US" sz="800" dirty="0"/>
          </a:p>
        </p:txBody>
      </p:sp>
      <p:sp>
        <p:nvSpPr>
          <p:cNvPr id="21" name="Text 18"/>
          <p:cNvSpPr txBox="1"/>
          <p:nvPr/>
        </p:nvSpPr>
        <p:spPr>
          <a:xfrm>
            <a:off x="676656" y="4617720"/>
            <a:ext cx="3767328" cy="389534"/>
          </a:xfrm>
          <a:prstGeom prst="rect">
            <a:avLst/>
          </a:prstGeom>
          <a:noFill/>
          <a:ln/>
        </p:spPr>
        <p:txBody>
          <a:bodyPr wrap="square" lIns="0" tIns="0" rIns="0" bIns="0" rtlCol="0" anchor="t"/>
          <a:lstStyle/>
          <a:p>
            <a:pPr algn="l" indent="0" marL="0">
              <a:buNone/>
            </a:pPr>
            <a:r>
              <a:rPr lang="en-US" sz="1500" dirty="0">
                <a:solidFill>
                  <a:srgbClr val="5D3900"/>
                </a:solidFill>
                <a:latin typeface="Calibri" pitchFamily="34" charset="0"/>
                <a:ea typeface="Calibri" pitchFamily="34" charset="-122"/>
                <a:cs typeface="Calibri" pitchFamily="34" charset="-120"/>
              </a:rPr>
              <a:t>[SEIS / EIS: confirm eligibility]</a:t>
            </a:r>
            <a:endParaRPr lang="en-US" sz="1500" dirty="0"/>
          </a:p>
        </p:txBody>
      </p:sp>
      <p:sp>
        <p:nvSpPr>
          <p:cNvPr id="22" name="Shape 19"/>
          <p:cNvSpPr/>
          <p:nvPr/>
        </p:nvSpPr>
        <p:spPr>
          <a:xfrm>
            <a:off x="4846320" y="1463040"/>
            <a:ext cx="6793992" cy="3611880"/>
          </a:xfrm>
          <a:prstGeom prst="roundRect">
            <a:avLst>
              <a:gd name="adj" fmla="val 1266"/>
            </a:avLst>
          </a:prstGeom>
          <a:solidFill>
            <a:srgbClr val="FFFFFF"/>
          </a:solidFill>
          <a:ln w="9525">
            <a:solidFill>
              <a:srgbClr val="CDD8DC"/>
            </a:solidFill>
            <a:prstDash val="solid"/>
          </a:ln>
        </p:spPr>
      </p:sp>
      <p:sp>
        <p:nvSpPr>
          <p:cNvPr id="23" name="Text 20"/>
          <p:cNvSpPr txBox="1"/>
          <p:nvPr/>
        </p:nvSpPr>
        <p:spPr>
          <a:xfrm>
            <a:off x="5056632" y="1645920"/>
            <a:ext cx="4572000"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USE OF FUNDS</a:t>
            </a:r>
            <a:endParaRPr lang="en-US" sz="900" dirty="0"/>
          </a:p>
        </p:txBody>
      </p:sp>
      <p:sp>
        <p:nvSpPr>
          <p:cNvPr id="24" name="Text 21"/>
          <p:cNvSpPr txBox="1"/>
          <p:nvPr/>
        </p:nvSpPr>
        <p:spPr>
          <a:xfrm>
            <a:off x="5056632" y="1993392"/>
            <a:ext cx="3931920" cy="329184"/>
          </a:xfrm>
          <a:prstGeom prst="rect">
            <a:avLst/>
          </a:prstGeom>
          <a:noFill/>
          <a:ln/>
        </p:spPr>
        <p:txBody>
          <a:bodyPr wrap="square" lIns="0" tIns="0" rIns="0" bIns="0" rtlCol="0" anchor="ctr"/>
          <a:lstStyle/>
          <a:p>
            <a:pPr indent="0" marL="0">
              <a:buNone/>
            </a:pPr>
            <a:r>
              <a:rPr lang="en-US" sz="1150" dirty="0">
                <a:solidFill>
                  <a:srgbClr val="15252E"/>
                </a:solidFill>
                <a:latin typeface="Calibri" pitchFamily="34" charset="0"/>
                <a:ea typeface="Calibri" pitchFamily="34" charset="-122"/>
                <a:cs typeface="Calibri" pitchFamily="34" charset="-120"/>
              </a:rPr>
              <a:t>A second user: accounts, sharing, deployment (F17)</a:t>
            </a:r>
            <a:endParaRPr lang="en-US" sz="1150" dirty="0"/>
          </a:p>
        </p:txBody>
      </p:sp>
      <p:sp>
        <p:nvSpPr>
          <p:cNvPr id="25" name="Shape 22"/>
          <p:cNvSpPr/>
          <p:nvPr/>
        </p:nvSpPr>
        <p:spPr>
          <a:xfrm>
            <a:off x="9052560" y="2066544"/>
            <a:ext cx="1737360" cy="182880"/>
          </a:xfrm>
          <a:prstGeom prst="rect">
            <a:avLst/>
          </a:prstGeom>
          <a:solidFill>
            <a:srgbClr val="FFF3D6"/>
          </a:solidFill>
          <a:ln w="9525">
            <a:solidFill>
              <a:srgbClr val="7A4B00"/>
            </a:solidFill>
            <a:prstDash val="dash"/>
          </a:ln>
        </p:spPr>
      </p:sp>
      <p:sp>
        <p:nvSpPr>
          <p:cNvPr id="26" name="Text 23"/>
          <p:cNvSpPr txBox="1"/>
          <p:nvPr/>
        </p:nvSpPr>
        <p:spPr>
          <a:xfrm>
            <a:off x="10881360" y="1993392"/>
            <a:ext cx="594360" cy="329184"/>
          </a:xfrm>
          <a:prstGeom prst="rect">
            <a:avLst/>
          </a:prstGeom>
          <a:noFill/>
          <a:ln/>
        </p:spPr>
        <p:txBody>
          <a:bodyPr wrap="square" lIns="0" tIns="0" rIns="0" bIns="0" rtlCol="0" anchor="ctr"/>
          <a:lstStyle/>
          <a:p>
            <a:pPr algn="r" indent="0" marL="0">
              <a:buNone/>
            </a:pPr>
            <a:r>
              <a:rPr lang="en-US" sz="1100" b="1" dirty="0">
                <a:solidFill>
                  <a:srgbClr val="7A4B00"/>
                </a:solidFill>
                <a:latin typeface="Consolas" pitchFamily="34" charset="0"/>
                <a:ea typeface="Consolas" pitchFamily="34" charset="-122"/>
                <a:cs typeface="Consolas" pitchFamily="34" charset="-120"/>
              </a:rPr>
              <a:t>[ ]%</a:t>
            </a:r>
            <a:endParaRPr lang="en-US" sz="1100" dirty="0"/>
          </a:p>
        </p:txBody>
      </p:sp>
      <p:sp>
        <p:nvSpPr>
          <p:cNvPr id="27" name="Text 24"/>
          <p:cNvSpPr txBox="1"/>
          <p:nvPr/>
        </p:nvSpPr>
        <p:spPr>
          <a:xfrm>
            <a:off x="5056632" y="2423160"/>
            <a:ext cx="3931920" cy="329184"/>
          </a:xfrm>
          <a:prstGeom prst="rect">
            <a:avLst/>
          </a:prstGeom>
          <a:noFill/>
          <a:ln/>
        </p:spPr>
        <p:txBody>
          <a:bodyPr wrap="square" lIns="0" tIns="0" rIns="0" bIns="0" rtlCol="0" anchor="ctr"/>
          <a:lstStyle/>
          <a:p>
            <a:pPr indent="0" marL="0">
              <a:buNone/>
            </a:pPr>
            <a:r>
              <a:rPr lang="en-US" sz="1150" dirty="0">
                <a:solidFill>
                  <a:srgbClr val="15252E"/>
                </a:solidFill>
                <a:latin typeface="Calibri" pitchFamily="34" charset="0"/>
                <a:ea typeface="Calibri" pitchFamily="34" charset="-122"/>
                <a:cs typeface="Calibri" pitchFamily="34" charset="-120"/>
              </a:rPr>
              <a:t>Legal and regulatory opinion</a:t>
            </a:r>
            <a:endParaRPr lang="en-US" sz="1150" dirty="0"/>
          </a:p>
        </p:txBody>
      </p:sp>
      <p:sp>
        <p:nvSpPr>
          <p:cNvPr id="28" name="Shape 25"/>
          <p:cNvSpPr/>
          <p:nvPr/>
        </p:nvSpPr>
        <p:spPr>
          <a:xfrm>
            <a:off x="9052560" y="2496312"/>
            <a:ext cx="1737360" cy="182880"/>
          </a:xfrm>
          <a:prstGeom prst="rect">
            <a:avLst/>
          </a:prstGeom>
          <a:solidFill>
            <a:srgbClr val="FFF3D6"/>
          </a:solidFill>
          <a:ln w="9525">
            <a:solidFill>
              <a:srgbClr val="7A4B00"/>
            </a:solidFill>
            <a:prstDash val="dash"/>
          </a:ln>
        </p:spPr>
      </p:sp>
      <p:sp>
        <p:nvSpPr>
          <p:cNvPr id="29" name="Text 26"/>
          <p:cNvSpPr txBox="1"/>
          <p:nvPr/>
        </p:nvSpPr>
        <p:spPr>
          <a:xfrm>
            <a:off x="10881360" y="2423160"/>
            <a:ext cx="594360" cy="329184"/>
          </a:xfrm>
          <a:prstGeom prst="rect">
            <a:avLst/>
          </a:prstGeom>
          <a:noFill/>
          <a:ln/>
        </p:spPr>
        <p:txBody>
          <a:bodyPr wrap="square" lIns="0" tIns="0" rIns="0" bIns="0" rtlCol="0" anchor="ctr"/>
          <a:lstStyle/>
          <a:p>
            <a:pPr algn="r" indent="0" marL="0">
              <a:buNone/>
            </a:pPr>
            <a:r>
              <a:rPr lang="en-US" sz="1100" b="1" dirty="0">
                <a:solidFill>
                  <a:srgbClr val="7A4B00"/>
                </a:solidFill>
                <a:latin typeface="Consolas" pitchFamily="34" charset="0"/>
                <a:ea typeface="Consolas" pitchFamily="34" charset="-122"/>
                <a:cs typeface="Consolas" pitchFamily="34" charset="-120"/>
              </a:rPr>
              <a:t>[ ]%</a:t>
            </a:r>
            <a:endParaRPr lang="en-US" sz="1100" dirty="0"/>
          </a:p>
        </p:txBody>
      </p:sp>
      <p:sp>
        <p:nvSpPr>
          <p:cNvPr id="30" name="Text 27"/>
          <p:cNvSpPr txBox="1"/>
          <p:nvPr/>
        </p:nvSpPr>
        <p:spPr>
          <a:xfrm>
            <a:off x="5056632" y="2852928"/>
            <a:ext cx="3931920" cy="329184"/>
          </a:xfrm>
          <a:prstGeom prst="rect">
            <a:avLst/>
          </a:prstGeom>
          <a:noFill/>
          <a:ln/>
        </p:spPr>
        <p:txBody>
          <a:bodyPr wrap="square" lIns="0" tIns="0" rIns="0" bIns="0" rtlCol="0" anchor="ctr"/>
          <a:lstStyle/>
          <a:p>
            <a:pPr indent="0" marL="0">
              <a:buNone/>
            </a:pPr>
            <a:r>
              <a:rPr lang="en-US" sz="1150" dirty="0">
                <a:solidFill>
                  <a:srgbClr val="15252E"/>
                </a:solidFill>
                <a:latin typeface="Calibri" pitchFamily="34" charset="0"/>
                <a:ea typeface="Calibri" pitchFamily="34" charset="-122"/>
                <a:cs typeface="Calibri" pitchFamily="34" charset="-120"/>
              </a:rPr>
              <a:t>Commercial data licences</a:t>
            </a:r>
            <a:endParaRPr lang="en-US" sz="1150" dirty="0"/>
          </a:p>
        </p:txBody>
      </p:sp>
      <p:sp>
        <p:nvSpPr>
          <p:cNvPr id="31" name="Shape 28"/>
          <p:cNvSpPr/>
          <p:nvPr/>
        </p:nvSpPr>
        <p:spPr>
          <a:xfrm>
            <a:off x="9052560" y="2926080"/>
            <a:ext cx="1737360" cy="182880"/>
          </a:xfrm>
          <a:prstGeom prst="rect">
            <a:avLst/>
          </a:prstGeom>
          <a:solidFill>
            <a:srgbClr val="FFF3D6"/>
          </a:solidFill>
          <a:ln w="9525">
            <a:solidFill>
              <a:srgbClr val="7A4B00"/>
            </a:solidFill>
            <a:prstDash val="dash"/>
          </a:ln>
        </p:spPr>
      </p:sp>
      <p:sp>
        <p:nvSpPr>
          <p:cNvPr id="32" name="Text 29"/>
          <p:cNvSpPr txBox="1"/>
          <p:nvPr/>
        </p:nvSpPr>
        <p:spPr>
          <a:xfrm>
            <a:off x="10881360" y="2852928"/>
            <a:ext cx="594360" cy="329184"/>
          </a:xfrm>
          <a:prstGeom prst="rect">
            <a:avLst/>
          </a:prstGeom>
          <a:noFill/>
          <a:ln/>
        </p:spPr>
        <p:txBody>
          <a:bodyPr wrap="square" lIns="0" tIns="0" rIns="0" bIns="0" rtlCol="0" anchor="ctr"/>
          <a:lstStyle/>
          <a:p>
            <a:pPr algn="r" indent="0" marL="0">
              <a:buNone/>
            </a:pPr>
            <a:r>
              <a:rPr lang="en-US" sz="1100" b="1" dirty="0">
                <a:solidFill>
                  <a:srgbClr val="7A4B00"/>
                </a:solidFill>
                <a:latin typeface="Consolas" pitchFamily="34" charset="0"/>
                <a:ea typeface="Consolas" pitchFamily="34" charset="-122"/>
                <a:cs typeface="Consolas" pitchFamily="34" charset="-120"/>
              </a:rPr>
              <a:t>[ ]%</a:t>
            </a:r>
            <a:endParaRPr lang="en-US" sz="1100" dirty="0"/>
          </a:p>
        </p:txBody>
      </p:sp>
      <p:sp>
        <p:nvSpPr>
          <p:cNvPr id="33" name="Text 30"/>
          <p:cNvSpPr txBox="1"/>
          <p:nvPr/>
        </p:nvSpPr>
        <p:spPr>
          <a:xfrm>
            <a:off x="5056632" y="3282696"/>
            <a:ext cx="3931920" cy="329184"/>
          </a:xfrm>
          <a:prstGeom prst="rect">
            <a:avLst/>
          </a:prstGeom>
          <a:noFill/>
          <a:ln/>
        </p:spPr>
        <p:txBody>
          <a:bodyPr wrap="square" lIns="0" tIns="0" rIns="0" bIns="0" rtlCol="0" anchor="ctr"/>
          <a:lstStyle/>
          <a:p>
            <a:pPr indent="0" marL="0">
              <a:buNone/>
            </a:pPr>
            <a:r>
              <a:rPr lang="en-US" sz="1150" dirty="0">
                <a:solidFill>
                  <a:srgbClr val="15252E"/>
                </a:solidFill>
                <a:latin typeface="Calibri" pitchFamily="34" charset="0"/>
                <a:ea typeface="Calibri" pitchFamily="34" charset="-122"/>
                <a:cs typeface="Calibri" pitchFamily="34" charset="-120"/>
              </a:rPr>
              <a:t>Security review</a:t>
            </a:r>
            <a:endParaRPr lang="en-US" sz="1150" dirty="0"/>
          </a:p>
        </p:txBody>
      </p:sp>
      <p:sp>
        <p:nvSpPr>
          <p:cNvPr id="34" name="Shape 31"/>
          <p:cNvSpPr/>
          <p:nvPr/>
        </p:nvSpPr>
        <p:spPr>
          <a:xfrm>
            <a:off x="9052560" y="3355848"/>
            <a:ext cx="1737360" cy="182880"/>
          </a:xfrm>
          <a:prstGeom prst="rect">
            <a:avLst/>
          </a:prstGeom>
          <a:solidFill>
            <a:srgbClr val="FFF3D6"/>
          </a:solidFill>
          <a:ln w="9525">
            <a:solidFill>
              <a:srgbClr val="7A4B00"/>
            </a:solidFill>
            <a:prstDash val="dash"/>
          </a:ln>
        </p:spPr>
      </p:sp>
      <p:sp>
        <p:nvSpPr>
          <p:cNvPr id="35" name="Text 32"/>
          <p:cNvSpPr txBox="1"/>
          <p:nvPr/>
        </p:nvSpPr>
        <p:spPr>
          <a:xfrm>
            <a:off x="10881360" y="3282696"/>
            <a:ext cx="594360" cy="329184"/>
          </a:xfrm>
          <a:prstGeom prst="rect">
            <a:avLst/>
          </a:prstGeom>
          <a:noFill/>
          <a:ln/>
        </p:spPr>
        <p:txBody>
          <a:bodyPr wrap="square" lIns="0" tIns="0" rIns="0" bIns="0" rtlCol="0" anchor="ctr"/>
          <a:lstStyle/>
          <a:p>
            <a:pPr algn="r" indent="0" marL="0">
              <a:buNone/>
            </a:pPr>
            <a:r>
              <a:rPr lang="en-US" sz="1100" b="1" dirty="0">
                <a:solidFill>
                  <a:srgbClr val="7A4B00"/>
                </a:solidFill>
                <a:latin typeface="Consolas" pitchFamily="34" charset="0"/>
                <a:ea typeface="Consolas" pitchFamily="34" charset="-122"/>
                <a:cs typeface="Consolas" pitchFamily="34" charset="-120"/>
              </a:rPr>
              <a:t>[ ]%</a:t>
            </a:r>
            <a:endParaRPr lang="en-US" sz="1100" dirty="0"/>
          </a:p>
        </p:txBody>
      </p:sp>
      <p:sp>
        <p:nvSpPr>
          <p:cNvPr id="36" name="Text 33"/>
          <p:cNvSpPr txBox="1"/>
          <p:nvPr/>
        </p:nvSpPr>
        <p:spPr>
          <a:xfrm>
            <a:off x="5056632" y="3712464"/>
            <a:ext cx="3931920" cy="329184"/>
          </a:xfrm>
          <a:prstGeom prst="rect">
            <a:avLst/>
          </a:prstGeom>
          <a:noFill/>
          <a:ln/>
        </p:spPr>
        <p:txBody>
          <a:bodyPr wrap="square" lIns="0" tIns="0" rIns="0" bIns="0" rtlCol="0" anchor="ctr"/>
          <a:lstStyle/>
          <a:p>
            <a:pPr indent="0" marL="0">
              <a:buNone/>
            </a:pPr>
            <a:r>
              <a:rPr lang="en-US" sz="1150" dirty="0">
                <a:solidFill>
                  <a:srgbClr val="15252E"/>
                </a:solidFill>
                <a:latin typeface="Calibri" pitchFamily="34" charset="0"/>
                <a:ea typeface="Calibri" pitchFamily="34" charset="-122"/>
                <a:cs typeface="Calibri" pitchFamily="34" charset="-120"/>
              </a:rPr>
              <a:t>Go-to-market</a:t>
            </a:r>
            <a:endParaRPr lang="en-US" sz="1150" dirty="0"/>
          </a:p>
        </p:txBody>
      </p:sp>
      <p:sp>
        <p:nvSpPr>
          <p:cNvPr id="37" name="Shape 34"/>
          <p:cNvSpPr/>
          <p:nvPr/>
        </p:nvSpPr>
        <p:spPr>
          <a:xfrm>
            <a:off x="9052560" y="3785616"/>
            <a:ext cx="1737360" cy="182880"/>
          </a:xfrm>
          <a:prstGeom prst="rect">
            <a:avLst/>
          </a:prstGeom>
          <a:solidFill>
            <a:srgbClr val="FFF3D6"/>
          </a:solidFill>
          <a:ln w="9525">
            <a:solidFill>
              <a:srgbClr val="7A4B00"/>
            </a:solidFill>
            <a:prstDash val="dash"/>
          </a:ln>
        </p:spPr>
      </p:sp>
      <p:sp>
        <p:nvSpPr>
          <p:cNvPr id="38" name="Text 35"/>
          <p:cNvSpPr txBox="1"/>
          <p:nvPr/>
        </p:nvSpPr>
        <p:spPr>
          <a:xfrm>
            <a:off x="10881360" y="3712464"/>
            <a:ext cx="594360" cy="329184"/>
          </a:xfrm>
          <a:prstGeom prst="rect">
            <a:avLst/>
          </a:prstGeom>
          <a:noFill/>
          <a:ln/>
        </p:spPr>
        <p:txBody>
          <a:bodyPr wrap="square" lIns="0" tIns="0" rIns="0" bIns="0" rtlCol="0" anchor="ctr"/>
          <a:lstStyle/>
          <a:p>
            <a:pPr algn="r" indent="0" marL="0">
              <a:buNone/>
            </a:pPr>
            <a:r>
              <a:rPr lang="en-US" sz="1100" b="1" dirty="0">
                <a:solidFill>
                  <a:srgbClr val="7A4B00"/>
                </a:solidFill>
                <a:latin typeface="Consolas" pitchFamily="34" charset="0"/>
                <a:ea typeface="Consolas" pitchFamily="34" charset="-122"/>
                <a:cs typeface="Consolas" pitchFamily="34" charset="-120"/>
              </a:rPr>
              <a:t>[ ]%</a:t>
            </a:r>
            <a:endParaRPr lang="en-US" sz="1100" dirty="0"/>
          </a:p>
        </p:txBody>
      </p:sp>
      <p:sp>
        <p:nvSpPr>
          <p:cNvPr id="39" name="Text 36"/>
          <p:cNvSpPr txBox="1"/>
          <p:nvPr/>
        </p:nvSpPr>
        <p:spPr>
          <a:xfrm>
            <a:off x="5056632" y="4142232"/>
            <a:ext cx="3931920" cy="329184"/>
          </a:xfrm>
          <a:prstGeom prst="rect">
            <a:avLst/>
          </a:prstGeom>
          <a:noFill/>
          <a:ln/>
        </p:spPr>
        <p:txBody>
          <a:bodyPr wrap="square" lIns="0" tIns="0" rIns="0" bIns="0" rtlCol="0" anchor="ctr"/>
          <a:lstStyle/>
          <a:p>
            <a:pPr indent="0" marL="0">
              <a:buNone/>
            </a:pPr>
            <a:r>
              <a:rPr lang="en-US" sz="1150" dirty="0">
                <a:solidFill>
                  <a:srgbClr val="15252E"/>
                </a:solidFill>
                <a:latin typeface="Calibri" pitchFamily="34" charset="0"/>
                <a:ea typeface="Calibri" pitchFamily="34" charset="-122"/>
                <a:cs typeface="Calibri" pitchFamily="34" charset="-120"/>
              </a:rPr>
              <a:t>Team</a:t>
            </a:r>
            <a:endParaRPr lang="en-US" sz="1150" dirty="0"/>
          </a:p>
        </p:txBody>
      </p:sp>
      <p:sp>
        <p:nvSpPr>
          <p:cNvPr id="40" name="Shape 37"/>
          <p:cNvSpPr/>
          <p:nvPr/>
        </p:nvSpPr>
        <p:spPr>
          <a:xfrm>
            <a:off x="9052560" y="4215384"/>
            <a:ext cx="1737360" cy="182880"/>
          </a:xfrm>
          <a:prstGeom prst="rect">
            <a:avLst/>
          </a:prstGeom>
          <a:solidFill>
            <a:srgbClr val="FFF3D6"/>
          </a:solidFill>
          <a:ln w="9525">
            <a:solidFill>
              <a:srgbClr val="7A4B00"/>
            </a:solidFill>
            <a:prstDash val="dash"/>
          </a:ln>
        </p:spPr>
      </p:sp>
      <p:sp>
        <p:nvSpPr>
          <p:cNvPr id="41" name="Text 38"/>
          <p:cNvSpPr txBox="1"/>
          <p:nvPr/>
        </p:nvSpPr>
        <p:spPr>
          <a:xfrm>
            <a:off x="10881360" y="4142232"/>
            <a:ext cx="594360" cy="329184"/>
          </a:xfrm>
          <a:prstGeom prst="rect">
            <a:avLst/>
          </a:prstGeom>
          <a:noFill/>
          <a:ln/>
        </p:spPr>
        <p:txBody>
          <a:bodyPr wrap="square" lIns="0" tIns="0" rIns="0" bIns="0" rtlCol="0" anchor="ctr"/>
          <a:lstStyle/>
          <a:p>
            <a:pPr algn="r" indent="0" marL="0">
              <a:buNone/>
            </a:pPr>
            <a:r>
              <a:rPr lang="en-US" sz="1100" b="1" dirty="0">
                <a:solidFill>
                  <a:srgbClr val="7A4B00"/>
                </a:solidFill>
                <a:latin typeface="Consolas" pitchFamily="34" charset="0"/>
                <a:ea typeface="Consolas" pitchFamily="34" charset="-122"/>
                <a:cs typeface="Consolas" pitchFamily="34" charset="-120"/>
              </a:rPr>
              <a:t>[ ]%</a:t>
            </a:r>
            <a:endParaRPr lang="en-US" sz="1100" dirty="0"/>
          </a:p>
        </p:txBody>
      </p:sp>
      <p:sp>
        <p:nvSpPr>
          <p:cNvPr id="42" name="Text 39"/>
          <p:cNvSpPr txBox="1"/>
          <p:nvPr/>
        </p:nvSpPr>
        <p:spPr>
          <a:xfrm>
            <a:off x="5056632" y="4572000"/>
            <a:ext cx="3931920" cy="329184"/>
          </a:xfrm>
          <a:prstGeom prst="rect">
            <a:avLst/>
          </a:prstGeom>
          <a:noFill/>
          <a:ln/>
        </p:spPr>
        <p:txBody>
          <a:bodyPr wrap="square" lIns="0" tIns="0" rIns="0" bIns="0" rtlCol="0" anchor="ctr"/>
          <a:lstStyle/>
          <a:p>
            <a:pPr indent="0" marL="0">
              <a:buNone/>
            </a:pPr>
            <a:r>
              <a:rPr lang="en-US" sz="1150" dirty="0">
                <a:solidFill>
                  <a:srgbClr val="15252E"/>
                </a:solidFill>
                <a:latin typeface="Calibri" pitchFamily="34" charset="0"/>
                <a:ea typeface="Calibri" pitchFamily="34" charset="-122"/>
                <a:cs typeface="Calibri" pitchFamily="34" charset="-120"/>
              </a:rPr>
              <a:t>Contingency</a:t>
            </a:r>
            <a:endParaRPr lang="en-US" sz="1150" dirty="0"/>
          </a:p>
        </p:txBody>
      </p:sp>
      <p:sp>
        <p:nvSpPr>
          <p:cNvPr id="43" name="Shape 40"/>
          <p:cNvSpPr/>
          <p:nvPr/>
        </p:nvSpPr>
        <p:spPr>
          <a:xfrm>
            <a:off x="9052560" y="4645152"/>
            <a:ext cx="1737360" cy="182880"/>
          </a:xfrm>
          <a:prstGeom prst="rect">
            <a:avLst/>
          </a:prstGeom>
          <a:solidFill>
            <a:srgbClr val="FFF3D6"/>
          </a:solidFill>
          <a:ln w="9525">
            <a:solidFill>
              <a:srgbClr val="7A4B00"/>
            </a:solidFill>
            <a:prstDash val="dash"/>
          </a:ln>
        </p:spPr>
      </p:sp>
      <p:sp>
        <p:nvSpPr>
          <p:cNvPr id="44" name="Text 41"/>
          <p:cNvSpPr txBox="1"/>
          <p:nvPr/>
        </p:nvSpPr>
        <p:spPr>
          <a:xfrm>
            <a:off x="10881360" y="4572000"/>
            <a:ext cx="594360" cy="329184"/>
          </a:xfrm>
          <a:prstGeom prst="rect">
            <a:avLst/>
          </a:prstGeom>
          <a:noFill/>
          <a:ln/>
        </p:spPr>
        <p:txBody>
          <a:bodyPr wrap="square" lIns="0" tIns="0" rIns="0" bIns="0" rtlCol="0" anchor="ctr"/>
          <a:lstStyle/>
          <a:p>
            <a:pPr algn="r" indent="0" marL="0">
              <a:buNone/>
            </a:pPr>
            <a:r>
              <a:rPr lang="en-US" sz="1100" b="1" dirty="0">
                <a:solidFill>
                  <a:srgbClr val="7A4B00"/>
                </a:solidFill>
                <a:latin typeface="Consolas" pitchFamily="34" charset="0"/>
                <a:ea typeface="Consolas" pitchFamily="34" charset="-122"/>
                <a:cs typeface="Consolas" pitchFamily="34" charset="-120"/>
              </a:rPr>
              <a:t>[ ]%</a:t>
            </a:r>
            <a:endParaRPr lang="en-US" sz="1100" dirty="0"/>
          </a:p>
        </p:txBody>
      </p:sp>
      <p:sp>
        <p:nvSpPr>
          <p:cNvPr id="45" name="Shape 42"/>
          <p:cNvSpPr/>
          <p:nvPr/>
        </p:nvSpPr>
        <p:spPr>
          <a:xfrm>
            <a:off x="4846320" y="5212080"/>
            <a:ext cx="6793992" cy="868680"/>
          </a:xfrm>
          <a:prstGeom prst="roundRect">
            <a:avLst>
              <a:gd name="adj" fmla="val 5263"/>
            </a:avLst>
          </a:prstGeom>
          <a:solidFill>
            <a:srgbClr val="FFF3D6"/>
          </a:solidFill>
          <a:ln w="9525">
            <a:solidFill>
              <a:srgbClr val="7A4B00"/>
            </a:solidFill>
            <a:prstDash val="solid"/>
          </a:ln>
        </p:spPr>
      </p:sp>
      <p:sp>
        <p:nvSpPr>
          <p:cNvPr id="46" name="Text 43"/>
          <p:cNvSpPr txBox="1"/>
          <p:nvPr/>
        </p:nvSpPr>
        <p:spPr>
          <a:xfrm>
            <a:off x="4974336" y="5340096"/>
            <a:ext cx="6537960"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WHAT IT BUYS</a:t>
            </a:r>
            <a:endParaRPr lang="en-US" sz="800" dirty="0"/>
          </a:p>
        </p:txBody>
      </p:sp>
      <p:sp>
        <p:nvSpPr>
          <p:cNvPr id="47" name="Text 44"/>
          <p:cNvSpPr txBox="1"/>
          <p:nvPr/>
        </p:nvSpPr>
        <p:spPr>
          <a:xfrm>
            <a:off x="4974336" y="5568696"/>
            <a:ext cx="6537960" cy="435254"/>
          </a:xfrm>
          <a:prstGeom prst="rect">
            <a:avLst/>
          </a:prstGeom>
          <a:noFill/>
          <a:ln/>
        </p:spPr>
        <p:txBody>
          <a:bodyPr wrap="square" lIns="0" tIns="0" rIns="0" bIns="0" rtlCol="0" anchor="t"/>
          <a:lstStyle/>
          <a:p>
            <a:pPr algn="l" indent="0" marL="0">
              <a:buNone/>
            </a:pPr>
            <a:r>
              <a:rPr lang="en-US" sz="1200" dirty="0">
                <a:solidFill>
                  <a:srgbClr val="5D3900"/>
                </a:solidFill>
                <a:latin typeface="Calibri" pitchFamily="34" charset="0"/>
                <a:ea typeface="Calibri" pitchFamily="34" charset="-122"/>
                <a:cs typeface="Calibri" pitchFamily="34" charset="-120"/>
              </a:rPr>
              <a:t>This round gets us to: [milestone] by [date], with [runway] months of runway.</a:t>
            </a:r>
            <a:endParaRPr lang="en-US" sz="1200" dirty="0"/>
          </a:p>
        </p:txBody>
      </p:sp>
      <p:sp>
        <p:nvSpPr>
          <p:cNvPr id="48" name="Shape 45"/>
          <p:cNvSpPr/>
          <p:nvPr/>
        </p:nvSpPr>
        <p:spPr>
          <a:xfrm>
            <a:off x="548640" y="5212080"/>
            <a:ext cx="4023360" cy="868680"/>
          </a:xfrm>
          <a:prstGeom prst="roundRect">
            <a:avLst>
              <a:gd name="adj" fmla="val 5263"/>
            </a:avLst>
          </a:prstGeom>
          <a:solidFill>
            <a:srgbClr val="FFF3D6"/>
          </a:solidFill>
          <a:ln w="9525">
            <a:solidFill>
              <a:srgbClr val="7A4B00"/>
            </a:solidFill>
            <a:prstDash val="solid"/>
          </a:ln>
        </p:spPr>
      </p:sp>
      <p:sp>
        <p:nvSpPr>
          <p:cNvPr id="49" name="Text 46"/>
          <p:cNvSpPr txBox="1"/>
          <p:nvPr/>
        </p:nvSpPr>
        <p:spPr>
          <a:xfrm>
            <a:off x="676656" y="5340096"/>
            <a:ext cx="3767328" cy="182880"/>
          </a:xfrm>
          <a:prstGeom prst="rect">
            <a:avLst/>
          </a:prstGeom>
          <a:noFill/>
          <a:ln/>
        </p:spPr>
        <p:txBody>
          <a:bodyPr wrap="square" lIns="0" tIns="0" rIns="0" bIns="0" rtlCol="0" anchor="t"/>
          <a:lstStyle/>
          <a:p>
            <a:pPr indent="0" marL="0">
              <a:buNone/>
            </a:pPr>
            <a:r>
              <a:rPr lang="en-US" sz="800" b="1" spc="100" kern="0" dirty="0">
                <a:solidFill>
                  <a:srgbClr val="7A4B00"/>
                </a:solidFill>
                <a:latin typeface="Consolas" pitchFamily="34" charset="0"/>
                <a:ea typeface="Consolas" pitchFamily="34" charset="-122"/>
                <a:cs typeface="Consolas" pitchFamily="34" charset="-120"/>
              </a:rPr>
              <a:t>NEXT STEP</a:t>
            </a:r>
            <a:endParaRPr lang="en-US" sz="800" dirty="0"/>
          </a:p>
        </p:txBody>
      </p:sp>
      <p:sp>
        <p:nvSpPr>
          <p:cNvPr id="50" name="Text 47"/>
          <p:cNvSpPr txBox="1"/>
          <p:nvPr/>
        </p:nvSpPr>
        <p:spPr>
          <a:xfrm>
            <a:off x="676656" y="5568696"/>
            <a:ext cx="3767328" cy="435254"/>
          </a:xfrm>
          <a:prstGeom prst="rect">
            <a:avLst/>
          </a:prstGeom>
          <a:noFill/>
          <a:ln/>
        </p:spPr>
        <p:txBody>
          <a:bodyPr wrap="square" lIns="0" tIns="0" rIns="0" bIns="0" rtlCol="0" anchor="t"/>
          <a:lstStyle/>
          <a:p>
            <a:pPr algn="l" indent="0" marL="0">
              <a:buNone/>
            </a:pPr>
            <a:r>
              <a:rPr lang="en-US" sz="1100" dirty="0">
                <a:solidFill>
                  <a:srgbClr val="5D3900"/>
                </a:solidFill>
                <a:latin typeface="Calibri" pitchFamily="34" charset="0"/>
                <a:ea typeface="Calibri" pitchFamily="34" charset="-122"/>
                <a:cs typeface="Calibri" pitchFamily="34" charset="-120"/>
              </a:rPr>
              <a:t>[How you would like them to respond, and by when]</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7171D"/>
        </a:solidFill>
      </p:bgPr>
    </p:bg>
    <p:spTree>
      <p:nvGrpSpPr>
        <p:cNvPr id="1" name=""/>
        <p:cNvGrpSpPr/>
        <p:nvPr/>
      </p:nvGrpSpPr>
      <p:grpSpPr>
        <a:xfrm>
          <a:off x="0" y="0"/>
          <a:ext cx="0" cy="0"/>
          <a:chOff x="0" y="0"/>
          <a:chExt cx="0" cy="0"/>
        </a:xfrm>
      </p:grpSpPr>
      <p:sp>
        <p:nvSpPr>
          <p:cNvPr id="2" name="Text 0"/>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9AADB3"/>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3" name="Text 1"/>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9AADB3"/>
                </a:solidFill>
                <a:latin typeface="Consolas" pitchFamily="34" charset="0"/>
                <a:ea typeface="Consolas" pitchFamily="34" charset="-122"/>
                <a:cs typeface="Consolas" pitchFamily="34" charset="-120"/>
              </a:rPr>
              <a:t>46</a:t>
            </a:r>
            <a:endParaRPr lang="en-US" sz="800" dirty="0"/>
          </a:p>
        </p:txBody>
      </p:sp>
      <p:sp>
        <p:nvSpPr>
          <p:cNvPr id="5" name="Text 2"/>
          <p:cNvSpPr txBox="1"/>
          <p:nvPr/>
        </p:nvSpPr>
        <p:spPr>
          <a:xfrm>
            <a:off x="548640" y="868680"/>
            <a:ext cx="5486400" cy="274320"/>
          </a:xfrm>
          <a:prstGeom prst="rect">
            <a:avLst/>
          </a:prstGeom>
          <a:noFill/>
          <a:ln/>
        </p:spPr>
        <p:txBody>
          <a:bodyPr wrap="square" lIns="0" tIns="0" rIns="0" bIns="0" rtlCol="0" anchor="t"/>
          <a:lstStyle/>
          <a:p>
            <a:pPr indent="0" marL="0">
              <a:buNone/>
            </a:pPr>
            <a:r>
              <a:rPr lang="en-US" sz="1100" b="1" spc="300" kern="0" dirty="0">
                <a:solidFill>
                  <a:srgbClr val="B5ECF0"/>
                </a:solidFill>
                <a:latin typeface="Consolas" pitchFamily="34" charset="0"/>
                <a:ea typeface="Consolas" pitchFamily="34" charset="-122"/>
                <a:cs typeface="Consolas" pitchFamily="34" charset="-120"/>
              </a:rPr>
              <a:t>TRACEWORK INVEST</a:t>
            </a:r>
            <a:endParaRPr lang="en-US" sz="1100" dirty="0"/>
          </a:p>
        </p:txBody>
      </p:sp>
      <p:sp>
        <p:nvSpPr>
          <p:cNvPr id="6" name="Text 3"/>
          <p:cNvSpPr txBox="1"/>
          <p:nvPr/>
        </p:nvSpPr>
        <p:spPr>
          <a:xfrm>
            <a:off x="548640" y="1463040"/>
            <a:ext cx="10515600" cy="731520"/>
          </a:xfrm>
          <a:prstGeom prst="rect">
            <a:avLst/>
          </a:prstGeom>
          <a:noFill/>
          <a:ln/>
        </p:spPr>
        <p:txBody>
          <a:bodyPr wrap="square" lIns="0" tIns="0" rIns="0" bIns="0" rtlCol="0" anchor="t"/>
          <a:lstStyle/>
          <a:p>
            <a:pPr indent="0" marL="0">
              <a:buNone/>
            </a:pPr>
            <a:r>
              <a:rPr lang="en-US" sz="3400" b="1" dirty="0">
                <a:solidFill>
                  <a:srgbClr val="BBCACE"/>
                </a:solidFill>
                <a:latin typeface="Calibri" pitchFamily="34" charset="0"/>
                <a:ea typeface="Calibri" pitchFamily="34" charset="-122"/>
                <a:cs typeface="Calibri" pitchFamily="34" charset="-120"/>
              </a:rPr>
              <a:t>A chat gives you an answer you have to trust.</a:t>
            </a:r>
            <a:endParaRPr lang="en-US" sz="3400" dirty="0"/>
          </a:p>
        </p:txBody>
      </p:sp>
      <p:sp>
        <p:nvSpPr>
          <p:cNvPr id="7" name="Text 4"/>
          <p:cNvSpPr txBox="1"/>
          <p:nvPr/>
        </p:nvSpPr>
        <p:spPr>
          <a:xfrm>
            <a:off x="548640" y="2240280"/>
            <a:ext cx="10789920" cy="1280160"/>
          </a:xfrm>
          <a:prstGeom prst="rect">
            <a:avLst/>
          </a:prstGeom>
          <a:noFill/>
          <a:ln/>
        </p:spPr>
        <p:txBody>
          <a:bodyPr wrap="square" lIns="0" tIns="0" rIns="0" bIns="0" rtlCol="0" anchor="t"/>
          <a:lstStyle/>
          <a:p>
            <a:pPr indent="0" marL="0">
              <a:buNone/>
            </a:pPr>
            <a:r>
              <a:rPr lang="en-US" sz="3400" b="1" dirty="0">
                <a:solidFill>
                  <a:srgbClr val="EDF6F7"/>
                </a:solidFill>
                <a:latin typeface="Calibri" pitchFamily="34" charset="0"/>
                <a:ea typeface="Calibri" pitchFamily="34" charset="-122"/>
                <a:cs typeface="Calibri" pitchFamily="34" charset="-120"/>
              </a:rPr>
              <a:t>Tracework gives you research you can check, and a record of why you bought.</a:t>
            </a:r>
            <a:endParaRPr lang="en-US" sz="3400" dirty="0"/>
          </a:p>
        </p:txBody>
      </p:sp>
      <p:sp>
        <p:nvSpPr>
          <p:cNvPr id="8" name="Text 5"/>
          <p:cNvSpPr txBox="1"/>
          <p:nvPr/>
        </p:nvSpPr>
        <p:spPr>
          <a:xfrm>
            <a:off x="548640" y="4023360"/>
            <a:ext cx="8229600" cy="320040"/>
          </a:xfrm>
          <a:prstGeom prst="rect">
            <a:avLst/>
          </a:prstGeom>
          <a:noFill/>
          <a:ln/>
        </p:spPr>
        <p:txBody>
          <a:bodyPr wrap="square" lIns="0" tIns="0" rIns="0" bIns="0" rtlCol="0" anchor="t"/>
          <a:lstStyle/>
          <a:p>
            <a:pPr indent="0" marL="0">
              <a:buNone/>
            </a:pPr>
            <a:r>
              <a:rPr lang="en-US" sz="1100" dirty="0">
                <a:solidFill>
                  <a:srgbClr val="FFD27A"/>
                </a:solidFill>
                <a:latin typeface="Consolas" pitchFamily="34" charset="0"/>
                <a:ea typeface="Consolas" pitchFamily="34" charset="-122"/>
                <a:cs typeface="Consolas" pitchFamily="34" charset="-120"/>
              </a:rPr>
              <a:t>[PLACEHOLDER: founder name  ·  email  ·  phone  ·  website]</a:t>
            </a:r>
            <a:endParaRPr lang="en-US" sz="1100" dirty="0"/>
          </a:p>
        </p:txBody>
      </p:sp>
      <p:sp>
        <p:nvSpPr>
          <p:cNvPr id="9" name="Shape 6"/>
          <p:cNvSpPr/>
          <p:nvPr/>
        </p:nvSpPr>
        <p:spPr>
          <a:xfrm>
            <a:off x="548640" y="4754880"/>
            <a:ext cx="11094415" cy="1188720"/>
          </a:xfrm>
          <a:prstGeom prst="roundRect">
            <a:avLst>
              <a:gd name="adj" fmla="val 3846"/>
            </a:avLst>
          </a:prstGeom>
          <a:solidFill>
            <a:srgbClr val="0C222B"/>
          </a:solidFill>
          <a:ln w="9525">
            <a:solidFill>
              <a:srgbClr val="2B414A"/>
            </a:solidFill>
            <a:prstDash val="solid"/>
          </a:ln>
        </p:spPr>
      </p:sp>
      <p:sp>
        <p:nvSpPr>
          <p:cNvPr id="10" name="Text 7"/>
          <p:cNvSpPr txBox="1"/>
          <p:nvPr/>
        </p:nvSpPr>
        <p:spPr>
          <a:xfrm>
            <a:off x="777240" y="4864608"/>
            <a:ext cx="10637215" cy="969264"/>
          </a:xfrm>
          <a:prstGeom prst="rect">
            <a:avLst/>
          </a:prstGeom>
          <a:noFill/>
          <a:ln/>
        </p:spPr>
        <p:txBody>
          <a:bodyPr wrap="square" lIns="0" tIns="0" rIns="0" bIns="0" rtlCol="0" anchor="ctr"/>
          <a:lstStyle/>
          <a:p>
            <a:pPr indent="0" marL="0">
              <a:buNone/>
            </a:pPr>
            <a:r>
              <a:rPr lang="en-US" sz="1050" dirty="0">
                <a:solidFill>
                  <a:srgbClr val="BBCACE"/>
                </a:solidFill>
                <a:latin typeface="Calibri" pitchFamily="34" charset="0"/>
                <a:ea typeface="Calibri" pitchFamily="34" charset="-122"/>
                <a:cs typeface="Calibri" pitchFamily="34" charset="-120"/>
              </a:rPr>
              <a:t>Tracework Invest is a research tool. It is not regulated investment advice, and nothing it produces is a recommendation to buy, sell or hold any security. Every figure in this deck is measured and sourced, or marked as a judgement, an external figure to verify, or a placeholder. [PLACEHOLDER: disclaimer wording approved by counsel]</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APPENDIX · A1</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Architecture: five trust zones</a:t>
            </a:r>
            <a:endParaRPr lang="en-US" sz="2800" dirty="0"/>
          </a:p>
        </p:txBody>
      </p:sp>
      <p:sp>
        <p:nvSpPr>
          <p:cNvPr id="5" name="Shape 3"/>
          <p:cNvSpPr/>
          <p:nvPr/>
        </p:nvSpPr>
        <p:spPr>
          <a:xfrm>
            <a:off x="10286086" y="384048"/>
            <a:ext cx="1356970" cy="219456"/>
          </a:xfrm>
          <a:prstGeom prst="roundRect">
            <a:avLst>
              <a:gd name="adj" fmla="val 50000"/>
            </a:avLst>
          </a:prstGeom>
          <a:solidFill>
            <a:srgbClr val="14613F"/>
          </a:solidFill>
          <a:ln/>
        </p:spPr>
      </p:sp>
      <p:sp>
        <p:nvSpPr>
          <p:cNvPr id="6" name="Text 4"/>
          <p:cNvSpPr txBox="1"/>
          <p:nvPr/>
        </p:nvSpPr>
        <p:spPr>
          <a:xfrm>
            <a:off x="10286086"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7" name="Text 5"/>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8" name="Text 6"/>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47</a:t>
            </a:r>
            <a:endParaRPr lang="en-US" sz="800" dirty="0"/>
          </a:p>
        </p:txBody>
      </p:sp>
      <p:sp>
        <p:nvSpPr>
          <p:cNvPr id="10" name="Shape 7"/>
          <p:cNvSpPr/>
          <p:nvPr/>
        </p:nvSpPr>
        <p:spPr>
          <a:xfrm>
            <a:off x="548640" y="1463040"/>
            <a:ext cx="11094415" cy="804672"/>
          </a:xfrm>
          <a:prstGeom prst="roundRect">
            <a:avLst>
              <a:gd name="adj" fmla="val 5682"/>
            </a:avLst>
          </a:prstGeom>
          <a:solidFill>
            <a:srgbClr val="E2F3F4"/>
          </a:solidFill>
          <a:ln w="9525">
            <a:solidFill>
              <a:srgbClr val="0F6673"/>
            </a:solidFill>
            <a:prstDash val="solid"/>
          </a:ln>
        </p:spPr>
      </p:sp>
      <p:sp>
        <p:nvSpPr>
          <p:cNvPr id="11" name="Text 8"/>
          <p:cNvSpPr txBox="1"/>
          <p:nvPr/>
        </p:nvSpPr>
        <p:spPr>
          <a:xfrm>
            <a:off x="731520" y="1645920"/>
            <a:ext cx="365760" cy="457200"/>
          </a:xfrm>
          <a:prstGeom prst="rect">
            <a:avLst/>
          </a:prstGeom>
          <a:noFill/>
          <a:ln/>
        </p:spPr>
        <p:txBody>
          <a:bodyPr wrap="square" lIns="0" tIns="0" rIns="0" bIns="0" rtlCol="0" anchor="t"/>
          <a:lstStyle/>
          <a:p>
            <a:pPr indent="0" marL="0">
              <a:buNone/>
            </a:pPr>
            <a:r>
              <a:rPr lang="en-US" sz="2000" b="1" dirty="0">
                <a:solidFill>
                  <a:srgbClr val="0F6673"/>
                </a:solidFill>
                <a:latin typeface="Consolas" pitchFamily="34" charset="0"/>
                <a:ea typeface="Consolas" pitchFamily="34" charset="-122"/>
                <a:cs typeface="Consolas" pitchFamily="34" charset="-120"/>
              </a:rPr>
              <a:t>1</a:t>
            </a:r>
            <a:endParaRPr lang="en-US" sz="2000" dirty="0"/>
          </a:p>
        </p:txBody>
      </p:sp>
      <p:sp>
        <p:nvSpPr>
          <p:cNvPr id="12" name="Text 9"/>
          <p:cNvSpPr txBox="1"/>
          <p:nvPr/>
        </p:nvSpPr>
        <p:spPr>
          <a:xfrm>
            <a:off x="1188720" y="1572768"/>
            <a:ext cx="2926080" cy="274320"/>
          </a:xfrm>
          <a:prstGeom prst="rect">
            <a:avLst/>
          </a:prstGeom>
          <a:noFill/>
          <a:ln/>
        </p:spPr>
        <p:txBody>
          <a:bodyPr wrap="square" lIns="0" tIns="0" rIns="0" bIns="0" rtlCol="0" anchor="t"/>
          <a:lstStyle/>
          <a:p>
            <a:pPr indent="0" marL="0">
              <a:buNone/>
            </a:pPr>
            <a:r>
              <a:rPr lang="en-US" sz="1300" b="1" dirty="0">
                <a:solidFill>
                  <a:srgbClr val="15252E"/>
                </a:solidFill>
                <a:latin typeface="Calibri" pitchFamily="34" charset="0"/>
                <a:ea typeface="Calibri" pitchFamily="34" charset="-122"/>
                <a:cs typeface="Calibri" pitchFamily="34" charset="-120"/>
              </a:rPr>
              <a:t>The correctness core</a:t>
            </a:r>
            <a:endParaRPr lang="en-US" sz="1300" dirty="0"/>
          </a:p>
        </p:txBody>
      </p:sp>
      <p:sp>
        <p:nvSpPr>
          <p:cNvPr id="13" name="Text 10"/>
          <p:cNvSpPr txBox="1"/>
          <p:nvPr/>
        </p:nvSpPr>
        <p:spPr>
          <a:xfrm>
            <a:off x="1188720" y="1874520"/>
            <a:ext cx="2926080" cy="320040"/>
          </a:xfrm>
          <a:prstGeom prst="rect">
            <a:avLst/>
          </a:prstGeom>
          <a:noFill/>
          <a:ln/>
        </p:spPr>
        <p:txBody>
          <a:bodyPr wrap="square" lIns="0" tIns="0" rIns="0" bIns="0" rtlCol="0" anchor="t"/>
          <a:lstStyle/>
          <a:p>
            <a:pPr indent="0" marL="0">
              <a:buNone/>
            </a:pPr>
            <a:r>
              <a:rPr lang="en-US" sz="850" dirty="0">
                <a:solidFill>
                  <a:srgbClr val="52656E"/>
                </a:solidFill>
                <a:latin typeface="Consolas" pitchFamily="34" charset="0"/>
                <a:ea typeface="Consolas" pitchFamily="34" charset="-122"/>
                <a:cs typeface="Consolas" pitchFamily="34" charset="-120"/>
              </a:rPr>
              <a:t>core, calc</a:t>
            </a:r>
            <a:endParaRPr lang="en-US" sz="850" dirty="0"/>
          </a:p>
        </p:txBody>
      </p:sp>
      <p:sp>
        <p:nvSpPr>
          <p:cNvPr id="14" name="Text 11"/>
          <p:cNvSpPr txBox="1"/>
          <p:nvPr/>
        </p:nvSpPr>
        <p:spPr>
          <a:xfrm>
            <a:off x="4206240" y="1572768"/>
            <a:ext cx="7253935" cy="621792"/>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Every number the platform produces. Pure: strictly typed, no input or output, no clock, no globals. Property-based tests.</a:t>
            </a:r>
            <a:endParaRPr lang="en-US" sz="1050" dirty="0"/>
          </a:p>
        </p:txBody>
      </p:sp>
      <p:sp>
        <p:nvSpPr>
          <p:cNvPr id="15" name="Shape 12"/>
          <p:cNvSpPr/>
          <p:nvPr/>
        </p:nvSpPr>
        <p:spPr>
          <a:xfrm>
            <a:off x="713232" y="2377440"/>
            <a:ext cx="10765231" cy="804672"/>
          </a:xfrm>
          <a:prstGeom prst="roundRect">
            <a:avLst>
              <a:gd name="adj" fmla="val 5682"/>
            </a:avLst>
          </a:prstGeom>
          <a:solidFill>
            <a:srgbClr val="FFFFFF"/>
          </a:solidFill>
          <a:ln w="9525">
            <a:solidFill>
              <a:srgbClr val="CDD8DC"/>
            </a:solidFill>
            <a:prstDash val="solid"/>
          </a:ln>
        </p:spPr>
      </p:sp>
      <p:sp>
        <p:nvSpPr>
          <p:cNvPr id="16" name="Text 13"/>
          <p:cNvSpPr txBox="1"/>
          <p:nvPr/>
        </p:nvSpPr>
        <p:spPr>
          <a:xfrm>
            <a:off x="896112" y="2560320"/>
            <a:ext cx="365760" cy="457200"/>
          </a:xfrm>
          <a:prstGeom prst="rect">
            <a:avLst/>
          </a:prstGeom>
          <a:noFill/>
          <a:ln/>
        </p:spPr>
        <p:txBody>
          <a:bodyPr wrap="square" lIns="0" tIns="0" rIns="0" bIns="0" rtlCol="0" anchor="t"/>
          <a:lstStyle/>
          <a:p>
            <a:pPr indent="0" marL="0">
              <a:buNone/>
            </a:pPr>
            <a:r>
              <a:rPr lang="en-US" sz="2000" b="1" dirty="0">
                <a:solidFill>
                  <a:srgbClr val="0F6673"/>
                </a:solidFill>
                <a:latin typeface="Consolas" pitchFamily="34" charset="0"/>
                <a:ea typeface="Consolas" pitchFamily="34" charset="-122"/>
                <a:cs typeface="Consolas" pitchFamily="34" charset="-120"/>
              </a:rPr>
              <a:t>2</a:t>
            </a:r>
            <a:endParaRPr lang="en-US" sz="2000" dirty="0"/>
          </a:p>
        </p:txBody>
      </p:sp>
      <p:sp>
        <p:nvSpPr>
          <p:cNvPr id="17" name="Text 14"/>
          <p:cNvSpPr txBox="1"/>
          <p:nvPr/>
        </p:nvSpPr>
        <p:spPr>
          <a:xfrm>
            <a:off x="1353312" y="2487168"/>
            <a:ext cx="2926080" cy="274320"/>
          </a:xfrm>
          <a:prstGeom prst="rect">
            <a:avLst/>
          </a:prstGeom>
          <a:noFill/>
          <a:ln/>
        </p:spPr>
        <p:txBody>
          <a:bodyPr wrap="square" lIns="0" tIns="0" rIns="0" bIns="0" rtlCol="0" anchor="t"/>
          <a:lstStyle/>
          <a:p>
            <a:pPr indent="0" marL="0">
              <a:buNone/>
            </a:pPr>
            <a:r>
              <a:rPr lang="en-US" sz="1300" b="1" dirty="0">
                <a:solidFill>
                  <a:srgbClr val="15252E"/>
                </a:solidFill>
                <a:latin typeface="Calibri" pitchFamily="34" charset="0"/>
                <a:ea typeface="Calibri" pitchFamily="34" charset="-122"/>
                <a:cs typeface="Calibri" pitchFamily="34" charset="-120"/>
              </a:rPr>
              <a:t>The guarded doors</a:t>
            </a:r>
            <a:endParaRPr lang="en-US" sz="1300" dirty="0"/>
          </a:p>
        </p:txBody>
      </p:sp>
      <p:sp>
        <p:nvSpPr>
          <p:cNvPr id="18" name="Text 15"/>
          <p:cNvSpPr txBox="1"/>
          <p:nvPr/>
        </p:nvSpPr>
        <p:spPr>
          <a:xfrm>
            <a:off x="1353312" y="2788920"/>
            <a:ext cx="2926080" cy="320040"/>
          </a:xfrm>
          <a:prstGeom prst="rect">
            <a:avLst/>
          </a:prstGeom>
          <a:noFill/>
          <a:ln/>
        </p:spPr>
        <p:txBody>
          <a:bodyPr wrap="square" lIns="0" tIns="0" rIns="0" bIns="0" rtlCol="0" anchor="t"/>
          <a:lstStyle/>
          <a:p>
            <a:pPr indent="0" marL="0">
              <a:buNone/>
            </a:pPr>
            <a:r>
              <a:rPr lang="en-US" sz="850" dirty="0">
                <a:solidFill>
                  <a:srgbClr val="52656E"/>
                </a:solidFill>
                <a:latin typeface="Consolas" pitchFamily="34" charset="0"/>
                <a:ea typeface="Consolas" pitchFamily="34" charset="-122"/>
                <a:cs typeface="Consolas" pitchFamily="34" charset="-120"/>
              </a:rPr>
              <a:t>fetch, providers, storage</a:t>
            </a:r>
            <a:endParaRPr lang="en-US" sz="850" dirty="0"/>
          </a:p>
        </p:txBody>
      </p:sp>
      <p:sp>
        <p:nvSpPr>
          <p:cNvPr id="19" name="Text 16"/>
          <p:cNvSpPr txBox="1"/>
          <p:nvPr/>
        </p:nvSpPr>
        <p:spPr>
          <a:xfrm>
            <a:off x="4370832" y="2487168"/>
            <a:ext cx="6924751" cy="621792"/>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The only way out to the network (SSRF guard, robots, rate limits), the only door to a model, and a content-addressed, immutable store.</a:t>
            </a:r>
            <a:endParaRPr lang="en-US" sz="1050" dirty="0"/>
          </a:p>
        </p:txBody>
      </p:sp>
      <p:sp>
        <p:nvSpPr>
          <p:cNvPr id="20" name="Shape 17"/>
          <p:cNvSpPr/>
          <p:nvPr/>
        </p:nvSpPr>
        <p:spPr>
          <a:xfrm>
            <a:off x="877824" y="3291840"/>
            <a:ext cx="10436047" cy="804672"/>
          </a:xfrm>
          <a:prstGeom prst="roundRect">
            <a:avLst>
              <a:gd name="adj" fmla="val 5682"/>
            </a:avLst>
          </a:prstGeom>
          <a:solidFill>
            <a:srgbClr val="FFFFFF"/>
          </a:solidFill>
          <a:ln w="9525">
            <a:solidFill>
              <a:srgbClr val="CDD8DC"/>
            </a:solidFill>
            <a:prstDash val="solid"/>
          </a:ln>
        </p:spPr>
      </p:sp>
      <p:sp>
        <p:nvSpPr>
          <p:cNvPr id="21" name="Text 18"/>
          <p:cNvSpPr txBox="1"/>
          <p:nvPr/>
        </p:nvSpPr>
        <p:spPr>
          <a:xfrm>
            <a:off x="1060704" y="3474720"/>
            <a:ext cx="365760" cy="457200"/>
          </a:xfrm>
          <a:prstGeom prst="rect">
            <a:avLst/>
          </a:prstGeom>
          <a:noFill/>
          <a:ln/>
        </p:spPr>
        <p:txBody>
          <a:bodyPr wrap="square" lIns="0" tIns="0" rIns="0" bIns="0" rtlCol="0" anchor="t"/>
          <a:lstStyle/>
          <a:p>
            <a:pPr indent="0" marL="0">
              <a:buNone/>
            </a:pPr>
            <a:r>
              <a:rPr lang="en-US" sz="2000" b="1" dirty="0">
                <a:solidFill>
                  <a:srgbClr val="0F6673"/>
                </a:solidFill>
                <a:latin typeface="Consolas" pitchFamily="34" charset="0"/>
                <a:ea typeface="Consolas" pitchFamily="34" charset="-122"/>
                <a:cs typeface="Consolas" pitchFamily="34" charset="-120"/>
              </a:rPr>
              <a:t>3</a:t>
            </a:r>
            <a:endParaRPr lang="en-US" sz="2000" dirty="0"/>
          </a:p>
        </p:txBody>
      </p:sp>
      <p:sp>
        <p:nvSpPr>
          <p:cNvPr id="22" name="Text 19"/>
          <p:cNvSpPr txBox="1"/>
          <p:nvPr/>
        </p:nvSpPr>
        <p:spPr>
          <a:xfrm>
            <a:off x="1517904" y="3401568"/>
            <a:ext cx="2926080" cy="274320"/>
          </a:xfrm>
          <a:prstGeom prst="rect">
            <a:avLst/>
          </a:prstGeom>
          <a:noFill/>
          <a:ln/>
        </p:spPr>
        <p:txBody>
          <a:bodyPr wrap="square" lIns="0" tIns="0" rIns="0" bIns="0" rtlCol="0" anchor="t"/>
          <a:lstStyle/>
          <a:p>
            <a:pPr indent="0" marL="0">
              <a:buNone/>
            </a:pPr>
            <a:r>
              <a:rPr lang="en-US" sz="1300" b="1" dirty="0">
                <a:solidFill>
                  <a:srgbClr val="15252E"/>
                </a:solidFill>
                <a:latin typeface="Calibri" pitchFamily="34" charset="0"/>
                <a:ea typeface="Calibri" pitchFamily="34" charset="-122"/>
                <a:cs typeface="Calibri" pitchFamily="34" charset="-120"/>
              </a:rPr>
              <a:t>The model-facing layer</a:t>
            </a:r>
            <a:endParaRPr lang="en-US" sz="1300" dirty="0"/>
          </a:p>
        </p:txBody>
      </p:sp>
      <p:sp>
        <p:nvSpPr>
          <p:cNvPr id="23" name="Text 20"/>
          <p:cNvSpPr txBox="1"/>
          <p:nvPr/>
        </p:nvSpPr>
        <p:spPr>
          <a:xfrm>
            <a:off x="1517904" y="3703320"/>
            <a:ext cx="2926080" cy="320040"/>
          </a:xfrm>
          <a:prstGeom prst="rect">
            <a:avLst/>
          </a:prstGeom>
          <a:noFill/>
          <a:ln/>
        </p:spPr>
        <p:txBody>
          <a:bodyPr wrap="square" lIns="0" tIns="0" rIns="0" bIns="0" rtlCol="0" anchor="t"/>
          <a:lstStyle/>
          <a:p>
            <a:pPr indent="0" marL="0">
              <a:buNone/>
            </a:pPr>
            <a:r>
              <a:rPr lang="en-US" sz="850" dirty="0">
                <a:solidFill>
                  <a:srgbClr val="52656E"/>
                </a:solidFill>
                <a:latin typeface="Consolas" pitchFamily="34" charset="0"/>
                <a:ea typeface="Consolas" pitchFamily="34" charset="-122"/>
                <a:cs typeface="Consolas" pitchFamily="34" charset="-120"/>
              </a:rPr>
              <a:t>agents, skills</a:t>
            </a:r>
            <a:endParaRPr lang="en-US" sz="850" dirty="0"/>
          </a:p>
        </p:txBody>
      </p:sp>
      <p:sp>
        <p:nvSpPr>
          <p:cNvPr id="24" name="Text 21"/>
          <p:cNvSpPr txBox="1"/>
          <p:nvPr/>
        </p:nvSpPr>
        <p:spPr>
          <a:xfrm>
            <a:off x="4535424" y="3401568"/>
            <a:ext cx="6595567" cy="621792"/>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Roles a model performs, granted from a registry. Everything a model returns is checked in code; skill files are additive-only.</a:t>
            </a:r>
            <a:endParaRPr lang="en-US" sz="1050" dirty="0"/>
          </a:p>
        </p:txBody>
      </p:sp>
      <p:sp>
        <p:nvSpPr>
          <p:cNvPr id="25" name="Shape 22"/>
          <p:cNvSpPr/>
          <p:nvPr/>
        </p:nvSpPr>
        <p:spPr>
          <a:xfrm>
            <a:off x="1042416" y="4206240"/>
            <a:ext cx="10106863" cy="804672"/>
          </a:xfrm>
          <a:prstGeom prst="roundRect">
            <a:avLst>
              <a:gd name="adj" fmla="val 5682"/>
            </a:avLst>
          </a:prstGeom>
          <a:solidFill>
            <a:srgbClr val="FFFFFF"/>
          </a:solidFill>
          <a:ln w="9525">
            <a:solidFill>
              <a:srgbClr val="CDD8DC"/>
            </a:solidFill>
            <a:prstDash val="solid"/>
          </a:ln>
        </p:spPr>
      </p:sp>
      <p:sp>
        <p:nvSpPr>
          <p:cNvPr id="26" name="Text 23"/>
          <p:cNvSpPr txBox="1"/>
          <p:nvPr/>
        </p:nvSpPr>
        <p:spPr>
          <a:xfrm>
            <a:off x="1225296" y="4389120"/>
            <a:ext cx="365760" cy="457200"/>
          </a:xfrm>
          <a:prstGeom prst="rect">
            <a:avLst/>
          </a:prstGeom>
          <a:noFill/>
          <a:ln/>
        </p:spPr>
        <p:txBody>
          <a:bodyPr wrap="square" lIns="0" tIns="0" rIns="0" bIns="0" rtlCol="0" anchor="t"/>
          <a:lstStyle/>
          <a:p>
            <a:pPr indent="0" marL="0">
              <a:buNone/>
            </a:pPr>
            <a:r>
              <a:rPr lang="en-US" sz="2000" b="1" dirty="0">
                <a:solidFill>
                  <a:srgbClr val="0F6673"/>
                </a:solidFill>
                <a:latin typeface="Consolas" pitchFamily="34" charset="0"/>
                <a:ea typeface="Consolas" pitchFamily="34" charset="-122"/>
                <a:cs typeface="Consolas" pitchFamily="34" charset="-120"/>
              </a:rPr>
              <a:t>4</a:t>
            </a:r>
            <a:endParaRPr lang="en-US" sz="2000" dirty="0"/>
          </a:p>
        </p:txBody>
      </p:sp>
      <p:sp>
        <p:nvSpPr>
          <p:cNvPr id="27" name="Text 24"/>
          <p:cNvSpPr txBox="1"/>
          <p:nvPr/>
        </p:nvSpPr>
        <p:spPr>
          <a:xfrm>
            <a:off x="1682496" y="4315968"/>
            <a:ext cx="2926080" cy="274320"/>
          </a:xfrm>
          <a:prstGeom prst="rect">
            <a:avLst/>
          </a:prstGeom>
          <a:noFill/>
          <a:ln/>
        </p:spPr>
        <p:txBody>
          <a:bodyPr wrap="square" lIns="0" tIns="0" rIns="0" bIns="0" rtlCol="0" anchor="t"/>
          <a:lstStyle/>
          <a:p>
            <a:pPr indent="0" marL="0">
              <a:buNone/>
            </a:pPr>
            <a:r>
              <a:rPr lang="en-US" sz="1300" b="1" dirty="0">
                <a:solidFill>
                  <a:srgbClr val="15252E"/>
                </a:solidFill>
                <a:latin typeface="Calibri" pitchFamily="34" charset="0"/>
                <a:ea typeface="Calibri" pitchFamily="34" charset="-122"/>
                <a:cs typeface="Calibri" pitchFamily="34" charset="-120"/>
              </a:rPr>
              <a:t>Orchestration and services</a:t>
            </a:r>
            <a:endParaRPr lang="en-US" sz="1300" dirty="0"/>
          </a:p>
        </p:txBody>
      </p:sp>
      <p:sp>
        <p:nvSpPr>
          <p:cNvPr id="28" name="Text 25"/>
          <p:cNvSpPr txBox="1"/>
          <p:nvPr/>
        </p:nvSpPr>
        <p:spPr>
          <a:xfrm>
            <a:off x="1682496" y="4617720"/>
            <a:ext cx="2926080" cy="320040"/>
          </a:xfrm>
          <a:prstGeom prst="rect">
            <a:avLst/>
          </a:prstGeom>
          <a:noFill/>
          <a:ln/>
        </p:spPr>
        <p:txBody>
          <a:bodyPr wrap="square" lIns="0" tIns="0" rIns="0" bIns="0" rtlCol="0" anchor="t"/>
          <a:lstStyle/>
          <a:p>
            <a:pPr indent="0" marL="0">
              <a:buNone/>
            </a:pPr>
            <a:r>
              <a:rPr lang="en-US" sz="850" dirty="0">
                <a:solidFill>
                  <a:srgbClr val="52656E"/>
                </a:solidFill>
                <a:latin typeface="Consolas" pitchFamily="34" charset="0"/>
                <a:ea typeface="Consolas" pitchFamily="34" charset="-122"/>
                <a:cs typeface="Consolas" pitchFamily="34" charset="-120"/>
              </a:rPr>
              <a:t>workflow, services, sources, extract, verify, eval, render</a:t>
            </a:r>
            <a:endParaRPr lang="en-US" sz="850" dirty="0"/>
          </a:p>
        </p:txBody>
      </p:sp>
      <p:sp>
        <p:nvSpPr>
          <p:cNvPr id="29" name="Text 26"/>
          <p:cNvSpPr txBox="1"/>
          <p:nvPr/>
        </p:nvSpPr>
        <p:spPr>
          <a:xfrm>
            <a:off x="4700016" y="4315968"/>
            <a:ext cx="6266383" cy="621792"/>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Recorded, resumable steps with a budget guard and gates; adapters per publisher; deterministic verification; rendering.</a:t>
            </a:r>
            <a:endParaRPr lang="en-US" sz="1050" dirty="0"/>
          </a:p>
        </p:txBody>
      </p:sp>
      <p:sp>
        <p:nvSpPr>
          <p:cNvPr id="30" name="Shape 27"/>
          <p:cNvSpPr/>
          <p:nvPr/>
        </p:nvSpPr>
        <p:spPr>
          <a:xfrm>
            <a:off x="1207008" y="5120640"/>
            <a:ext cx="9777679" cy="804672"/>
          </a:xfrm>
          <a:prstGeom prst="roundRect">
            <a:avLst>
              <a:gd name="adj" fmla="val 5682"/>
            </a:avLst>
          </a:prstGeom>
          <a:solidFill>
            <a:srgbClr val="FFFFFF"/>
          </a:solidFill>
          <a:ln w="9525">
            <a:solidFill>
              <a:srgbClr val="CDD8DC"/>
            </a:solidFill>
            <a:prstDash val="solid"/>
          </a:ln>
        </p:spPr>
      </p:sp>
      <p:sp>
        <p:nvSpPr>
          <p:cNvPr id="31" name="Text 28"/>
          <p:cNvSpPr txBox="1"/>
          <p:nvPr/>
        </p:nvSpPr>
        <p:spPr>
          <a:xfrm>
            <a:off x="1389888" y="5303520"/>
            <a:ext cx="365760" cy="457200"/>
          </a:xfrm>
          <a:prstGeom prst="rect">
            <a:avLst/>
          </a:prstGeom>
          <a:noFill/>
          <a:ln/>
        </p:spPr>
        <p:txBody>
          <a:bodyPr wrap="square" lIns="0" tIns="0" rIns="0" bIns="0" rtlCol="0" anchor="t"/>
          <a:lstStyle/>
          <a:p>
            <a:pPr indent="0" marL="0">
              <a:buNone/>
            </a:pPr>
            <a:r>
              <a:rPr lang="en-US" sz="2000" b="1" dirty="0">
                <a:solidFill>
                  <a:srgbClr val="0F6673"/>
                </a:solidFill>
                <a:latin typeface="Consolas" pitchFamily="34" charset="0"/>
                <a:ea typeface="Consolas" pitchFamily="34" charset="-122"/>
                <a:cs typeface="Consolas" pitchFamily="34" charset="-120"/>
              </a:rPr>
              <a:t>5</a:t>
            </a:r>
            <a:endParaRPr lang="en-US" sz="2000" dirty="0"/>
          </a:p>
        </p:txBody>
      </p:sp>
      <p:sp>
        <p:nvSpPr>
          <p:cNvPr id="32" name="Text 29"/>
          <p:cNvSpPr txBox="1"/>
          <p:nvPr/>
        </p:nvSpPr>
        <p:spPr>
          <a:xfrm>
            <a:off x="1847088" y="5230368"/>
            <a:ext cx="2926080" cy="274320"/>
          </a:xfrm>
          <a:prstGeom prst="rect">
            <a:avLst/>
          </a:prstGeom>
          <a:noFill/>
          <a:ln/>
        </p:spPr>
        <p:txBody>
          <a:bodyPr wrap="square" lIns="0" tIns="0" rIns="0" bIns="0" rtlCol="0" anchor="t"/>
          <a:lstStyle/>
          <a:p>
            <a:pPr indent="0" marL="0">
              <a:buNone/>
            </a:pPr>
            <a:r>
              <a:rPr lang="en-US" sz="1300" b="1" dirty="0">
                <a:solidFill>
                  <a:srgbClr val="15252E"/>
                </a:solidFill>
                <a:latin typeface="Calibri" pitchFamily="34" charset="0"/>
                <a:ea typeface="Calibri" pitchFamily="34" charset="-122"/>
                <a:cs typeface="Calibri" pitchFamily="34" charset="-120"/>
              </a:rPr>
              <a:t>The shell</a:t>
            </a:r>
            <a:endParaRPr lang="en-US" sz="1300" dirty="0"/>
          </a:p>
        </p:txBody>
      </p:sp>
      <p:sp>
        <p:nvSpPr>
          <p:cNvPr id="33" name="Text 30"/>
          <p:cNvSpPr txBox="1"/>
          <p:nvPr/>
        </p:nvSpPr>
        <p:spPr>
          <a:xfrm>
            <a:off x="1847088" y="5532120"/>
            <a:ext cx="2926080" cy="320040"/>
          </a:xfrm>
          <a:prstGeom prst="rect">
            <a:avLst/>
          </a:prstGeom>
          <a:noFill/>
          <a:ln/>
        </p:spPr>
        <p:txBody>
          <a:bodyPr wrap="square" lIns="0" tIns="0" rIns="0" bIns="0" rtlCol="0" anchor="t"/>
          <a:lstStyle/>
          <a:p>
            <a:pPr indent="0" marL="0">
              <a:buNone/>
            </a:pPr>
            <a:r>
              <a:rPr lang="en-US" sz="850" dirty="0">
                <a:solidFill>
                  <a:srgbClr val="52656E"/>
                </a:solidFill>
                <a:latin typeface="Consolas" pitchFamily="34" charset="0"/>
                <a:ea typeface="Consolas" pitchFamily="34" charset="-122"/>
                <a:cs typeface="Consolas" pitchFamily="34" charset="-120"/>
              </a:rPr>
              <a:t>web, api, db, cli, worker</a:t>
            </a:r>
            <a:endParaRPr lang="en-US" sz="850" dirty="0"/>
          </a:p>
        </p:txBody>
      </p:sp>
      <p:sp>
        <p:nvSpPr>
          <p:cNvPr id="34" name="Text 31"/>
          <p:cNvSpPr txBox="1"/>
          <p:nvPr/>
        </p:nvSpPr>
        <p:spPr>
          <a:xfrm>
            <a:off x="4864608" y="5230368"/>
            <a:ext cx="5937199" cy="621792"/>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Server-rendered interface that works without scripting, the database and its migrations, the command line and the background worker.</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APPENDIX · A2</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The invariants, and what enforces each</a:t>
            </a:r>
            <a:endParaRPr lang="en-US" sz="2800" dirty="0"/>
          </a:p>
        </p:txBody>
      </p:sp>
      <p:sp>
        <p:nvSpPr>
          <p:cNvPr id="5" name="Shape 3"/>
          <p:cNvSpPr/>
          <p:nvPr/>
        </p:nvSpPr>
        <p:spPr>
          <a:xfrm>
            <a:off x="10286086" y="384048"/>
            <a:ext cx="1356970" cy="219456"/>
          </a:xfrm>
          <a:prstGeom prst="roundRect">
            <a:avLst>
              <a:gd name="adj" fmla="val 50000"/>
            </a:avLst>
          </a:prstGeom>
          <a:solidFill>
            <a:srgbClr val="14613F"/>
          </a:solidFill>
          <a:ln/>
        </p:spPr>
      </p:sp>
      <p:sp>
        <p:nvSpPr>
          <p:cNvPr id="6" name="Text 4"/>
          <p:cNvSpPr txBox="1"/>
          <p:nvPr/>
        </p:nvSpPr>
        <p:spPr>
          <a:xfrm>
            <a:off x="10286086"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7" name="Text 5"/>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8" name="Text 6"/>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48</a:t>
            </a:r>
            <a:endParaRPr lang="en-US" sz="8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457200"/>
                <a:gridCol w="5394960"/>
                <a:gridCol w="5239512"/>
              </a:tblGrid>
              <a:tr h="457200">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INVARIANT</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ENFORCED BY</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r>
              <a:tr h="45720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Every externally derived fact traces to a hashed artefact</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The content-addressed store; a command re-hashes every artefact</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The model may propose a citation; only code confirms one</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A verifier that re-reads the artefact by hash and finds the excerpt</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No figure reaches a report unless it is a stored fact, a recorded calculation or an attestation</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A numeral scan and closed-world evidence checks on every section</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5B6D75"/>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B6D75"/>
                          </a:solidFill>
                          <a:latin typeface="Calibri" pitchFamily="34" charset="0"/>
                          <a:ea typeface="Calibri" pitchFamily="34" charset="-122"/>
                          <a:cs typeface="Calibri" pitchFamily="34" charset="-120"/>
                        </a:rPr>
                        <a:t>Retired: a run reads the filings as they stand</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B6D75"/>
                          </a:solidFill>
                          <a:latin typeface="Calibri" pitchFamily="34" charset="0"/>
                          <a:ea typeface="Calibri" pitchFamily="34" charset="-122"/>
                          <a:cs typeface="Calibri" pitchFamily="34" charset="-120"/>
                        </a:rPr>
                        <a:t>ADR 0113; a scan keeps the retired enforcement gone</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Units are carried through all arithmetic; a mismatch raises</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A units algebra, tested in both operand orders</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Cost is metered and capped in code</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A budget guard before every step; every call writes a cost row</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Skill files are additive-only</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A skill policy, and an attack corpus that must all fail</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Untrusted content is data, never instruction</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Wrapping and labelling; tool authorisation in code; injection tests</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APPENDIX · A3</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Data sources: cost and licence status</a:t>
            </a:r>
            <a:endParaRPr lang="en-US" sz="2800" dirty="0"/>
          </a:p>
        </p:txBody>
      </p:sp>
      <p:sp>
        <p:nvSpPr>
          <p:cNvPr id="5" name="Shape 3"/>
          <p:cNvSpPr/>
          <p:nvPr/>
        </p:nvSpPr>
        <p:spPr>
          <a:xfrm>
            <a:off x="10218420" y="384048"/>
            <a:ext cx="1424635" cy="219456"/>
          </a:xfrm>
          <a:prstGeom prst="roundRect">
            <a:avLst>
              <a:gd name="adj" fmla="val 50000"/>
            </a:avLst>
          </a:prstGeom>
          <a:solidFill>
            <a:srgbClr val="F4F7F8"/>
          </a:solidFill>
          <a:ln w="12700">
            <a:solidFill>
              <a:srgbClr val="52656E"/>
            </a:solidFill>
            <a:prstDash val="solid"/>
          </a:ln>
        </p:spPr>
      </p:sp>
      <p:sp>
        <p:nvSpPr>
          <p:cNvPr id="6" name="Text 4"/>
          <p:cNvSpPr txBox="1"/>
          <p:nvPr/>
        </p:nvSpPr>
        <p:spPr>
          <a:xfrm>
            <a:off x="10218420" y="384048"/>
            <a:ext cx="1424635" cy="219456"/>
          </a:xfrm>
          <a:prstGeom prst="rect">
            <a:avLst/>
          </a:prstGeom>
          <a:noFill/>
          <a:ln/>
        </p:spPr>
        <p:txBody>
          <a:bodyPr wrap="square" lIns="0" tIns="0" rIns="0" bIns="0" rtlCol="0" anchor="ctr"/>
          <a:lstStyle/>
          <a:p>
            <a:pPr algn="ctr" indent="0" marL="0">
              <a:buNone/>
            </a:pPr>
            <a:r>
              <a:rPr lang="en-US" sz="750" b="1" spc="80" kern="0" dirty="0">
                <a:solidFill>
                  <a:srgbClr val="52656E"/>
                </a:solidFill>
                <a:latin typeface="Consolas" pitchFamily="34" charset="0"/>
                <a:ea typeface="Consolas" pitchFamily="34" charset="-122"/>
                <a:cs typeface="Consolas" pitchFamily="34" charset="-120"/>
              </a:rPr>
              <a:t>EXTERNAL · VERIFY</a:t>
            </a:r>
            <a:endParaRPr lang="en-US" sz="750" dirty="0"/>
          </a:p>
        </p:txBody>
      </p:sp>
      <p:sp>
        <p:nvSpPr>
          <p:cNvPr id="7" name="Shape 5"/>
          <p:cNvSpPr/>
          <p:nvPr/>
        </p:nvSpPr>
        <p:spPr>
          <a:xfrm>
            <a:off x="8770010" y="384048"/>
            <a:ext cx="1356970" cy="219456"/>
          </a:xfrm>
          <a:prstGeom prst="roundRect">
            <a:avLst>
              <a:gd name="adj" fmla="val 50000"/>
            </a:avLst>
          </a:prstGeom>
          <a:solidFill>
            <a:srgbClr val="14613F"/>
          </a:solidFill>
          <a:ln/>
        </p:spPr>
      </p:sp>
      <p:sp>
        <p:nvSpPr>
          <p:cNvPr id="8" name="Text 6"/>
          <p:cNvSpPr txBox="1"/>
          <p:nvPr/>
        </p:nvSpPr>
        <p:spPr>
          <a:xfrm>
            <a:off x="8770010"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9" name="Text 7"/>
          <p:cNvSpPr txBox="1"/>
          <p:nvPr/>
        </p:nvSpPr>
        <p:spPr>
          <a:xfrm>
            <a:off x="548640" y="6217920"/>
            <a:ext cx="11094415"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From the project’s source dossiers (docs/data-sources/). Several terms were read through search results only and are marked there to verify.</a:t>
            </a:r>
            <a:endParaRPr lang="en-US" sz="900" dirty="0"/>
          </a:p>
        </p:txBody>
      </p:sp>
      <p:sp>
        <p:nvSpPr>
          <p:cNvPr id="10" name="Text 8"/>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1" name="Text 9"/>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49</a:t>
            </a:r>
            <a:endParaRPr lang="en-US" sz="8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600200"/>
                <a:gridCol w="3063240"/>
                <a:gridCol w="1965960"/>
                <a:gridCol w="2651760"/>
                <a:gridCol w="1810512"/>
              </a:tblGrid>
              <a:tr h="384048">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SOURCE</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WHAT IT GIVES</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COST</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COMMERCIAL USE</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STATUS</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r>
              <a:tr h="384048">
                <a:tc>
                  <a:txBody>
                    <a:bodyPr/>
                    <a:lstStyle/>
                    <a:p>
                      <a:pPr indent="0" marL="0">
                        <a:buNone/>
                      </a:pPr>
                      <a:r>
                        <a:rPr lang="en-US" sz="950" b="1" dirty="0">
                          <a:solidFill>
                            <a:srgbClr val="15252E"/>
                          </a:solidFill>
                          <a:latin typeface="Calibri" pitchFamily="34" charset="0"/>
                          <a:ea typeface="Calibri" pitchFamily="34" charset="-122"/>
                          <a:cs typeface="Calibri" pitchFamily="34" charset="-120"/>
                        </a:rPr>
                        <a:t>SEC EDGAR</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US filings, tagged company facts, full-text search; 20-F filers</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Free</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Yes: US government work</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Wired, core</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5252E"/>
                          </a:solidFill>
                          <a:latin typeface="Calibri" pitchFamily="34" charset="0"/>
                          <a:ea typeface="Calibri" pitchFamily="34" charset="-122"/>
                          <a:cs typeface="Calibri" pitchFamily="34" charset="-120"/>
                        </a:rPr>
                        <a:t>Companies House</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UK register, filings and accounts</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Free, with a key</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Open Government Licence, with attribution</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Wired; listed companies refused</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5252E"/>
                          </a:solidFill>
                          <a:latin typeface="Calibri" pitchFamily="34" charset="0"/>
                          <a:ea typeface="Calibri" pitchFamily="34" charset="-122"/>
                          <a:cs typeface="Calibri" pitchFamily="34" charset="-120"/>
                        </a:rPr>
                        <a:t>UK inline XBRL</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Offline extraction of tagged accounts</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Free, Apache-2.0</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As its source</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Wired</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5252E"/>
                          </a:solidFill>
                          <a:latin typeface="Calibri" pitchFamily="34" charset="0"/>
                          <a:ea typeface="Calibri" pitchFamily="34" charset="-122"/>
                          <a:cs typeface="Calibri" pitchFamily="34" charset="-120"/>
                        </a:rPr>
                        <a:t>EODHD</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End-of-day prices, splits, dividends, US and UK</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€19.99 a month; commercial $399</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Not on the current plan</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Wired, optional</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5252E"/>
                          </a:solidFill>
                          <a:latin typeface="Calibri" pitchFamily="34" charset="0"/>
                          <a:ea typeface="Calibri" pitchFamily="34" charset="-122"/>
                          <a:cs typeface="Calibri" pitchFamily="34" charset="-120"/>
                        </a:rPr>
                        <a:t>FRED / ALFRED</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US risk-free rate and macro series</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Free, with a key</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Series by series; three refused</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Wired</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5252E"/>
                          </a:solidFill>
                          <a:latin typeface="Calibri" pitchFamily="34" charset="0"/>
                          <a:ea typeface="Calibri" pitchFamily="34" charset="-122"/>
                          <a:cs typeface="Calibri" pitchFamily="34" charset="-120"/>
                        </a:rPr>
                        <a:t>ECB, ONS</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Euro reference rates; UK prices and output</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Free</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Yes, with credit</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Built, not yet called</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5252E"/>
                          </a:solidFill>
                          <a:latin typeface="Calibri" pitchFamily="34" charset="0"/>
                          <a:ea typeface="Calibri" pitchFamily="34" charset="-122"/>
                          <a:cs typeface="Calibri" pitchFamily="34" charset="-120"/>
                        </a:rPr>
                        <a:t>Issuer websites</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Annual reports, presentations</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Free</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Issuer copyright; quoted for research</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Built, not wired</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5252E"/>
                          </a:solidFill>
                          <a:latin typeface="Calibri" pitchFamily="34" charset="0"/>
                          <a:ea typeface="Calibri" pitchFamily="34" charset="-122"/>
                          <a:cs typeface="Calibri" pitchFamily="34" charset="-120"/>
                        </a:rPr>
                        <a:t>FCA NSM</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UK regulated announcements</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Automated access needs written consent</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b="1" dirty="0">
                          <a:solidFill>
                            <a:srgbClr val="6B3F60"/>
                          </a:solidFill>
                          <a:latin typeface="Calibri" pitchFamily="34" charset="0"/>
                          <a:ea typeface="Calibri" pitchFamily="34" charset="-122"/>
                          <a:cs typeface="Calibri" pitchFamily="34" charset="-120"/>
                        </a:rPr>
                        <a:t>Declined</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5252E"/>
                          </a:solidFill>
                          <a:latin typeface="Calibri" pitchFamily="34" charset="0"/>
                          <a:ea typeface="Calibri" pitchFamily="34" charset="-122"/>
                          <a:cs typeface="Calibri" pitchFamily="34" charset="-120"/>
                        </a:rPr>
                        <a:t>Bank of England</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Gilt yields, Bank Rate</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Free</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dirty="0">
                          <a:solidFill>
                            <a:srgbClr val="52656E"/>
                          </a:solidFill>
                          <a:latin typeface="Calibri" pitchFamily="34" charset="0"/>
                          <a:ea typeface="Calibri" pitchFamily="34" charset="-122"/>
                          <a:cs typeface="Calibri" pitchFamily="34" charset="-120"/>
                        </a:rPr>
                        <a:t>Open Government Licence</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950" b="1" dirty="0">
                          <a:solidFill>
                            <a:srgbClr val="6B3F60"/>
                          </a:solidFill>
                          <a:latin typeface="Calibri" pitchFamily="34" charset="0"/>
                          <a:ea typeface="Calibri" pitchFamily="34" charset="-122"/>
                          <a:cs typeface="Calibri" pitchFamily="34" charset="-120"/>
                        </a:rPr>
                        <a:t>Declined: robots.txt</a:t>
                      </a:r>
                      <a:endParaRPr lang="en-US" sz="9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APPENDIX · A4</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The readiness audit, run by run</a:t>
            </a:r>
            <a:endParaRPr lang="en-US" sz="2800" dirty="0"/>
          </a:p>
        </p:txBody>
      </p:sp>
      <p:sp>
        <p:nvSpPr>
          <p:cNvPr id="5" name="Shape 3"/>
          <p:cNvSpPr/>
          <p:nvPr/>
        </p:nvSpPr>
        <p:spPr>
          <a:xfrm>
            <a:off x="10827410" y="384048"/>
            <a:ext cx="815645" cy="219456"/>
          </a:xfrm>
          <a:prstGeom prst="roundRect">
            <a:avLst>
              <a:gd name="adj" fmla="val 50000"/>
            </a:avLst>
          </a:prstGeom>
          <a:solidFill>
            <a:srgbClr val="0F6673"/>
          </a:solidFill>
          <a:ln/>
        </p:spPr>
      </p:sp>
      <p:sp>
        <p:nvSpPr>
          <p:cNvPr id="6" name="Text 4"/>
          <p:cNvSpPr txBox="1"/>
          <p:nvPr/>
        </p:nvSpPr>
        <p:spPr>
          <a:xfrm>
            <a:off x="10827410"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7" name="Text 5"/>
          <p:cNvSpPr txBox="1"/>
          <p:nvPr/>
        </p:nvSpPr>
        <p:spPr>
          <a:xfrm>
            <a:off x="548640" y="6217920"/>
            <a:ext cx="11094415"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Readiness audit, 11–12 Sep 2026, and its scorecard. The abandoned first M&amp;T run (£2.03) stopped at the assumptions gate before any report existed.</a:t>
            </a:r>
            <a:endParaRPr lang="en-US" sz="900" dirty="0"/>
          </a:p>
        </p:txBody>
      </p:sp>
      <p:sp>
        <p:nvSpPr>
          <p:cNvPr id="8" name="Text 6"/>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9" name="Text 7"/>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50</a:t>
            </a:r>
            <a:endParaRPr lang="en-US" sz="8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965960"/>
                <a:gridCol w="914400"/>
                <a:gridCol w="1828800"/>
                <a:gridCol w="2377440"/>
                <a:gridCol w="1737360"/>
                <a:gridCol w="2267712"/>
              </a:tblGrid>
              <a:tr h="438912">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RUN</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SPEND</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CITATIONS CONFIRMED</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CHECKABLE FIGURES CONTRADICTED</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CALCULATIONS REPLAYED</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OUTCOME</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r>
              <a:tr h="438912">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Microsoft #1</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£7.48</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69 of 69</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0 of 169</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852</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Approved</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Microsoft #2</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£6.80</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57 of 57</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0 of 188</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857</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Refused at the final gate</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AstraZeneca #1</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£6.83</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34 of 34</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0 of 165</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152</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Approved; valuation withheld</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AstraZeneca #2</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£7.21</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43 of 43</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0 of 178</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831</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Approved, with a valuation</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15252E"/>
                          </a:solidFill>
                          <a:latin typeface="Calibri" pitchFamily="34" charset="0"/>
                          <a:ea typeface="Calibri" pitchFamily="34" charset="-122"/>
                          <a:cs typeface="Calibri" pitchFamily="34" charset="-120"/>
                        </a:rPr>
                        <a:t>M&amp;T Bank</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£7.61</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56 of 56</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0 of 79</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643</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Refused: revenue read as fee income</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7A4B00"/>
                          </a:solidFill>
                          <a:latin typeface="Calibri" pitchFamily="34" charset="0"/>
                          <a:ea typeface="Calibri" pitchFamily="34" charset="-122"/>
                          <a:cs typeface="Calibri" pitchFamily="34" charset="-120"/>
                        </a:rPr>
                        <a:t>AI note: Microsoft</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£7.63</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no citation block</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0 of 154</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16 minutes</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7A4B00"/>
                          </a:solidFill>
                          <a:latin typeface="Calibri" pitchFamily="34" charset="0"/>
                          <a:ea typeface="Calibri" pitchFamily="34" charset="-122"/>
                          <a:cs typeface="Calibri" pitchFamily="34" charset="-120"/>
                        </a:rPr>
                        <a:t>AI note: AstraZeneca</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£11.03</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no citation block</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1 flagged of 179</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19 minutes</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7A4B00"/>
                          </a:solidFill>
                          <a:latin typeface="Calibri" pitchFamily="34" charset="0"/>
                          <a:ea typeface="Calibri" pitchFamily="34" charset="-122"/>
                          <a:cs typeface="Calibri" pitchFamily="34" charset="-120"/>
                        </a:rPr>
                        <a:t>AI note: M&amp;T Bank</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£6.71</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no citation block</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0 of 107</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14 minutes</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APPENDIX · A5</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Three measurement rounds</a:t>
            </a:r>
            <a:endParaRPr lang="en-US" sz="2800" dirty="0"/>
          </a:p>
        </p:txBody>
      </p:sp>
      <p:sp>
        <p:nvSpPr>
          <p:cNvPr id="5" name="Shape 3"/>
          <p:cNvSpPr/>
          <p:nvPr/>
        </p:nvSpPr>
        <p:spPr>
          <a:xfrm>
            <a:off x="10827410" y="384048"/>
            <a:ext cx="815645" cy="219456"/>
          </a:xfrm>
          <a:prstGeom prst="roundRect">
            <a:avLst>
              <a:gd name="adj" fmla="val 50000"/>
            </a:avLst>
          </a:prstGeom>
          <a:solidFill>
            <a:srgbClr val="0F6673"/>
          </a:solidFill>
          <a:ln/>
        </p:spPr>
      </p:sp>
      <p:sp>
        <p:nvSpPr>
          <p:cNvPr id="6" name="Text 4"/>
          <p:cNvSpPr txBox="1"/>
          <p:nvPr/>
        </p:nvSpPr>
        <p:spPr>
          <a:xfrm>
            <a:off x="10827410"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7" name="Text 5"/>
          <p:cNvSpPr txBox="1"/>
          <p:nvPr/>
        </p:nvSpPr>
        <p:spPr>
          <a:xfrm>
            <a:off x="548640" y="6217920"/>
            <a:ext cx="11094415" cy="237744"/>
          </a:xfrm>
          <a:prstGeom prst="rect">
            <a:avLst/>
          </a:prstGeom>
          <a:noFill/>
          <a:ln/>
        </p:spPr>
        <p:txBody>
          <a:bodyPr wrap="square" lIns="0" tIns="0" rIns="0" bIns="0" rtlCol="0" anchor="t"/>
          <a:lstStyle/>
          <a:p>
            <a:pPr indent="0" marL="0">
              <a:buNone/>
            </a:pPr>
            <a:r>
              <a:rPr lang="en-US" sz="900" i="1" dirty="0">
                <a:solidFill>
                  <a:srgbClr val="5B6D75"/>
                </a:solidFill>
                <a:latin typeface="Calibri" pitchFamily="34" charset="0"/>
                <a:ea typeface="Calibri" pitchFamily="34" charset="-122"/>
                <a:cs typeface="Calibri" pitchFamily="34" charset="-120"/>
              </a:rPr>
              <a:t>docs/plan/readiness-audit-2026-09.md, phase-5-round-2026-09/, phase-7-round-2026-09/. Phase 5 costs overstate the Sonnet lines: the meter charged 50% high from 1 Sep.</a:t>
            </a:r>
            <a:endParaRPr lang="en-US" sz="900" dirty="0"/>
          </a:p>
        </p:txBody>
      </p:sp>
      <p:sp>
        <p:nvSpPr>
          <p:cNvPr id="8" name="Text 6"/>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9" name="Text 7"/>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51</a:t>
            </a:r>
            <a:endParaRPr lang="en-US" sz="8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554480"/>
                <a:gridCol w="2651760"/>
                <a:gridCol w="2148840"/>
                <a:gridCol w="2240280"/>
                <a:gridCol w="2496312"/>
              </a:tblGrid>
              <a:tr h="329184">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ROUND</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WHAT RAN</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REACHED AN APPROVED REPORT</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COMPARISONS, MODEL JUDGES</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WHAT IT CONCLUDED</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r>
              <a:tr h="914400">
                <a:tc>
                  <a:txBody>
                    <a:bodyPr/>
                    <a:lstStyle/>
                    <a:p>
                      <a:pPr indent="0" marL="0">
                        <a:buNone/>
                      </a:pPr>
                      <a:r>
                        <a:rPr lang="en-US" sz="1100" b="1" dirty="0">
                          <a:solidFill>
                            <a:srgbClr val="15252E"/>
                          </a:solidFill>
                          <a:latin typeface="Calibri" pitchFamily="34" charset="0"/>
                          <a:ea typeface="Calibri" pitchFamily="34" charset="-122"/>
                          <a:cs typeface="Calibri" pitchFamily="34" charset="-120"/>
                        </a:rPr>
                        <a:t>Readiness audit</a:t>
                      </a:r>
                      <a:endParaRPr lang="en-US" sz="1100" dirty="0">
                        <a:latin typeface="Calibri" charset="0"/>
                        <a:ea typeface="Calibri" charset="0"/>
                        <a:cs typeface="Calibri" charset="0"/>
                      </a:endParaRPr>
                    </a:p>
                    <a:p>
                      <a:pPr indent="0" marL="0">
                        <a:buNone/>
                      </a:pPr>
                      <a:r>
                        <a:rPr lang="en-US" sz="1100" b="1" dirty="0">
                          <a:solidFill>
                            <a:srgbClr val="15252E"/>
                          </a:solidFill>
                          <a:latin typeface="Calibri" pitchFamily="34" charset="0"/>
                          <a:ea typeface="Calibri" pitchFamily="34" charset="-122"/>
                          <a:cs typeface="Calibri" pitchFamily="34" charset="-120"/>
                        </a:rPr>
                        <a:t>11–12 Sep</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6 runs, 3 AI baselines; £63.32</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3 of 6</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9 of 9 chose the AI note; 0 of 54 verdicts to us</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“Not ready for general use; ready for one thing, and good at it.”</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914400">
                <a:tc>
                  <a:txBody>
                    <a:bodyPr/>
                    <a:lstStyle/>
                    <a:p>
                      <a:pPr indent="0" marL="0">
                        <a:buNone/>
                      </a:pPr>
                      <a:r>
                        <a:rPr lang="en-US" sz="1100" b="1" dirty="0">
                          <a:solidFill>
                            <a:srgbClr val="15252E"/>
                          </a:solidFill>
                          <a:latin typeface="Calibri" pitchFamily="34" charset="0"/>
                          <a:ea typeface="Calibri" pitchFamily="34" charset="-122"/>
                          <a:cs typeface="Calibri" pitchFamily="34" charset="-120"/>
                        </a:rPr>
                        <a:t>Phase 5 round</a:t>
                      </a:r>
                      <a:endParaRPr lang="en-US" sz="1100" dirty="0">
                        <a:latin typeface="Calibri" charset="0"/>
                        <a:ea typeface="Calibri" charset="0"/>
                        <a:cs typeface="Calibri" charset="0"/>
                      </a:endParaRPr>
                    </a:p>
                    <a:p>
                      <a:pPr indent="0" marL="0">
                        <a:buNone/>
                      </a:pPr>
                      <a:r>
                        <a:rPr lang="en-US" sz="1100" b="1" dirty="0">
                          <a:solidFill>
                            <a:srgbClr val="15252E"/>
                          </a:solidFill>
                          <a:latin typeface="Calibri" pitchFamily="34" charset="0"/>
                          <a:ea typeface="Calibri" pitchFamily="34" charset="-122"/>
                          <a:cs typeface="Calibri" pitchFamily="34" charset="-120"/>
                        </a:rPr>
                        <a:t>19 Sep</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AstraZeneca £7.61, Microsoft £7.06; 96 of 96 citations</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2 of 2, each after the operator overrode its own final gate</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6 of 6 chose the AI note; 2 of 36 verdicts to us</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The complaint moved from “no view” to “a broken view”.</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1005840">
                <a:tc>
                  <a:txBody>
                    <a:bodyPr/>
                    <a:lstStyle/>
                    <a:p>
                      <a:pPr indent="0" marL="0">
                        <a:buNone/>
                      </a:pPr>
                      <a:r>
                        <a:rPr lang="en-US" sz="1100" b="1" dirty="0">
                          <a:solidFill>
                            <a:srgbClr val="15252E"/>
                          </a:solidFill>
                          <a:latin typeface="Calibri" pitchFamily="34" charset="0"/>
                          <a:ea typeface="Calibri" pitchFamily="34" charset="-122"/>
                          <a:cs typeface="Calibri" pitchFamily="34" charset="-120"/>
                        </a:rPr>
                        <a:t>Verdict round</a:t>
                      </a:r>
                      <a:endParaRPr lang="en-US" sz="1100" dirty="0">
                        <a:latin typeface="Calibri" charset="0"/>
                        <a:ea typeface="Calibri" charset="0"/>
                        <a:cs typeface="Calibri" charset="0"/>
                      </a:endParaRPr>
                    </a:p>
                    <a:p>
                      <a:pPr indent="0" marL="0">
                        <a:buNone/>
                      </a:pPr>
                      <a:r>
                        <a:rPr lang="en-US" sz="1100" b="1" dirty="0">
                          <a:solidFill>
                            <a:srgbClr val="15252E"/>
                          </a:solidFill>
                          <a:latin typeface="Calibri" pitchFamily="34" charset="0"/>
                          <a:ea typeface="Calibri" pitchFamily="34" charset="-122"/>
                          <a:cs typeface="Calibri" pitchFamily="34" charset="-120"/>
                        </a:rPr>
                        <a:t>24–25 Sep</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AstraZeneca £6.17, Microsoft £5.88, a refresh £1.66; a fresh baseline cost £12.82</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1 of 3 with no rescue</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6 of 6 chose the AI note; 0 of 36 verdicts to us</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100" dirty="0">
                          <a:solidFill>
                            <a:srgbClr val="52656E"/>
                          </a:solidFill>
                          <a:latin typeface="Calibri" pitchFamily="34" charset="0"/>
                          <a:ea typeface="Calibri" pitchFamily="34" charset="-122"/>
                          <a:cs typeface="Calibri" pitchFamily="34" charset="-120"/>
                        </a:rPr>
                        <a:t>The stop rule fired; the claim narrowed to an evidence base and a checking instrument.</a:t>
                      </a:r>
                      <a:endParaRPr lang="en-US" sz="110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bl>
          </a:graphicData>
        </a:graphic>
      </p:graphicFrame>
      <p:sp>
        <p:nvSpPr>
          <p:cNvPr id="12" name="Shape 8"/>
          <p:cNvSpPr/>
          <p:nvPr/>
        </p:nvSpPr>
        <p:spPr>
          <a:xfrm>
            <a:off x="548640" y="4937760"/>
            <a:ext cx="11094415" cy="566928"/>
          </a:xfrm>
          <a:prstGeom prst="roundRect">
            <a:avLst>
              <a:gd name="adj" fmla="val 8065"/>
            </a:avLst>
          </a:prstGeom>
          <a:solidFill>
            <a:srgbClr val="E2F3F4"/>
          </a:solidFill>
          <a:ln w="9525">
            <a:solidFill>
              <a:srgbClr val="0F6673"/>
            </a:solidFill>
            <a:prstDash val="solid"/>
          </a:ln>
        </p:spPr>
      </p:sp>
      <p:sp>
        <p:nvSpPr>
          <p:cNvPr id="13" name="Text 9"/>
          <p:cNvSpPr txBox="1"/>
          <p:nvPr/>
        </p:nvSpPr>
        <p:spPr>
          <a:xfrm>
            <a:off x="749808" y="4974336"/>
            <a:ext cx="10692079" cy="493776"/>
          </a:xfrm>
          <a:prstGeom prst="rect">
            <a:avLst/>
          </a:prstGeom>
          <a:noFill/>
          <a:ln/>
        </p:spPr>
        <p:txBody>
          <a:bodyPr wrap="square" lIns="0" tIns="0" rIns="0" bIns="0" rtlCol="0" anchor="ctr"/>
          <a:lstStyle/>
          <a:p>
            <a:pPr indent="0" marL="0">
              <a:buNone/>
            </a:pPr>
            <a:r>
              <a:rPr lang="en-US" sz="1100" dirty="0">
                <a:solidFill>
                  <a:srgbClr val="15252E"/>
                </a:solidFill>
                <a:latin typeface="Calibri" pitchFamily="34" charset="0"/>
                <a:ea typeface="Calibri" pitchFamily="34" charset="-122"/>
                <a:cs typeface="Calibri" pitchFamily="34" charset="-120"/>
              </a:rPr>
              <a:t>Between rounds, 17 Sep: the bank path reached an approved M&amp;T report for £8.40, with 59 of 59 citations and revenue read correctly at $9,690m.</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APPENDIX · A6</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What due diligence will find, and our answer</a:t>
            </a:r>
            <a:endParaRPr lang="en-US" sz="2800" dirty="0"/>
          </a:p>
        </p:txBody>
      </p:sp>
      <p:sp>
        <p:nvSpPr>
          <p:cNvPr id="5" name="Shape 3"/>
          <p:cNvSpPr/>
          <p:nvPr/>
        </p:nvSpPr>
        <p:spPr>
          <a:xfrm>
            <a:off x="10624414" y="384048"/>
            <a:ext cx="1018642" cy="219456"/>
          </a:xfrm>
          <a:prstGeom prst="roundRect">
            <a:avLst>
              <a:gd name="adj" fmla="val 50000"/>
            </a:avLst>
          </a:prstGeom>
          <a:solidFill>
            <a:srgbClr val="7A4B00"/>
          </a:solidFill>
          <a:ln/>
        </p:spPr>
      </p:sp>
      <p:sp>
        <p:nvSpPr>
          <p:cNvPr id="6" name="Text 4"/>
          <p:cNvSpPr txBox="1"/>
          <p:nvPr/>
        </p:nvSpPr>
        <p:spPr>
          <a:xfrm>
            <a:off x="10624414" y="384048"/>
            <a:ext cx="1018642"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PLACEHOLDER</a:t>
            </a:r>
            <a:endParaRPr lang="en-US" sz="750" dirty="0"/>
          </a:p>
        </p:txBody>
      </p:sp>
      <p:sp>
        <p:nvSpPr>
          <p:cNvPr id="7" name="Shape 5"/>
          <p:cNvSpPr/>
          <p:nvPr/>
        </p:nvSpPr>
        <p:spPr>
          <a:xfrm>
            <a:off x="9717329" y="384048"/>
            <a:ext cx="815645" cy="219456"/>
          </a:xfrm>
          <a:prstGeom prst="roundRect">
            <a:avLst>
              <a:gd name="adj" fmla="val 50000"/>
            </a:avLst>
          </a:prstGeom>
          <a:solidFill>
            <a:srgbClr val="0F6673"/>
          </a:solidFill>
          <a:ln/>
        </p:spPr>
      </p:sp>
      <p:sp>
        <p:nvSpPr>
          <p:cNvPr id="8" name="Text 6"/>
          <p:cNvSpPr txBox="1"/>
          <p:nvPr/>
        </p:nvSpPr>
        <p:spPr>
          <a:xfrm>
            <a:off x="9717329"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52</a:t>
            </a:r>
            <a:endParaRPr lang="en-US" sz="8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5486400"/>
                <a:gridCol w="5605272"/>
              </a:tblGrid>
              <a:tr h="512064">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THEY WILL FIND</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c>
                  <a:txBody>
                    <a:bodyPr/>
                    <a:lstStyle/>
                    <a:p>
                      <a:pPr indent="0" marL="0">
                        <a:buNone/>
                      </a:pPr>
                      <a:r>
                        <a:rPr lang="en-US" sz="800" b="1" dirty="0">
                          <a:solidFill>
                            <a:srgbClr val="52656E"/>
                          </a:solidFill>
                          <a:latin typeface="Consolas" pitchFamily="34" charset="0"/>
                          <a:ea typeface="Consolas" pitchFamily="34" charset="-122"/>
                          <a:cs typeface="Consolas" pitchFamily="34" charset="-120"/>
                        </a:rPr>
                        <a:t>OUR ANSWER</a:t>
                      </a:r>
                      <a:endParaRPr lang="en-US" sz="800" dirty="0">
                        <a:latin typeface="Consolas" charset="0"/>
                        <a:ea typeface="Consolas" charset="0"/>
                        <a:cs typeface="Consolas" charset="0"/>
                      </a:endParaRPr>
                    </a:p>
                  </a:txBody>
                  <a:tcPr marL="73152" marR="73152" marT="45720" marB="45720" anchor="ctr">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EAF0F1"/>
                    </a:solidFill>
                  </a:tcPr>
                </a:tc>
              </a:tr>
              <a:tr h="512064">
                <a:tc>
                  <a:txBody>
                    <a:bodyPr/>
                    <a:lstStyle/>
                    <a:p>
                      <a:pPr indent="0" marL="0">
                        <a:buNone/>
                      </a:pPr>
                      <a:r>
                        <a:rPr lang="en-US" sz="1050" dirty="0">
                          <a:solidFill>
                            <a:srgbClr val="15252E"/>
                          </a:solidFill>
                          <a:latin typeface="Calibri" pitchFamily="34" charset="0"/>
                          <a:ea typeface="Calibri" pitchFamily="34" charset="-122"/>
                          <a:cs typeface="Calibri" pitchFamily="34" charset="-120"/>
                        </a:rPr>
                        <a:t>Model judges chose the general AI note in every comparison, and the stop rule fired</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We pre-registered it and published it. We claim the evidence base and the checking instrument, not the essay.</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15252E"/>
                          </a:solidFill>
                          <a:latin typeface="Calibri" pitchFamily="34" charset="0"/>
                          <a:ea typeface="Calibri" pitchFamily="34" charset="-122"/>
                          <a:cs typeface="Calibri" pitchFamily="34" charset="-120"/>
                        </a:rPr>
                        <a:t>In the latest round, 1 of 3 runs reached an approved report with no rescue; a refresh once lost its valuation</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Fixed in code per the plan; the re-measurement result: [PLACEHOLDER].</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15252E"/>
                          </a:solidFill>
                          <a:latin typeface="Calibri" pitchFamily="34" charset="0"/>
                          <a:ea typeface="Calibri" pitchFamily="34" charset="-122"/>
                          <a:cs typeface="Calibri" pitchFamily="34" charset="-120"/>
                        </a:rPr>
                        <a:t>The price-data plan is personal-use</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A commercial licence is in the use of funds: [PLACEHOLDER].</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15252E"/>
                          </a:solidFill>
                          <a:latin typeface="Calibri" pitchFamily="34" charset="0"/>
                          <a:ea typeface="Calibri" pitchFamily="34" charset="-122"/>
                          <a:cs typeface="Calibri" pitchFamily="34" charset="-120"/>
                        </a:rPr>
                        <a:t>London-listed companies are not covered</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Refused at the door by design, before any spend: [PLACEHOLDER: UK data plan].</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15252E"/>
                          </a:solidFill>
                          <a:latin typeface="Calibri" pitchFamily="34" charset="0"/>
                          <a:ea typeface="Calibri" pitchFamily="34" charset="-122"/>
                          <a:cs typeface="Calibri" pitchFamily="34" charset="-120"/>
                        </a:rPr>
                        <a:t>Single-user; multi-user deployment decided against; ADR 0012 names Claude as the only model provider</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Both are recorded decisions that a business reverses by a new record; F17 and F18 are designed for it.</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15252E"/>
                          </a:solidFill>
                          <a:latin typeface="Calibri" pitchFamily="34" charset="0"/>
                          <a:ea typeface="Calibri" pitchFamily="34" charset="-122"/>
                          <a:cs typeface="Calibri" pitchFamily="34" charset="-120"/>
                        </a:rPr>
                        <a:t>A redirect sent the Companies House key to a third-party host on 18 Sep 2026; the host refused the request</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The defect was fixed the same day; the key is rotated before any outside access: [PLACEHOLDER: date].</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15252E"/>
                          </a:solidFill>
                          <a:latin typeface="Calibri" pitchFamily="34" charset="0"/>
                          <a:ea typeface="Calibri" pitchFamily="34" charset="-122"/>
                          <a:cs typeface="Calibri" pitchFamily="34" charset="-120"/>
                        </a:rPr>
                        <a:t>The product has two names in the repository, and the code is MIT-licensed</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One name chosen; licence and IP settled before the round closes: [PLACEHOLDER].</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15252E"/>
                          </a:solidFill>
                          <a:latin typeface="Calibri" pitchFamily="34" charset="0"/>
                          <a:ea typeface="Calibri" pitchFamily="34" charset="-122"/>
                          <a:cs typeface="Calibri" pitchFamily="34" charset="-120"/>
                        </a:rPr>
                        <a:t>The judges were language models, and not blind</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c>
                  <a:txBody>
                    <a:bodyPr/>
                    <a:lstStyle/>
                    <a:p>
                      <a:pPr indent="0" marL="0">
                        <a:buNone/>
                      </a:pPr>
                      <a:r>
                        <a:rPr lang="en-US" sz="1050" dirty="0">
                          <a:solidFill>
                            <a:srgbClr val="52656E"/>
                          </a:solidFill>
                          <a:latin typeface="Calibri" pitchFamily="34" charset="0"/>
                          <a:ea typeface="Calibri" pitchFamily="34" charset="-122"/>
                          <a:cs typeface="Calibri" pitchFamily="34" charset="-120"/>
                        </a:rPr>
                        <a:t>Said on every slide that quotes them.</a:t>
                      </a:r>
                      <a:endParaRPr lang="en-US" sz="1050" dirty="0">
                        <a:latin typeface="Calibri" charset="0"/>
                        <a:ea typeface="Calibri" charset="0"/>
                        <a:cs typeface="Calibri" charset="0"/>
                      </a:endParaRPr>
                    </a:p>
                  </a:txBody>
                  <a:tcPr marL="73152" marR="73152" marT="45720" marB="45720" anchor="t">
                    <a:lnL w="9525" cap="flat" cmpd="sng" algn="ctr">
                      <a:solidFill>
                        <a:srgbClr val="CDD8DC"/>
                      </a:solidFill>
                      <a:prstDash val="solid"/>
                      <a:round/>
                      <a:headEnd type="none" w="med" len="med"/>
                      <a:tailEnd type="none" w="med" len="med"/>
                    </a:lnL>
                    <a:lnR w="9525" cap="flat" cmpd="sng" algn="ctr">
                      <a:solidFill>
                        <a:srgbClr val="CDD8DC"/>
                      </a:solidFill>
                      <a:prstDash val="solid"/>
                      <a:round/>
                      <a:headEnd type="none" w="med" len="med"/>
                      <a:tailEnd type="none" w="med" len="med"/>
                    </a:lnR>
                    <a:lnT w="9525" cap="flat" cmpd="sng" algn="ctr">
                      <a:solidFill>
                        <a:srgbClr val="CDD8DC"/>
                      </a:solidFill>
                      <a:prstDash val="solid"/>
                      <a:round/>
                      <a:headEnd type="none" w="med" len="med"/>
                      <a:tailEnd type="none" w="med" len="med"/>
                    </a:lnT>
                    <a:lnB w="9525" cap="flat" cmpd="sng" algn="ctr">
                      <a:solidFill>
                        <a:srgbClr val="CDD8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APPENDIX · A7</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Glossary</a:t>
            </a:r>
            <a:endParaRPr lang="en-US" sz="2800" dirty="0"/>
          </a:p>
        </p:txBody>
      </p:sp>
      <p:sp>
        <p:nvSpPr>
          <p:cNvPr id="5" name="Shape 3"/>
          <p:cNvSpPr/>
          <p:nvPr/>
        </p:nvSpPr>
        <p:spPr>
          <a:xfrm>
            <a:off x="10286086" y="384048"/>
            <a:ext cx="1356970" cy="219456"/>
          </a:xfrm>
          <a:prstGeom prst="roundRect">
            <a:avLst>
              <a:gd name="adj" fmla="val 50000"/>
            </a:avLst>
          </a:prstGeom>
          <a:solidFill>
            <a:srgbClr val="14613F"/>
          </a:solidFill>
          <a:ln/>
        </p:spPr>
      </p:sp>
      <p:sp>
        <p:nvSpPr>
          <p:cNvPr id="6" name="Text 4"/>
          <p:cNvSpPr txBox="1"/>
          <p:nvPr/>
        </p:nvSpPr>
        <p:spPr>
          <a:xfrm>
            <a:off x="10286086" y="384048"/>
            <a:ext cx="1356970"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READY · PER PLAN</a:t>
            </a:r>
            <a:endParaRPr lang="en-US" sz="750" dirty="0"/>
          </a:p>
        </p:txBody>
      </p:sp>
      <p:sp>
        <p:nvSpPr>
          <p:cNvPr id="7" name="Text 5"/>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8" name="Text 6"/>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53</a:t>
            </a:r>
            <a:endParaRPr lang="en-US" sz="800" dirty="0"/>
          </a:p>
        </p:txBody>
      </p:sp>
      <p:sp>
        <p:nvSpPr>
          <p:cNvPr id="10" name="Shape 7"/>
          <p:cNvSpPr/>
          <p:nvPr/>
        </p:nvSpPr>
        <p:spPr>
          <a:xfrm>
            <a:off x="548640" y="1463040"/>
            <a:ext cx="5410048" cy="676656"/>
          </a:xfrm>
          <a:prstGeom prst="roundRect">
            <a:avLst>
              <a:gd name="adj" fmla="val 6757"/>
            </a:avLst>
          </a:prstGeom>
          <a:solidFill>
            <a:srgbClr val="FFFFFF"/>
          </a:solidFill>
          <a:ln w="9525">
            <a:solidFill>
              <a:srgbClr val="CDD8DC"/>
            </a:solidFill>
            <a:prstDash val="solid"/>
          </a:ln>
        </p:spPr>
      </p:sp>
      <p:sp>
        <p:nvSpPr>
          <p:cNvPr id="11" name="Text 8"/>
          <p:cNvSpPr txBox="1"/>
          <p:nvPr/>
        </p:nvSpPr>
        <p:spPr>
          <a:xfrm>
            <a:off x="731520" y="1554480"/>
            <a:ext cx="1463040" cy="493776"/>
          </a:xfrm>
          <a:prstGeom prst="rect">
            <a:avLst/>
          </a:prstGeom>
          <a:noFill/>
          <a:ln/>
        </p:spPr>
        <p:txBody>
          <a:bodyPr wrap="square" lIns="0" tIns="0" rIns="0" bIns="0" rtlCol="0" anchor="ctr"/>
          <a:lstStyle/>
          <a:p>
            <a:pPr indent="0" marL="0">
              <a:buNone/>
            </a:pPr>
            <a:r>
              <a:rPr lang="en-US" sz="1200" b="1" dirty="0">
                <a:solidFill>
                  <a:srgbClr val="0F6673"/>
                </a:solidFill>
                <a:latin typeface="Calibri" pitchFamily="34" charset="0"/>
                <a:ea typeface="Calibri" pitchFamily="34" charset="-122"/>
                <a:cs typeface="Calibri" pitchFamily="34" charset="-120"/>
              </a:rPr>
              <a:t>Artefact</a:t>
            </a:r>
            <a:endParaRPr lang="en-US" sz="1200" dirty="0"/>
          </a:p>
        </p:txBody>
      </p:sp>
      <p:sp>
        <p:nvSpPr>
          <p:cNvPr id="12" name="Text 9"/>
          <p:cNvSpPr txBox="1"/>
          <p:nvPr/>
        </p:nvSpPr>
        <p:spPr>
          <a:xfrm>
            <a:off x="2240280" y="1536192"/>
            <a:ext cx="3581248" cy="530352"/>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A fetched document, stored by the hash of its bytes and never changed.</a:t>
            </a:r>
            <a:endParaRPr lang="en-US" sz="1050" dirty="0"/>
          </a:p>
        </p:txBody>
      </p:sp>
      <p:sp>
        <p:nvSpPr>
          <p:cNvPr id="13" name="Shape 10"/>
          <p:cNvSpPr/>
          <p:nvPr/>
        </p:nvSpPr>
        <p:spPr>
          <a:xfrm>
            <a:off x="548640" y="2231136"/>
            <a:ext cx="5410048" cy="676656"/>
          </a:xfrm>
          <a:prstGeom prst="roundRect">
            <a:avLst>
              <a:gd name="adj" fmla="val 6757"/>
            </a:avLst>
          </a:prstGeom>
          <a:solidFill>
            <a:srgbClr val="FFFFFF"/>
          </a:solidFill>
          <a:ln w="9525">
            <a:solidFill>
              <a:srgbClr val="CDD8DC"/>
            </a:solidFill>
            <a:prstDash val="solid"/>
          </a:ln>
        </p:spPr>
      </p:sp>
      <p:sp>
        <p:nvSpPr>
          <p:cNvPr id="14" name="Text 11"/>
          <p:cNvSpPr txBox="1"/>
          <p:nvPr/>
        </p:nvSpPr>
        <p:spPr>
          <a:xfrm>
            <a:off x="731520" y="2322576"/>
            <a:ext cx="1463040" cy="493776"/>
          </a:xfrm>
          <a:prstGeom prst="rect">
            <a:avLst/>
          </a:prstGeom>
          <a:noFill/>
          <a:ln/>
        </p:spPr>
        <p:txBody>
          <a:bodyPr wrap="square" lIns="0" tIns="0" rIns="0" bIns="0" rtlCol="0" anchor="ctr"/>
          <a:lstStyle/>
          <a:p>
            <a:pPr indent="0" marL="0">
              <a:buNone/>
            </a:pPr>
            <a:r>
              <a:rPr lang="en-US" sz="1200" b="1" dirty="0">
                <a:solidFill>
                  <a:srgbClr val="0F6673"/>
                </a:solidFill>
                <a:latin typeface="Calibri" pitchFamily="34" charset="0"/>
                <a:ea typeface="Calibri" pitchFamily="34" charset="-122"/>
                <a:cs typeface="Calibri" pitchFamily="34" charset="-120"/>
              </a:rPr>
              <a:t>Citation</a:t>
            </a:r>
            <a:endParaRPr lang="en-US" sz="1200" dirty="0"/>
          </a:p>
        </p:txBody>
      </p:sp>
      <p:sp>
        <p:nvSpPr>
          <p:cNvPr id="15" name="Text 12"/>
          <p:cNvSpPr txBox="1"/>
          <p:nvPr/>
        </p:nvSpPr>
        <p:spPr>
          <a:xfrm>
            <a:off x="2240280" y="2304288"/>
            <a:ext cx="3581248" cy="530352"/>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A claim’s pointer into an artefact. The model may propose one; only code confirms it.</a:t>
            </a:r>
            <a:endParaRPr lang="en-US" sz="1050" dirty="0"/>
          </a:p>
        </p:txBody>
      </p:sp>
      <p:sp>
        <p:nvSpPr>
          <p:cNvPr id="16" name="Shape 13"/>
          <p:cNvSpPr/>
          <p:nvPr/>
        </p:nvSpPr>
        <p:spPr>
          <a:xfrm>
            <a:off x="548640" y="2999232"/>
            <a:ext cx="5410048" cy="676656"/>
          </a:xfrm>
          <a:prstGeom prst="roundRect">
            <a:avLst>
              <a:gd name="adj" fmla="val 6757"/>
            </a:avLst>
          </a:prstGeom>
          <a:solidFill>
            <a:srgbClr val="FFFFFF"/>
          </a:solidFill>
          <a:ln w="9525">
            <a:solidFill>
              <a:srgbClr val="CDD8DC"/>
            </a:solidFill>
            <a:prstDash val="solid"/>
          </a:ln>
        </p:spPr>
      </p:sp>
      <p:sp>
        <p:nvSpPr>
          <p:cNvPr id="17" name="Text 14"/>
          <p:cNvSpPr txBox="1"/>
          <p:nvPr/>
        </p:nvSpPr>
        <p:spPr>
          <a:xfrm>
            <a:off x="731520" y="3090672"/>
            <a:ext cx="1463040" cy="493776"/>
          </a:xfrm>
          <a:prstGeom prst="rect">
            <a:avLst/>
          </a:prstGeom>
          <a:noFill/>
          <a:ln/>
        </p:spPr>
        <p:txBody>
          <a:bodyPr wrap="square" lIns="0" tIns="0" rIns="0" bIns="0" rtlCol="0" anchor="ctr"/>
          <a:lstStyle/>
          <a:p>
            <a:pPr indent="0" marL="0">
              <a:buNone/>
            </a:pPr>
            <a:r>
              <a:rPr lang="en-US" sz="1200" b="1" dirty="0">
                <a:solidFill>
                  <a:srgbClr val="0F6673"/>
                </a:solidFill>
                <a:latin typeface="Calibri" pitchFamily="34" charset="0"/>
                <a:ea typeface="Calibri" pitchFamily="34" charset="-122"/>
                <a:cs typeface="Calibri" pitchFamily="34" charset="-120"/>
              </a:rPr>
              <a:t>Calculation</a:t>
            </a:r>
            <a:endParaRPr lang="en-US" sz="1200" dirty="0"/>
          </a:p>
        </p:txBody>
      </p:sp>
      <p:sp>
        <p:nvSpPr>
          <p:cNvPr id="18" name="Text 15"/>
          <p:cNvSpPr txBox="1"/>
          <p:nvPr/>
        </p:nvSpPr>
        <p:spPr>
          <a:xfrm>
            <a:off x="2240280" y="3072384"/>
            <a:ext cx="3581248" cy="530352"/>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A recorded computation: its formula, inputs with units and sources, and the code version.</a:t>
            </a:r>
            <a:endParaRPr lang="en-US" sz="1050" dirty="0"/>
          </a:p>
        </p:txBody>
      </p:sp>
      <p:sp>
        <p:nvSpPr>
          <p:cNvPr id="19" name="Shape 16"/>
          <p:cNvSpPr/>
          <p:nvPr/>
        </p:nvSpPr>
        <p:spPr>
          <a:xfrm>
            <a:off x="548640" y="3767328"/>
            <a:ext cx="5410048" cy="676656"/>
          </a:xfrm>
          <a:prstGeom prst="roundRect">
            <a:avLst>
              <a:gd name="adj" fmla="val 6757"/>
            </a:avLst>
          </a:prstGeom>
          <a:solidFill>
            <a:srgbClr val="FFFFFF"/>
          </a:solidFill>
          <a:ln w="9525">
            <a:solidFill>
              <a:srgbClr val="CDD8DC"/>
            </a:solidFill>
            <a:prstDash val="solid"/>
          </a:ln>
        </p:spPr>
      </p:sp>
      <p:sp>
        <p:nvSpPr>
          <p:cNvPr id="20" name="Text 17"/>
          <p:cNvSpPr txBox="1"/>
          <p:nvPr/>
        </p:nvSpPr>
        <p:spPr>
          <a:xfrm>
            <a:off x="731520" y="3858768"/>
            <a:ext cx="1463040" cy="493776"/>
          </a:xfrm>
          <a:prstGeom prst="rect">
            <a:avLst/>
          </a:prstGeom>
          <a:noFill/>
          <a:ln/>
        </p:spPr>
        <p:txBody>
          <a:bodyPr wrap="square" lIns="0" tIns="0" rIns="0" bIns="0" rtlCol="0" anchor="ctr"/>
          <a:lstStyle/>
          <a:p>
            <a:pPr indent="0" marL="0">
              <a:buNone/>
            </a:pPr>
            <a:r>
              <a:rPr lang="en-US" sz="1200" b="1" dirty="0">
                <a:solidFill>
                  <a:srgbClr val="0F6673"/>
                </a:solidFill>
                <a:latin typeface="Calibri" pitchFamily="34" charset="0"/>
                <a:ea typeface="Calibri" pitchFamily="34" charset="-122"/>
                <a:cs typeface="Calibri" pitchFamily="34" charset="-120"/>
              </a:rPr>
              <a:t>Attestation</a:t>
            </a:r>
            <a:endParaRPr lang="en-US" sz="1200" dirty="0"/>
          </a:p>
        </p:txBody>
      </p:sp>
      <p:sp>
        <p:nvSpPr>
          <p:cNvPr id="21" name="Text 18"/>
          <p:cNvSpPr txBox="1"/>
          <p:nvPr/>
        </p:nvSpPr>
        <p:spPr>
          <a:xfrm>
            <a:off x="2240280" y="3840480"/>
            <a:ext cx="3581248" cy="530352"/>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What the operator says about their own book, such as a holding or a fill. It never reaches a shareable page.</a:t>
            </a:r>
            <a:endParaRPr lang="en-US" sz="1050" dirty="0"/>
          </a:p>
        </p:txBody>
      </p:sp>
      <p:sp>
        <p:nvSpPr>
          <p:cNvPr id="22" name="Shape 19"/>
          <p:cNvSpPr/>
          <p:nvPr/>
        </p:nvSpPr>
        <p:spPr>
          <a:xfrm>
            <a:off x="548640" y="4535424"/>
            <a:ext cx="5410048" cy="676656"/>
          </a:xfrm>
          <a:prstGeom prst="roundRect">
            <a:avLst>
              <a:gd name="adj" fmla="val 6757"/>
            </a:avLst>
          </a:prstGeom>
          <a:solidFill>
            <a:srgbClr val="FFFFFF"/>
          </a:solidFill>
          <a:ln w="9525">
            <a:solidFill>
              <a:srgbClr val="CDD8DC"/>
            </a:solidFill>
            <a:prstDash val="solid"/>
          </a:ln>
        </p:spPr>
      </p:sp>
      <p:sp>
        <p:nvSpPr>
          <p:cNvPr id="23" name="Text 20"/>
          <p:cNvSpPr txBox="1"/>
          <p:nvPr/>
        </p:nvSpPr>
        <p:spPr>
          <a:xfrm>
            <a:off x="731520" y="4626864"/>
            <a:ext cx="1463040" cy="493776"/>
          </a:xfrm>
          <a:prstGeom prst="rect">
            <a:avLst/>
          </a:prstGeom>
          <a:noFill/>
          <a:ln/>
        </p:spPr>
        <p:txBody>
          <a:bodyPr wrap="square" lIns="0" tIns="0" rIns="0" bIns="0" rtlCol="0" anchor="ctr"/>
          <a:lstStyle/>
          <a:p>
            <a:pPr indent="0" marL="0">
              <a:buNone/>
            </a:pPr>
            <a:r>
              <a:rPr lang="en-US" sz="1200" b="1" dirty="0">
                <a:solidFill>
                  <a:srgbClr val="0F6673"/>
                </a:solidFill>
                <a:latin typeface="Calibri" pitchFamily="34" charset="0"/>
                <a:ea typeface="Calibri" pitchFamily="34" charset="-122"/>
                <a:cs typeface="Calibri" pitchFamily="34" charset="-120"/>
              </a:rPr>
              <a:t>Gate</a:t>
            </a:r>
            <a:endParaRPr lang="en-US" sz="1200" dirty="0"/>
          </a:p>
        </p:txBody>
      </p:sp>
      <p:sp>
        <p:nvSpPr>
          <p:cNvPr id="24" name="Text 21"/>
          <p:cNvSpPr txBox="1"/>
          <p:nvPr/>
        </p:nvSpPr>
        <p:spPr>
          <a:xfrm>
            <a:off x="2240280" y="4608576"/>
            <a:ext cx="3581248" cy="530352"/>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A point where the run stops for a human decision, with the consequence stated.</a:t>
            </a:r>
            <a:endParaRPr lang="en-US" sz="1050" dirty="0"/>
          </a:p>
        </p:txBody>
      </p:sp>
      <p:sp>
        <p:nvSpPr>
          <p:cNvPr id="25" name="Shape 22"/>
          <p:cNvSpPr/>
          <p:nvPr/>
        </p:nvSpPr>
        <p:spPr>
          <a:xfrm>
            <a:off x="548640" y="5303520"/>
            <a:ext cx="5410048" cy="676656"/>
          </a:xfrm>
          <a:prstGeom prst="roundRect">
            <a:avLst>
              <a:gd name="adj" fmla="val 6757"/>
            </a:avLst>
          </a:prstGeom>
          <a:solidFill>
            <a:srgbClr val="FFFFFF"/>
          </a:solidFill>
          <a:ln w="9525">
            <a:solidFill>
              <a:srgbClr val="CDD8DC"/>
            </a:solidFill>
            <a:prstDash val="solid"/>
          </a:ln>
        </p:spPr>
      </p:sp>
      <p:sp>
        <p:nvSpPr>
          <p:cNvPr id="26" name="Text 23"/>
          <p:cNvSpPr txBox="1"/>
          <p:nvPr/>
        </p:nvSpPr>
        <p:spPr>
          <a:xfrm>
            <a:off x="731520" y="5394960"/>
            <a:ext cx="1463040" cy="493776"/>
          </a:xfrm>
          <a:prstGeom prst="rect">
            <a:avLst/>
          </a:prstGeom>
          <a:noFill/>
          <a:ln/>
        </p:spPr>
        <p:txBody>
          <a:bodyPr wrap="square" lIns="0" tIns="0" rIns="0" bIns="0" rtlCol="0" anchor="ctr"/>
          <a:lstStyle/>
          <a:p>
            <a:pPr indent="0" marL="0">
              <a:buNone/>
            </a:pPr>
            <a:r>
              <a:rPr lang="en-US" sz="1200" b="1" dirty="0">
                <a:solidFill>
                  <a:srgbClr val="0F6673"/>
                </a:solidFill>
                <a:latin typeface="Calibri" pitchFamily="34" charset="0"/>
                <a:ea typeface="Calibri" pitchFamily="34" charset="-122"/>
                <a:cs typeface="Calibri" pitchFamily="34" charset="-120"/>
              </a:rPr>
              <a:t>Premise</a:t>
            </a:r>
            <a:endParaRPr lang="en-US" sz="1200" dirty="0"/>
          </a:p>
        </p:txBody>
      </p:sp>
      <p:sp>
        <p:nvSpPr>
          <p:cNvPr id="27" name="Text 24"/>
          <p:cNvSpPr txBox="1"/>
          <p:nvPr/>
        </p:nvSpPr>
        <p:spPr>
          <a:xfrm>
            <a:off x="2240280" y="5376672"/>
            <a:ext cx="3581248" cy="530352"/>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One sentence of a thesis, with the test that would defeat it or a date to look again.</a:t>
            </a:r>
            <a:endParaRPr lang="en-US" sz="1050" dirty="0"/>
          </a:p>
        </p:txBody>
      </p:sp>
      <p:sp>
        <p:nvSpPr>
          <p:cNvPr id="28" name="Shape 25"/>
          <p:cNvSpPr/>
          <p:nvPr/>
        </p:nvSpPr>
        <p:spPr>
          <a:xfrm>
            <a:off x="6233008" y="1463040"/>
            <a:ext cx="5410048" cy="676656"/>
          </a:xfrm>
          <a:prstGeom prst="roundRect">
            <a:avLst>
              <a:gd name="adj" fmla="val 6757"/>
            </a:avLst>
          </a:prstGeom>
          <a:solidFill>
            <a:srgbClr val="FFFFFF"/>
          </a:solidFill>
          <a:ln w="9525">
            <a:solidFill>
              <a:srgbClr val="CDD8DC"/>
            </a:solidFill>
            <a:prstDash val="solid"/>
          </a:ln>
        </p:spPr>
      </p:sp>
      <p:sp>
        <p:nvSpPr>
          <p:cNvPr id="29" name="Text 26"/>
          <p:cNvSpPr txBox="1"/>
          <p:nvPr/>
        </p:nvSpPr>
        <p:spPr>
          <a:xfrm>
            <a:off x="6415888" y="1554480"/>
            <a:ext cx="1463040" cy="493776"/>
          </a:xfrm>
          <a:prstGeom prst="rect">
            <a:avLst/>
          </a:prstGeom>
          <a:noFill/>
          <a:ln/>
        </p:spPr>
        <p:txBody>
          <a:bodyPr wrap="square" lIns="0" tIns="0" rIns="0" bIns="0" rtlCol="0" anchor="ctr"/>
          <a:lstStyle/>
          <a:p>
            <a:pPr indent="0" marL="0">
              <a:buNone/>
            </a:pPr>
            <a:r>
              <a:rPr lang="en-US" sz="1200" b="1" dirty="0">
                <a:solidFill>
                  <a:srgbClr val="0F6673"/>
                </a:solidFill>
                <a:latin typeface="Calibri" pitchFamily="34" charset="0"/>
                <a:ea typeface="Calibri" pitchFamily="34" charset="-122"/>
                <a:cs typeface="Calibri" pitchFamily="34" charset="-120"/>
              </a:rPr>
              <a:t>Thesis</a:t>
            </a:r>
            <a:endParaRPr lang="en-US" sz="1200" dirty="0"/>
          </a:p>
        </p:txBody>
      </p:sp>
      <p:sp>
        <p:nvSpPr>
          <p:cNvPr id="30" name="Text 27"/>
          <p:cNvSpPr txBox="1"/>
          <p:nvPr/>
        </p:nvSpPr>
        <p:spPr>
          <a:xfrm>
            <a:off x="7924648" y="1536192"/>
            <a:ext cx="3581248" cy="530352"/>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What the operator believes about a company: a set of premises, revised and never erased.</a:t>
            </a:r>
            <a:endParaRPr lang="en-US" sz="1050" dirty="0"/>
          </a:p>
        </p:txBody>
      </p:sp>
      <p:sp>
        <p:nvSpPr>
          <p:cNvPr id="31" name="Shape 28"/>
          <p:cNvSpPr/>
          <p:nvPr/>
        </p:nvSpPr>
        <p:spPr>
          <a:xfrm>
            <a:off x="6233008" y="2231136"/>
            <a:ext cx="5410048" cy="676656"/>
          </a:xfrm>
          <a:prstGeom prst="roundRect">
            <a:avLst>
              <a:gd name="adj" fmla="val 6757"/>
            </a:avLst>
          </a:prstGeom>
          <a:solidFill>
            <a:srgbClr val="FFFFFF"/>
          </a:solidFill>
          <a:ln w="9525">
            <a:solidFill>
              <a:srgbClr val="CDD8DC"/>
            </a:solidFill>
            <a:prstDash val="solid"/>
          </a:ln>
        </p:spPr>
      </p:sp>
      <p:sp>
        <p:nvSpPr>
          <p:cNvPr id="32" name="Text 29"/>
          <p:cNvSpPr txBox="1"/>
          <p:nvPr/>
        </p:nvSpPr>
        <p:spPr>
          <a:xfrm>
            <a:off x="6415888" y="2322576"/>
            <a:ext cx="1463040" cy="493776"/>
          </a:xfrm>
          <a:prstGeom prst="rect">
            <a:avLst/>
          </a:prstGeom>
          <a:noFill/>
          <a:ln/>
        </p:spPr>
        <p:txBody>
          <a:bodyPr wrap="square" lIns="0" tIns="0" rIns="0" bIns="0" rtlCol="0" anchor="ctr"/>
          <a:lstStyle/>
          <a:p>
            <a:pPr indent="0" marL="0">
              <a:buNone/>
            </a:pPr>
            <a:r>
              <a:rPr lang="en-US" sz="1200" b="1" dirty="0">
                <a:solidFill>
                  <a:srgbClr val="0F6673"/>
                </a:solidFill>
                <a:latin typeface="Calibri" pitchFamily="34" charset="0"/>
                <a:ea typeface="Calibri" pitchFamily="34" charset="-122"/>
                <a:cs typeface="Calibri" pitchFamily="34" charset="-120"/>
              </a:rPr>
              <a:t>Decision</a:t>
            </a:r>
            <a:endParaRPr lang="en-US" sz="1200" dirty="0"/>
          </a:p>
        </p:txBody>
      </p:sp>
      <p:sp>
        <p:nvSpPr>
          <p:cNvPr id="33" name="Text 30"/>
          <p:cNvSpPr txBox="1"/>
          <p:nvPr/>
        </p:nvSpPr>
        <p:spPr>
          <a:xfrm>
            <a:off x="7924648" y="2304288"/>
            <a:ext cx="3581248" cy="530352"/>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Add, open, trim, exit or pass, linked to a thesis and a report, written before the outcome.</a:t>
            </a:r>
            <a:endParaRPr lang="en-US" sz="1050" dirty="0"/>
          </a:p>
        </p:txBody>
      </p:sp>
      <p:sp>
        <p:nvSpPr>
          <p:cNvPr id="34" name="Shape 31"/>
          <p:cNvSpPr/>
          <p:nvPr/>
        </p:nvSpPr>
        <p:spPr>
          <a:xfrm>
            <a:off x="6233008" y="2999232"/>
            <a:ext cx="5410048" cy="676656"/>
          </a:xfrm>
          <a:prstGeom prst="roundRect">
            <a:avLst>
              <a:gd name="adj" fmla="val 6757"/>
            </a:avLst>
          </a:prstGeom>
          <a:solidFill>
            <a:srgbClr val="FFFFFF"/>
          </a:solidFill>
          <a:ln w="9525">
            <a:solidFill>
              <a:srgbClr val="CDD8DC"/>
            </a:solidFill>
            <a:prstDash val="solid"/>
          </a:ln>
        </p:spPr>
      </p:sp>
      <p:sp>
        <p:nvSpPr>
          <p:cNvPr id="35" name="Text 32"/>
          <p:cNvSpPr txBox="1"/>
          <p:nvPr/>
        </p:nvSpPr>
        <p:spPr>
          <a:xfrm>
            <a:off x="6415888" y="3090672"/>
            <a:ext cx="1463040" cy="493776"/>
          </a:xfrm>
          <a:prstGeom prst="rect">
            <a:avLst/>
          </a:prstGeom>
          <a:noFill/>
          <a:ln/>
        </p:spPr>
        <p:txBody>
          <a:bodyPr wrap="square" lIns="0" tIns="0" rIns="0" bIns="0" rtlCol="0" anchor="ctr"/>
          <a:lstStyle/>
          <a:p>
            <a:pPr indent="0" marL="0">
              <a:buNone/>
            </a:pPr>
            <a:r>
              <a:rPr lang="en-US" sz="1200" b="1" dirty="0">
                <a:solidFill>
                  <a:srgbClr val="0F6673"/>
                </a:solidFill>
                <a:latin typeface="Calibri" pitchFamily="34" charset="0"/>
                <a:ea typeface="Calibri" pitchFamily="34" charset="-122"/>
                <a:cs typeface="Calibri" pitchFamily="34" charset="-120"/>
              </a:rPr>
              <a:t>Refresh</a:t>
            </a:r>
            <a:endParaRPr lang="en-US" sz="1200" dirty="0"/>
          </a:p>
        </p:txBody>
      </p:sp>
      <p:sp>
        <p:nvSpPr>
          <p:cNvPr id="36" name="Text 33"/>
          <p:cNvSpPr txBox="1"/>
          <p:nvPr/>
        </p:nvSpPr>
        <p:spPr>
          <a:xfrm>
            <a:off x="7924648" y="3072384"/>
            <a:ext cx="3581248" cy="530352"/>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A second run that reads what is new, recomputes everything and re-drafts what moved.</a:t>
            </a:r>
            <a:endParaRPr lang="en-US" sz="1050" dirty="0"/>
          </a:p>
        </p:txBody>
      </p:sp>
      <p:sp>
        <p:nvSpPr>
          <p:cNvPr id="37" name="Shape 34"/>
          <p:cNvSpPr/>
          <p:nvPr/>
        </p:nvSpPr>
        <p:spPr>
          <a:xfrm>
            <a:off x="6233008" y="3767328"/>
            <a:ext cx="5410048" cy="676656"/>
          </a:xfrm>
          <a:prstGeom prst="roundRect">
            <a:avLst>
              <a:gd name="adj" fmla="val 6757"/>
            </a:avLst>
          </a:prstGeom>
          <a:solidFill>
            <a:srgbClr val="FFFFFF"/>
          </a:solidFill>
          <a:ln w="9525">
            <a:solidFill>
              <a:srgbClr val="CDD8DC"/>
            </a:solidFill>
            <a:prstDash val="solid"/>
          </a:ln>
        </p:spPr>
      </p:sp>
      <p:sp>
        <p:nvSpPr>
          <p:cNvPr id="38" name="Text 35"/>
          <p:cNvSpPr txBox="1"/>
          <p:nvPr/>
        </p:nvSpPr>
        <p:spPr>
          <a:xfrm>
            <a:off x="6415888" y="3858768"/>
            <a:ext cx="1463040" cy="493776"/>
          </a:xfrm>
          <a:prstGeom prst="rect">
            <a:avLst/>
          </a:prstGeom>
          <a:noFill/>
          <a:ln/>
        </p:spPr>
        <p:txBody>
          <a:bodyPr wrap="square" lIns="0" tIns="0" rIns="0" bIns="0" rtlCol="0" anchor="ctr"/>
          <a:lstStyle/>
          <a:p>
            <a:pPr indent="0" marL="0">
              <a:buNone/>
            </a:pPr>
            <a:r>
              <a:rPr lang="en-US" sz="1200" b="1" dirty="0">
                <a:solidFill>
                  <a:srgbClr val="0F6673"/>
                </a:solidFill>
                <a:latin typeface="Calibri" pitchFamily="34" charset="0"/>
                <a:ea typeface="Calibri" pitchFamily="34" charset="-122"/>
                <a:cs typeface="Calibri" pitchFamily="34" charset="-120"/>
              </a:rPr>
              <a:t>Ask tiers</a:t>
            </a:r>
            <a:endParaRPr lang="en-US" sz="1200" dirty="0"/>
          </a:p>
        </p:txBody>
      </p:sp>
      <p:sp>
        <p:nvSpPr>
          <p:cNvPr id="39" name="Text 36"/>
          <p:cNvSpPr txBox="1"/>
          <p:nvPr/>
        </p:nvSpPr>
        <p:spPr>
          <a:xfrm>
            <a:off x="7924648" y="3840480"/>
            <a:ext cx="3581248" cy="530352"/>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Recompute (free), re-read (pennies), research (priced and approved first).</a:t>
            </a:r>
            <a:endParaRPr lang="en-US" sz="1050" dirty="0"/>
          </a:p>
        </p:txBody>
      </p:sp>
      <p:sp>
        <p:nvSpPr>
          <p:cNvPr id="40" name="Shape 37"/>
          <p:cNvSpPr/>
          <p:nvPr/>
        </p:nvSpPr>
        <p:spPr>
          <a:xfrm>
            <a:off x="6233008" y="4535424"/>
            <a:ext cx="5410048" cy="676656"/>
          </a:xfrm>
          <a:prstGeom prst="roundRect">
            <a:avLst>
              <a:gd name="adj" fmla="val 6757"/>
            </a:avLst>
          </a:prstGeom>
          <a:solidFill>
            <a:srgbClr val="FFFFFF"/>
          </a:solidFill>
          <a:ln w="9525">
            <a:solidFill>
              <a:srgbClr val="CDD8DC"/>
            </a:solidFill>
            <a:prstDash val="solid"/>
          </a:ln>
        </p:spPr>
      </p:sp>
      <p:sp>
        <p:nvSpPr>
          <p:cNvPr id="41" name="Text 38"/>
          <p:cNvSpPr txBox="1"/>
          <p:nvPr/>
        </p:nvSpPr>
        <p:spPr>
          <a:xfrm>
            <a:off x="6415888" y="4626864"/>
            <a:ext cx="1463040" cy="493776"/>
          </a:xfrm>
          <a:prstGeom prst="rect">
            <a:avLst/>
          </a:prstGeom>
          <a:noFill/>
          <a:ln/>
        </p:spPr>
        <p:txBody>
          <a:bodyPr wrap="square" lIns="0" tIns="0" rIns="0" bIns="0" rtlCol="0" anchor="ctr"/>
          <a:lstStyle/>
          <a:p>
            <a:pPr indent="0" marL="0">
              <a:buNone/>
            </a:pPr>
            <a:r>
              <a:rPr lang="en-US" sz="1200" b="1" dirty="0">
                <a:solidFill>
                  <a:srgbClr val="0F6673"/>
                </a:solidFill>
                <a:latin typeface="Calibri" pitchFamily="34" charset="0"/>
                <a:ea typeface="Calibri" pitchFamily="34" charset="-122"/>
                <a:cs typeface="Calibri" pitchFamily="34" charset="-120"/>
              </a:rPr>
              <a:t>Skill file</a:t>
            </a:r>
            <a:endParaRPr lang="en-US" sz="1200" dirty="0"/>
          </a:p>
        </p:txBody>
      </p:sp>
      <p:sp>
        <p:nvSpPr>
          <p:cNvPr id="42" name="Text 39"/>
          <p:cNvSpPr txBox="1"/>
          <p:nvPr/>
        </p:nvSpPr>
        <p:spPr>
          <a:xfrm>
            <a:off x="7924648" y="4608576"/>
            <a:ext cx="3581248" cy="530352"/>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A report method in plain language. It can add requirements, never relax one.</a:t>
            </a:r>
            <a:endParaRPr lang="en-US" sz="1050" dirty="0"/>
          </a:p>
        </p:txBody>
      </p:sp>
      <p:sp>
        <p:nvSpPr>
          <p:cNvPr id="43" name="Shape 40"/>
          <p:cNvSpPr/>
          <p:nvPr/>
        </p:nvSpPr>
        <p:spPr>
          <a:xfrm>
            <a:off x="6233008" y="5303520"/>
            <a:ext cx="5410048" cy="676656"/>
          </a:xfrm>
          <a:prstGeom prst="roundRect">
            <a:avLst>
              <a:gd name="adj" fmla="val 6757"/>
            </a:avLst>
          </a:prstGeom>
          <a:solidFill>
            <a:srgbClr val="FFFFFF"/>
          </a:solidFill>
          <a:ln w="9525">
            <a:solidFill>
              <a:srgbClr val="CDD8DC"/>
            </a:solidFill>
            <a:prstDash val="solid"/>
          </a:ln>
        </p:spPr>
      </p:sp>
      <p:sp>
        <p:nvSpPr>
          <p:cNvPr id="44" name="Text 41"/>
          <p:cNvSpPr txBox="1"/>
          <p:nvPr/>
        </p:nvSpPr>
        <p:spPr>
          <a:xfrm>
            <a:off x="6415888" y="5394960"/>
            <a:ext cx="1463040" cy="493776"/>
          </a:xfrm>
          <a:prstGeom prst="rect">
            <a:avLst/>
          </a:prstGeom>
          <a:noFill/>
          <a:ln/>
        </p:spPr>
        <p:txBody>
          <a:bodyPr wrap="square" lIns="0" tIns="0" rIns="0" bIns="0" rtlCol="0" anchor="ctr"/>
          <a:lstStyle/>
          <a:p>
            <a:pPr indent="0" marL="0">
              <a:buNone/>
            </a:pPr>
            <a:r>
              <a:rPr lang="en-US" sz="1200" b="1" dirty="0">
                <a:solidFill>
                  <a:srgbClr val="0F6673"/>
                </a:solidFill>
                <a:latin typeface="Calibri" pitchFamily="34" charset="0"/>
                <a:ea typeface="Calibri" pitchFamily="34" charset="-122"/>
                <a:cs typeface="Calibri" pitchFamily="34" charset="-120"/>
              </a:rPr>
              <a:t>ADR</a:t>
            </a:r>
            <a:endParaRPr lang="en-US" sz="1200" dirty="0"/>
          </a:p>
        </p:txBody>
      </p:sp>
      <p:sp>
        <p:nvSpPr>
          <p:cNvPr id="45" name="Text 42"/>
          <p:cNvSpPr txBox="1"/>
          <p:nvPr/>
        </p:nvSpPr>
        <p:spPr>
          <a:xfrm>
            <a:off x="7924648" y="5376672"/>
            <a:ext cx="3581248" cy="530352"/>
          </a:xfrm>
          <a:prstGeom prst="rect">
            <a:avLst/>
          </a:prstGeom>
          <a:noFill/>
          <a:ln/>
        </p:spPr>
        <p:txBody>
          <a:bodyPr wrap="square" lIns="0" tIns="0" rIns="0" bIns="0" rtlCol="0" anchor="ctr"/>
          <a:lstStyle/>
          <a:p>
            <a:pPr indent="0" marL="0">
              <a:buNone/>
            </a:pPr>
            <a:r>
              <a:rPr lang="en-US" sz="1050" dirty="0">
                <a:solidFill>
                  <a:srgbClr val="15252E"/>
                </a:solidFill>
                <a:latin typeface="Calibri" pitchFamily="34" charset="0"/>
                <a:ea typeface="Calibri" pitchFamily="34" charset="-122"/>
                <a:cs typeface="Calibri" pitchFamily="34" charset="-120"/>
              </a:rPr>
              <a:t>An architecture decision record: a claim with its reasons, immutable once accepted.</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548640" y="434340"/>
            <a:ext cx="118872" cy="118872"/>
          </a:xfrm>
          <a:prstGeom prst="ellipse">
            <a:avLst/>
          </a:prstGeom>
          <a:solidFill>
            <a:srgbClr val="F4F7F8"/>
          </a:solidFill>
          <a:ln w="19050">
            <a:solidFill>
              <a:srgbClr val="0F6673"/>
            </a:solidFill>
            <a:prstDash val="solid"/>
          </a:ln>
        </p:spPr>
      </p:sp>
      <p:sp>
        <p:nvSpPr>
          <p:cNvPr id="3" name="Text 1"/>
          <p:cNvSpPr txBox="1"/>
          <p:nvPr/>
        </p:nvSpPr>
        <p:spPr>
          <a:xfrm>
            <a:off x="768096" y="384048"/>
            <a:ext cx="8138160" cy="219456"/>
          </a:xfrm>
          <a:prstGeom prst="rect">
            <a:avLst/>
          </a:prstGeom>
          <a:noFill/>
          <a:ln/>
        </p:spPr>
        <p:txBody>
          <a:bodyPr wrap="square" lIns="0" tIns="0" rIns="0" bIns="0" rtlCol="0" anchor="ctr"/>
          <a:lstStyle/>
          <a:p>
            <a:pPr indent="0" marL="0">
              <a:buNone/>
            </a:pPr>
            <a:r>
              <a:rPr lang="en-US" sz="1000" b="1" spc="150" kern="0" dirty="0">
                <a:solidFill>
                  <a:srgbClr val="0F6673"/>
                </a:solidFill>
                <a:latin typeface="Consolas" pitchFamily="34" charset="0"/>
                <a:ea typeface="Consolas" pitchFamily="34" charset="-122"/>
                <a:cs typeface="Consolas" pitchFamily="34" charset="-120"/>
              </a:rPr>
              <a:t>APPENDIX · A8</a:t>
            </a:r>
            <a:endParaRPr lang="en-US" sz="1000" dirty="0"/>
          </a:p>
        </p:txBody>
      </p:sp>
      <p:sp>
        <p:nvSpPr>
          <p:cNvPr id="4" name="Text 2"/>
          <p:cNvSpPr txBox="1"/>
          <p:nvPr/>
        </p:nvSpPr>
        <p:spPr>
          <a:xfrm>
            <a:off x="548640" y="694944"/>
            <a:ext cx="11094415" cy="502920"/>
          </a:xfrm>
          <a:prstGeom prst="rect">
            <a:avLst/>
          </a:prstGeom>
          <a:noFill/>
          <a:ln/>
        </p:spPr>
        <p:txBody>
          <a:bodyPr wrap="square" lIns="0" tIns="0" rIns="0" bIns="0" rtlCol="0" anchor="t"/>
          <a:lstStyle/>
          <a:p>
            <a:pPr indent="0" marL="0">
              <a:buNone/>
            </a:pPr>
            <a:r>
              <a:rPr lang="en-US" sz="2800" b="1" dirty="0">
                <a:solidFill>
                  <a:srgbClr val="15252E"/>
                </a:solidFill>
                <a:latin typeface="Calibri" pitchFamily="34" charset="0"/>
                <a:ea typeface="Calibri" pitchFamily="34" charset="-122"/>
                <a:cs typeface="Calibri" pitchFamily="34" charset="-120"/>
              </a:rPr>
              <a:t>Sources and disclaimer</a:t>
            </a:r>
            <a:endParaRPr lang="en-US" sz="2800" dirty="0"/>
          </a:p>
        </p:txBody>
      </p:sp>
      <p:sp>
        <p:nvSpPr>
          <p:cNvPr id="5" name="Shape 3"/>
          <p:cNvSpPr/>
          <p:nvPr/>
        </p:nvSpPr>
        <p:spPr>
          <a:xfrm>
            <a:off x="10218420" y="384048"/>
            <a:ext cx="1424635" cy="219456"/>
          </a:xfrm>
          <a:prstGeom prst="roundRect">
            <a:avLst>
              <a:gd name="adj" fmla="val 50000"/>
            </a:avLst>
          </a:prstGeom>
          <a:solidFill>
            <a:srgbClr val="F4F7F8"/>
          </a:solidFill>
          <a:ln w="12700">
            <a:solidFill>
              <a:srgbClr val="52656E"/>
            </a:solidFill>
            <a:prstDash val="solid"/>
          </a:ln>
        </p:spPr>
      </p:sp>
      <p:sp>
        <p:nvSpPr>
          <p:cNvPr id="6" name="Text 4"/>
          <p:cNvSpPr txBox="1"/>
          <p:nvPr/>
        </p:nvSpPr>
        <p:spPr>
          <a:xfrm>
            <a:off x="10218420" y="384048"/>
            <a:ext cx="1424635" cy="219456"/>
          </a:xfrm>
          <a:prstGeom prst="rect">
            <a:avLst/>
          </a:prstGeom>
          <a:noFill/>
          <a:ln/>
        </p:spPr>
        <p:txBody>
          <a:bodyPr wrap="square" lIns="0" tIns="0" rIns="0" bIns="0" rtlCol="0" anchor="ctr"/>
          <a:lstStyle/>
          <a:p>
            <a:pPr algn="ctr" indent="0" marL="0">
              <a:buNone/>
            </a:pPr>
            <a:r>
              <a:rPr lang="en-US" sz="750" b="1" spc="80" kern="0" dirty="0">
                <a:solidFill>
                  <a:srgbClr val="52656E"/>
                </a:solidFill>
                <a:latin typeface="Consolas" pitchFamily="34" charset="0"/>
                <a:ea typeface="Consolas" pitchFamily="34" charset="-122"/>
                <a:cs typeface="Consolas" pitchFamily="34" charset="-120"/>
              </a:rPr>
              <a:t>EXTERNAL · VERIFY</a:t>
            </a:r>
            <a:endParaRPr lang="en-US" sz="750" dirty="0"/>
          </a:p>
        </p:txBody>
      </p:sp>
      <p:sp>
        <p:nvSpPr>
          <p:cNvPr id="7" name="Shape 5"/>
          <p:cNvSpPr/>
          <p:nvPr/>
        </p:nvSpPr>
        <p:spPr>
          <a:xfrm>
            <a:off x="9311335" y="384048"/>
            <a:ext cx="815645" cy="219456"/>
          </a:xfrm>
          <a:prstGeom prst="roundRect">
            <a:avLst>
              <a:gd name="adj" fmla="val 50000"/>
            </a:avLst>
          </a:prstGeom>
          <a:solidFill>
            <a:srgbClr val="0F6673"/>
          </a:solidFill>
          <a:ln/>
        </p:spPr>
      </p:sp>
      <p:sp>
        <p:nvSpPr>
          <p:cNvPr id="8" name="Text 6"/>
          <p:cNvSpPr txBox="1"/>
          <p:nvPr/>
        </p:nvSpPr>
        <p:spPr>
          <a:xfrm>
            <a:off x="9311335" y="384048"/>
            <a:ext cx="815645" cy="219456"/>
          </a:xfrm>
          <a:prstGeom prst="rect">
            <a:avLst/>
          </a:prstGeom>
          <a:noFill/>
          <a:ln/>
        </p:spPr>
        <p:txBody>
          <a:bodyPr wrap="square" lIns="0" tIns="0" rIns="0" bIns="0" rtlCol="0" anchor="ctr"/>
          <a:lstStyle/>
          <a:p>
            <a:pPr algn="ctr" indent="0" marL="0">
              <a:buNone/>
            </a:pPr>
            <a:r>
              <a:rPr lang="en-US" sz="750" b="1" spc="80" kern="0" dirty="0">
                <a:solidFill>
                  <a:srgbClr val="FFFFFF"/>
                </a:solidFill>
                <a:latin typeface="Consolas" pitchFamily="34" charset="0"/>
                <a:ea typeface="Consolas" pitchFamily="34" charset="-122"/>
                <a:cs typeface="Consolas" pitchFamily="34" charset="-120"/>
              </a:rPr>
              <a:t>MEASURED</a:t>
            </a:r>
            <a:endParaRPr lang="en-US" sz="750" dirty="0"/>
          </a:p>
        </p:txBody>
      </p:sp>
      <p:sp>
        <p:nvSpPr>
          <p:cNvPr id="9" name="Text 7"/>
          <p:cNvSpPr txBox="1"/>
          <p:nvPr/>
        </p:nvSpPr>
        <p:spPr>
          <a:xfrm>
            <a:off x="548640" y="6510528"/>
            <a:ext cx="6400800" cy="182880"/>
          </a:xfrm>
          <a:prstGeom prst="rect">
            <a:avLst/>
          </a:prstGeom>
          <a:noFill/>
          <a:ln/>
        </p:spPr>
        <p:txBody>
          <a:bodyPr wrap="square" lIns="0" tIns="0" rIns="0" bIns="0" rtlCol="0" anchor="ctr"/>
          <a:lstStyle/>
          <a:p>
            <a:pPr indent="0" marL="0">
              <a:buNone/>
            </a:pPr>
            <a:r>
              <a:rPr lang="en-US" sz="800" dirty="0">
                <a:solidFill>
                  <a:srgbClr val="5B6D75"/>
                </a:solidFill>
                <a:latin typeface="Calibri" pitchFamily="34" charset="0"/>
                <a:ea typeface="Calibri" pitchFamily="34" charset="-122"/>
                <a:cs typeface="Calibri" pitchFamily="34" charset="-120"/>
              </a:rPr>
              <a:t>Tracework Invest  ·  Confidential  ·  Not investment advice</a:t>
            </a:r>
            <a:endParaRPr lang="en-US" sz="800" dirty="0"/>
          </a:p>
        </p:txBody>
      </p:sp>
      <p:sp>
        <p:nvSpPr>
          <p:cNvPr id="10" name="Text 8"/>
          <p:cNvSpPr txBox="1"/>
          <p:nvPr/>
        </p:nvSpPr>
        <p:spPr>
          <a:xfrm>
            <a:off x="11094415" y="6510528"/>
            <a:ext cx="548640" cy="182880"/>
          </a:xfrm>
          <a:prstGeom prst="rect">
            <a:avLst/>
          </a:prstGeom>
          <a:noFill/>
          <a:ln/>
        </p:spPr>
        <p:txBody>
          <a:bodyPr wrap="square" lIns="0" tIns="0" rIns="0" bIns="0" rtlCol="0" anchor="ctr"/>
          <a:lstStyle/>
          <a:p>
            <a:pPr algn="r" indent="0" marL="0">
              <a:buNone/>
            </a:pPr>
            <a:r>
              <a:rPr lang="en-US" sz="800" dirty="0">
                <a:solidFill>
                  <a:srgbClr val="5B6D75"/>
                </a:solidFill>
                <a:latin typeface="Consolas" pitchFamily="34" charset="0"/>
                <a:ea typeface="Consolas" pitchFamily="34" charset="-122"/>
                <a:cs typeface="Consolas" pitchFamily="34" charset="-120"/>
              </a:rPr>
              <a:t>54</a:t>
            </a:r>
            <a:endParaRPr lang="en-US" sz="800" dirty="0"/>
          </a:p>
        </p:txBody>
      </p:sp>
      <p:sp>
        <p:nvSpPr>
          <p:cNvPr id="12" name="Shape 9"/>
          <p:cNvSpPr/>
          <p:nvPr/>
        </p:nvSpPr>
        <p:spPr>
          <a:xfrm>
            <a:off x="548640" y="1463040"/>
            <a:ext cx="5394960" cy="4617720"/>
          </a:xfrm>
          <a:prstGeom prst="roundRect">
            <a:avLst>
              <a:gd name="adj" fmla="val 990"/>
            </a:avLst>
          </a:prstGeom>
          <a:solidFill>
            <a:srgbClr val="FFFFFF"/>
          </a:solidFill>
          <a:ln w="9525">
            <a:solidFill>
              <a:srgbClr val="CDD8DC"/>
            </a:solidFill>
            <a:prstDash val="solid"/>
          </a:ln>
        </p:spPr>
      </p:sp>
      <p:sp>
        <p:nvSpPr>
          <p:cNvPr id="13" name="Text 10"/>
          <p:cNvSpPr txBox="1"/>
          <p:nvPr/>
        </p:nvSpPr>
        <p:spPr>
          <a:xfrm>
            <a:off x="749808" y="1645920"/>
            <a:ext cx="4937760"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IN THE REPOSITORY</a:t>
            </a:r>
            <a:endParaRPr lang="en-US" sz="900" dirty="0"/>
          </a:p>
        </p:txBody>
      </p:sp>
      <p:sp>
        <p:nvSpPr>
          <p:cNvPr id="14" name="Text 11"/>
          <p:cNvSpPr txBox="1"/>
          <p:nvPr/>
        </p:nvSpPr>
        <p:spPr>
          <a:xfrm>
            <a:off x="749808" y="1965960"/>
            <a:ext cx="4983480" cy="3931920"/>
          </a:xfrm>
          <a:prstGeom prst="rect">
            <a:avLst/>
          </a:prstGeom>
          <a:noFill/>
          <a:ln/>
        </p:spPr>
        <p:txBody>
          <a:bodyPr wrap="square" lIns="0" tIns="0" rIns="0" bIns="0" rtlCol="0" anchor="t"/>
          <a:lstStyle/>
          <a:p>
            <a:pPr marL="177800" indent="-177800">
              <a:spcAft>
                <a:spcPts val="900"/>
              </a:spcAft>
              <a:buSzPct val="100000"/>
              <a:buChar char="•"/>
            </a:pPr>
            <a:r>
              <a:rPr lang="en-US" sz="1200" b="1" dirty="0">
                <a:solidFill>
                  <a:srgbClr val="15252E"/>
                </a:solidFill>
                <a:latin typeface="Calibri" pitchFamily="34" charset="0"/>
                <a:ea typeface="Calibri" pitchFamily="34" charset="-122"/>
                <a:cs typeface="Calibri" pitchFamily="34" charset="-120"/>
              </a:rPr>
              <a:t>Readiness audit:</a:t>
            </a:r>
            <a:r>
              <a:rPr lang="en-US" sz="1200" dirty="0">
                <a:solidFill>
                  <a:srgbClr val="52656E"/>
                </a:solidFill>
                <a:latin typeface="Calibri" pitchFamily="34" charset="0"/>
                <a:ea typeface="Calibri" pitchFamily="34" charset="-122"/>
                <a:cs typeface="Calibri" pitchFamily="34" charset="-120"/>
              </a:rPr>
              <a:t> docs/plan/readiness-audit-2026-09.md, with its run records</a:t>
            </a:r>
            <a:endParaRPr lang="en-US" sz="1200" dirty="0"/>
          </a:p>
          <a:p>
            <a:pPr marL="177800" indent="-177800">
              <a:spcAft>
                <a:spcPts val="900"/>
              </a:spcAft>
              <a:buSzPct val="100000"/>
              <a:buChar char="•"/>
            </a:pPr>
            <a:r>
              <a:rPr lang="en-US" sz="1200" b="1" dirty="0">
                <a:solidFill>
                  <a:srgbClr val="15252E"/>
                </a:solidFill>
                <a:latin typeface="Calibri" pitchFamily="34" charset="0"/>
                <a:ea typeface="Calibri" pitchFamily="34" charset="-122"/>
                <a:cs typeface="Calibri" pitchFamily="34" charset="-120"/>
              </a:rPr>
              <a:t>Measurement rounds:</a:t>
            </a:r>
            <a:r>
              <a:rPr lang="en-US" sz="1200" dirty="0">
                <a:solidFill>
                  <a:srgbClr val="52656E"/>
                </a:solidFill>
                <a:latin typeface="Calibri" pitchFamily="34" charset="0"/>
                <a:ea typeface="Calibri" pitchFamily="34" charset="-122"/>
                <a:cs typeface="Calibri" pitchFamily="34" charset="-120"/>
              </a:rPr>
              <a:t> docs/plan/phase-5-round-2026-09/ and phase-7-round-2026-09/</a:t>
            </a:r>
            <a:endParaRPr lang="en-US" sz="1200" dirty="0"/>
          </a:p>
          <a:p>
            <a:pPr marL="177800" indent="-177800">
              <a:spcAft>
                <a:spcPts val="900"/>
              </a:spcAft>
              <a:buSzPct val="100000"/>
              <a:buChar char="•"/>
            </a:pPr>
            <a:r>
              <a:rPr lang="en-US" sz="1200" b="1" dirty="0">
                <a:solidFill>
                  <a:srgbClr val="15252E"/>
                </a:solidFill>
                <a:latin typeface="Calibri" pitchFamily="34" charset="0"/>
                <a:ea typeface="Calibri" pitchFamily="34" charset="-122"/>
                <a:cs typeface="Calibri" pitchFamily="34" charset="-120"/>
              </a:rPr>
              <a:t>Scope and decisions:</a:t>
            </a:r>
            <a:r>
              <a:rPr lang="en-US" sz="1200" dirty="0">
                <a:solidFill>
                  <a:srgbClr val="52656E"/>
                </a:solidFill>
                <a:latin typeface="Calibri" pitchFamily="34" charset="0"/>
                <a:ea typeface="Calibri" pitchFamily="34" charset="-122"/>
                <a:cs typeface="Calibri" pitchFamily="34" charset="-120"/>
              </a:rPr>
              <a:t> docs/plan/ROADMAP.md and docs/adr/</a:t>
            </a:r>
            <a:endParaRPr lang="en-US" sz="1200" dirty="0"/>
          </a:p>
          <a:p>
            <a:pPr marL="177800" indent="-177800">
              <a:spcAft>
                <a:spcPts val="900"/>
              </a:spcAft>
              <a:buSzPct val="100000"/>
              <a:buChar char="•"/>
            </a:pPr>
            <a:r>
              <a:rPr lang="en-US" sz="1200" b="1" dirty="0">
                <a:solidFill>
                  <a:srgbClr val="15252E"/>
                </a:solidFill>
                <a:latin typeface="Calibri" pitchFamily="34" charset="0"/>
                <a:ea typeface="Calibri" pitchFamily="34" charset="-122"/>
                <a:cs typeface="Calibri" pitchFamily="34" charset="-120"/>
              </a:rPr>
              <a:t>The V1.0 plan:</a:t>
            </a:r>
            <a:r>
              <a:rPr lang="en-US" sz="1200" dirty="0">
                <a:solidFill>
                  <a:srgbClr val="52656E"/>
                </a:solidFill>
                <a:latin typeface="Calibri" pitchFamily="34" charset="0"/>
                <a:ea typeface="Calibri" pitchFamily="34" charset="-122"/>
                <a:cs typeface="Calibri" pitchFamily="34" charset="-120"/>
              </a:rPr>
              <a:t> docs/V1.0_Alpha/, features, pages and the delivery plan</a:t>
            </a:r>
            <a:endParaRPr lang="en-US" sz="1200" dirty="0"/>
          </a:p>
          <a:p>
            <a:pPr marL="177800" indent="-177800">
              <a:spcAft>
                <a:spcPts val="900"/>
              </a:spcAft>
              <a:buSzPct val="100000"/>
              <a:buChar char="•"/>
            </a:pPr>
            <a:r>
              <a:rPr lang="en-US" sz="1200" b="1" dirty="0">
                <a:solidFill>
                  <a:srgbClr val="15252E"/>
                </a:solidFill>
                <a:latin typeface="Calibri" pitchFamily="34" charset="0"/>
                <a:ea typeface="Calibri" pitchFamily="34" charset="-122"/>
                <a:cs typeface="Calibri" pitchFamily="34" charset="-120"/>
              </a:rPr>
              <a:t>Data sources:</a:t>
            </a:r>
            <a:r>
              <a:rPr lang="en-US" sz="1200" dirty="0">
                <a:solidFill>
                  <a:srgbClr val="52656E"/>
                </a:solidFill>
                <a:latin typeface="Calibri" pitchFamily="34" charset="0"/>
                <a:ea typeface="Calibri" pitchFamily="34" charset="-122"/>
                <a:cs typeface="Calibri" pitchFamily="34" charset="-120"/>
              </a:rPr>
              <a:t> docs/data-sources/, one dossier per publisher</a:t>
            </a:r>
            <a:endParaRPr lang="en-US" sz="1200" dirty="0"/>
          </a:p>
          <a:p>
            <a:pPr marL="177800" indent="-177800">
              <a:spcAft>
                <a:spcPts val="900"/>
              </a:spcAft>
              <a:buSzPct val="100000"/>
              <a:buChar char="•"/>
            </a:pPr>
            <a:r>
              <a:rPr lang="en-US" sz="1200" b="1" dirty="0">
                <a:solidFill>
                  <a:srgbClr val="15252E"/>
                </a:solidFill>
                <a:latin typeface="Calibri" pitchFamily="34" charset="0"/>
                <a:ea typeface="Calibri" pitchFamily="34" charset="-122"/>
                <a:cs typeface="Calibri" pitchFamily="34" charset="-120"/>
              </a:rPr>
              <a:t>Figure by figure:</a:t>
            </a:r>
            <a:r>
              <a:rPr lang="en-US" sz="1200" dirty="0">
                <a:solidFill>
                  <a:srgbClr val="52656E"/>
                </a:solidFill>
                <a:latin typeface="Calibri" pitchFamily="34" charset="0"/>
                <a:ea typeface="Calibri" pitchFamily="34" charset="-122"/>
                <a:cs typeface="Calibri" pitchFamily="34" charset="-120"/>
              </a:rPr>
              <a:t> docs/product/investor-deck/pitch-sources.md</a:t>
            </a:r>
            <a:endParaRPr lang="en-US" sz="1200" dirty="0"/>
          </a:p>
          <a:p>
            <a:pPr marL="177800" indent="-177800">
              <a:spcAft>
                <a:spcPts val="900"/>
              </a:spcAft>
              <a:buSzPct val="100000"/>
              <a:buChar char="•"/>
            </a:pPr>
            <a:r>
              <a:rPr lang="en-US" sz="1200" b="1" dirty="0">
                <a:solidFill>
                  <a:srgbClr val="15252E"/>
                </a:solidFill>
                <a:latin typeface="Calibri" pitchFamily="34" charset="0"/>
                <a:ea typeface="Calibri" pitchFamily="34" charset="-122"/>
                <a:cs typeface="Calibri" pitchFamily="34" charset="-120"/>
              </a:rPr>
              <a:t>What it is:</a:t>
            </a:r>
            <a:r>
              <a:rPr lang="en-US" sz="1200" dirty="0">
                <a:solidFill>
                  <a:srgbClr val="52656E"/>
                </a:solidFill>
                <a:latin typeface="Calibri" pitchFamily="34" charset="0"/>
                <a:ea typeface="Calibri" pitchFamily="34" charset="-122"/>
                <a:cs typeface="Calibri" pitchFamily="34" charset="-120"/>
              </a:rPr>
              <a:t> docs/product/what-it-is.md</a:t>
            </a:r>
            <a:endParaRPr lang="en-US" sz="1200" dirty="0"/>
          </a:p>
          <a:p>
            <a:pPr marL="177800" indent="-177800">
              <a:spcAft>
                <a:spcPts val="900"/>
              </a:spcAft>
              <a:buSzPct val="100000"/>
              <a:buChar char="•"/>
            </a:pPr>
            <a:r>
              <a:rPr lang="en-US" sz="1200" b="1" dirty="0">
                <a:solidFill>
                  <a:srgbClr val="15252E"/>
                </a:solidFill>
                <a:latin typeface="Calibri" pitchFamily="34" charset="0"/>
                <a:ea typeface="Calibri" pitchFamily="34" charset="-122"/>
                <a:cs typeface="Calibri" pitchFamily="34" charset="-120"/>
              </a:rPr>
              <a:t>How it is built:</a:t>
            </a:r>
            <a:r>
              <a:rPr lang="en-US" sz="1200" dirty="0">
                <a:solidFill>
                  <a:srgbClr val="52656E"/>
                </a:solidFill>
                <a:latin typeface="Calibri" pitchFamily="34" charset="0"/>
                <a:ea typeface="Calibri" pitchFamily="34" charset="-122"/>
                <a:cs typeface="Calibri" pitchFamily="34" charset="-120"/>
              </a:rPr>
              <a:t> docs/developers/knowledge-map.md</a:t>
            </a:r>
            <a:endParaRPr lang="en-US" sz="1200" dirty="0"/>
          </a:p>
          <a:p>
            <a:pPr marL="177800" indent="-177800">
              <a:spcAft>
                <a:spcPts val="900"/>
              </a:spcAft>
              <a:buSzPct val="100000"/>
              <a:buChar char="•"/>
            </a:pPr>
            <a:r>
              <a:rPr lang="en-US" sz="1200" b="1" dirty="0">
                <a:solidFill>
                  <a:srgbClr val="15252E"/>
                </a:solidFill>
                <a:latin typeface="Calibri" pitchFamily="34" charset="0"/>
                <a:ea typeface="Calibri" pitchFamily="34" charset="-122"/>
                <a:cs typeface="Calibri" pitchFamily="34" charset="-120"/>
              </a:rPr>
              <a:t>The earlier decks:</a:t>
            </a:r>
            <a:r>
              <a:rPr lang="en-US" sz="1200" dirty="0">
                <a:solidFill>
                  <a:srgbClr val="52656E"/>
                </a:solidFill>
                <a:latin typeface="Calibri" pitchFamily="34" charset="0"/>
                <a:ea typeface="Calibri" pitchFamily="34" charset="-122"/>
                <a:cs typeface="Calibri" pitchFamily="34" charset="-120"/>
              </a:rPr>
              <a:t> docs/product/investor-deck/sources.md</a:t>
            </a:r>
            <a:endParaRPr lang="en-US" sz="1200" dirty="0"/>
          </a:p>
        </p:txBody>
      </p:sp>
      <p:sp>
        <p:nvSpPr>
          <p:cNvPr id="15" name="Shape 12"/>
          <p:cNvSpPr/>
          <p:nvPr/>
        </p:nvSpPr>
        <p:spPr>
          <a:xfrm>
            <a:off x="6217920" y="1463040"/>
            <a:ext cx="5422392" cy="2926080"/>
          </a:xfrm>
          <a:prstGeom prst="roundRect">
            <a:avLst>
              <a:gd name="adj" fmla="val 1563"/>
            </a:avLst>
          </a:prstGeom>
          <a:solidFill>
            <a:srgbClr val="FFFFFF"/>
          </a:solidFill>
          <a:ln w="9525">
            <a:solidFill>
              <a:srgbClr val="CDD8DC"/>
            </a:solidFill>
            <a:prstDash val="solid"/>
          </a:ln>
        </p:spPr>
      </p:sp>
      <p:sp>
        <p:nvSpPr>
          <p:cNvPr id="16" name="Text 13"/>
          <p:cNvSpPr txBox="1"/>
          <p:nvPr/>
        </p:nvSpPr>
        <p:spPr>
          <a:xfrm>
            <a:off x="6419088" y="1645920"/>
            <a:ext cx="4937760" cy="201168"/>
          </a:xfrm>
          <a:prstGeom prst="rect">
            <a:avLst/>
          </a:prstGeom>
          <a:noFill/>
          <a:ln/>
        </p:spPr>
        <p:txBody>
          <a:bodyPr wrap="square" lIns="0" tIns="0" rIns="0" bIns="0" rtlCol="0" anchor="t"/>
          <a:lstStyle/>
          <a:p>
            <a:pPr indent="0" marL="0">
              <a:buNone/>
            </a:pPr>
            <a:r>
              <a:rPr lang="en-US" sz="900" b="1" spc="100" kern="0" dirty="0">
                <a:solidFill>
                  <a:srgbClr val="0F6673"/>
                </a:solidFill>
                <a:latin typeface="Consolas" pitchFamily="34" charset="0"/>
                <a:ea typeface="Consolas" pitchFamily="34" charset="-122"/>
                <a:cs typeface="Consolas" pitchFamily="34" charset="-120"/>
              </a:rPr>
              <a:t>EXTERNAL, READ 25 SEP 2026</a:t>
            </a:r>
            <a:endParaRPr lang="en-US" sz="900" dirty="0"/>
          </a:p>
        </p:txBody>
      </p:sp>
      <p:sp>
        <p:nvSpPr>
          <p:cNvPr id="17" name="Text 14"/>
          <p:cNvSpPr txBox="1"/>
          <p:nvPr/>
        </p:nvSpPr>
        <p:spPr>
          <a:xfrm>
            <a:off x="6419088" y="1965960"/>
            <a:ext cx="5029200" cy="2377440"/>
          </a:xfrm>
          <a:prstGeom prst="rect">
            <a:avLst/>
          </a:prstGeom>
          <a:noFill/>
          <a:ln/>
        </p:spPr>
        <p:txBody>
          <a:bodyPr wrap="square" lIns="0" tIns="0" rIns="0" bIns="0" rtlCol="0" anchor="t"/>
          <a:lstStyle/>
          <a:p>
            <a:pPr marL="165100" indent="-165100">
              <a:spcAft>
                <a:spcPts val="600"/>
              </a:spcAft>
              <a:buSzPct val="100000"/>
              <a:buChar char="•"/>
            </a:pPr>
            <a:r>
              <a:rPr lang="en-US" sz="1150" dirty="0">
                <a:solidFill>
                  <a:srgbClr val="52656E"/>
                </a:solidFill>
                <a:latin typeface="Calibri" pitchFamily="34" charset="0"/>
                <a:ea typeface="Calibri" pitchFamily="34" charset="-122"/>
                <a:cs typeface="Calibri" pitchFamily="34" charset="-120"/>
              </a:rPr>
              <a:t>Rogo Series D: PR Newswire, 29 Apr 2026</a:t>
            </a:r>
            <a:endParaRPr lang="en-US" sz="1150" dirty="0"/>
          </a:p>
          <a:p>
            <a:pPr marL="165100" indent="-165100">
              <a:spcAft>
                <a:spcPts val="600"/>
              </a:spcAft>
              <a:buSzPct val="100000"/>
              <a:buChar char="•"/>
            </a:pPr>
            <a:r>
              <a:rPr lang="en-US" sz="1150" dirty="0">
                <a:solidFill>
                  <a:srgbClr val="52656E"/>
                </a:solidFill>
                <a:latin typeface="Calibri" pitchFamily="34" charset="0"/>
                <a:ea typeface="Calibri" pitchFamily="34" charset="-122"/>
                <a:cs typeface="Calibri" pitchFamily="34" charset="-120"/>
              </a:rPr>
              <a:t>FCA PS25/22, targeted support: fca.org.uk</a:t>
            </a:r>
            <a:endParaRPr lang="en-US" sz="1150" dirty="0"/>
          </a:p>
          <a:p>
            <a:pPr marL="165100" indent="-165100">
              <a:spcAft>
                <a:spcPts val="600"/>
              </a:spcAft>
              <a:buSzPct val="100000"/>
              <a:buChar char="•"/>
            </a:pPr>
            <a:r>
              <a:rPr lang="en-US" sz="1150" dirty="0">
                <a:solidFill>
                  <a:srgbClr val="52656E"/>
                </a:solidFill>
                <a:latin typeface="Calibri" pitchFamily="34" charset="0"/>
                <a:ea typeface="Calibri" pitchFamily="34" charset="-122"/>
                <a:cs typeface="Calibri" pitchFamily="34" charset="-120"/>
              </a:rPr>
              <a:t>Koyfin, ChatGPT: the vendors’ own pages</a:t>
            </a:r>
            <a:endParaRPr lang="en-US" sz="1150" dirty="0"/>
          </a:p>
          <a:p>
            <a:pPr marL="165100" indent="-165100">
              <a:spcAft>
                <a:spcPts val="600"/>
              </a:spcAft>
              <a:buSzPct val="100000"/>
              <a:buChar char="•"/>
            </a:pPr>
            <a:r>
              <a:rPr lang="en-US" sz="1150" dirty="0">
                <a:solidFill>
                  <a:srgbClr val="52656E"/>
                </a:solidFill>
                <a:latin typeface="Calibri" pitchFamily="34" charset="0"/>
                <a:ea typeface="Calibri" pitchFamily="34" charset="-122"/>
                <a:cs typeface="Calibri" pitchFamily="34" charset="-120"/>
              </a:rPr>
              <a:t>Bloomberg, AlphaSense, Morningstar, Stockopedia, Fiscal.ai, Perplexity: secondary reviews</a:t>
            </a:r>
            <a:endParaRPr lang="en-US" sz="1150" dirty="0"/>
          </a:p>
          <a:p>
            <a:pPr marL="165100" indent="-165100">
              <a:spcAft>
                <a:spcPts val="600"/>
              </a:spcAft>
              <a:buSzPct val="100000"/>
              <a:buChar char="•"/>
            </a:pPr>
            <a:r>
              <a:rPr lang="en-US" sz="1150" dirty="0">
                <a:solidFill>
                  <a:srgbClr val="52656E"/>
                </a:solidFill>
                <a:latin typeface="Calibri" pitchFamily="34" charset="0"/>
                <a:ea typeface="Calibri" pitchFamily="34" charset="-122"/>
                <a:cs typeface="Calibri" pitchFamily="34" charset="-120"/>
              </a:rPr>
              <a:t>Hebbia, Daloopa: Wikipedia; daloopa.com</a:t>
            </a:r>
            <a:endParaRPr lang="en-US" sz="1150" dirty="0"/>
          </a:p>
          <a:p>
            <a:pPr marL="165100" indent="-165100">
              <a:spcAft>
                <a:spcPts val="600"/>
              </a:spcAft>
              <a:buSzPct val="100000"/>
              <a:buChar char="•"/>
            </a:pPr>
            <a:r>
              <a:rPr lang="en-US" sz="1150" dirty="0">
                <a:solidFill>
                  <a:srgbClr val="52656E"/>
                </a:solidFill>
                <a:latin typeface="Calibri" pitchFamily="34" charset="0"/>
                <a:ea typeface="Calibri" pitchFamily="34" charset="-122"/>
                <a:cs typeface="Calibri" pitchFamily="34" charset="-120"/>
              </a:rPr>
              <a:t>Every URL, with the date read: pitch-sources.md</a:t>
            </a:r>
            <a:endParaRPr lang="en-US" sz="1150" dirty="0"/>
          </a:p>
        </p:txBody>
      </p:sp>
      <p:sp>
        <p:nvSpPr>
          <p:cNvPr id="18" name="Shape 15"/>
          <p:cNvSpPr/>
          <p:nvPr/>
        </p:nvSpPr>
        <p:spPr>
          <a:xfrm>
            <a:off x="6217920" y="4526280"/>
            <a:ext cx="5422392" cy="1554480"/>
          </a:xfrm>
          <a:prstGeom prst="roundRect">
            <a:avLst>
              <a:gd name="adj" fmla="val 2941"/>
            </a:avLst>
          </a:prstGeom>
          <a:solidFill>
            <a:srgbClr val="EAF0F1"/>
          </a:solidFill>
          <a:ln w="9525">
            <a:solidFill>
              <a:srgbClr val="CDD8DC"/>
            </a:solidFill>
            <a:prstDash val="solid"/>
          </a:ln>
        </p:spPr>
      </p:sp>
      <p:sp>
        <p:nvSpPr>
          <p:cNvPr id="19" name="Text 16"/>
          <p:cNvSpPr txBox="1"/>
          <p:nvPr/>
        </p:nvSpPr>
        <p:spPr>
          <a:xfrm>
            <a:off x="6419088" y="4636008"/>
            <a:ext cx="5029200" cy="1335024"/>
          </a:xfrm>
          <a:prstGeom prst="rect">
            <a:avLst/>
          </a:prstGeom>
          <a:noFill/>
          <a:ln/>
        </p:spPr>
        <p:txBody>
          <a:bodyPr wrap="square" lIns="0" tIns="0" rIns="0" bIns="0" rtlCol="0" anchor="ctr"/>
          <a:lstStyle/>
          <a:p>
            <a:pPr indent="0" marL="0">
              <a:buNone/>
            </a:pPr>
            <a:r>
              <a:rPr lang="en-US" sz="1150" dirty="0">
                <a:solidFill>
                  <a:srgbClr val="52656E"/>
                </a:solidFill>
                <a:latin typeface="Calibri" pitchFamily="34" charset="0"/>
                <a:ea typeface="Calibri" pitchFamily="34" charset="-122"/>
                <a:cs typeface="Calibri" pitchFamily="34" charset="-120"/>
              </a:rPr>
              <a:t>This deck describes a research tool. It is not investment advice, it is not an offer of securities, and it makes no forecast. [PLACEHOLDER: confidentiality and offer wording approved by counsel]</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Tracework Invest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Tracework Invest — angel pitch</dc:title>
  <dc:subject>Research you can check. Reasons you can keep.</dc:subject>
  <dc:creator>[Founder]</dc:creator>
  <cp:lastModifiedBy>[Founder]</cp:lastModifiedBy>
  <cp:revision>1</cp:revision>
  <dcterms:created xsi:type="dcterms:W3CDTF">2026-09-25T11:12:30Z</dcterms:created>
  <dcterms:modified xsi:type="dcterms:W3CDTF">2026-09-25T11:12:30Z</dcterms:modified>
</cp:coreProperties>
</file>